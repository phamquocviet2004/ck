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C086B-8CAE-46E5-9373-4EE868CA105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EA7F-740F-49E8-9390-9682DF7E0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4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4392E-245E-40A8-AFB1-278EAADB7D3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3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1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0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2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5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0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7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9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9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3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2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10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010D9-E7FD-4718-996E-11CEEAE8931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388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C7499-1FDD-45D9-B021-D52A24B1F04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63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16F66-295E-4615-B99B-45EE71B41E5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379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AB158-E7D0-4516-B7E9-592AB71AD7A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909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6A18E-25F2-4822-8C6C-3DDB9931FE5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62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6614C-F2BD-40A2-B111-113B32C3303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93482-1037-4C9E-BFC9-130BCE58C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1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09600" y="914400"/>
            <a:ext cx="109728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38100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3393" y="370459"/>
            <a:ext cx="91753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85" y="3195904"/>
            <a:ext cx="113182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2557" y="6600175"/>
            <a:ext cx="165861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kern="0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01D41-8069-4D6A-911C-CE11107FB8CF}" type="datetime1">
              <a:rPr lang="en-US" kern="0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40699" y="6334103"/>
            <a:ext cx="315805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kern="0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kern="0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63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8616950" cy="552450"/>
            </a:xfrm>
            <a:custGeom>
              <a:avLst/>
              <a:gdLst/>
              <a:ahLst/>
              <a:cxnLst/>
              <a:rect l="l" t="t" r="r" b="b"/>
              <a:pathLst>
                <a:path w="8616950" h="552450">
                  <a:moveTo>
                    <a:pt x="3043301" y="552450"/>
                  </a:moveTo>
                  <a:lnTo>
                    <a:pt x="3036938" y="501815"/>
                  </a:lnTo>
                  <a:lnTo>
                    <a:pt x="3019018" y="456311"/>
                  </a:lnTo>
                  <a:lnTo>
                    <a:pt x="2991205" y="417753"/>
                  </a:lnTo>
                  <a:lnTo>
                    <a:pt x="2955226" y="387959"/>
                  </a:lnTo>
                  <a:lnTo>
                    <a:pt x="2912757" y="368757"/>
                  </a:lnTo>
                  <a:lnTo>
                    <a:pt x="2865501" y="361950"/>
                  </a:lnTo>
                  <a:lnTo>
                    <a:pt x="479425" y="361950"/>
                  </a:lnTo>
                  <a:lnTo>
                    <a:pt x="432155" y="368757"/>
                  </a:lnTo>
                  <a:lnTo>
                    <a:pt x="393573" y="386207"/>
                  </a:lnTo>
                  <a:lnTo>
                    <a:pt x="418147" y="356412"/>
                  </a:lnTo>
                  <a:lnTo>
                    <a:pt x="439229" y="317588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37"/>
                  </a:lnTo>
                  <a:lnTo>
                    <a:pt x="439229" y="139623"/>
                  </a:lnTo>
                  <a:lnTo>
                    <a:pt x="418147" y="100799"/>
                  </a:lnTo>
                  <a:lnTo>
                    <a:pt x="390232" y="66967"/>
                  </a:lnTo>
                  <a:lnTo>
                    <a:pt x="356400" y="39052"/>
                  </a:lnTo>
                  <a:lnTo>
                    <a:pt x="317576" y="17970"/>
                  </a:lnTo>
                  <a:lnTo>
                    <a:pt x="274662" y="4648"/>
                  </a:lnTo>
                  <a:lnTo>
                    <a:pt x="228600" y="0"/>
                  </a:lnTo>
                  <a:lnTo>
                    <a:pt x="182524" y="4648"/>
                  </a:lnTo>
                  <a:lnTo>
                    <a:pt x="139611" y="17970"/>
                  </a:lnTo>
                  <a:lnTo>
                    <a:pt x="100787" y="39052"/>
                  </a:lnTo>
                  <a:lnTo>
                    <a:pt x="66954" y="66967"/>
                  </a:lnTo>
                  <a:lnTo>
                    <a:pt x="39039" y="100799"/>
                  </a:lnTo>
                  <a:lnTo>
                    <a:pt x="17957" y="139623"/>
                  </a:lnTo>
                  <a:lnTo>
                    <a:pt x="4635" y="182537"/>
                  </a:lnTo>
                  <a:lnTo>
                    <a:pt x="0" y="228600"/>
                  </a:lnTo>
                  <a:lnTo>
                    <a:pt x="4635" y="274675"/>
                  </a:lnTo>
                  <a:lnTo>
                    <a:pt x="17957" y="317588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11" y="439242"/>
                  </a:lnTo>
                  <a:lnTo>
                    <a:pt x="182524" y="452564"/>
                  </a:lnTo>
                  <a:lnTo>
                    <a:pt x="228600" y="457200"/>
                  </a:lnTo>
                  <a:lnTo>
                    <a:pt x="274662" y="452564"/>
                  </a:lnTo>
                  <a:lnTo>
                    <a:pt x="317576" y="439242"/>
                  </a:lnTo>
                  <a:lnTo>
                    <a:pt x="351472" y="420839"/>
                  </a:lnTo>
                  <a:lnTo>
                    <a:pt x="325894" y="456311"/>
                  </a:lnTo>
                  <a:lnTo>
                    <a:pt x="307975" y="501815"/>
                  </a:lnTo>
                  <a:lnTo>
                    <a:pt x="301625" y="552450"/>
                  </a:lnTo>
                  <a:lnTo>
                    <a:pt x="3043301" y="552450"/>
                  </a:lnTo>
                  <a:close/>
                </a:path>
                <a:path w="8616950" h="552450">
                  <a:moveTo>
                    <a:pt x="8616950" y="547700"/>
                  </a:moveTo>
                  <a:lnTo>
                    <a:pt x="8610587" y="497052"/>
                  </a:lnTo>
                  <a:lnTo>
                    <a:pt x="8592668" y="451548"/>
                  </a:lnTo>
                  <a:lnTo>
                    <a:pt x="8564855" y="412991"/>
                  </a:lnTo>
                  <a:lnTo>
                    <a:pt x="8528875" y="383209"/>
                  </a:lnTo>
                  <a:lnTo>
                    <a:pt x="8486407" y="363994"/>
                  </a:lnTo>
                  <a:lnTo>
                    <a:pt x="8439150" y="357187"/>
                  </a:lnTo>
                  <a:lnTo>
                    <a:pt x="6051550" y="357187"/>
                  </a:lnTo>
                  <a:lnTo>
                    <a:pt x="6004280" y="363994"/>
                  </a:lnTo>
                  <a:lnTo>
                    <a:pt x="5961812" y="383209"/>
                  </a:lnTo>
                  <a:lnTo>
                    <a:pt x="5925832" y="412991"/>
                  </a:lnTo>
                  <a:lnTo>
                    <a:pt x="5898019" y="451548"/>
                  </a:lnTo>
                  <a:lnTo>
                    <a:pt x="5880100" y="497052"/>
                  </a:lnTo>
                  <a:lnTo>
                    <a:pt x="5873750" y="547700"/>
                  </a:lnTo>
                  <a:lnTo>
                    <a:pt x="8616950" y="54770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036" y="4246498"/>
              <a:ext cx="2486660" cy="179908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7501" y="1517650"/>
            <a:ext cx="9020175" cy="123944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255" rIns="0" bIns="0" rtlCol="0">
            <a:spAutoFit/>
          </a:bodyPr>
          <a:lstStyle/>
          <a:p>
            <a:pPr marL="2425065" marR="1931035" indent="-489584">
              <a:spcBef>
                <a:spcPts val="65"/>
              </a:spcBef>
            </a:pPr>
            <a:r>
              <a:rPr sz="4000" dirty="0">
                <a:solidFill>
                  <a:srgbClr val="FFFFFF"/>
                </a:solidFill>
              </a:rPr>
              <a:t>LẬP</a:t>
            </a:r>
            <a:r>
              <a:rPr sz="4000" spc="-11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TRÌNH</a:t>
            </a:r>
            <a:r>
              <a:rPr sz="4000" spc="-8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WEBSITE </a:t>
            </a:r>
            <a:r>
              <a:rPr sz="4000" spc="40" dirty="0">
                <a:solidFill>
                  <a:srgbClr val="FFFFFF"/>
                </a:solidFill>
              </a:rPr>
              <a:t>(</a:t>
            </a:r>
            <a:r>
              <a:rPr sz="4000" spc="-80">
                <a:solidFill>
                  <a:srgbClr val="FFFFFF"/>
                </a:solidFill>
              </a:rPr>
              <a:t>A</a:t>
            </a:r>
            <a:r>
              <a:rPr sz="4000" spc="40">
                <a:solidFill>
                  <a:srgbClr val="FFFFFF"/>
                </a:solidFill>
              </a:rPr>
              <a:t>S</a:t>
            </a:r>
            <a:r>
              <a:rPr sz="4000" spc="-475">
                <a:solidFill>
                  <a:srgbClr val="FFFFFF"/>
                </a:solidFill>
              </a:rPr>
              <a:t>P</a:t>
            </a:r>
            <a:r>
              <a:rPr sz="4000" spc="40">
                <a:solidFill>
                  <a:srgbClr val="FFFFFF"/>
                </a:solidFill>
              </a:rPr>
              <a:t>.NET</a:t>
            </a:r>
            <a:r>
              <a:rPr sz="4000" spc="-75">
                <a:solidFill>
                  <a:srgbClr val="FFFFFF"/>
                </a:solidFill>
              </a:rPr>
              <a:t> </a:t>
            </a:r>
            <a:r>
              <a:rPr lang="en-US" sz="4000" smtClean="0">
                <a:solidFill>
                  <a:srgbClr val="FFFFFF"/>
                </a:solidFill>
              </a:rPr>
              <a:t>MVC</a:t>
            </a:r>
            <a:r>
              <a:rPr sz="4000" spc="-25" smtClean="0">
                <a:solidFill>
                  <a:srgbClr val="FFFFFF"/>
                </a:solidFill>
              </a:rPr>
              <a:t>)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1602739" y="3195905"/>
            <a:ext cx="8488680" cy="93807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15"/>
              </a:spcBef>
            </a:pPr>
            <a:r>
              <a:rPr spc="-10"/>
              <a:t>CH</a:t>
            </a:r>
            <a:r>
              <a:rPr lang="en-US" spc="-10"/>
              <a:t>Ư</a:t>
            </a:r>
            <a:r>
              <a:rPr spc="-10"/>
              <a:t>ƠNG</a:t>
            </a:r>
            <a:r>
              <a:rPr spc="-140"/>
              <a:t> </a:t>
            </a:r>
            <a:r>
              <a:rPr lang="en-US" spc="-25" dirty="0"/>
              <a:t>6</a:t>
            </a:r>
            <a:r>
              <a:rPr spc="-25" smtClean="0"/>
              <a:t>:</a:t>
            </a:r>
            <a:endParaRPr spc="-25" dirty="0"/>
          </a:p>
          <a:p>
            <a:pPr marL="1325245">
              <a:lnSpc>
                <a:spcPts val="4295"/>
              </a:lnSpc>
            </a:pPr>
            <a:r>
              <a:rPr sz="3600" dirty="0"/>
              <a:t>KIỂM</a:t>
            </a:r>
            <a:r>
              <a:rPr sz="3600" spc="-60" dirty="0"/>
              <a:t> </a:t>
            </a:r>
            <a:r>
              <a:rPr sz="3600" dirty="0"/>
              <a:t>LỖI</a:t>
            </a:r>
            <a:r>
              <a:rPr sz="3600" spc="-70" dirty="0"/>
              <a:t> </a:t>
            </a:r>
            <a:r>
              <a:rPr sz="3600" dirty="0"/>
              <a:t>&amp;</a:t>
            </a:r>
            <a:r>
              <a:rPr sz="3600" spc="-50" dirty="0"/>
              <a:t> </a:t>
            </a:r>
            <a:r>
              <a:rPr sz="3600" dirty="0"/>
              <a:t>BẢO</a:t>
            </a:r>
            <a:r>
              <a:rPr sz="3600" spc="65" dirty="0"/>
              <a:t> </a:t>
            </a:r>
            <a:r>
              <a:rPr sz="3600"/>
              <a:t>MẬT</a:t>
            </a:r>
            <a:r>
              <a:rPr sz="3600" spc="90"/>
              <a:t> </a:t>
            </a:r>
            <a:r>
              <a:rPr sz="3600" spc="-10"/>
              <a:t>WEBSITE</a:t>
            </a:r>
            <a:endParaRPr sz="3600"/>
          </a:p>
        </p:txBody>
      </p:sp>
      <p:grpSp>
        <p:nvGrpSpPr>
          <p:cNvPr id="12" name="object 12"/>
          <p:cNvGrpSpPr/>
          <p:nvPr/>
        </p:nvGrpSpPr>
        <p:grpSpPr>
          <a:xfrm>
            <a:off x="6054851" y="795528"/>
            <a:ext cx="3977640" cy="132587"/>
            <a:chOff x="4530851" y="795527"/>
            <a:chExt cx="3977640" cy="132587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0851" y="795527"/>
              <a:ext cx="3977640" cy="1325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75175" y="836676"/>
              <a:ext cx="3889375" cy="1905"/>
            </a:xfrm>
            <a:custGeom>
              <a:avLst/>
              <a:gdLst/>
              <a:ahLst/>
              <a:cxnLst/>
              <a:rect l="l" t="t" r="r" b="b"/>
              <a:pathLst>
                <a:path w="3889375" h="1905">
                  <a:moveTo>
                    <a:pt x="0" y="0"/>
                  </a:moveTo>
                  <a:lnTo>
                    <a:pt x="3889375" y="1524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6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450" y="450926"/>
            <a:ext cx="8293100" cy="5713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z="2800" b="1" u="sng" kern="0" spc="-434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NỘI</a:t>
            </a:r>
            <a:r>
              <a:rPr sz="2800" b="1" u="sng" kern="0" spc="-25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spc="-2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DUNG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	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59180" indent="-516890">
              <a:spcBef>
                <a:spcPts val="2285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Giới</a:t>
            </a:r>
            <a:r>
              <a:rPr sz="28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thiệu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5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r>
              <a:rPr sz="28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8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5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Thuộc</a:t>
            </a:r>
            <a:r>
              <a:rPr sz="28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tính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0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8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r>
              <a:rPr sz="28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bằng</a:t>
            </a:r>
            <a:r>
              <a:rPr sz="28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tay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5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8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soát yêu</a:t>
            </a:r>
            <a:r>
              <a:rPr sz="28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cầu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giả</a:t>
            </a:r>
            <a:r>
              <a:rPr sz="28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lập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5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Tấn công</a:t>
            </a:r>
            <a:r>
              <a:rPr sz="28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8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-</a:t>
            </a:r>
            <a:r>
              <a:rPr sz="28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xss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0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Antiforery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59180" indent="-516890">
              <a:spcBef>
                <a:spcPts val="1685"/>
              </a:spcBef>
              <a:buFontTx/>
              <a:buAutoNum type="arabicPeriod"/>
              <a:tabLst>
                <a:tab pos="105918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Authentication</a:t>
            </a:r>
            <a:r>
              <a:rPr sz="28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&amp;</a:t>
            </a:r>
            <a:r>
              <a:rPr sz="28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authorization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8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spc="-25" dirty="0"/>
              <a:t> </a:t>
            </a:r>
            <a:r>
              <a:rPr dirty="0"/>
              <a:t>GIỚI</a:t>
            </a:r>
            <a:r>
              <a:rPr spc="-60" dirty="0"/>
              <a:t> </a:t>
            </a:r>
            <a:r>
              <a:rPr spc="-10" dirty="0"/>
              <a:t>THIỆU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9876" y="1167765"/>
            <a:ext cx="7830184" cy="5119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3535">
              <a:spcBef>
                <a:spcPts val="11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lệ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người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gây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khó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lường.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5080" indent="-343535">
              <a:spcBef>
                <a:spcPts val="1195"/>
              </a:spcBef>
              <a:buFont typeface="Wingdings"/>
              <a:buChar char=""/>
              <a:tabLst>
                <a:tab pos="355600" algn="l"/>
                <a:tab pos="789940" algn="l"/>
                <a:tab pos="1407160" algn="l"/>
                <a:tab pos="2093595" algn="l"/>
                <a:tab pos="2880360" algn="l"/>
                <a:tab pos="3607435" algn="l"/>
                <a:tab pos="4124960" algn="l"/>
                <a:tab pos="4746625" algn="l"/>
                <a:tab pos="5377815" algn="l"/>
                <a:tab pos="6100445" algn="l"/>
                <a:tab pos="6924040" algn="l"/>
                <a:tab pos="7459345" algn="l"/>
              </a:tabLst>
            </a:pP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Vì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vậy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soát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luôn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vai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trò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quan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trọng.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22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thường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gặp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190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trống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ô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nhập…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19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đúng định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dạng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email,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creditcard,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url…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22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sai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kiểu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nguyên,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thực,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ngày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giờ…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marR="5715" lvl="1" indent="-342900">
              <a:spcBef>
                <a:spcPts val="1190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lệ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-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phải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giá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trị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tối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thiểu,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tối</a:t>
            </a: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đa,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phạm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vi…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19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đúng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tính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toán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2166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spc="-25" dirty="0"/>
              <a:t> </a:t>
            </a:r>
            <a:r>
              <a:rPr dirty="0"/>
              <a:t>GIỚI</a:t>
            </a:r>
            <a:r>
              <a:rPr spc="-60" dirty="0"/>
              <a:t> </a:t>
            </a:r>
            <a:r>
              <a:rPr spc="-10" dirty="0"/>
              <a:t>THIỆU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172" y="990638"/>
            <a:ext cx="6387948" cy="53993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19217" y="1738135"/>
            <a:ext cx="762000" cy="1695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1310"/>
              </a:lnSpc>
            </a:pPr>
            <a:r>
              <a:rPr sz="11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user</a:t>
            </a:r>
            <a:endParaRPr sz="11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48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spc="-25" dirty="0"/>
              <a:t> </a:t>
            </a:r>
            <a:r>
              <a:rPr dirty="0"/>
              <a:t>GIỚI</a:t>
            </a:r>
            <a:r>
              <a:rPr spc="-60" dirty="0"/>
              <a:t> </a:t>
            </a:r>
            <a:r>
              <a:rPr spc="-10" dirty="0"/>
              <a:t>THIỆU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191" y="1981201"/>
            <a:ext cx="7700009" cy="34135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99284" y="1056209"/>
            <a:ext cx="282067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Mô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kiểm</a:t>
            </a:r>
            <a:r>
              <a:rPr sz="2800" b="1" kern="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lỗi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9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LỖI</a:t>
            </a:r>
            <a:r>
              <a:rPr spc="-70" dirty="0"/>
              <a:t> </a:t>
            </a:r>
            <a:r>
              <a:rPr dirty="0"/>
              <a:t>TRONG</a:t>
            </a:r>
            <a:r>
              <a:rPr spc="-5" dirty="0"/>
              <a:t> </a:t>
            </a:r>
            <a:r>
              <a:rPr spc="-25" dirty="0"/>
              <a:t>MVC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6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1549" y="872094"/>
            <a:ext cx="7633970" cy="5515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8890" indent="-342265" algn="just">
              <a:lnSpc>
                <a:spcPct val="150100"/>
              </a:lnSpc>
              <a:spcBef>
                <a:spcPts val="9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soát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dữ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cả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2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phía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 	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1530" marR="8255" lvl="1" indent="-342265" algn="just">
              <a:lnSpc>
                <a:spcPts val="4330"/>
              </a:lnSpc>
              <a:spcBef>
                <a:spcPts val="380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4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phía</a:t>
            </a:r>
            <a:r>
              <a:rPr sz="2400" kern="0" spc="40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r>
              <a:rPr sz="2400" kern="0" spc="40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4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phản</a:t>
            </a:r>
            <a:r>
              <a:rPr sz="2400" kern="0" spc="4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4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nhanh</a:t>
            </a:r>
            <a:r>
              <a:rPr sz="2400" kern="0" spc="4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4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người 	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 có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sửa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chửa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ngay.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165" lvl="1" indent="-342265" algn="just">
              <a:spcBef>
                <a:spcPts val="1050"/>
              </a:spcBef>
              <a:buFont typeface="Wingdings"/>
              <a:buChar char=""/>
              <a:tabLst>
                <a:tab pos="81216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phía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mà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marR="6985" algn="just">
              <a:lnSpc>
                <a:spcPct val="150100"/>
              </a:lnSpc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làm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nếu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quan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đến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tài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nguyên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501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2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bạn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cần</a:t>
            </a:r>
            <a:r>
              <a:rPr sz="2400" kern="0" spc="2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viết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</a:t>
            </a:r>
            <a:r>
              <a:rPr sz="2400" kern="0" spc="2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lần</a:t>
            </a:r>
            <a:r>
              <a:rPr sz="2400" kern="0" spc="2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nhưng</a:t>
            </a:r>
            <a:r>
              <a:rPr sz="2400" kern="0" spc="2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2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cả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2 	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phía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r>
              <a:rPr sz="2400" kern="0" spc="2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server.</a:t>
            </a:r>
            <a:r>
              <a:rPr sz="2400" kern="0" spc="25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Nếu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vì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2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lý</a:t>
            </a:r>
            <a:r>
              <a:rPr sz="2400" kern="0" spc="2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nào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mà 	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thì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thay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thế.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14912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LỖI</a:t>
            </a:r>
            <a:r>
              <a:rPr spc="-70" dirty="0"/>
              <a:t> </a:t>
            </a:r>
            <a:r>
              <a:rPr dirty="0"/>
              <a:t>TRONG</a:t>
            </a:r>
            <a:r>
              <a:rPr spc="-5" dirty="0"/>
              <a:t> </a:t>
            </a:r>
            <a:r>
              <a:rPr spc="-25" dirty="0"/>
              <a:t>MVC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151" y="1168098"/>
            <a:ext cx="7189036" cy="50524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22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LỖI</a:t>
            </a:r>
            <a:r>
              <a:rPr spc="-70" dirty="0"/>
              <a:t> </a:t>
            </a:r>
            <a:r>
              <a:rPr dirty="0"/>
              <a:t>TRONG</a:t>
            </a:r>
            <a:r>
              <a:rPr spc="-5" dirty="0"/>
              <a:t> </a:t>
            </a:r>
            <a:r>
              <a:rPr spc="-25" dirty="0"/>
              <a:t>MVC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5" y="980009"/>
            <a:ext cx="101726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Ví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dụ: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024" y="1665364"/>
            <a:ext cx="7363556" cy="45180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05050" y="5218951"/>
            <a:ext cx="998219" cy="1695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spcBef>
                <a:spcPts val="5"/>
              </a:spcBef>
            </a:pPr>
            <a:r>
              <a:rPr sz="11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Obama</a:t>
            </a:r>
            <a:endParaRPr sz="11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83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LỖI</a:t>
            </a:r>
            <a:r>
              <a:rPr spc="-70" dirty="0"/>
              <a:t> </a:t>
            </a:r>
            <a:r>
              <a:rPr dirty="0"/>
              <a:t>TRONG</a:t>
            </a:r>
            <a:r>
              <a:rPr spc="-5" dirty="0"/>
              <a:t> </a:t>
            </a:r>
            <a:r>
              <a:rPr spc="-25" dirty="0"/>
              <a:t>MVC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5" y="980009"/>
            <a:ext cx="19627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Lớp</a:t>
            </a:r>
            <a:r>
              <a:rPr sz="28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Model: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858" y="1746969"/>
            <a:ext cx="7431876" cy="40435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86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LỖI</a:t>
            </a:r>
            <a:r>
              <a:rPr spc="-70" dirty="0"/>
              <a:t> </a:t>
            </a:r>
            <a:r>
              <a:rPr dirty="0"/>
              <a:t>TRONG</a:t>
            </a:r>
            <a:r>
              <a:rPr spc="-5" dirty="0"/>
              <a:t> </a:t>
            </a:r>
            <a:r>
              <a:rPr spc="-25" dirty="0"/>
              <a:t>MVC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4" y="980009"/>
            <a:ext cx="251714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Lớp</a:t>
            </a:r>
            <a:r>
              <a:rPr sz="28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Controller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0780" y="1535430"/>
            <a:ext cx="7772400" cy="48920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63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45" dirty="0"/>
              <a:t> </a:t>
            </a:r>
            <a:r>
              <a:rPr dirty="0"/>
              <a:t>LỖI</a:t>
            </a:r>
            <a:r>
              <a:rPr spc="-70" dirty="0"/>
              <a:t> </a:t>
            </a:r>
            <a:r>
              <a:rPr dirty="0"/>
              <a:t>TRONG</a:t>
            </a:r>
            <a:r>
              <a:rPr spc="-5" dirty="0"/>
              <a:t> </a:t>
            </a:r>
            <a:r>
              <a:rPr spc="-25" dirty="0"/>
              <a:t>MVC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5" y="980009"/>
            <a:ext cx="83311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View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598" y="1667673"/>
            <a:ext cx="7800094" cy="46801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33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3.</a:t>
            </a:r>
            <a:r>
              <a:rPr spc="-50" dirty="0"/>
              <a:t> </a:t>
            </a:r>
            <a:r>
              <a:rPr dirty="0"/>
              <a:t>THUỘC</a:t>
            </a:r>
            <a:r>
              <a:rPr spc="5" dirty="0"/>
              <a:t> </a:t>
            </a:r>
            <a:r>
              <a:rPr dirty="0"/>
              <a:t>TÍNH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55" dirty="0"/>
              <a:t> </a:t>
            </a:r>
            <a:r>
              <a:rPr spc="-25" dirty="0"/>
              <a:t>LỖI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743" y="1028700"/>
            <a:ext cx="8300829" cy="51834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16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3.</a:t>
            </a:r>
            <a:r>
              <a:rPr spc="-50" dirty="0"/>
              <a:t> </a:t>
            </a:r>
            <a:r>
              <a:rPr dirty="0"/>
              <a:t>THUỘC</a:t>
            </a:r>
            <a:r>
              <a:rPr spc="5" dirty="0"/>
              <a:t> </a:t>
            </a:r>
            <a:r>
              <a:rPr dirty="0"/>
              <a:t>TÍNH</a:t>
            </a:r>
            <a:r>
              <a:rPr spc="-40" dirty="0"/>
              <a:t> </a:t>
            </a:r>
            <a:r>
              <a:rPr dirty="0"/>
              <a:t>KIỂM</a:t>
            </a:r>
            <a:r>
              <a:rPr spc="-55" dirty="0"/>
              <a:t> </a:t>
            </a:r>
            <a:r>
              <a:rPr spc="-25" dirty="0"/>
              <a:t>LỖI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7271" y="1682642"/>
            <a:ext cx="7750758" cy="42436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0245" y="980009"/>
            <a:ext cx="31057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HTML</a:t>
            </a:r>
            <a:r>
              <a:rPr sz="28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ELEMENT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178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38773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4.</a:t>
            </a:r>
            <a:r>
              <a:rPr spc="-65" dirty="0"/>
              <a:t> </a:t>
            </a:r>
            <a:r>
              <a:rPr dirty="0"/>
              <a:t>KIỂM</a:t>
            </a:r>
            <a:r>
              <a:rPr spc="-65" dirty="0"/>
              <a:t> </a:t>
            </a:r>
            <a:r>
              <a:rPr dirty="0"/>
              <a:t>LỖI</a:t>
            </a:r>
            <a:r>
              <a:rPr spc="-100" dirty="0"/>
              <a:t> </a:t>
            </a:r>
            <a:r>
              <a:rPr dirty="0"/>
              <a:t>BẰNG</a:t>
            </a:r>
            <a:r>
              <a:rPr spc="70" dirty="0"/>
              <a:t> </a:t>
            </a:r>
            <a:r>
              <a:rPr spc="-145" dirty="0"/>
              <a:t>TAY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441" y="1242635"/>
            <a:ext cx="7954953" cy="50302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78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38773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4.</a:t>
            </a:r>
            <a:r>
              <a:rPr spc="-65" dirty="0"/>
              <a:t> </a:t>
            </a:r>
            <a:r>
              <a:rPr dirty="0"/>
              <a:t>KIỂM</a:t>
            </a:r>
            <a:r>
              <a:rPr spc="-65" dirty="0"/>
              <a:t> </a:t>
            </a:r>
            <a:r>
              <a:rPr dirty="0"/>
              <a:t>LỖI</a:t>
            </a:r>
            <a:r>
              <a:rPr spc="-100" dirty="0"/>
              <a:t> </a:t>
            </a:r>
            <a:r>
              <a:rPr dirty="0"/>
              <a:t>BẰNG</a:t>
            </a:r>
            <a:r>
              <a:rPr spc="70" dirty="0"/>
              <a:t> </a:t>
            </a:r>
            <a:r>
              <a:rPr spc="-145" dirty="0"/>
              <a:t>TAY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157" y="1696757"/>
            <a:ext cx="7887441" cy="47862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0244" y="980009"/>
            <a:ext cx="472948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Thuộc</a:t>
            </a:r>
            <a:r>
              <a:rPr sz="28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kiểm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lỗi</a:t>
            </a:r>
            <a:r>
              <a:rPr sz="28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tùy</a:t>
            </a:r>
            <a:r>
              <a:rPr sz="28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biến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15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38773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4.</a:t>
            </a:r>
            <a:r>
              <a:rPr spc="-65" dirty="0"/>
              <a:t> </a:t>
            </a:r>
            <a:r>
              <a:rPr dirty="0"/>
              <a:t>KIỂM</a:t>
            </a:r>
            <a:r>
              <a:rPr spc="-65" dirty="0"/>
              <a:t> </a:t>
            </a:r>
            <a:r>
              <a:rPr dirty="0"/>
              <a:t>LỖI</a:t>
            </a:r>
            <a:r>
              <a:rPr spc="-100" dirty="0"/>
              <a:t> </a:t>
            </a:r>
            <a:r>
              <a:rPr dirty="0"/>
              <a:t>BẰNG</a:t>
            </a:r>
            <a:r>
              <a:rPr spc="70" dirty="0"/>
              <a:t> </a:t>
            </a:r>
            <a:r>
              <a:rPr spc="-145" dirty="0"/>
              <a:t>TAY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4" y="980009"/>
            <a:ext cx="73914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SSX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7767" y="1600200"/>
            <a:ext cx="7421025" cy="46596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433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044" y="370459"/>
            <a:ext cx="38773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4.</a:t>
            </a:r>
            <a:r>
              <a:rPr spc="-65" dirty="0"/>
              <a:t> </a:t>
            </a:r>
            <a:r>
              <a:rPr dirty="0"/>
              <a:t>KIỂM</a:t>
            </a:r>
            <a:r>
              <a:rPr spc="-65" dirty="0"/>
              <a:t> </a:t>
            </a:r>
            <a:r>
              <a:rPr dirty="0"/>
              <a:t>LỖI</a:t>
            </a:r>
            <a:r>
              <a:rPr spc="-100" dirty="0"/>
              <a:t> </a:t>
            </a:r>
            <a:r>
              <a:rPr dirty="0"/>
              <a:t>BẰNG</a:t>
            </a:r>
            <a:r>
              <a:rPr spc="70" dirty="0"/>
              <a:t> </a:t>
            </a:r>
            <a:r>
              <a:rPr spc="-145" dirty="0"/>
              <a:t>TAY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4" y="980009"/>
            <a:ext cx="73914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SSX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3353" y="1447800"/>
            <a:ext cx="7567214" cy="46965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990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5.</a:t>
            </a:r>
            <a:r>
              <a:rPr spc="-55" dirty="0"/>
              <a:t> </a:t>
            </a:r>
            <a:r>
              <a:rPr dirty="0"/>
              <a:t>KIỂM</a:t>
            </a:r>
            <a:r>
              <a:rPr spc="-60" dirty="0"/>
              <a:t> </a:t>
            </a:r>
            <a:r>
              <a:rPr dirty="0"/>
              <a:t>SOÁT</a:t>
            </a:r>
            <a:r>
              <a:rPr spc="-80" dirty="0"/>
              <a:t> </a:t>
            </a:r>
            <a:r>
              <a:rPr dirty="0"/>
              <a:t>YÊU</a:t>
            </a:r>
            <a:r>
              <a:rPr spc="-45" dirty="0"/>
              <a:t> </a:t>
            </a:r>
            <a:r>
              <a:rPr dirty="0"/>
              <a:t>CẦU</a:t>
            </a:r>
            <a:r>
              <a:rPr spc="65" dirty="0"/>
              <a:t> </a:t>
            </a:r>
            <a:r>
              <a:rPr dirty="0"/>
              <a:t>GIẢ</a:t>
            </a:r>
            <a:r>
              <a:rPr spc="-80" dirty="0"/>
              <a:t> </a:t>
            </a:r>
            <a:r>
              <a:rPr spc="-25" dirty="0"/>
              <a:t>LẬP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784" y="1230835"/>
            <a:ext cx="7643759" cy="49678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911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THỰC</a:t>
            </a:r>
            <a:r>
              <a:rPr spc="-40" dirty="0"/>
              <a:t> </a:t>
            </a:r>
            <a:r>
              <a:rPr spc="-20" dirty="0"/>
              <a:t>HÀNH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0725" y="1219201"/>
            <a:ext cx="6591121" cy="52604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758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THỰC</a:t>
            </a:r>
            <a:r>
              <a:rPr spc="-40" dirty="0"/>
              <a:t> </a:t>
            </a:r>
            <a:r>
              <a:rPr spc="-20" dirty="0"/>
              <a:t>HÀNH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7860" y="1419789"/>
            <a:ext cx="8023632" cy="28672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948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6.</a:t>
            </a:r>
            <a:r>
              <a:rPr spc="-50" dirty="0"/>
              <a:t> </a:t>
            </a:r>
            <a:r>
              <a:rPr spc="-25" dirty="0"/>
              <a:t>XSS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9648" y="1114128"/>
            <a:ext cx="8402181" cy="46869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328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7.</a:t>
            </a:r>
            <a:r>
              <a:rPr spc="-120" dirty="0"/>
              <a:t> </a:t>
            </a:r>
            <a:r>
              <a:rPr spc="-20" dirty="0"/>
              <a:t>ANTIFORERY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7047" y="1187604"/>
            <a:ext cx="7901544" cy="427671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508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1" y="1066863"/>
            <a:ext cx="8246385" cy="51505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381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419925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sz="2800" b="1" kern="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thành</a:t>
            </a:r>
            <a:r>
              <a:rPr sz="28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phần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Security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5951" y="1697442"/>
            <a:ext cx="7820908" cy="46042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499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44132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Tổ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chức</a:t>
            </a:r>
            <a:r>
              <a:rPr sz="2800" b="1" kern="0" spc="-1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AccountContrller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44" y="1664029"/>
            <a:ext cx="7709419" cy="47748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790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254254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RegisterAction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1141" y="1600136"/>
            <a:ext cx="7797139" cy="48625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14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21710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Login</a:t>
            </a:r>
            <a:r>
              <a:rPr sz="2800" b="1" kern="0" spc="-1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Action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458" y="1684007"/>
            <a:ext cx="7691200" cy="46714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729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29273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External</a:t>
            </a:r>
            <a:r>
              <a:rPr sz="2800" b="1" kern="0" spc="-1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Account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022" y="1600201"/>
            <a:ext cx="7779236" cy="48769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192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38906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Change</a:t>
            </a:r>
            <a:r>
              <a:rPr sz="28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Pass</a:t>
            </a:r>
            <a:r>
              <a:rPr sz="2800" b="1" kern="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LogOff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4296" y="1549020"/>
            <a:ext cx="7779236" cy="48598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964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28181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IdentityModel.cs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1365" y="1649689"/>
            <a:ext cx="7906854" cy="48947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745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29533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r>
              <a:rPr sz="2800" b="1" kern="0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Thành</a:t>
            </a:r>
            <a:r>
              <a:rPr sz="28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C00000"/>
                </a:solidFill>
                <a:latin typeface="Arial"/>
                <a:cs typeface="Arial"/>
              </a:rPr>
              <a:t>viên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903" y="1647445"/>
            <a:ext cx="6970522" cy="48046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673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220281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sz="2800" b="1" kern="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thực</a:t>
            </a:r>
            <a:r>
              <a:rPr sz="28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thể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204" y="1653414"/>
            <a:ext cx="6058408" cy="46740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146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22326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Sercurity</a:t>
            </a:r>
            <a:r>
              <a:rPr sz="2800" b="1" kern="0" spc="-1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API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678" y="1664017"/>
            <a:ext cx="7577822" cy="41557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443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148209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C00000"/>
                </a:solidFill>
                <a:latin typeface="Arial"/>
                <a:cs typeface="Arial"/>
              </a:rPr>
              <a:t>Khởi</a:t>
            </a:r>
            <a:r>
              <a:rPr sz="28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tạo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5811" y="1570991"/>
            <a:ext cx="7964009" cy="44392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522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52203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UserManger&lt;IdentityUser&gt;</a:t>
            </a:r>
            <a:r>
              <a:rPr sz="28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API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296" y="1600226"/>
            <a:ext cx="7659356" cy="48168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93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5" y="981533"/>
            <a:ext cx="53790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RoleManager&lt;IdentityRole&gt;</a:t>
            </a:r>
            <a:r>
              <a:rPr sz="28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API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6849" y="1614169"/>
            <a:ext cx="7562977" cy="46342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325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4" y="370459"/>
            <a:ext cx="91753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8.</a:t>
            </a:r>
            <a:r>
              <a:rPr spc="-155" dirty="0"/>
              <a:t> </a:t>
            </a:r>
            <a:r>
              <a:rPr spc="-20" dirty="0"/>
              <a:t>AUTHENTICATION</a:t>
            </a:r>
            <a:r>
              <a:rPr spc="50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2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7644" y="981533"/>
            <a:ext cx="47447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pc="-10" dirty="0">
                <a:solidFill>
                  <a:srgbClr val="C00000"/>
                </a:solidFill>
                <a:latin typeface="Arial"/>
                <a:cs typeface="Arial"/>
              </a:rPr>
              <a:t>IAuthenticationManager</a:t>
            </a:r>
            <a:r>
              <a:rPr sz="2800" b="1" kern="0" spc="-25" dirty="0">
                <a:solidFill>
                  <a:srgbClr val="C00000"/>
                </a:solidFill>
                <a:latin typeface="Arial"/>
                <a:cs typeface="Arial"/>
              </a:rPr>
              <a:t> API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397" y="1609197"/>
            <a:ext cx="8177861" cy="20061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545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1"/>
            <a:ext cx="9020175" cy="2225609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192405" rIns="0" bIns="0" rtlCol="0">
            <a:spAutoFit/>
          </a:bodyPr>
          <a:lstStyle/>
          <a:p>
            <a:pPr marL="635" algn="ctr">
              <a:spcBef>
                <a:spcPts val="1515"/>
              </a:spcBef>
            </a:pPr>
            <a:r>
              <a:rPr lang="en-US" sz="6600">
                <a:solidFill>
                  <a:srgbClr val="FFFFFF"/>
                </a:solidFill>
              </a:rPr>
              <a:t>THẢO LUẬN </a:t>
            </a:r>
            <a:br>
              <a:rPr lang="en-US" sz="6600">
                <a:solidFill>
                  <a:srgbClr val="FFFFFF"/>
                </a:solidFill>
              </a:rPr>
            </a:br>
            <a:r>
              <a:rPr lang="en-US" sz="6600">
                <a:solidFill>
                  <a:srgbClr val="FFFFFF"/>
                </a:solidFill>
              </a:rPr>
              <a:t>VÀ THỰC HÀNH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997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125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Franklin Gothic Medium</vt:lpstr>
      <vt:lpstr>Microsoft Sans Serif</vt:lpstr>
      <vt:lpstr>Wingdings</vt:lpstr>
      <vt:lpstr>Office Theme</vt:lpstr>
      <vt:lpstr>1_Office Theme</vt:lpstr>
      <vt:lpstr>LẬP TRÌNH WEBSITE (ASP.NET MVC)</vt:lpstr>
      <vt:lpstr>PowerPoint Presentation</vt:lpstr>
      <vt:lpstr>1. GIỚI THIỆU</vt:lpstr>
      <vt:lpstr>1. GIỚI THIỆU</vt:lpstr>
      <vt:lpstr>1. GIỚI THIỆU</vt:lpstr>
      <vt:lpstr>2. KIỂM LỖI TRONG MVC</vt:lpstr>
      <vt:lpstr>2. KIỂM LỖI TRONG MVC</vt:lpstr>
      <vt:lpstr>2. KIỂM LỖI TRONG MVC</vt:lpstr>
      <vt:lpstr>2. KIỂM LỖI TRONG MVC</vt:lpstr>
      <vt:lpstr>2. KIỂM LỖI TRONG MVC</vt:lpstr>
      <vt:lpstr>2. KIỂM LỖI TRONG MVC</vt:lpstr>
      <vt:lpstr>3. THUỘC TÍNH KIỂM LỖI</vt:lpstr>
      <vt:lpstr>3. THUỘC TÍNH KIỂM LỖI</vt:lpstr>
      <vt:lpstr>4. KIỂM LỖI BẰNG TAY</vt:lpstr>
      <vt:lpstr>4. KIỂM LỖI BẰNG TAY</vt:lpstr>
      <vt:lpstr>4. KIỂM LỖI BẰNG TAY</vt:lpstr>
      <vt:lpstr>4. KIỂM LỖI BẰNG TAY</vt:lpstr>
      <vt:lpstr>5. KIỂM SOÁT YÊU CẦU GIẢ LẬP</vt:lpstr>
      <vt:lpstr>THỰC HÀNH</vt:lpstr>
      <vt:lpstr>THỰC HÀNH</vt:lpstr>
      <vt:lpstr>6. XSS</vt:lpstr>
      <vt:lpstr>7. ANTIFORERY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8. AUTHENTICATION &amp; AUTHORIZATION</vt:lpstr>
      <vt:lpstr>THẢO LUẬN  VÀ THỰC HÀNH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WEBSITE (ASP.NET MVC 5)</dc:title>
  <dc:creator>Microsoft account</dc:creator>
  <cp:lastModifiedBy>Microsoft account</cp:lastModifiedBy>
  <cp:revision>3</cp:revision>
  <dcterms:created xsi:type="dcterms:W3CDTF">2025-08-18T01:33:28Z</dcterms:created>
  <dcterms:modified xsi:type="dcterms:W3CDTF">2025-09-08T01:02:52Z</dcterms:modified>
</cp:coreProperties>
</file>