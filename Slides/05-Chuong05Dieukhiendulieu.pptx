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F7227-5B4C-40AC-9D83-24C26EEEFB21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3B851-3561-41E0-AF58-912F0387E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366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235BB-033F-4005-80A8-0C6C19AC155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53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D89D-B9FF-46C9-8337-0849C2C7287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61C7-2616-4803-A964-3FB362AFD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78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D89D-B9FF-46C9-8337-0849C2C7287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61C7-2616-4803-A964-3FB362AFD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87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D89D-B9FF-46C9-8337-0849C2C7287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61C7-2616-4803-A964-3FB362AFD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67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D89D-B9FF-46C9-8337-0849C2C7287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61C7-2616-4803-A964-3FB362AFD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7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D89D-B9FF-46C9-8337-0849C2C7287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61C7-2616-4803-A964-3FB362AFD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59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D89D-B9FF-46C9-8337-0849C2C7287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61C7-2616-4803-A964-3FB362AFD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916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D89D-B9FF-46C9-8337-0849C2C7287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61C7-2616-4803-A964-3FB362AFD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01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D89D-B9FF-46C9-8337-0849C2C7287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61C7-2616-4803-A964-3FB362AFD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5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D89D-B9FF-46C9-8337-0849C2C7287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61C7-2616-4803-A964-3FB362AFD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913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D89D-B9FF-46C9-8337-0849C2C7287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61C7-2616-4803-A964-3FB362AFD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77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6D89D-B9FF-46C9-8337-0849C2C7287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D61C7-2616-4803-A964-3FB362AFD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53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67" y="450927"/>
            <a:ext cx="110574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rgbClr val="9B2C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9B2C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EF090-D184-4471-9525-EF076B3B12F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92710">
              <a:lnSpc>
                <a:spcPts val="1664"/>
              </a:lnSpc>
            </a:pPr>
            <a:fld id="{81D60167-4931-47E6-BA6A-407CBD079E47}" type="slidenum">
              <a:rPr lang="en-US" spc="-50" smtClean="0">
                <a:solidFill>
                  <a:prstClr val="white"/>
                </a:solidFill>
              </a:rPr>
              <a:pPr marL="92710">
                <a:lnSpc>
                  <a:spcPts val="1664"/>
                </a:lnSpc>
              </a:pPr>
              <a:t>‹#›</a:t>
            </a:fld>
            <a:endParaRPr lang="en-US"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546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rgbClr val="9B2C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9B2C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DEE22-080D-4777-A6D5-3DCB7952606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92710">
              <a:lnSpc>
                <a:spcPts val="1664"/>
              </a:lnSpc>
            </a:pPr>
            <a:fld id="{81D60167-4931-47E6-BA6A-407CBD079E47}" type="slidenum">
              <a:rPr lang="en-US" spc="-50" smtClean="0">
                <a:solidFill>
                  <a:prstClr val="white"/>
                </a:solidFill>
              </a:rPr>
              <a:pPr marL="92710">
                <a:lnSpc>
                  <a:spcPts val="1664"/>
                </a:lnSpc>
              </a:pPr>
              <a:t>‹#›</a:t>
            </a:fld>
            <a:endParaRPr lang="en-US"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972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rgbClr val="9B2C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F56B1-280D-4BBA-AC0D-D36508531A1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92710">
              <a:lnSpc>
                <a:spcPts val="1664"/>
              </a:lnSpc>
            </a:pPr>
            <a:fld id="{81D60167-4931-47E6-BA6A-407CBD079E47}" type="slidenum">
              <a:rPr lang="en-US" spc="-50" smtClean="0">
                <a:solidFill>
                  <a:prstClr val="white"/>
                </a:solidFill>
              </a:rPr>
              <a:pPr marL="92710">
                <a:lnSpc>
                  <a:spcPts val="1664"/>
                </a:lnSpc>
              </a:pPr>
              <a:t>‹#›</a:t>
            </a:fld>
            <a:endParaRPr lang="en-US"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384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sng">
                <a:solidFill>
                  <a:srgbClr val="9B2C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D98E2-273D-4C55-9C83-039BADD526C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92710">
              <a:lnSpc>
                <a:spcPts val="1664"/>
              </a:lnSpc>
            </a:pPr>
            <a:fld id="{81D60167-4931-47E6-BA6A-407CBD079E47}" type="slidenum">
              <a:rPr lang="en-US" spc="-50" smtClean="0">
                <a:solidFill>
                  <a:prstClr val="white"/>
                </a:solidFill>
              </a:rPr>
              <a:pPr marL="92710">
                <a:lnSpc>
                  <a:spcPts val="1664"/>
                </a:lnSpc>
              </a:pPr>
              <a:t>‹#›</a:t>
            </a:fld>
            <a:endParaRPr lang="en-US"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402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spc="-20" dirty="0">
              <a:solidFill>
                <a:prstClr val="white"/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675AF-4526-40CB-915A-1E68371E55E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92710">
              <a:lnSpc>
                <a:spcPts val="1664"/>
              </a:lnSpc>
            </a:pPr>
            <a:fld id="{81D60167-4931-47E6-BA6A-407CBD079E47}" type="slidenum">
              <a:rPr lang="en-US" spc="-50" smtClean="0">
                <a:solidFill>
                  <a:prstClr val="white"/>
                </a:solidFill>
              </a:rPr>
              <a:pPr marL="92710">
                <a:lnSpc>
                  <a:spcPts val="1664"/>
                </a:lnSpc>
              </a:pPr>
              <a:t>‹#›</a:t>
            </a:fld>
            <a:endParaRPr lang="en-US"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864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6D89D-B9FF-46C9-8337-0849C2C72879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D61C7-2616-4803-A964-3FB362AFD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28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668" y="69850"/>
            <a:ext cx="12018433" cy="6692900"/>
          </a:xfrm>
          <a:custGeom>
            <a:avLst/>
            <a:gdLst/>
            <a:ahLst/>
            <a:cxnLst/>
            <a:rect l="l" t="t" r="r" b="b"/>
            <a:pathLst>
              <a:path w="9013825" h="6692900">
                <a:moveTo>
                  <a:pt x="0" y="329946"/>
                </a:moveTo>
                <a:lnTo>
                  <a:pt x="3576" y="281184"/>
                </a:lnTo>
                <a:lnTo>
                  <a:pt x="13967" y="234645"/>
                </a:lnTo>
                <a:lnTo>
                  <a:pt x="30661" y="190840"/>
                </a:lnTo>
                <a:lnTo>
                  <a:pt x="53148" y="150277"/>
                </a:lnTo>
                <a:lnTo>
                  <a:pt x="80918" y="113468"/>
                </a:lnTo>
                <a:lnTo>
                  <a:pt x="113460" y="80923"/>
                </a:lnTo>
                <a:lnTo>
                  <a:pt x="150264" y="53151"/>
                </a:lnTo>
                <a:lnTo>
                  <a:pt x="190820" y="30662"/>
                </a:lnTo>
                <a:lnTo>
                  <a:pt x="234617" y="13967"/>
                </a:lnTo>
                <a:lnTo>
                  <a:pt x="281146" y="3576"/>
                </a:lnTo>
                <a:lnTo>
                  <a:pt x="329895" y="0"/>
                </a:lnTo>
                <a:lnTo>
                  <a:pt x="8683879" y="0"/>
                </a:lnTo>
                <a:lnTo>
                  <a:pt x="8732640" y="3576"/>
                </a:lnTo>
                <a:lnTo>
                  <a:pt x="8779179" y="13967"/>
                </a:lnTo>
                <a:lnTo>
                  <a:pt x="8822984" y="30662"/>
                </a:lnTo>
                <a:lnTo>
                  <a:pt x="8863547" y="53151"/>
                </a:lnTo>
                <a:lnTo>
                  <a:pt x="8900356" y="80923"/>
                </a:lnTo>
                <a:lnTo>
                  <a:pt x="8932901" y="113468"/>
                </a:lnTo>
                <a:lnTo>
                  <a:pt x="8960673" y="150277"/>
                </a:lnTo>
                <a:lnTo>
                  <a:pt x="8983162" y="190840"/>
                </a:lnTo>
                <a:lnTo>
                  <a:pt x="8999857" y="234645"/>
                </a:lnTo>
                <a:lnTo>
                  <a:pt x="9010248" y="281184"/>
                </a:lnTo>
                <a:lnTo>
                  <a:pt x="9013825" y="329946"/>
                </a:lnTo>
                <a:lnTo>
                  <a:pt x="9013825" y="6363004"/>
                </a:lnTo>
                <a:lnTo>
                  <a:pt x="9010248" y="6411753"/>
                </a:lnTo>
                <a:lnTo>
                  <a:pt x="8999857" y="6458282"/>
                </a:lnTo>
                <a:lnTo>
                  <a:pt x="8983162" y="6502079"/>
                </a:lnTo>
                <a:lnTo>
                  <a:pt x="8960673" y="6542635"/>
                </a:lnTo>
                <a:lnTo>
                  <a:pt x="8932901" y="6579439"/>
                </a:lnTo>
                <a:lnTo>
                  <a:pt x="8900356" y="6611981"/>
                </a:lnTo>
                <a:lnTo>
                  <a:pt x="8863547" y="6639751"/>
                </a:lnTo>
                <a:lnTo>
                  <a:pt x="8822984" y="6662238"/>
                </a:lnTo>
                <a:lnTo>
                  <a:pt x="8779179" y="6678932"/>
                </a:lnTo>
                <a:lnTo>
                  <a:pt x="8732640" y="6689323"/>
                </a:lnTo>
                <a:lnTo>
                  <a:pt x="8683879" y="6692900"/>
                </a:lnTo>
                <a:lnTo>
                  <a:pt x="329895" y="6692900"/>
                </a:lnTo>
                <a:lnTo>
                  <a:pt x="281146" y="6689323"/>
                </a:lnTo>
                <a:lnTo>
                  <a:pt x="234617" y="6678932"/>
                </a:lnTo>
                <a:lnTo>
                  <a:pt x="190820" y="6662238"/>
                </a:lnTo>
                <a:lnTo>
                  <a:pt x="150264" y="6639751"/>
                </a:lnTo>
                <a:lnTo>
                  <a:pt x="113460" y="6611981"/>
                </a:lnTo>
                <a:lnTo>
                  <a:pt x="80918" y="6579439"/>
                </a:lnTo>
                <a:lnTo>
                  <a:pt x="53148" y="6542635"/>
                </a:lnTo>
                <a:lnTo>
                  <a:pt x="30661" y="6502079"/>
                </a:lnTo>
                <a:lnTo>
                  <a:pt x="13967" y="6458282"/>
                </a:lnTo>
                <a:lnTo>
                  <a:pt x="3576" y="6411753"/>
                </a:lnTo>
                <a:lnTo>
                  <a:pt x="0" y="6363004"/>
                </a:lnTo>
                <a:lnTo>
                  <a:pt x="0" y="329946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194733" y="62103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4"/>
                </a:lnTo>
                <a:lnTo>
                  <a:pt x="100788" y="39041"/>
                </a:lnTo>
                <a:lnTo>
                  <a:pt x="66955" y="66955"/>
                </a:lnTo>
                <a:lnTo>
                  <a:pt x="39041" y="100788"/>
                </a:lnTo>
                <a:lnTo>
                  <a:pt x="17964" y="139619"/>
                </a:lnTo>
                <a:lnTo>
                  <a:pt x="4644" y="182529"/>
                </a:lnTo>
                <a:lnTo>
                  <a:pt x="0" y="228600"/>
                </a:lnTo>
                <a:lnTo>
                  <a:pt x="4644" y="274670"/>
                </a:lnTo>
                <a:lnTo>
                  <a:pt x="17964" y="317580"/>
                </a:lnTo>
                <a:lnTo>
                  <a:pt x="39041" y="356411"/>
                </a:lnTo>
                <a:lnTo>
                  <a:pt x="66955" y="390244"/>
                </a:lnTo>
                <a:lnTo>
                  <a:pt x="100788" y="418158"/>
                </a:lnTo>
                <a:lnTo>
                  <a:pt x="139619" y="439235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5"/>
                </a:lnTo>
                <a:lnTo>
                  <a:pt x="356411" y="418158"/>
                </a:lnTo>
                <a:lnTo>
                  <a:pt x="390244" y="390244"/>
                </a:lnTo>
                <a:lnTo>
                  <a:pt x="418158" y="356411"/>
                </a:lnTo>
                <a:lnTo>
                  <a:pt x="439235" y="317580"/>
                </a:lnTo>
                <a:lnTo>
                  <a:pt x="452555" y="274670"/>
                </a:lnTo>
                <a:lnTo>
                  <a:pt x="457200" y="228600"/>
                </a:lnTo>
                <a:lnTo>
                  <a:pt x="452555" y="182529"/>
                </a:lnTo>
                <a:lnTo>
                  <a:pt x="439235" y="139619"/>
                </a:lnTo>
                <a:lnTo>
                  <a:pt x="418158" y="100788"/>
                </a:lnTo>
                <a:lnTo>
                  <a:pt x="390244" y="66955"/>
                </a:lnTo>
                <a:lnTo>
                  <a:pt x="356411" y="39041"/>
                </a:lnTo>
                <a:lnTo>
                  <a:pt x="317580" y="17964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6927" y="886967"/>
            <a:ext cx="11058144" cy="10515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596901" y="6567487"/>
            <a:ext cx="11087100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sz="1800" kern="0">
              <a:solidFill>
                <a:sysClr val="windowText" lastClr="000000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7267" y="450927"/>
            <a:ext cx="110574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sng">
                <a:solidFill>
                  <a:srgbClr val="9B2C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993" y="1155904"/>
            <a:ext cx="109431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9B2C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52557" y="6600175"/>
            <a:ext cx="1658619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spcBef>
                <a:spcPts val="10"/>
              </a:spcBef>
            </a:pPr>
            <a:endParaRPr lang="en-US" kern="0" spc="-20" dirty="0">
              <a:solidFill>
                <a:prstClr val="white"/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32532-61D1-4CAE-B3A0-DBA9217741BE}" type="datetime1">
              <a:rPr lang="en-US" kern="0" smtClean="0">
                <a:solidFill>
                  <a:prstClr val="black">
                    <a:tint val="75000"/>
                  </a:prstClr>
                </a:solidFill>
              </a:rPr>
              <a:pPr/>
              <a:t>9/8/2025</a:t>
            </a:fld>
            <a:endParaRPr lang="en-US" kern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06833" y="6334103"/>
            <a:ext cx="400473" cy="2180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>
            <a:pPr marL="92710">
              <a:lnSpc>
                <a:spcPts val="1664"/>
              </a:lnSpc>
            </a:pPr>
            <a:fld id="{81D60167-4931-47E6-BA6A-407CBD079E47}" type="slidenum">
              <a:rPr lang="en-US" kern="0" spc="-50" smtClean="0">
                <a:solidFill>
                  <a:prstClr val="white"/>
                </a:solidFill>
              </a:rPr>
              <a:pPr marL="92710">
                <a:lnSpc>
                  <a:spcPts val="1664"/>
                </a:lnSpc>
              </a:pPr>
              <a:t>‹#›</a:t>
            </a:fld>
            <a:endParaRPr lang="en-US" kern="0"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17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6675"/>
            <a:ext cx="12192000" cy="6697980"/>
            <a:chOff x="61912" y="66675"/>
            <a:chExt cx="9022080" cy="6697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87" y="69850"/>
              <a:ext cx="9013888" cy="66913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087" y="69850"/>
              <a:ext cx="9014460" cy="6691630"/>
            </a:xfrm>
            <a:custGeom>
              <a:avLst/>
              <a:gdLst/>
              <a:ahLst/>
              <a:cxnLst/>
              <a:rect l="l" t="t" r="r" b="b"/>
              <a:pathLst>
                <a:path w="9014460" h="6691630">
                  <a:moveTo>
                    <a:pt x="0" y="329819"/>
                  </a:moveTo>
                  <a:lnTo>
                    <a:pt x="3576" y="281088"/>
                  </a:lnTo>
                  <a:lnTo>
                    <a:pt x="13964" y="234576"/>
                  </a:lnTo>
                  <a:lnTo>
                    <a:pt x="30653" y="190791"/>
                  </a:lnTo>
                  <a:lnTo>
                    <a:pt x="53135" y="150245"/>
                  </a:lnTo>
                  <a:lnTo>
                    <a:pt x="80898" y="113448"/>
                  </a:lnTo>
                  <a:lnTo>
                    <a:pt x="113432" y="80911"/>
                  </a:lnTo>
                  <a:lnTo>
                    <a:pt x="150228" y="53144"/>
                  </a:lnTo>
                  <a:lnTo>
                    <a:pt x="190774" y="30660"/>
                  </a:lnTo>
                  <a:lnTo>
                    <a:pt x="234562" y="13967"/>
                  </a:lnTo>
                  <a:lnTo>
                    <a:pt x="281080" y="3576"/>
                  </a:lnTo>
                  <a:lnTo>
                    <a:pt x="329819" y="0"/>
                  </a:lnTo>
                  <a:lnTo>
                    <a:pt x="8684069" y="0"/>
                  </a:lnTo>
                  <a:lnTo>
                    <a:pt x="8732799" y="3576"/>
                  </a:lnTo>
                  <a:lnTo>
                    <a:pt x="8779312" y="13967"/>
                  </a:lnTo>
                  <a:lnTo>
                    <a:pt x="8823097" y="30660"/>
                  </a:lnTo>
                  <a:lnTo>
                    <a:pt x="8863643" y="53144"/>
                  </a:lnTo>
                  <a:lnTo>
                    <a:pt x="8900440" y="80911"/>
                  </a:lnTo>
                  <a:lnTo>
                    <a:pt x="8932977" y="113448"/>
                  </a:lnTo>
                  <a:lnTo>
                    <a:pt x="8960743" y="150245"/>
                  </a:lnTo>
                  <a:lnTo>
                    <a:pt x="8983228" y="190791"/>
                  </a:lnTo>
                  <a:lnTo>
                    <a:pt x="8999921" y="234576"/>
                  </a:lnTo>
                  <a:lnTo>
                    <a:pt x="9010311" y="281088"/>
                  </a:lnTo>
                  <a:lnTo>
                    <a:pt x="9013888" y="329819"/>
                  </a:lnTo>
                  <a:lnTo>
                    <a:pt x="9013888" y="6361493"/>
                  </a:lnTo>
                  <a:lnTo>
                    <a:pt x="9010311" y="6410232"/>
                  </a:lnTo>
                  <a:lnTo>
                    <a:pt x="8999921" y="6456750"/>
                  </a:lnTo>
                  <a:lnTo>
                    <a:pt x="8983228" y="6500538"/>
                  </a:lnTo>
                  <a:lnTo>
                    <a:pt x="8960743" y="6541084"/>
                  </a:lnTo>
                  <a:lnTo>
                    <a:pt x="8932977" y="6577880"/>
                  </a:lnTo>
                  <a:lnTo>
                    <a:pt x="8900440" y="6610414"/>
                  </a:lnTo>
                  <a:lnTo>
                    <a:pt x="8863643" y="6638178"/>
                  </a:lnTo>
                  <a:lnTo>
                    <a:pt x="8823097" y="6660659"/>
                  </a:lnTo>
                  <a:lnTo>
                    <a:pt x="8779312" y="6677349"/>
                  </a:lnTo>
                  <a:lnTo>
                    <a:pt x="8732799" y="6687737"/>
                  </a:lnTo>
                  <a:lnTo>
                    <a:pt x="8684069" y="6691313"/>
                  </a:lnTo>
                  <a:lnTo>
                    <a:pt x="329819" y="6691313"/>
                  </a:lnTo>
                  <a:lnTo>
                    <a:pt x="281080" y="6687737"/>
                  </a:lnTo>
                  <a:lnTo>
                    <a:pt x="234562" y="6677349"/>
                  </a:lnTo>
                  <a:lnTo>
                    <a:pt x="190774" y="6660659"/>
                  </a:lnTo>
                  <a:lnTo>
                    <a:pt x="150228" y="6638178"/>
                  </a:lnTo>
                  <a:lnTo>
                    <a:pt x="113432" y="6610414"/>
                  </a:lnTo>
                  <a:lnTo>
                    <a:pt x="80898" y="6577880"/>
                  </a:lnTo>
                  <a:lnTo>
                    <a:pt x="53135" y="6541084"/>
                  </a:lnTo>
                  <a:lnTo>
                    <a:pt x="30653" y="6500538"/>
                  </a:lnTo>
                  <a:lnTo>
                    <a:pt x="13964" y="6456750"/>
                  </a:lnTo>
                  <a:lnTo>
                    <a:pt x="3576" y="6410232"/>
                  </a:lnTo>
                  <a:lnTo>
                    <a:pt x="0" y="6361493"/>
                  </a:lnTo>
                  <a:lnTo>
                    <a:pt x="0" y="32981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3500" y="1397000"/>
              <a:ext cx="9020175" cy="120650"/>
            </a:xfrm>
            <a:custGeom>
              <a:avLst/>
              <a:gdLst/>
              <a:ahLst/>
              <a:cxnLst/>
              <a:rect l="l" t="t" r="r" b="b"/>
              <a:pathLst>
                <a:path w="9020175" h="120650">
                  <a:moveTo>
                    <a:pt x="9020175" y="0"/>
                  </a:moveTo>
                  <a:lnTo>
                    <a:pt x="0" y="0"/>
                  </a:lnTo>
                  <a:lnTo>
                    <a:pt x="0" y="120650"/>
                  </a:lnTo>
                  <a:lnTo>
                    <a:pt x="9020175" y="120650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3500" y="2976626"/>
              <a:ext cx="9020175" cy="111125"/>
            </a:xfrm>
            <a:custGeom>
              <a:avLst/>
              <a:gdLst/>
              <a:ahLst/>
              <a:cxnLst/>
              <a:rect l="l" t="t" r="r" b="b"/>
              <a:pathLst>
                <a:path w="9020175" h="111125">
                  <a:moveTo>
                    <a:pt x="9020175" y="0"/>
                  </a:moveTo>
                  <a:lnTo>
                    <a:pt x="0" y="0"/>
                  </a:lnTo>
                  <a:lnTo>
                    <a:pt x="0" y="111125"/>
                  </a:lnTo>
                  <a:lnTo>
                    <a:pt x="9020175" y="111125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46050" y="6210300"/>
              <a:ext cx="8616950" cy="552450"/>
            </a:xfrm>
            <a:custGeom>
              <a:avLst/>
              <a:gdLst/>
              <a:ahLst/>
              <a:cxnLst/>
              <a:rect l="l" t="t" r="r" b="b"/>
              <a:pathLst>
                <a:path w="8616950" h="552450">
                  <a:moveTo>
                    <a:pt x="3043301" y="552450"/>
                  </a:moveTo>
                  <a:lnTo>
                    <a:pt x="3036938" y="501815"/>
                  </a:lnTo>
                  <a:lnTo>
                    <a:pt x="3019018" y="456311"/>
                  </a:lnTo>
                  <a:lnTo>
                    <a:pt x="2991205" y="417753"/>
                  </a:lnTo>
                  <a:lnTo>
                    <a:pt x="2955226" y="387959"/>
                  </a:lnTo>
                  <a:lnTo>
                    <a:pt x="2912757" y="368757"/>
                  </a:lnTo>
                  <a:lnTo>
                    <a:pt x="2865501" y="361950"/>
                  </a:lnTo>
                  <a:lnTo>
                    <a:pt x="479425" y="361950"/>
                  </a:lnTo>
                  <a:lnTo>
                    <a:pt x="432155" y="368757"/>
                  </a:lnTo>
                  <a:lnTo>
                    <a:pt x="393573" y="386207"/>
                  </a:lnTo>
                  <a:lnTo>
                    <a:pt x="418147" y="356412"/>
                  </a:lnTo>
                  <a:lnTo>
                    <a:pt x="439229" y="317588"/>
                  </a:lnTo>
                  <a:lnTo>
                    <a:pt x="452551" y="274675"/>
                  </a:lnTo>
                  <a:lnTo>
                    <a:pt x="457200" y="228600"/>
                  </a:lnTo>
                  <a:lnTo>
                    <a:pt x="452551" y="182537"/>
                  </a:lnTo>
                  <a:lnTo>
                    <a:pt x="439229" y="139623"/>
                  </a:lnTo>
                  <a:lnTo>
                    <a:pt x="418147" y="100799"/>
                  </a:lnTo>
                  <a:lnTo>
                    <a:pt x="390232" y="66967"/>
                  </a:lnTo>
                  <a:lnTo>
                    <a:pt x="356400" y="39052"/>
                  </a:lnTo>
                  <a:lnTo>
                    <a:pt x="317576" y="17970"/>
                  </a:lnTo>
                  <a:lnTo>
                    <a:pt x="274662" y="4648"/>
                  </a:lnTo>
                  <a:lnTo>
                    <a:pt x="228600" y="0"/>
                  </a:lnTo>
                  <a:lnTo>
                    <a:pt x="182524" y="4648"/>
                  </a:lnTo>
                  <a:lnTo>
                    <a:pt x="139611" y="17970"/>
                  </a:lnTo>
                  <a:lnTo>
                    <a:pt x="100787" y="39052"/>
                  </a:lnTo>
                  <a:lnTo>
                    <a:pt x="66954" y="66967"/>
                  </a:lnTo>
                  <a:lnTo>
                    <a:pt x="39039" y="100799"/>
                  </a:lnTo>
                  <a:lnTo>
                    <a:pt x="17957" y="139623"/>
                  </a:lnTo>
                  <a:lnTo>
                    <a:pt x="4635" y="182537"/>
                  </a:lnTo>
                  <a:lnTo>
                    <a:pt x="0" y="228600"/>
                  </a:lnTo>
                  <a:lnTo>
                    <a:pt x="4635" y="274675"/>
                  </a:lnTo>
                  <a:lnTo>
                    <a:pt x="17957" y="317588"/>
                  </a:lnTo>
                  <a:lnTo>
                    <a:pt x="39039" y="356412"/>
                  </a:lnTo>
                  <a:lnTo>
                    <a:pt x="66954" y="390245"/>
                  </a:lnTo>
                  <a:lnTo>
                    <a:pt x="100787" y="418160"/>
                  </a:lnTo>
                  <a:lnTo>
                    <a:pt x="139611" y="439242"/>
                  </a:lnTo>
                  <a:lnTo>
                    <a:pt x="182524" y="452564"/>
                  </a:lnTo>
                  <a:lnTo>
                    <a:pt x="228600" y="457200"/>
                  </a:lnTo>
                  <a:lnTo>
                    <a:pt x="274662" y="452564"/>
                  </a:lnTo>
                  <a:lnTo>
                    <a:pt x="317576" y="439242"/>
                  </a:lnTo>
                  <a:lnTo>
                    <a:pt x="351472" y="420839"/>
                  </a:lnTo>
                  <a:lnTo>
                    <a:pt x="325894" y="456311"/>
                  </a:lnTo>
                  <a:lnTo>
                    <a:pt x="307975" y="501815"/>
                  </a:lnTo>
                  <a:lnTo>
                    <a:pt x="301625" y="552450"/>
                  </a:lnTo>
                  <a:lnTo>
                    <a:pt x="3043301" y="552450"/>
                  </a:lnTo>
                  <a:close/>
                </a:path>
                <a:path w="8616950" h="552450">
                  <a:moveTo>
                    <a:pt x="8616950" y="547700"/>
                  </a:moveTo>
                  <a:lnTo>
                    <a:pt x="8610587" y="497052"/>
                  </a:lnTo>
                  <a:lnTo>
                    <a:pt x="8592668" y="451548"/>
                  </a:lnTo>
                  <a:lnTo>
                    <a:pt x="8564855" y="412991"/>
                  </a:lnTo>
                  <a:lnTo>
                    <a:pt x="8528875" y="383209"/>
                  </a:lnTo>
                  <a:lnTo>
                    <a:pt x="8486407" y="363994"/>
                  </a:lnTo>
                  <a:lnTo>
                    <a:pt x="8439150" y="357187"/>
                  </a:lnTo>
                  <a:lnTo>
                    <a:pt x="6051550" y="357187"/>
                  </a:lnTo>
                  <a:lnTo>
                    <a:pt x="6004280" y="363994"/>
                  </a:lnTo>
                  <a:lnTo>
                    <a:pt x="5961812" y="383209"/>
                  </a:lnTo>
                  <a:lnTo>
                    <a:pt x="5925832" y="412991"/>
                  </a:lnTo>
                  <a:lnTo>
                    <a:pt x="5898019" y="451548"/>
                  </a:lnTo>
                  <a:lnTo>
                    <a:pt x="5880100" y="497052"/>
                  </a:lnTo>
                  <a:lnTo>
                    <a:pt x="5873750" y="547700"/>
                  </a:lnTo>
                  <a:lnTo>
                    <a:pt x="8616950" y="54770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87501" y="1517650"/>
            <a:ext cx="9020175" cy="1239442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8255" rIns="0" bIns="0" rtlCol="0">
            <a:spAutoFit/>
          </a:bodyPr>
          <a:lstStyle/>
          <a:p>
            <a:pPr marL="2425065" marR="1931035" indent="-489584">
              <a:spcBef>
                <a:spcPts val="65"/>
              </a:spcBef>
            </a:pPr>
            <a:r>
              <a:rPr sz="4000" u="none" dirty="0">
                <a:solidFill>
                  <a:srgbClr val="FFFFFF"/>
                </a:solidFill>
              </a:rPr>
              <a:t>LẬP</a:t>
            </a:r>
            <a:r>
              <a:rPr sz="4000" u="none" spc="-110" dirty="0">
                <a:solidFill>
                  <a:srgbClr val="FFFFFF"/>
                </a:solidFill>
              </a:rPr>
              <a:t> </a:t>
            </a:r>
            <a:r>
              <a:rPr sz="4000" u="none" dirty="0">
                <a:solidFill>
                  <a:srgbClr val="FFFFFF"/>
                </a:solidFill>
              </a:rPr>
              <a:t>TRÌNH</a:t>
            </a:r>
            <a:r>
              <a:rPr sz="4000" u="none" spc="-85" dirty="0">
                <a:solidFill>
                  <a:srgbClr val="FFFFFF"/>
                </a:solidFill>
              </a:rPr>
              <a:t> </a:t>
            </a:r>
            <a:r>
              <a:rPr sz="4000" u="none" spc="-10" dirty="0">
                <a:solidFill>
                  <a:srgbClr val="FFFFFF"/>
                </a:solidFill>
              </a:rPr>
              <a:t>WEBSITE </a:t>
            </a:r>
            <a:r>
              <a:rPr sz="4000" u="none" spc="40" dirty="0">
                <a:solidFill>
                  <a:srgbClr val="FFFFFF"/>
                </a:solidFill>
              </a:rPr>
              <a:t>(</a:t>
            </a:r>
            <a:r>
              <a:rPr sz="4000" u="none" spc="-80">
                <a:solidFill>
                  <a:srgbClr val="FFFFFF"/>
                </a:solidFill>
              </a:rPr>
              <a:t>A</a:t>
            </a:r>
            <a:r>
              <a:rPr sz="4000" u="none" spc="40">
                <a:solidFill>
                  <a:srgbClr val="FFFFFF"/>
                </a:solidFill>
              </a:rPr>
              <a:t>S</a:t>
            </a:r>
            <a:r>
              <a:rPr sz="4000" u="none" spc="-475">
                <a:solidFill>
                  <a:srgbClr val="FFFFFF"/>
                </a:solidFill>
              </a:rPr>
              <a:t>P</a:t>
            </a:r>
            <a:r>
              <a:rPr sz="4000" u="none" spc="40">
                <a:solidFill>
                  <a:srgbClr val="FFFFFF"/>
                </a:solidFill>
              </a:rPr>
              <a:t>.NET</a:t>
            </a:r>
            <a:r>
              <a:rPr sz="4000" u="none" spc="-75">
                <a:solidFill>
                  <a:srgbClr val="FFFFFF"/>
                </a:solidFill>
              </a:rPr>
              <a:t> </a:t>
            </a:r>
            <a:r>
              <a:rPr lang="en-US" sz="4000" u="none" smtClean="0">
                <a:solidFill>
                  <a:srgbClr val="FFFFFF"/>
                </a:solidFill>
              </a:rPr>
              <a:t>MVC</a:t>
            </a:r>
            <a:r>
              <a:rPr sz="4000" u="none" spc="-25" smtClean="0">
                <a:solidFill>
                  <a:srgbClr val="FFFFFF"/>
                </a:solidFill>
              </a:rPr>
              <a:t>)</a:t>
            </a:r>
            <a:endParaRPr sz="4000"/>
          </a:p>
        </p:txBody>
      </p:sp>
      <p:sp>
        <p:nvSpPr>
          <p:cNvPr id="9" name="object 9"/>
          <p:cNvSpPr txBox="1"/>
          <p:nvPr/>
        </p:nvSpPr>
        <p:spPr>
          <a:xfrm>
            <a:off x="1602740" y="3195905"/>
            <a:ext cx="8942705" cy="938077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2855"/>
              </a:lnSpc>
              <a:spcBef>
                <a:spcPts val="115"/>
              </a:spcBef>
            </a:pPr>
            <a:r>
              <a:rPr sz="2400" b="1" kern="0" spc="-10">
                <a:solidFill>
                  <a:srgbClr val="FF0000"/>
                </a:solidFill>
                <a:latin typeface="Arial"/>
                <a:cs typeface="Arial"/>
              </a:rPr>
              <a:t>CH</a:t>
            </a:r>
            <a:r>
              <a:rPr lang="en-US" sz="2400" b="1" kern="0" spc="-10">
                <a:solidFill>
                  <a:srgbClr val="FF0000"/>
                </a:solidFill>
                <a:latin typeface="Arial"/>
                <a:cs typeface="Arial"/>
              </a:rPr>
              <a:t>Ư</a:t>
            </a:r>
            <a:r>
              <a:rPr sz="2400" b="1" kern="0" spc="-10">
                <a:solidFill>
                  <a:srgbClr val="FF0000"/>
                </a:solidFill>
                <a:latin typeface="Arial"/>
                <a:cs typeface="Arial"/>
              </a:rPr>
              <a:t>ƠNG</a:t>
            </a:r>
            <a:r>
              <a:rPr sz="2400" b="1" kern="0" spc="-1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400" b="1" kern="0" spc="-25" dirty="0">
                <a:solidFill>
                  <a:srgbClr val="FF0000"/>
                </a:solidFill>
                <a:latin typeface="Arial"/>
                <a:cs typeface="Arial"/>
              </a:rPr>
              <a:t>5</a:t>
            </a:r>
            <a:r>
              <a:rPr sz="2400" b="1" kern="0" spc="-25" smtClean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98500">
              <a:lnSpc>
                <a:spcPts val="4295"/>
              </a:lnSpc>
            </a:pPr>
            <a:r>
              <a:rPr sz="3600" b="1" kern="0" dirty="0">
                <a:solidFill>
                  <a:srgbClr val="FF0000"/>
                </a:solidFill>
                <a:latin typeface="Arial"/>
                <a:cs typeface="Arial"/>
              </a:rPr>
              <a:t>ĐIỀU</a:t>
            </a:r>
            <a:r>
              <a:rPr sz="3600" b="1" kern="0" spc="-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600" b="1" kern="0" dirty="0">
                <a:solidFill>
                  <a:srgbClr val="FF0000"/>
                </a:solidFill>
                <a:latin typeface="Arial"/>
                <a:cs typeface="Arial"/>
              </a:rPr>
              <a:t>KHIỂN</a:t>
            </a:r>
            <a:r>
              <a:rPr sz="3600" b="1" kern="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600" b="1" kern="0" dirty="0">
                <a:solidFill>
                  <a:srgbClr val="FF0000"/>
                </a:solidFill>
                <a:latin typeface="Arial"/>
                <a:cs typeface="Arial"/>
              </a:rPr>
              <a:t>DỮ LIỆU </a:t>
            </a:r>
            <a:r>
              <a:rPr sz="3600" b="1" kern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3600" b="1" kern="0" spc="-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600" b="1" kern="0" spc="-10">
                <a:solidFill>
                  <a:srgbClr val="FF0000"/>
                </a:solidFill>
                <a:latin typeface="Arial"/>
                <a:cs typeface="Arial"/>
              </a:rPr>
              <a:t>CONTROLLER</a:t>
            </a:r>
            <a:endParaRPr sz="36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54851" y="795528"/>
            <a:ext cx="3977640" cy="132587"/>
            <a:chOff x="4530851" y="795527"/>
            <a:chExt cx="3977640" cy="132587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30851" y="795527"/>
              <a:ext cx="3977640" cy="13258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75175" y="836676"/>
              <a:ext cx="3889375" cy="1905"/>
            </a:xfrm>
            <a:custGeom>
              <a:avLst/>
              <a:gdLst/>
              <a:ahLst/>
              <a:cxnLst/>
              <a:rect l="l" t="t" r="r" b="b"/>
              <a:pathLst>
                <a:path w="3889375" h="1905">
                  <a:moveTo>
                    <a:pt x="0" y="0"/>
                  </a:moveTo>
                  <a:lnTo>
                    <a:pt x="3889375" y="1524"/>
                  </a:lnTo>
                </a:path>
              </a:pathLst>
            </a:custGeom>
            <a:ln w="38100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1664"/>
              </a:lnSpc>
            </a:pPr>
            <a:fld id="{81D60167-4931-47E6-BA6A-407CBD079E47}" type="slidenum">
              <a:rPr spc="-50" dirty="0">
                <a:solidFill>
                  <a:prstClr val="white"/>
                </a:solidFill>
              </a:rPr>
              <a:pPr marL="92710">
                <a:lnSpc>
                  <a:spcPts val="1664"/>
                </a:lnSpc>
              </a:pPr>
              <a:t>1</a:t>
            </a:fld>
            <a:endParaRPr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11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1562" y="1428760"/>
            <a:ext cx="4382096" cy="229588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spc="-430" dirty="0"/>
              <a:t> </a:t>
            </a:r>
            <a:r>
              <a:rPr dirty="0"/>
              <a:t>GIỚI</a:t>
            </a:r>
            <a:r>
              <a:rPr spc="-75" dirty="0"/>
              <a:t> </a:t>
            </a:r>
            <a:r>
              <a:rPr spc="-20" dirty="0"/>
              <a:t>THIỆU</a:t>
            </a:r>
            <a:r>
              <a:rPr dirty="0"/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1664"/>
              </a:lnSpc>
            </a:pPr>
            <a:fld id="{81D60167-4931-47E6-BA6A-407CBD079E47}" type="slidenum">
              <a:rPr spc="-50" dirty="0">
                <a:solidFill>
                  <a:prstClr val="white"/>
                </a:solidFill>
              </a:rPr>
              <a:pPr marL="92710">
                <a:lnSpc>
                  <a:spcPts val="1664"/>
                </a:lnSpc>
              </a:pPr>
              <a:t>2</a:t>
            </a:fld>
            <a:endParaRPr spc="-50" dirty="0">
              <a:solidFill>
                <a:prstClr val="white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6350" y="4367356"/>
            <a:ext cx="5857875" cy="130619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469900" indent="-457200">
              <a:spcBef>
                <a:spcPts val="1775"/>
              </a:spcBef>
              <a:buFont typeface="Wingdings"/>
              <a:buChar char=""/>
              <a:tabLst>
                <a:tab pos="469900" algn="l"/>
              </a:tabLst>
            </a:pP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Input:</a:t>
            </a:r>
            <a:r>
              <a:rPr sz="2800" kern="0" spc="-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Tham</a:t>
            </a:r>
            <a:r>
              <a:rPr sz="28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800" kern="0" spc="-2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?</a:t>
            </a:r>
            <a:r>
              <a:rPr sz="2800" kern="0" spc="-25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Nhận</a:t>
            </a:r>
            <a:r>
              <a:rPr sz="28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tham</a:t>
            </a:r>
            <a:r>
              <a:rPr sz="28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8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?</a:t>
            </a:r>
            <a:endParaRPr sz="28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469900" indent="-457200">
              <a:spcBef>
                <a:spcPts val="1685"/>
              </a:spcBef>
              <a:buFont typeface="Wingdings"/>
              <a:buChar char=""/>
              <a:tabLst>
                <a:tab pos="469900" algn="l"/>
              </a:tabLst>
            </a:pP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Output:</a:t>
            </a:r>
            <a:r>
              <a:rPr sz="28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Lựa</a:t>
            </a:r>
            <a:r>
              <a:rPr sz="28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chọn</a:t>
            </a:r>
            <a:r>
              <a:rPr sz="28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View</a:t>
            </a:r>
            <a:r>
              <a:rPr sz="28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?</a:t>
            </a:r>
            <a:endParaRPr sz="28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42017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spc="-445" dirty="0"/>
              <a:t> </a:t>
            </a:r>
            <a:r>
              <a:rPr dirty="0"/>
              <a:t>MỤC</a:t>
            </a:r>
            <a:r>
              <a:rPr spc="-25" dirty="0"/>
              <a:t> </a:t>
            </a:r>
            <a:r>
              <a:rPr spc="-20" dirty="0"/>
              <a:t>TIÊU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1664"/>
              </a:lnSpc>
            </a:pPr>
            <a:fld id="{81D60167-4931-47E6-BA6A-407CBD079E47}" type="slidenum">
              <a:rPr spc="-50" dirty="0">
                <a:solidFill>
                  <a:prstClr val="white"/>
                </a:solidFill>
              </a:rPr>
              <a:pPr marL="92710">
                <a:lnSpc>
                  <a:spcPts val="1664"/>
                </a:lnSpc>
              </a:pPr>
              <a:t>3</a:t>
            </a:fld>
            <a:endParaRPr spc="-50" dirty="0">
              <a:solidFill>
                <a:prstClr val="white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31847" y="1081862"/>
            <a:ext cx="8084184" cy="46024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i="1" kern="0" dirty="0">
                <a:solidFill>
                  <a:srgbClr val="9B2C1F"/>
                </a:solidFill>
                <a:latin typeface="Arial"/>
                <a:cs typeface="Arial"/>
              </a:rPr>
              <a:t>Kiến</a:t>
            </a:r>
            <a:r>
              <a:rPr sz="2400" b="1" i="1" kern="0" spc="-2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i="1" kern="0" spc="-10" dirty="0">
                <a:solidFill>
                  <a:srgbClr val="9B2C1F"/>
                </a:solidFill>
                <a:latin typeface="Arial"/>
                <a:cs typeface="Arial"/>
              </a:rPr>
              <a:t>thức: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55600" marR="5080" indent="-342900" algn="just">
              <a:spcBef>
                <a:spcPts val="18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Trình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bài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về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tham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cách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truyền/nhận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tham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của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Controller: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i="1" kern="0" dirty="0">
                <a:solidFill>
                  <a:sysClr val="windowText" lastClr="000000"/>
                </a:solidFill>
                <a:latin typeface="Arial"/>
                <a:cs typeface="Arial"/>
              </a:rPr>
              <a:t>Request,</a:t>
            </a:r>
            <a:r>
              <a:rPr sz="2400" i="1" kern="0" spc="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ysClr val="windowText" lastClr="000000"/>
                </a:solidFill>
                <a:latin typeface="Arial"/>
                <a:cs typeface="Arial"/>
              </a:rPr>
              <a:t>FormCollection,</a:t>
            </a:r>
            <a:r>
              <a:rPr sz="2400" i="1" kern="0" spc="6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ysClr val="windowText" lastClr="000000"/>
                </a:solidFill>
                <a:latin typeface="Arial"/>
                <a:cs typeface="Arial"/>
              </a:rPr>
              <a:t>Đối</a:t>
            </a:r>
            <a:r>
              <a:rPr sz="2400" i="1" kern="0" spc="4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i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số </a:t>
            </a:r>
            <a:r>
              <a:rPr sz="2400" i="1" kern="0" dirty="0">
                <a:solidFill>
                  <a:sysClr val="windowText" lastClr="000000"/>
                </a:solidFill>
                <a:latin typeface="Arial"/>
                <a:cs typeface="Arial"/>
              </a:rPr>
              <a:t>Action,</a:t>
            </a:r>
            <a:r>
              <a:rPr sz="2400" i="1" kern="0" spc="-6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i="1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Model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55600" marR="11430" indent="-342900" algn="just">
              <a:spcBef>
                <a:spcPts val="180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i="1" kern="0" dirty="0">
                <a:solidFill>
                  <a:sysClr val="windowText" lastClr="000000"/>
                </a:solidFill>
                <a:latin typeface="Arial"/>
                <a:cs typeface="Arial"/>
              </a:rPr>
              <a:t>Trình</a:t>
            </a:r>
            <a:r>
              <a:rPr sz="2400" i="1" kern="0" spc="2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ysClr val="windowText" lastClr="000000"/>
                </a:solidFill>
                <a:latin typeface="Arial"/>
                <a:cs typeface="Arial"/>
              </a:rPr>
              <a:t>bày</a:t>
            </a:r>
            <a:r>
              <a:rPr sz="2400" i="1" kern="0" spc="22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ysClr val="windowText" lastClr="000000"/>
                </a:solidFill>
                <a:latin typeface="Arial"/>
                <a:cs typeface="Arial"/>
              </a:rPr>
              <a:t>được</a:t>
            </a:r>
            <a:r>
              <a:rPr sz="2400" i="1" kern="0" spc="20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ysClr val="windowText" lastClr="000000"/>
                </a:solidFill>
                <a:latin typeface="Arial"/>
                <a:cs typeface="Arial"/>
              </a:rPr>
              <a:t>công</a:t>
            </a:r>
            <a:r>
              <a:rPr sz="2400" i="1" kern="0" spc="2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ysClr val="windowText" lastClr="000000"/>
                </a:solidFill>
                <a:latin typeface="Arial"/>
                <a:cs typeface="Arial"/>
              </a:rPr>
              <a:t>dụng</a:t>
            </a:r>
            <a:r>
              <a:rPr sz="2400" i="1" kern="0" spc="204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ysClr val="windowText" lastClr="000000"/>
                </a:solidFill>
                <a:latin typeface="Arial"/>
                <a:cs typeface="Arial"/>
              </a:rPr>
              <a:t>của</a:t>
            </a:r>
            <a:r>
              <a:rPr sz="2400" i="1" kern="0" spc="204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ysClr val="windowText" lastClr="000000"/>
                </a:solidFill>
                <a:latin typeface="Arial"/>
                <a:cs typeface="Arial"/>
              </a:rPr>
              <a:t>lớp</a:t>
            </a:r>
            <a:r>
              <a:rPr sz="2400" i="1" kern="0" spc="204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i="1" kern="0" dirty="0">
                <a:solidFill>
                  <a:sysClr val="windowText" lastClr="000000"/>
                </a:solidFill>
                <a:latin typeface="Arial"/>
                <a:cs typeface="Arial"/>
              </a:rPr>
              <a:t>ActionResult()</a:t>
            </a:r>
            <a:r>
              <a:rPr sz="2400" i="1" kern="0" spc="21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i="1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trong </a:t>
            </a:r>
            <a:r>
              <a:rPr sz="2400" i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MVC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2700">
              <a:spcBef>
                <a:spcPts val="1805"/>
              </a:spcBef>
            </a:pPr>
            <a:r>
              <a:rPr sz="2400" b="1" i="1" kern="0" dirty="0">
                <a:solidFill>
                  <a:srgbClr val="9B2C1F"/>
                </a:solidFill>
                <a:latin typeface="Arial"/>
                <a:cs typeface="Arial"/>
              </a:rPr>
              <a:t>Kỹ</a:t>
            </a:r>
            <a:r>
              <a:rPr sz="2400" b="1" i="1" kern="0" spc="-1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i="1" kern="0" spc="-20" dirty="0">
                <a:solidFill>
                  <a:srgbClr val="9B2C1F"/>
                </a:solidFill>
                <a:latin typeface="Arial"/>
                <a:cs typeface="Arial"/>
              </a:rPr>
              <a:t>năng: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55600" marR="8890" indent="-342900" algn="just">
              <a:spcBef>
                <a:spcPts val="1805"/>
              </a:spcBef>
              <a:buFont typeface="Wingdings"/>
              <a:buChar char=""/>
              <a:tabLst>
                <a:tab pos="355600" algn="l"/>
                <a:tab pos="43688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Thực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hiện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ứng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truyền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tham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như: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Máy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tính</a:t>
            </a:r>
            <a:r>
              <a:rPr sz="2400" kern="0" spc="4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</a:t>
            </a:r>
            <a:r>
              <a:rPr sz="2400" kern="0" spc="4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nhân,</a:t>
            </a:r>
            <a:r>
              <a:rPr sz="2400" kern="0" spc="509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Upload</a:t>
            </a:r>
            <a:r>
              <a:rPr sz="2400" kern="0" spc="4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File,</a:t>
            </a:r>
            <a:r>
              <a:rPr sz="2400" kern="0" spc="4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Gửi</a:t>
            </a:r>
            <a:r>
              <a:rPr sz="2400" kern="0" spc="4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mail</a:t>
            </a:r>
            <a:r>
              <a:rPr sz="2400" ker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,</a:t>
            </a:r>
            <a:r>
              <a:rPr sz="2400" kern="0" spc="509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lang="en-US" sz="2400" kern="0" spc="509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</a:t>
            </a:r>
            <a:r>
              <a:rPr sz="2400" kern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iệc</a:t>
            </a:r>
            <a:r>
              <a:rPr sz="2400" kern="0" spc="484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truy</a:t>
            </a:r>
            <a:r>
              <a:rPr sz="2400" kern="0" spc="48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cập</a:t>
            </a:r>
            <a:r>
              <a:rPr sz="2400" kern="0" spc="4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với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LINQ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171613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spc="-434" dirty="0"/>
              <a:t> </a:t>
            </a:r>
            <a:r>
              <a:rPr dirty="0"/>
              <a:t>NỘI</a:t>
            </a:r>
            <a:r>
              <a:rPr spc="-25" dirty="0"/>
              <a:t> </a:t>
            </a:r>
            <a:r>
              <a:rPr spc="-20" dirty="0"/>
              <a:t>DUNG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1664"/>
              </a:lnSpc>
            </a:pPr>
            <a:fld id="{81D60167-4931-47E6-BA6A-407CBD079E47}" type="slidenum">
              <a:rPr spc="-50" dirty="0">
                <a:solidFill>
                  <a:prstClr val="white"/>
                </a:solidFill>
              </a:rPr>
              <a:pPr marL="92710">
                <a:lnSpc>
                  <a:spcPts val="1664"/>
                </a:lnSpc>
              </a:pPr>
              <a:t>4</a:t>
            </a:fld>
            <a:endParaRPr spc="-50" dirty="0">
              <a:solidFill>
                <a:prstClr val="white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79650" y="967737"/>
            <a:ext cx="6438265" cy="4719882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349250" indent="-336550">
              <a:spcBef>
                <a:spcPts val="1285"/>
              </a:spcBef>
              <a:buFontTx/>
              <a:buAutoNum type="arabicPeriod"/>
              <a:tabLst>
                <a:tab pos="349250" algn="l"/>
              </a:tabLst>
            </a:pPr>
            <a:r>
              <a:rPr sz="2400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Tham</a:t>
            </a:r>
            <a:r>
              <a:rPr sz="2400" b="1" kern="0" spc="-7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số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49885" indent="-337185">
              <a:spcBef>
                <a:spcPts val="1190"/>
              </a:spcBef>
              <a:buFontTx/>
              <a:buAutoNum type="arabicPeriod"/>
              <a:tabLst>
                <a:tab pos="349885" algn="l"/>
              </a:tabLst>
            </a:pPr>
            <a:r>
              <a:rPr sz="2400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Tiếp</a:t>
            </a:r>
            <a:r>
              <a:rPr sz="2400" b="1" kern="0" spc="-5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nhận</a:t>
            </a:r>
            <a:r>
              <a:rPr sz="2400" b="1" kern="0" spc="-9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tham</a:t>
            </a:r>
            <a:r>
              <a:rPr sz="2400" b="1" kern="0" spc="-5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ysClr val="windowText" lastClr="000000"/>
                </a:solidFill>
                <a:latin typeface="Arial"/>
                <a:cs typeface="Arial"/>
              </a:rPr>
              <a:t>số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812800" lvl="1" indent="-342900">
              <a:spcBef>
                <a:spcPts val="1225"/>
              </a:spcBef>
              <a:buFont typeface="Wingdings"/>
              <a:buChar char=""/>
              <a:tabLst>
                <a:tab pos="812800" algn="l"/>
              </a:tabLst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Request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lvl="1" indent="-342900">
              <a:spcBef>
                <a:spcPts val="1190"/>
              </a:spcBef>
              <a:buFont typeface="Wingdings"/>
              <a:buChar char=""/>
              <a:tabLst>
                <a:tab pos="812800" algn="l"/>
              </a:tabLst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FormCollection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lvl="1" indent="-342900">
              <a:spcBef>
                <a:spcPts val="1195"/>
              </a:spcBef>
              <a:buFont typeface="Wingdings"/>
              <a:buChar char=""/>
              <a:tabLst>
                <a:tab pos="8128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Đối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400" kern="0" spc="-1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lvl="1" indent="-342900">
              <a:spcBef>
                <a:spcPts val="1225"/>
              </a:spcBef>
              <a:buFont typeface="Wingdings"/>
              <a:buChar char=""/>
              <a:tabLst>
                <a:tab pos="812800" algn="l"/>
              </a:tabLst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Model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49885" indent="-337185">
              <a:spcBef>
                <a:spcPts val="1190"/>
              </a:spcBef>
              <a:buFontTx/>
              <a:buAutoNum type="arabicPeriod"/>
              <a:tabLst>
                <a:tab pos="349885" algn="l"/>
              </a:tabLst>
            </a:pPr>
            <a:r>
              <a:rPr sz="2400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Ứng</a:t>
            </a:r>
            <a:r>
              <a:rPr sz="2400" b="1" kern="0" spc="-75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dụng:</a:t>
            </a:r>
            <a:r>
              <a:rPr sz="2400" b="1" kern="0" spc="-7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Upload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file;</a:t>
            </a:r>
            <a:r>
              <a:rPr sz="2400" kern="0" spc="-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Gửi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mail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36550" indent="-323850">
              <a:spcBef>
                <a:spcPts val="1225"/>
              </a:spcBef>
              <a:buFontTx/>
              <a:buAutoNum type="arabicPeriod"/>
              <a:tabLst>
                <a:tab pos="336550" algn="l"/>
              </a:tabLst>
            </a:pPr>
            <a:r>
              <a:rPr sz="2400" b="1" kern="0" smtClean="0">
                <a:solidFill>
                  <a:sysClr val="windowText" lastClr="000000"/>
                </a:solidFill>
                <a:latin typeface="Arial"/>
                <a:cs typeface="Arial"/>
              </a:rPr>
              <a:t>Action</a:t>
            </a:r>
            <a:r>
              <a:rPr sz="2400" b="1" kern="0" spc="-55" smtClean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Selectors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35915" indent="-323215">
              <a:spcBef>
                <a:spcPts val="1190"/>
              </a:spcBef>
              <a:buFontTx/>
              <a:buAutoNum type="arabicPeriod"/>
              <a:tabLst>
                <a:tab pos="335915" algn="l"/>
              </a:tabLst>
            </a:pPr>
            <a:r>
              <a:rPr sz="2400" b="1" kern="0" dirty="0">
                <a:solidFill>
                  <a:sysClr val="windowText" lastClr="000000"/>
                </a:solidFill>
                <a:latin typeface="Arial"/>
                <a:cs typeface="Arial"/>
              </a:rPr>
              <a:t>Action</a:t>
            </a:r>
            <a:r>
              <a:rPr sz="2400" b="1" kern="0" spc="-4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Filters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4159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9450" y="450927"/>
            <a:ext cx="8293100" cy="16211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1.</a:t>
            </a:r>
            <a:r>
              <a:rPr spc="-100" dirty="0"/>
              <a:t> </a:t>
            </a:r>
            <a:r>
              <a:rPr dirty="0"/>
              <a:t>THAM</a:t>
            </a:r>
            <a:r>
              <a:rPr spc="60" dirty="0"/>
              <a:t> </a:t>
            </a:r>
            <a:r>
              <a:rPr spc="-25" dirty="0"/>
              <a:t>SỐ</a:t>
            </a:r>
            <a:r>
              <a:rPr dirty="0"/>
              <a:t>	</a:t>
            </a:r>
          </a:p>
          <a:p>
            <a:pPr marL="569595" marR="29209">
              <a:lnSpc>
                <a:spcPct val="150100"/>
              </a:lnSpc>
              <a:spcBef>
                <a:spcPts val="540"/>
              </a:spcBef>
            </a:pPr>
            <a:r>
              <a:rPr sz="2400" b="0"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Tham</a:t>
            </a:r>
            <a:r>
              <a:rPr sz="2400" b="0" u="none" spc="18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số</a:t>
            </a:r>
            <a:r>
              <a:rPr sz="2400" b="0" u="none" spc="13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yêu</a:t>
            </a:r>
            <a:r>
              <a:rPr sz="2400" b="0" u="none" spc="13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cầu</a:t>
            </a:r>
            <a:r>
              <a:rPr sz="2400" b="0" u="none" spc="13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u="none" spc="145" dirty="0">
                <a:solidFill>
                  <a:srgbClr val="000000"/>
                </a:solidFill>
                <a:latin typeface="Microsoft Sans Serif"/>
                <a:cs typeface="Microsoft Sans Serif"/>
              </a:rPr>
              <a:t>từ</a:t>
            </a:r>
            <a:r>
              <a:rPr sz="2400" b="0" u="none" spc="15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u="none" spc="90" dirty="0">
                <a:solidFill>
                  <a:srgbClr val="000000"/>
                </a:solidFill>
                <a:latin typeface="Microsoft Sans Serif"/>
                <a:cs typeface="Microsoft Sans Serif"/>
              </a:rPr>
              <a:t>người</a:t>
            </a:r>
            <a:r>
              <a:rPr sz="2400" b="0" u="none" spc="15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dùng</a:t>
            </a:r>
            <a:r>
              <a:rPr sz="2400" b="0" u="none" spc="13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u="none" spc="120" dirty="0">
                <a:solidFill>
                  <a:srgbClr val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b="0" u="none" spc="16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cung</a:t>
            </a:r>
            <a:r>
              <a:rPr sz="2400" b="0" u="none" spc="10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cấp</a:t>
            </a:r>
            <a:r>
              <a:rPr sz="2400" b="0" u="none" spc="17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u="none" spc="114" dirty="0">
                <a:solidFill>
                  <a:srgbClr val="000000"/>
                </a:solidFill>
                <a:latin typeface="Microsoft Sans Serif"/>
                <a:cs typeface="Microsoft Sans Serif"/>
              </a:rPr>
              <a:t>dưới</a:t>
            </a:r>
            <a:r>
              <a:rPr sz="2400" b="0" u="none" spc="15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u="none" spc="-50" dirty="0">
                <a:solidFill>
                  <a:srgbClr val="000000"/>
                </a:solidFill>
                <a:latin typeface="Microsoft Sans Serif"/>
                <a:cs typeface="Microsoft Sans Serif"/>
              </a:rPr>
              <a:t>2 </a:t>
            </a:r>
            <a:r>
              <a:rPr sz="2400" b="0"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dạng:</a:t>
            </a:r>
            <a:r>
              <a:rPr sz="2400" b="0" u="none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Form</a:t>
            </a:r>
            <a:r>
              <a:rPr sz="2400" b="0" u="none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field</a:t>
            </a:r>
            <a:r>
              <a:rPr sz="2400" b="0" u="none" spc="-4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hoặc</a:t>
            </a:r>
            <a:r>
              <a:rPr sz="2400" b="0" u="none" spc="2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u="none" dirty="0">
                <a:solidFill>
                  <a:srgbClr val="000000"/>
                </a:solidFill>
                <a:latin typeface="Microsoft Sans Serif"/>
                <a:cs typeface="Microsoft Sans Serif"/>
              </a:rPr>
              <a:t>Query</a:t>
            </a:r>
            <a:r>
              <a:rPr sz="2400" b="0" u="none" spc="-1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u="none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String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95288" y="2233964"/>
            <a:ext cx="7802245" cy="4166870"/>
            <a:chOff x="971287" y="2233964"/>
            <a:chExt cx="7802245" cy="4166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1287" y="2233964"/>
              <a:ext cx="7801712" cy="123384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3665" y="3638296"/>
              <a:ext cx="7757531" cy="276250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1664"/>
              </a:lnSpc>
            </a:pPr>
            <a:fld id="{81D60167-4931-47E6-BA6A-407CBD079E47}" type="slidenum">
              <a:rPr spc="-50" dirty="0">
                <a:solidFill>
                  <a:prstClr val="white"/>
                </a:solidFill>
              </a:rPr>
              <a:pPr marL="92710">
                <a:lnSpc>
                  <a:spcPts val="1664"/>
                </a:lnSpc>
              </a:pPr>
              <a:t>5</a:t>
            </a:fld>
            <a:endParaRPr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41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</a:t>
            </a:r>
            <a:r>
              <a:rPr spc="-110" dirty="0"/>
              <a:t> </a:t>
            </a:r>
            <a:r>
              <a:rPr dirty="0"/>
              <a:t>TIẾP</a:t>
            </a:r>
            <a:r>
              <a:rPr spc="-145" dirty="0"/>
              <a:t> </a:t>
            </a:r>
            <a:r>
              <a:rPr dirty="0"/>
              <a:t>NHẬNTHAM</a:t>
            </a:r>
            <a:r>
              <a:rPr spc="85" dirty="0"/>
              <a:t> </a:t>
            </a:r>
            <a:r>
              <a:rPr spc="-25" dirty="0"/>
              <a:t>SỐ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6244" y="948295"/>
            <a:ext cx="5681980" cy="277050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spcBef>
                <a:spcPts val="1540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MVC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4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cách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nhận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tham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số: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indent="-342900">
              <a:spcBef>
                <a:spcPts val="144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spc="1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đối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tượng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ngầm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định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Request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indent="-342900">
              <a:spcBef>
                <a:spcPts val="144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spc="1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đối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của</a:t>
            </a:r>
            <a:r>
              <a:rPr sz="2400" kern="0" spc="-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indent="-342900">
              <a:spcBef>
                <a:spcPts val="144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spc="1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tham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FormCollection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indent="-342900">
              <a:spcBef>
                <a:spcPts val="144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spc="1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dụng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Model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1879" y="3833860"/>
            <a:ext cx="8279985" cy="227637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1664"/>
              </a:lnSpc>
            </a:pPr>
            <a:fld id="{81D60167-4931-47E6-BA6A-407CBD079E47}" type="slidenum">
              <a:rPr spc="-50" dirty="0">
                <a:solidFill>
                  <a:prstClr val="white"/>
                </a:solidFill>
              </a:rPr>
              <a:pPr marL="92710">
                <a:lnSpc>
                  <a:spcPts val="1664"/>
                </a:lnSpc>
              </a:pPr>
              <a:t>6</a:t>
            </a:fld>
            <a:endParaRPr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65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23973" y="1137286"/>
            <a:ext cx="8194040" cy="409919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01675" lvl="1" indent="-688975">
              <a:spcBef>
                <a:spcPts val="105"/>
              </a:spcBef>
              <a:buFontTx/>
              <a:buAutoNum type="arabicPeriod"/>
              <a:tabLst>
                <a:tab pos="701675" algn="l"/>
              </a:tabLst>
            </a:pP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Sử</a:t>
            </a:r>
            <a:r>
              <a:rPr sz="2800" b="1" kern="0" spc="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dụng</a:t>
            </a:r>
            <a:r>
              <a:rPr sz="2800" b="1" kern="0" spc="-3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9B2C1F"/>
                </a:solidFill>
                <a:latin typeface="Arial"/>
                <a:cs typeface="Arial"/>
              </a:rPr>
              <a:t>Request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94945" marR="5080">
              <a:spcBef>
                <a:spcPts val="2175"/>
              </a:spcBef>
              <a:tabLst>
                <a:tab pos="1123315" algn="l"/>
                <a:tab pos="2344420" algn="l"/>
                <a:tab pos="3099435" algn="l"/>
                <a:tab pos="3917950" algn="l"/>
                <a:tab pos="4732655" algn="l"/>
                <a:tab pos="5194300" algn="l"/>
                <a:tab pos="5761355" algn="l"/>
                <a:tab pos="6369685" algn="l"/>
                <a:tab pos="7019290" algn="l"/>
                <a:tab pos="7851775" algn="l"/>
              </a:tabLst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phương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thức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hành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động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thể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viết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một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cách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đây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nhận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tham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37845" lvl="2" indent="-342900">
              <a:spcBef>
                <a:spcPts val="1195"/>
              </a:spcBef>
              <a:buFont typeface="Wingdings"/>
              <a:buChar char=""/>
              <a:tabLst>
                <a:tab pos="53784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String</a:t>
            </a:r>
            <a:r>
              <a:rPr sz="2400" kern="0" spc="-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value =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Request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[“&lt;tham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số&gt;"];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37845" lvl="2" indent="-342900">
              <a:spcBef>
                <a:spcPts val="1225"/>
              </a:spcBef>
              <a:buFont typeface="Wingdings"/>
              <a:buChar char=""/>
              <a:tabLst>
                <a:tab pos="53784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String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value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=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Request.QueryString</a:t>
            </a:r>
            <a:r>
              <a:rPr sz="2400" kern="0" spc="-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["&lt;tham</a:t>
            </a:r>
            <a:r>
              <a:rPr sz="2400" kern="0" spc="-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số&gt;"];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37845" lvl="2" indent="-342900">
              <a:spcBef>
                <a:spcPts val="1190"/>
              </a:spcBef>
              <a:buFont typeface="Wingdings"/>
              <a:buChar char=""/>
              <a:tabLst>
                <a:tab pos="53784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String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value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=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Request.Form</a:t>
            </a:r>
            <a:r>
              <a:rPr sz="2400" kern="0" spc="-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["&lt;tham</a:t>
            </a:r>
            <a:r>
              <a:rPr sz="2400" kern="0" spc="-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số&gt;"];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94945" marR="1414145" lvl="2" indent="342900">
              <a:lnSpc>
                <a:spcPts val="4110"/>
              </a:lnSpc>
              <a:spcBef>
                <a:spcPts val="100"/>
              </a:spcBef>
              <a:buFont typeface="Wingdings"/>
              <a:buChar char=""/>
              <a:tabLst>
                <a:tab pos="53784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String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value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= Request.Params</a:t>
            </a:r>
            <a:r>
              <a:rPr sz="2400" kern="0" spc="-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["&lt;tham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số&gt;"]; 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Ví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sẽ nhận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tham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3821" y="5275897"/>
            <a:ext cx="7707355" cy="97289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</a:t>
            </a:r>
            <a:r>
              <a:rPr spc="-110" dirty="0"/>
              <a:t> </a:t>
            </a:r>
            <a:r>
              <a:rPr dirty="0"/>
              <a:t>TIẾP</a:t>
            </a:r>
            <a:r>
              <a:rPr spc="-145" dirty="0"/>
              <a:t> </a:t>
            </a:r>
            <a:r>
              <a:rPr dirty="0"/>
              <a:t>NHẬNTHAM</a:t>
            </a:r>
            <a:r>
              <a:rPr spc="85" dirty="0"/>
              <a:t> </a:t>
            </a:r>
            <a:r>
              <a:rPr spc="-25" dirty="0"/>
              <a:t>SỐ</a:t>
            </a:r>
            <a:r>
              <a:rPr dirty="0"/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1664"/>
              </a:lnSpc>
            </a:pPr>
            <a:fld id="{81D60167-4931-47E6-BA6A-407CBD079E47}" type="slidenum">
              <a:rPr spc="-50" dirty="0">
                <a:solidFill>
                  <a:prstClr val="white"/>
                </a:solidFill>
              </a:rPr>
              <a:pPr marL="92710">
                <a:lnSpc>
                  <a:spcPts val="1664"/>
                </a:lnSpc>
              </a:pPr>
              <a:t>7</a:t>
            </a:fld>
            <a:endParaRPr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432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60245" y="880112"/>
            <a:ext cx="8156575" cy="1889760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12700">
              <a:spcBef>
                <a:spcPts val="1530"/>
              </a:spcBef>
            </a:pP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2.2.</a:t>
            </a:r>
            <a:r>
              <a:rPr sz="2800" b="1" kern="0" spc="-2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Sử</a:t>
            </a:r>
            <a:r>
              <a:rPr sz="2800" b="1" kern="0" spc="-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dụng</a:t>
            </a:r>
            <a:r>
              <a:rPr sz="2800" b="1" kern="0" spc="-4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9B2C1F"/>
                </a:solidFill>
                <a:latin typeface="Arial"/>
                <a:cs typeface="Arial"/>
              </a:rPr>
              <a:t>FormCollection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501650" marR="5080" indent="-343535">
              <a:spcBef>
                <a:spcPts val="1235"/>
              </a:spcBef>
              <a:buFont typeface="Wingdings"/>
              <a:buChar char=""/>
              <a:tabLst>
                <a:tab pos="501650" algn="l"/>
                <a:tab pos="1164590" algn="l"/>
                <a:tab pos="1837055" algn="l"/>
                <a:tab pos="2445385" algn="l"/>
                <a:tab pos="3259454" algn="l"/>
                <a:tab pos="3717290" algn="l"/>
                <a:tab pos="4462780" algn="l"/>
                <a:tab pos="5085080" algn="l"/>
                <a:tab pos="5629275" algn="l"/>
                <a:tab pos="6086475" algn="l"/>
              </a:tabLst>
            </a:pP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Tập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hợp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tham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form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đối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FormCollection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của</a:t>
            </a:r>
            <a:r>
              <a:rPr sz="2400" kern="0" spc="-1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Action.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Chỉ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nhận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trường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form.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01015" indent="-342900">
              <a:spcBef>
                <a:spcPts val="5"/>
              </a:spcBef>
              <a:buFont typeface="Wingdings"/>
              <a:buChar char=""/>
              <a:tabLst>
                <a:tab pos="501015" algn="l"/>
              </a:tabLst>
            </a:pP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Ví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nhận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tham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form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tên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txtName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70505" y="5770271"/>
            <a:ext cx="565531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Cách lấy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tương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đương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với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Request.Form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687" y="2979319"/>
            <a:ext cx="7378115" cy="2763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49450" y="450927"/>
            <a:ext cx="829310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</a:t>
            </a:r>
            <a:r>
              <a:rPr spc="-110" dirty="0"/>
              <a:t> </a:t>
            </a:r>
            <a:r>
              <a:rPr dirty="0"/>
              <a:t>TIẾP</a:t>
            </a:r>
            <a:r>
              <a:rPr spc="-145" dirty="0"/>
              <a:t> </a:t>
            </a:r>
            <a:r>
              <a:rPr dirty="0"/>
              <a:t>NHẬNTHAM</a:t>
            </a:r>
            <a:r>
              <a:rPr spc="85" dirty="0"/>
              <a:t> </a:t>
            </a:r>
            <a:r>
              <a:rPr spc="-25" dirty="0"/>
              <a:t>SỐ</a:t>
            </a:r>
            <a:r>
              <a:rPr dirty="0"/>
              <a:t>	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70506" y="6165077"/>
            <a:ext cx="4826635" cy="603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5"/>
              </a:lnSpc>
            </a:pPr>
            <a:r>
              <a:rPr sz="2400" kern="0" dirty="0">
                <a:solidFill>
                  <a:srgbClr val="9B2C1F"/>
                </a:solidFill>
                <a:latin typeface="Microsoft Sans Serif"/>
                <a:cs typeface="Microsoft Sans Serif"/>
              </a:rPr>
              <a:t>var value</a:t>
            </a:r>
            <a:r>
              <a:rPr sz="2400" kern="0" spc="-5" dirty="0">
                <a:solidFill>
                  <a:srgbClr val="9B2C1F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9B2C1F"/>
                </a:solidFill>
                <a:latin typeface="Microsoft Sans Serif"/>
                <a:cs typeface="Microsoft Sans Serif"/>
              </a:rPr>
              <a:t>=</a:t>
            </a:r>
            <a:r>
              <a:rPr sz="2400" kern="0" spc="5" dirty="0">
                <a:solidFill>
                  <a:srgbClr val="9B2C1F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rgbClr val="9B2C1F"/>
                </a:solidFill>
                <a:latin typeface="Microsoft Sans Serif"/>
                <a:cs typeface="Microsoft Sans Serif"/>
              </a:rPr>
              <a:t>Request.Form[“Name”];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05435">
              <a:spcBef>
                <a:spcPts val="670"/>
              </a:spcBef>
            </a:pPr>
            <a:endParaRPr sz="10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1664"/>
              </a:lnSpc>
            </a:pPr>
            <a:fld id="{81D60167-4931-47E6-BA6A-407CBD079E47}" type="slidenum">
              <a:rPr spc="-50" dirty="0">
                <a:solidFill>
                  <a:prstClr val="white"/>
                </a:solidFill>
              </a:rPr>
              <a:pPr marL="92710">
                <a:lnSpc>
                  <a:spcPts val="1664"/>
                </a:lnSpc>
              </a:pPr>
              <a:t>8</a:t>
            </a:fld>
            <a:endParaRPr spc="-5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23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2238994" y="1155904"/>
            <a:ext cx="10943167" cy="161967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7940">
              <a:spcBef>
                <a:spcPts val="110"/>
              </a:spcBef>
            </a:pPr>
            <a:r>
              <a:rPr dirty="0"/>
              <a:t>2.3.</a:t>
            </a:r>
            <a:r>
              <a:rPr spc="-25" dirty="0"/>
              <a:t> </a:t>
            </a:r>
            <a:r>
              <a:rPr dirty="0"/>
              <a:t>Sử</a:t>
            </a:r>
            <a:r>
              <a:rPr spc="-5" dirty="0"/>
              <a:t> </a:t>
            </a:r>
            <a:r>
              <a:rPr dirty="0"/>
              <a:t>dụng</a:t>
            </a:r>
            <a:r>
              <a:rPr spc="-45" dirty="0"/>
              <a:t> </a:t>
            </a:r>
            <a:r>
              <a:rPr dirty="0"/>
              <a:t>đối</a:t>
            </a:r>
            <a:r>
              <a:rPr spc="-50" dirty="0"/>
              <a:t> </a:t>
            </a:r>
            <a:r>
              <a:rPr dirty="0"/>
              <a:t>số</a:t>
            </a:r>
            <a:r>
              <a:rPr spc="-15" dirty="0"/>
              <a:t> </a:t>
            </a:r>
            <a:r>
              <a:rPr spc="-10" dirty="0"/>
              <a:t>action</a:t>
            </a:r>
          </a:p>
          <a:p>
            <a:pPr marL="355600" indent="-342900">
              <a:spcBef>
                <a:spcPts val="1990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Định</a:t>
            </a:r>
            <a:r>
              <a:rPr sz="2400" b="0" spc="3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nghĩa</a:t>
            </a:r>
            <a:r>
              <a:rPr sz="2400" b="0" spc="3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tham</a:t>
            </a:r>
            <a:r>
              <a:rPr sz="2400" b="0" spc="2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số</a:t>
            </a:r>
            <a:r>
              <a:rPr sz="2400" b="0" spc="-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cho</a:t>
            </a:r>
            <a:r>
              <a:rPr sz="2400" b="0" spc="-14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b="0" spc="-3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b="0" spc="3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nhận</a:t>
            </a:r>
            <a:r>
              <a:rPr sz="2400" b="0" spc="3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tham</a:t>
            </a:r>
            <a:r>
              <a:rPr sz="2400" b="0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số</a:t>
            </a:r>
            <a:r>
              <a:rPr sz="2400" b="0" spc="-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cùng</a:t>
            </a:r>
            <a:r>
              <a:rPr sz="2400" b="0" spc="4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tên.</a:t>
            </a:r>
            <a:endParaRPr sz="2400">
              <a:latin typeface="Microsoft Sans Serif"/>
              <a:cs typeface="Microsoft Sans Serif"/>
            </a:endParaRPr>
          </a:p>
          <a:p>
            <a:pPr marL="354965" indent="-342265">
              <a:spcBef>
                <a:spcPts val="1440"/>
              </a:spcBef>
              <a:buFont typeface="Wingdings"/>
              <a:buChar char=""/>
              <a:tabLst>
                <a:tab pos="354965" algn="l"/>
              </a:tabLst>
            </a:pPr>
            <a:r>
              <a:rPr sz="2400" b="0" spc="65" dirty="0">
                <a:solidFill>
                  <a:srgbClr val="000000"/>
                </a:solidFill>
                <a:latin typeface="Microsoft Sans Serif"/>
                <a:cs typeface="Microsoft Sans Serif"/>
              </a:rPr>
              <a:t>Ví</a:t>
            </a:r>
            <a:r>
              <a:rPr sz="2400" b="0" spc="-3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dụ</a:t>
            </a:r>
            <a:r>
              <a:rPr sz="2400" b="0" spc="2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nhận</a:t>
            </a:r>
            <a:r>
              <a:rPr sz="2400" b="0" spc="2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2</a:t>
            </a:r>
            <a:r>
              <a:rPr sz="2400" b="0" spc="2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tham</a:t>
            </a:r>
            <a:r>
              <a:rPr sz="2400" b="0" spc="-3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số</a:t>
            </a:r>
            <a:r>
              <a:rPr sz="24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txtUserName và</a:t>
            </a:r>
            <a:r>
              <a:rPr sz="2400" b="0" spc="2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4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txtPassword: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9293" y="3256708"/>
            <a:ext cx="7382696" cy="292601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</a:t>
            </a:r>
            <a:r>
              <a:rPr spc="-110" dirty="0"/>
              <a:t> </a:t>
            </a:r>
            <a:r>
              <a:rPr dirty="0"/>
              <a:t>TIẾP</a:t>
            </a:r>
            <a:r>
              <a:rPr spc="-145" dirty="0"/>
              <a:t> </a:t>
            </a:r>
            <a:r>
              <a:rPr dirty="0"/>
              <a:t>NHẬNTHAM</a:t>
            </a:r>
            <a:r>
              <a:rPr spc="85" dirty="0"/>
              <a:t> </a:t>
            </a:r>
            <a:r>
              <a:rPr spc="-25" dirty="0"/>
              <a:t>SỐ</a:t>
            </a:r>
            <a:r>
              <a:rPr dirty="0"/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73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88616" y="859395"/>
            <a:ext cx="8229600" cy="2293620"/>
          </a:xfrm>
          <a:prstGeom prst="rect">
            <a:avLst/>
          </a:prstGeom>
        </p:spPr>
        <p:txBody>
          <a:bodyPr vert="horz" wrap="square" lIns="0" tIns="215265" rIns="0" bIns="0" rtlCol="0">
            <a:spAutoFit/>
          </a:bodyPr>
          <a:lstStyle/>
          <a:p>
            <a:pPr marL="12700">
              <a:spcBef>
                <a:spcPts val="1695"/>
              </a:spcBef>
            </a:pP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2.4.</a:t>
            </a:r>
            <a:r>
              <a:rPr sz="2800" b="1" kern="0" spc="-2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Sử</a:t>
            </a:r>
            <a:r>
              <a:rPr sz="2800" b="1" kern="0" spc="-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dụng</a:t>
            </a:r>
            <a:r>
              <a:rPr sz="2800" b="1" kern="0" spc="-4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9B2C1F"/>
                </a:solidFill>
                <a:latin typeface="Arial"/>
                <a:cs typeface="Arial"/>
              </a:rPr>
              <a:t>model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50875" indent="-421005">
              <a:spcBef>
                <a:spcPts val="1375"/>
              </a:spcBef>
              <a:buFont typeface="Wingdings"/>
              <a:buChar char=""/>
              <a:tabLst>
                <a:tab pos="65087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Tạo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lớp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Model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chứa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thuộc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tính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cùng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tên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với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tham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73405" marR="5080" indent="-343535">
              <a:lnSpc>
                <a:spcPct val="150100"/>
              </a:lnSpc>
              <a:buFont typeface="Wingdings"/>
              <a:buChar char=""/>
              <a:tabLst>
                <a:tab pos="573405" algn="l"/>
              </a:tabLst>
            </a:pPr>
            <a:r>
              <a:rPr sz="2400" kern="0" spc="1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lớp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này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làm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đối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nhận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tham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cùng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tên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với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thuộc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tính.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4900" y="3302000"/>
            <a:ext cx="7874000" cy="3149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49450" y="450927"/>
            <a:ext cx="829310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2.</a:t>
            </a:r>
            <a:r>
              <a:rPr spc="-110" dirty="0"/>
              <a:t> </a:t>
            </a:r>
            <a:r>
              <a:rPr dirty="0"/>
              <a:t>TIẾP</a:t>
            </a:r>
            <a:r>
              <a:rPr spc="-145" dirty="0"/>
              <a:t> </a:t>
            </a:r>
            <a:r>
              <a:rPr dirty="0"/>
              <a:t>NHẬNTHAM</a:t>
            </a:r>
            <a:r>
              <a:rPr spc="85" dirty="0"/>
              <a:t> </a:t>
            </a:r>
            <a:r>
              <a:rPr spc="-25" dirty="0"/>
              <a:t>SỐ</a:t>
            </a:r>
            <a:r>
              <a:rPr dirty="0"/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10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518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84326" y="66675"/>
            <a:ext cx="9020175" cy="6699250"/>
            <a:chOff x="60325" y="66675"/>
            <a:chExt cx="9020175" cy="6699250"/>
          </a:xfrm>
        </p:grpSpPr>
        <p:sp>
          <p:nvSpPr>
            <p:cNvPr id="3" name="object 3"/>
            <p:cNvSpPr/>
            <p:nvPr/>
          </p:nvSpPr>
          <p:spPr>
            <a:xfrm>
              <a:off x="63500" y="69850"/>
              <a:ext cx="9013825" cy="6692900"/>
            </a:xfrm>
            <a:custGeom>
              <a:avLst/>
              <a:gdLst/>
              <a:ahLst/>
              <a:cxnLst/>
              <a:rect l="l" t="t" r="r" b="b"/>
              <a:pathLst>
                <a:path w="9013825" h="6692900">
                  <a:moveTo>
                    <a:pt x="0" y="329946"/>
                  </a:moveTo>
                  <a:lnTo>
                    <a:pt x="3576" y="281184"/>
                  </a:lnTo>
                  <a:lnTo>
                    <a:pt x="13967" y="234645"/>
                  </a:lnTo>
                  <a:lnTo>
                    <a:pt x="30661" y="190840"/>
                  </a:lnTo>
                  <a:lnTo>
                    <a:pt x="53148" y="150277"/>
                  </a:lnTo>
                  <a:lnTo>
                    <a:pt x="80918" y="113468"/>
                  </a:lnTo>
                  <a:lnTo>
                    <a:pt x="113460" y="80923"/>
                  </a:lnTo>
                  <a:lnTo>
                    <a:pt x="150264" y="53151"/>
                  </a:lnTo>
                  <a:lnTo>
                    <a:pt x="190820" y="30662"/>
                  </a:lnTo>
                  <a:lnTo>
                    <a:pt x="234617" y="13967"/>
                  </a:lnTo>
                  <a:lnTo>
                    <a:pt x="281146" y="3576"/>
                  </a:lnTo>
                  <a:lnTo>
                    <a:pt x="329895" y="0"/>
                  </a:lnTo>
                  <a:lnTo>
                    <a:pt x="8683879" y="0"/>
                  </a:lnTo>
                  <a:lnTo>
                    <a:pt x="8732640" y="3576"/>
                  </a:lnTo>
                  <a:lnTo>
                    <a:pt x="8779179" y="13967"/>
                  </a:lnTo>
                  <a:lnTo>
                    <a:pt x="8822984" y="30662"/>
                  </a:lnTo>
                  <a:lnTo>
                    <a:pt x="8863547" y="53151"/>
                  </a:lnTo>
                  <a:lnTo>
                    <a:pt x="8900356" y="80923"/>
                  </a:lnTo>
                  <a:lnTo>
                    <a:pt x="8932901" y="113468"/>
                  </a:lnTo>
                  <a:lnTo>
                    <a:pt x="8960673" y="150277"/>
                  </a:lnTo>
                  <a:lnTo>
                    <a:pt x="8983162" y="190840"/>
                  </a:lnTo>
                  <a:lnTo>
                    <a:pt x="8999857" y="234645"/>
                  </a:lnTo>
                  <a:lnTo>
                    <a:pt x="9010248" y="281184"/>
                  </a:lnTo>
                  <a:lnTo>
                    <a:pt x="9013825" y="329946"/>
                  </a:lnTo>
                  <a:lnTo>
                    <a:pt x="9013825" y="6363004"/>
                  </a:lnTo>
                  <a:lnTo>
                    <a:pt x="9010248" y="6411753"/>
                  </a:lnTo>
                  <a:lnTo>
                    <a:pt x="8999857" y="6458282"/>
                  </a:lnTo>
                  <a:lnTo>
                    <a:pt x="8983162" y="6502079"/>
                  </a:lnTo>
                  <a:lnTo>
                    <a:pt x="8960673" y="6542635"/>
                  </a:lnTo>
                  <a:lnTo>
                    <a:pt x="8932901" y="6579439"/>
                  </a:lnTo>
                  <a:lnTo>
                    <a:pt x="8900356" y="6611981"/>
                  </a:lnTo>
                  <a:lnTo>
                    <a:pt x="8863547" y="6639751"/>
                  </a:lnTo>
                  <a:lnTo>
                    <a:pt x="8822984" y="6662238"/>
                  </a:lnTo>
                  <a:lnTo>
                    <a:pt x="8779179" y="6678932"/>
                  </a:lnTo>
                  <a:lnTo>
                    <a:pt x="8732640" y="6689323"/>
                  </a:lnTo>
                  <a:lnTo>
                    <a:pt x="8683879" y="6692900"/>
                  </a:lnTo>
                  <a:lnTo>
                    <a:pt x="329895" y="6692900"/>
                  </a:lnTo>
                  <a:lnTo>
                    <a:pt x="281146" y="6689323"/>
                  </a:lnTo>
                  <a:lnTo>
                    <a:pt x="234617" y="6678932"/>
                  </a:lnTo>
                  <a:lnTo>
                    <a:pt x="190820" y="6662238"/>
                  </a:lnTo>
                  <a:lnTo>
                    <a:pt x="150264" y="6639751"/>
                  </a:lnTo>
                  <a:lnTo>
                    <a:pt x="113460" y="6611981"/>
                  </a:lnTo>
                  <a:lnTo>
                    <a:pt x="80918" y="6579439"/>
                  </a:lnTo>
                  <a:lnTo>
                    <a:pt x="53148" y="6542635"/>
                  </a:lnTo>
                  <a:lnTo>
                    <a:pt x="30661" y="6502079"/>
                  </a:lnTo>
                  <a:lnTo>
                    <a:pt x="13967" y="6458282"/>
                  </a:lnTo>
                  <a:lnTo>
                    <a:pt x="3576" y="6411753"/>
                  </a:lnTo>
                  <a:lnTo>
                    <a:pt x="0" y="6363004"/>
                  </a:lnTo>
                  <a:lnTo>
                    <a:pt x="0" y="329946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246" y="1507337"/>
              <a:ext cx="7741286" cy="502965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6050" y="6210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5195" y="886967"/>
              <a:ext cx="8293608" cy="10515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7675" y="6567487"/>
              <a:ext cx="8315325" cy="195580"/>
            </a:xfrm>
            <a:custGeom>
              <a:avLst/>
              <a:gdLst/>
              <a:ahLst/>
              <a:cxnLst/>
              <a:rect l="l" t="t" r="r" b="b"/>
              <a:pathLst>
                <a:path w="8315325" h="195579">
                  <a:moveTo>
                    <a:pt x="2741676" y="195262"/>
                  </a:moveTo>
                  <a:lnTo>
                    <a:pt x="2735313" y="144627"/>
                  </a:lnTo>
                  <a:lnTo>
                    <a:pt x="2717393" y="99123"/>
                  </a:lnTo>
                  <a:lnTo>
                    <a:pt x="2689580" y="60566"/>
                  </a:lnTo>
                  <a:lnTo>
                    <a:pt x="2653601" y="30772"/>
                  </a:lnTo>
                  <a:lnTo>
                    <a:pt x="2611132" y="11569"/>
                  </a:lnTo>
                  <a:lnTo>
                    <a:pt x="2563876" y="4762"/>
                  </a:lnTo>
                  <a:lnTo>
                    <a:pt x="177800" y="4762"/>
                  </a:lnTo>
                  <a:lnTo>
                    <a:pt x="130530" y="11569"/>
                  </a:lnTo>
                  <a:lnTo>
                    <a:pt x="88049" y="30772"/>
                  </a:lnTo>
                  <a:lnTo>
                    <a:pt x="52070" y="60566"/>
                  </a:lnTo>
                  <a:lnTo>
                    <a:pt x="24269" y="99123"/>
                  </a:lnTo>
                  <a:lnTo>
                    <a:pt x="6350" y="144627"/>
                  </a:lnTo>
                  <a:lnTo>
                    <a:pt x="0" y="195262"/>
                  </a:lnTo>
                  <a:lnTo>
                    <a:pt x="2741676" y="195262"/>
                  </a:lnTo>
                  <a:close/>
                </a:path>
                <a:path w="8315325" h="195579">
                  <a:moveTo>
                    <a:pt x="8315325" y="190512"/>
                  </a:moveTo>
                  <a:lnTo>
                    <a:pt x="8308962" y="139865"/>
                  </a:lnTo>
                  <a:lnTo>
                    <a:pt x="8291042" y="94361"/>
                  </a:lnTo>
                  <a:lnTo>
                    <a:pt x="8263229" y="55803"/>
                  </a:lnTo>
                  <a:lnTo>
                    <a:pt x="8227250" y="26022"/>
                  </a:lnTo>
                  <a:lnTo>
                    <a:pt x="8184782" y="6807"/>
                  </a:lnTo>
                  <a:lnTo>
                    <a:pt x="8137525" y="0"/>
                  </a:lnTo>
                  <a:lnTo>
                    <a:pt x="5749925" y="0"/>
                  </a:lnTo>
                  <a:lnTo>
                    <a:pt x="5702655" y="6807"/>
                  </a:lnTo>
                  <a:lnTo>
                    <a:pt x="5660187" y="26022"/>
                  </a:lnTo>
                  <a:lnTo>
                    <a:pt x="5624207" y="55803"/>
                  </a:lnTo>
                  <a:lnTo>
                    <a:pt x="5596394" y="94361"/>
                  </a:lnTo>
                  <a:lnTo>
                    <a:pt x="5578475" y="139865"/>
                  </a:lnTo>
                  <a:lnTo>
                    <a:pt x="5572125" y="190512"/>
                  </a:lnTo>
                  <a:lnTo>
                    <a:pt x="8315325" y="190512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3.</a:t>
            </a:r>
            <a:r>
              <a:rPr spc="-25" dirty="0"/>
              <a:t> </a:t>
            </a:r>
            <a:r>
              <a:rPr dirty="0"/>
              <a:t>ỨNG</a:t>
            </a:r>
            <a:r>
              <a:rPr spc="-25" dirty="0"/>
              <a:t> </a:t>
            </a:r>
            <a:r>
              <a:rPr spc="-20" dirty="0"/>
              <a:t>DỤNG</a:t>
            </a:r>
            <a:r>
              <a:rPr dirty="0"/>
              <a:t>	</a:t>
            </a:r>
          </a:p>
        </p:txBody>
      </p:sp>
      <p:sp>
        <p:nvSpPr>
          <p:cNvPr id="9" name="object 9"/>
          <p:cNvSpPr/>
          <p:nvPr/>
        </p:nvSpPr>
        <p:spPr>
          <a:xfrm>
            <a:off x="1981200" y="990600"/>
            <a:ext cx="3505200" cy="533400"/>
          </a:xfrm>
          <a:custGeom>
            <a:avLst/>
            <a:gdLst/>
            <a:ahLst/>
            <a:cxnLst/>
            <a:rect l="l" t="t" r="r" b="b"/>
            <a:pathLst>
              <a:path w="3505200" h="533400">
                <a:moveTo>
                  <a:pt x="3505200" y="0"/>
                </a:moveTo>
                <a:lnTo>
                  <a:pt x="0" y="0"/>
                </a:lnTo>
                <a:lnTo>
                  <a:pt x="0" y="533400"/>
                </a:lnTo>
                <a:lnTo>
                  <a:pt x="3505200" y="533400"/>
                </a:lnTo>
                <a:lnTo>
                  <a:pt x="3505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4817" y="1045540"/>
            <a:ext cx="309435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3.1.</a:t>
            </a:r>
            <a:r>
              <a:rPr sz="2400" b="1" kern="0" spc="-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Máy</a:t>
            </a:r>
            <a:r>
              <a:rPr sz="2400" b="1" kern="0" spc="-6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tính</a:t>
            </a:r>
            <a:r>
              <a:rPr sz="2400" b="1" kern="0" spc="-4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cá</a:t>
            </a:r>
            <a:r>
              <a:rPr sz="2400" b="1" kern="0" spc="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9B2C1F"/>
                </a:solidFill>
                <a:latin typeface="Arial"/>
                <a:cs typeface="Arial"/>
              </a:rPr>
              <a:t>nhân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026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81200" y="990600"/>
            <a:ext cx="8382000" cy="533400"/>
          </a:xfrm>
          <a:custGeom>
            <a:avLst/>
            <a:gdLst/>
            <a:ahLst/>
            <a:cxnLst/>
            <a:rect l="l" t="t" r="r" b="b"/>
            <a:pathLst>
              <a:path w="8382000" h="533400">
                <a:moveTo>
                  <a:pt x="8382000" y="0"/>
                </a:moveTo>
                <a:lnTo>
                  <a:pt x="0" y="0"/>
                </a:lnTo>
                <a:lnTo>
                  <a:pt x="0" y="533400"/>
                </a:lnTo>
                <a:lnTo>
                  <a:pt x="8382000" y="533400"/>
                </a:lnTo>
                <a:lnTo>
                  <a:pt x="838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64816" y="1045540"/>
            <a:ext cx="354711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3.2.</a:t>
            </a:r>
            <a:r>
              <a:rPr sz="2400" b="1" kern="0" spc="-1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Đọc/Ghi</a:t>
            </a:r>
            <a:r>
              <a:rPr sz="2400" b="1" kern="0" spc="-8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file</a:t>
            </a:r>
            <a:r>
              <a:rPr sz="2400" b="1" kern="0" spc="-3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văn</a:t>
            </a:r>
            <a:r>
              <a:rPr sz="2400" b="1" kern="0" spc="-3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25" dirty="0">
                <a:solidFill>
                  <a:srgbClr val="9B2C1F"/>
                </a:solidFill>
                <a:latin typeface="Arial"/>
                <a:cs typeface="Arial"/>
              </a:rPr>
              <a:t>bản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5116" y="1637289"/>
            <a:ext cx="7679957" cy="452566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3.</a:t>
            </a:r>
            <a:r>
              <a:rPr spc="-25" dirty="0"/>
              <a:t> </a:t>
            </a:r>
            <a:r>
              <a:rPr dirty="0"/>
              <a:t>ỨNG</a:t>
            </a:r>
            <a:r>
              <a:rPr spc="-25" dirty="0"/>
              <a:t> </a:t>
            </a:r>
            <a:r>
              <a:rPr spc="-20" dirty="0"/>
              <a:t>DỤNG</a:t>
            </a:r>
            <a:r>
              <a:rPr dirty="0"/>
              <a:t>	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251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3.</a:t>
            </a:r>
            <a:r>
              <a:rPr spc="-25" dirty="0"/>
              <a:t> </a:t>
            </a:r>
            <a:r>
              <a:rPr dirty="0"/>
              <a:t>ỨNG</a:t>
            </a:r>
            <a:r>
              <a:rPr spc="-25" dirty="0"/>
              <a:t> </a:t>
            </a:r>
            <a:r>
              <a:rPr spc="-20" dirty="0"/>
              <a:t>DỤNG</a:t>
            </a:r>
            <a:r>
              <a:rPr dirty="0"/>
              <a:t>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81200" y="990600"/>
            <a:ext cx="8382000" cy="5562600"/>
            <a:chOff x="457200" y="990600"/>
            <a:chExt cx="8382000" cy="5562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1504" y="1601977"/>
              <a:ext cx="7875270" cy="495122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990600"/>
              <a:ext cx="8382000" cy="533400"/>
            </a:xfrm>
            <a:custGeom>
              <a:avLst/>
              <a:gdLst/>
              <a:ahLst/>
              <a:cxnLst/>
              <a:rect l="l" t="t" r="r" b="b"/>
              <a:pathLst>
                <a:path w="8382000" h="533400">
                  <a:moveTo>
                    <a:pt x="8382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8382000" y="533400"/>
                  </a:lnTo>
                  <a:lnTo>
                    <a:pt x="838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64816" y="1045540"/>
            <a:ext cx="4034154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3.2.</a:t>
            </a:r>
            <a:r>
              <a:rPr sz="2400" b="1" kern="0" spc="-1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Đọc/Ghi</a:t>
            </a:r>
            <a:r>
              <a:rPr sz="2400" b="1" kern="0" spc="-9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file</a:t>
            </a:r>
            <a:r>
              <a:rPr sz="2400" b="1" kern="0" spc="-3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văn</a:t>
            </a:r>
            <a:r>
              <a:rPr sz="2400" b="1" kern="0" spc="-3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bản</a:t>
            </a:r>
            <a:r>
              <a:rPr sz="2400" b="1" kern="0" spc="-2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9B2C1F"/>
                </a:solidFill>
                <a:latin typeface="Arial"/>
                <a:cs typeface="Arial"/>
              </a:rPr>
              <a:t>(tt)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50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3.</a:t>
            </a:r>
            <a:r>
              <a:rPr spc="-25" dirty="0"/>
              <a:t> </a:t>
            </a:r>
            <a:r>
              <a:rPr dirty="0"/>
              <a:t>ỨNG</a:t>
            </a:r>
            <a:r>
              <a:rPr spc="-25" dirty="0"/>
              <a:t> </a:t>
            </a:r>
            <a:r>
              <a:rPr spc="-20" dirty="0"/>
              <a:t>DỤNG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1981200" y="990600"/>
            <a:ext cx="8382000" cy="533400"/>
          </a:xfrm>
          <a:custGeom>
            <a:avLst/>
            <a:gdLst/>
            <a:ahLst/>
            <a:cxnLst/>
            <a:rect l="l" t="t" r="r" b="b"/>
            <a:pathLst>
              <a:path w="8382000" h="533400">
                <a:moveTo>
                  <a:pt x="8382000" y="0"/>
                </a:moveTo>
                <a:lnTo>
                  <a:pt x="0" y="0"/>
                </a:lnTo>
                <a:lnTo>
                  <a:pt x="0" y="533400"/>
                </a:lnTo>
                <a:lnTo>
                  <a:pt x="8382000" y="533400"/>
                </a:lnTo>
                <a:lnTo>
                  <a:pt x="838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4817" y="1045540"/>
            <a:ext cx="204787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3.3.</a:t>
            </a:r>
            <a:r>
              <a:rPr sz="2400" b="1" kern="0" spc="-2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Send</a:t>
            </a:r>
            <a:r>
              <a:rPr sz="2400" b="1" kern="0" spc="-6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9B2C1F"/>
                </a:solidFill>
                <a:latin typeface="Arial"/>
                <a:cs typeface="Arial"/>
              </a:rPr>
              <a:t>Mail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0742" y="1509434"/>
            <a:ext cx="7998206" cy="500037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258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3.</a:t>
            </a:r>
            <a:r>
              <a:rPr spc="-25" dirty="0"/>
              <a:t> </a:t>
            </a:r>
            <a:r>
              <a:rPr dirty="0"/>
              <a:t>ỨNG</a:t>
            </a:r>
            <a:r>
              <a:rPr spc="-25" dirty="0"/>
              <a:t> </a:t>
            </a:r>
            <a:r>
              <a:rPr spc="-20" dirty="0"/>
              <a:t>DỤNG</a:t>
            </a:r>
            <a:r>
              <a:rPr dirty="0"/>
              <a:t>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81200" y="990601"/>
            <a:ext cx="8382000" cy="5518785"/>
            <a:chOff x="457200" y="990600"/>
            <a:chExt cx="8382000" cy="55187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1600200"/>
              <a:ext cx="7980553" cy="48995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3437" y="1595437"/>
              <a:ext cx="7990205" cy="4909185"/>
            </a:xfrm>
            <a:custGeom>
              <a:avLst/>
              <a:gdLst/>
              <a:ahLst/>
              <a:cxnLst/>
              <a:rect l="l" t="t" r="r" b="b"/>
              <a:pathLst>
                <a:path w="7990205" h="4909184">
                  <a:moveTo>
                    <a:pt x="0" y="4909058"/>
                  </a:moveTo>
                  <a:lnTo>
                    <a:pt x="7990078" y="4909058"/>
                  </a:lnTo>
                  <a:lnTo>
                    <a:pt x="7990078" y="0"/>
                  </a:lnTo>
                  <a:lnTo>
                    <a:pt x="0" y="0"/>
                  </a:lnTo>
                  <a:lnTo>
                    <a:pt x="0" y="4909058"/>
                  </a:lnTo>
                  <a:close/>
                </a:path>
              </a:pathLst>
            </a:custGeom>
            <a:ln w="9525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57200" y="990600"/>
              <a:ext cx="8382000" cy="533400"/>
            </a:xfrm>
            <a:custGeom>
              <a:avLst/>
              <a:gdLst/>
              <a:ahLst/>
              <a:cxnLst/>
              <a:rect l="l" t="t" r="r" b="b"/>
              <a:pathLst>
                <a:path w="8382000" h="533400">
                  <a:moveTo>
                    <a:pt x="8382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8382000" y="533400"/>
                  </a:lnTo>
                  <a:lnTo>
                    <a:pt x="838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64817" y="1045540"/>
            <a:ext cx="252920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3.3.</a:t>
            </a:r>
            <a:r>
              <a:rPr sz="2400" b="1" kern="0" spc="-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Send</a:t>
            </a:r>
            <a:r>
              <a:rPr sz="2400" b="1" kern="0" spc="-4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Mail</a:t>
            </a:r>
            <a:r>
              <a:rPr sz="2400" b="1" kern="0" spc="-7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9B2C1F"/>
                </a:solidFill>
                <a:latin typeface="Arial"/>
                <a:cs typeface="Arial"/>
              </a:rPr>
              <a:t>(tt)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821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3.</a:t>
            </a:r>
            <a:r>
              <a:rPr spc="-25" dirty="0"/>
              <a:t> </a:t>
            </a:r>
            <a:r>
              <a:rPr dirty="0"/>
              <a:t>ỨNG</a:t>
            </a:r>
            <a:r>
              <a:rPr spc="-25" dirty="0"/>
              <a:t> </a:t>
            </a:r>
            <a:r>
              <a:rPr spc="-20" dirty="0"/>
              <a:t>DỤNG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1981200" y="990600"/>
            <a:ext cx="8382000" cy="533400"/>
          </a:xfrm>
          <a:custGeom>
            <a:avLst/>
            <a:gdLst/>
            <a:ahLst/>
            <a:cxnLst/>
            <a:rect l="l" t="t" r="r" b="b"/>
            <a:pathLst>
              <a:path w="8382000" h="533400">
                <a:moveTo>
                  <a:pt x="8382000" y="0"/>
                </a:moveTo>
                <a:lnTo>
                  <a:pt x="0" y="0"/>
                </a:lnTo>
                <a:lnTo>
                  <a:pt x="0" y="533400"/>
                </a:lnTo>
                <a:lnTo>
                  <a:pt x="8382000" y="533400"/>
                </a:lnTo>
                <a:lnTo>
                  <a:pt x="8382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4817" y="1045540"/>
            <a:ext cx="245046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3.4.</a:t>
            </a:r>
            <a:r>
              <a:rPr sz="2400" b="1" kern="0" spc="-1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Uppload</a:t>
            </a:r>
            <a:r>
              <a:rPr sz="2400" b="1" kern="0" spc="-9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9B2C1F"/>
                </a:solidFill>
                <a:latin typeface="Arial"/>
                <a:cs typeface="Arial"/>
              </a:rPr>
              <a:t>File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6574" y="1490345"/>
            <a:ext cx="7728077" cy="483425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16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571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3.</a:t>
            </a:r>
            <a:r>
              <a:rPr spc="-25" dirty="0"/>
              <a:t> </a:t>
            </a:r>
            <a:r>
              <a:rPr dirty="0"/>
              <a:t>ỨNG</a:t>
            </a:r>
            <a:r>
              <a:rPr spc="-25" dirty="0"/>
              <a:t> </a:t>
            </a:r>
            <a:r>
              <a:rPr spc="-20" dirty="0"/>
              <a:t>DỤNG</a:t>
            </a:r>
            <a:r>
              <a:rPr dirty="0"/>
              <a:t>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81200" y="990600"/>
            <a:ext cx="8382000" cy="5486400"/>
            <a:chOff x="457200" y="990600"/>
            <a:chExt cx="8382000" cy="5486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1485265"/>
              <a:ext cx="7805166" cy="49917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57200" y="990600"/>
              <a:ext cx="8382000" cy="533400"/>
            </a:xfrm>
            <a:custGeom>
              <a:avLst/>
              <a:gdLst/>
              <a:ahLst/>
              <a:cxnLst/>
              <a:rect l="l" t="t" r="r" b="b"/>
              <a:pathLst>
                <a:path w="8382000" h="533400">
                  <a:moveTo>
                    <a:pt x="8382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8382000" y="533400"/>
                  </a:lnTo>
                  <a:lnTo>
                    <a:pt x="838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64816" y="1045540"/>
            <a:ext cx="285369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3.4.</a:t>
            </a:r>
            <a:r>
              <a:rPr sz="2400" b="1" kern="0" spc="-1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Uppload</a:t>
            </a:r>
            <a:r>
              <a:rPr sz="2400" b="1" kern="0" spc="-9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10" dirty="0">
                <a:solidFill>
                  <a:srgbClr val="9B2C1F"/>
                </a:solidFill>
                <a:latin typeface="Arial"/>
                <a:cs typeface="Arial"/>
              </a:rPr>
              <a:t>File(tt)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847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9450" y="450927"/>
            <a:ext cx="829310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3.</a:t>
            </a:r>
            <a:r>
              <a:rPr spc="-25" dirty="0"/>
              <a:t> </a:t>
            </a:r>
            <a:r>
              <a:rPr dirty="0"/>
              <a:t>ỨNG</a:t>
            </a:r>
            <a:r>
              <a:rPr spc="-25" dirty="0"/>
              <a:t> </a:t>
            </a:r>
            <a:r>
              <a:rPr spc="-20" dirty="0"/>
              <a:t>DỤNG</a:t>
            </a:r>
            <a:r>
              <a:rPr dirty="0"/>
              <a:t>	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81200" y="990601"/>
            <a:ext cx="8382000" cy="4432935"/>
            <a:chOff x="457200" y="990600"/>
            <a:chExt cx="8382000" cy="4432935"/>
          </a:xfrm>
        </p:grpSpPr>
        <p:sp>
          <p:nvSpPr>
            <p:cNvPr id="4" name="object 4"/>
            <p:cNvSpPr/>
            <p:nvPr/>
          </p:nvSpPr>
          <p:spPr>
            <a:xfrm>
              <a:off x="457200" y="1509522"/>
              <a:ext cx="3657600" cy="533400"/>
            </a:xfrm>
            <a:custGeom>
              <a:avLst/>
              <a:gdLst/>
              <a:ahLst/>
              <a:cxnLst/>
              <a:rect l="l" t="t" r="r" b="b"/>
              <a:pathLst>
                <a:path w="3657600" h="533400">
                  <a:moveTo>
                    <a:pt x="36576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3657600" y="533400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199" y="3057182"/>
              <a:ext cx="7928302" cy="236632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7200" y="990600"/>
              <a:ext cx="8382000" cy="533400"/>
            </a:xfrm>
            <a:custGeom>
              <a:avLst/>
              <a:gdLst/>
              <a:ahLst/>
              <a:cxnLst/>
              <a:rect l="l" t="t" r="r" b="b"/>
              <a:pathLst>
                <a:path w="8382000" h="533400">
                  <a:moveTo>
                    <a:pt x="8382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8382000" y="533400"/>
                  </a:lnTo>
                  <a:lnTo>
                    <a:pt x="838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64817" y="893990"/>
            <a:ext cx="3498215" cy="195580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spcBef>
                <a:spcPts val="1305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3.4.</a:t>
            </a:r>
            <a:r>
              <a:rPr sz="2400" b="1" kern="0" spc="-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Uppload</a:t>
            </a:r>
            <a:r>
              <a:rPr sz="2400" b="1" kern="0" spc="-8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File</a:t>
            </a:r>
            <a:r>
              <a:rPr sz="2400" b="1" kern="0" spc="-7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9B2C1F"/>
                </a:solidFill>
                <a:latin typeface="Arial"/>
                <a:cs typeface="Arial"/>
              </a:rPr>
              <a:t>(tt)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34925">
              <a:spcBef>
                <a:spcPts val="1210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Giới</a:t>
            </a:r>
            <a:r>
              <a:rPr sz="2400" b="1" kern="0" spc="-4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hạn</a:t>
            </a:r>
            <a:r>
              <a:rPr sz="2400" b="1" kern="0" spc="-6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>
                <a:solidFill>
                  <a:srgbClr val="9B2C1F"/>
                </a:solidFill>
                <a:latin typeface="Arial"/>
                <a:cs typeface="Arial"/>
              </a:rPr>
              <a:t>kích</a:t>
            </a:r>
            <a:r>
              <a:rPr sz="2400" b="1" kern="0" spc="-2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>
                <a:solidFill>
                  <a:srgbClr val="9B2C1F"/>
                </a:solidFill>
                <a:latin typeface="Arial"/>
                <a:cs typeface="Arial"/>
              </a:rPr>
              <a:t>th</a:t>
            </a:r>
            <a:r>
              <a:rPr lang="vi-VN" sz="2400" b="1" kern="0">
                <a:solidFill>
                  <a:srgbClr val="9B2C1F"/>
                </a:solidFill>
                <a:cs typeface="Arial"/>
              </a:rPr>
              <a:t>ướ</a:t>
            </a:r>
            <a:r>
              <a:rPr sz="2400" b="1" kern="0">
                <a:solidFill>
                  <a:srgbClr val="9B2C1F"/>
                </a:solidFill>
                <a:latin typeface="Arial"/>
                <a:cs typeface="Arial"/>
              </a:rPr>
              <a:t>c</a:t>
            </a:r>
            <a:r>
              <a:rPr sz="2400" b="1" kern="0" spc="-6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9B2C1F"/>
                </a:solidFill>
                <a:latin typeface="Arial"/>
                <a:cs typeface="Arial"/>
              </a:rPr>
              <a:t>file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685800" indent="-342265">
              <a:spcBef>
                <a:spcPts val="1255"/>
              </a:spcBef>
              <a:buFont typeface="Wingdings"/>
              <a:buChar char=""/>
              <a:tabLst>
                <a:tab pos="6858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Mặc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định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2MB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685800" indent="-342265">
              <a:buFont typeface="Wingdings"/>
              <a:buChar char=""/>
              <a:tabLst>
                <a:tab pos="6858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Cấu</a:t>
            </a:r>
            <a:r>
              <a:rPr sz="2400" kern="0" spc="1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hình</a:t>
            </a:r>
            <a:r>
              <a:rPr sz="2400" kern="0" spc="1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giới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hạn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874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27250" y="1143000"/>
            <a:ext cx="3657600" cy="533400"/>
          </a:xfrm>
          <a:custGeom>
            <a:avLst/>
            <a:gdLst/>
            <a:ahLst/>
            <a:cxnLst/>
            <a:rect l="l" t="t" r="r" b="b"/>
            <a:pathLst>
              <a:path w="3657600" h="533400">
                <a:moveTo>
                  <a:pt x="3657600" y="0"/>
                </a:moveTo>
                <a:lnTo>
                  <a:pt x="0" y="0"/>
                </a:lnTo>
                <a:lnTo>
                  <a:pt x="0" y="533400"/>
                </a:lnTo>
                <a:lnTo>
                  <a:pt x="3657600" y="533400"/>
                </a:lnTo>
                <a:lnTo>
                  <a:pt x="3657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10817" y="1198245"/>
            <a:ext cx="129857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Bài</a:t>
            </a:r>
            <a:r>
              <a:rPr sz="2400" b="1" kern="0" spc="-3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tập</a:t>
            </a:r>
            <a:r>
              <a:rPr sz="2400" b="1" kern="0" spc="-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50" dirty="0">
                <a:solidFill>
                  <a:srgbClr val="9B2C1F"/>
                </a:solidFill>
                <a:latin typeface="Arial"/>
                <a:cs typeface="Arial"/>
              </a:rPr>
              <a:t>1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09877" y="1701547"/>
            <a:ext cx="135699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03275" algn="l"/>
              </a:tabLst>
            </a:pP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hợp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43451" y="1701547"/>
            <a:ext cx="140144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1068705" algn="l"/>
              </a:tabLst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email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09877" y="2067560"/>
            <a:ext cx="941069" cy="759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spcBef>
                <a:spcPts val="110"/>
              </a:spcBef>
            </a:pP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upload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trang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0630" y="1701546"/>
            <a:ext cx="2876550" cy="11252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711835">
              <a:spcBef>
                <a:spcPts val="110"/>
              </a:spcBef>
            </a:pP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gửi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2700" marR="5080" indent="200660">
              <a:spcBef>
                <a:spcPts val="5"/>
              </a:spcBef>
              <a:tabLst>
                <a:tab pos="831215" algn="l"/>
                <a:tab pos="1435100" algn="l"/>
                <a:tab pos="2148205" algn="l"/>
              </a:tabLst>
            </a:pP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5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xây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dựng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web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gửi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98315" y="2433269"/>
            <a:ext cx="135064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  <a:tabLst>
                <a:tab pos="1009650" algn="l"/>
              </a:tabLst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email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09877" y="2799410"/>
            <a:ext cx="133413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attach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9895" y="1506640"/>
            <a:ext cx="3980697" cy="502443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3.</a:t>
            </a:r>
            <a:r>
              <a:rPr spc="-25" dirty="0"/>
              <a:t> </a:t>
            </a:r>
            <a:r>
              <a:rPr dirty="0"/>
              <a:t>ỨNG</a:t>
            </a:r>
            <a:r>
              <a:rPr spc="-25" dirty="0"/>
              <a:t> </a:t>
            </a:r>
            <a:r>
              <a:rPr spc="-20" dirty="0"/>
              <a:t>DỤNG</a:t>
            </a:r>
            <a:r>
              <a:rPr dirty="0"/>
              <a:t>	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19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305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81200" y="1066800"/>
            <a:ext cx="8159750" cy="533400"/>
          </a:xfrm>
          <a:custGeom>
            <a:avLst/>
            <a:gdLst/>
            <a:ahLst/>
            <a:cxnLst/>
            <a:rect l="l" t="t" r="r" b="b"/>
            <a:pathLst>
              <a:path w="8159750" h="533400">
                <a:moveTo>
                  <a:pt x="8159750" y="0"/>
                </a:moveTo>
                <a:lnTo>
                  <a:pt x="0" y="0"/>
                </a:lnTo>
                <a:lnTo>
                  <a:pt x="0" y="533400"/>
                </a:lnTo>
                <a:lnTo>
                  <a:pt x="8159750" y="533400"/>
                </a:lnTo>
                <a:lnTo>
                  <a:pt x="81597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dirty="0"/>
              <a:t>3.</a:t>
            </a:r>
            <a:r>
              <a:rPr spc="-25" dirty="0"/>
              <a:t> </a:t>
            </a:r>
            <a:r>
              <a:rPr dirty="0"/>
              <a:t>ỨNG</a:t>
            </a:r>
            <a:r>
              <a:rPr spc="-25" dirty="0"/>
              <a:t> </a:t>
            </a:r>
            <a:r>
              <a:rPr spc="-20" dirty="0"/>
              <a:t>DỤNG</a:t>
            </a:r>
            <a:r>
              <a:rPr dirty="0"/>
              <a:t>	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20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4817" y="986333"/>
            <a:ext cx="8197215" cy="547941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spcBef>
                <a:spcPts val="1180"/>
              </a:spcBef>
            </a:pP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Bài</a:t>
            </a:r>
            <a:r>
              <a:rPr sz="2400" b="1" kern="0" spc="-2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tập</a:t>
            </a:r>
            <a:r>
              <a:rPr sz="2400" b="1" kern="0" spc="1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2:</a:t>
            </a:r>
            <a:r>
              <a:rPr sz="2400" b="1" kern="0" spc="-4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Nhận</a:t>
            </a:r>
            <a:r>
              <a:rPr sz="2400" b="1" kern="0" spc="-3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>
                <a:solidFill>
                  <a:srgbClr val="9B2C1F"/>
                </a:solidFill>
                <a:latin typeface="Arial"/>
                <a:cs typeface="Arial"/>
              </a:rPr>
              <a:t>và</a:t>
            </a:r>
            <a:r>
              <a:rPr sz="2400" b="1" kern="0" spc="-5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>
                <a:solidFill>
                  <a:srgbClr val="9B2C1F"/>
                </a:solidFill>
                <a:latin typeface="Arial"/>
                <a:cs typeface="Arial"/>
              </a:rPr>
              <a:t>l</a:t>
            </a:r>
            <a:r>
              <a:rPr lang="en-US" sz="2400" b="1" kern="0">
                <a:solidFill>
                  <a:srgbClr val="9B2C1F"/>
                </a:solidFill>
                <a:latin typeface="Arial"/>
                <a:cs typeface="Arial"/>
              </a:rPr>
              <a:t>ư</a:t>
            </a:r>
            <a:r>
              <a:rPr sz="2400" b="1" kern="0">
                <a:solidFill>
                  <a:srgbClr val="9B2C1F"/>
                </a:solidFill>
                <a:latin typeface="Arial"/>
                <a:cs typeface="Arial"/>
              </a:rPr>
              <a:t>u</a:t>
            </a:r>
            <a:r>
              <a:rPr sz="2400" b="1" kern="0" spc="-6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dữ</a:t>
            </a:r>
            <a:r>
              <a:rPr sz="2400" b="1" kern="0" spc="-4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liệu</a:t>
            </a:r>
            <a:r>
              <a:rPr sz="2400" b="1" kern="0" spc="-6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dirty="0">
                <a:solidFill>
                  <a:srgbClr val="9B2C1F"/>
                </a:solidFill>
                <a:latin typeface="Arial"/>
                <a:cs typeface="Arial"/>
              </a:rPr>
              <a:t>vào</a:t>
            </a:r>
            <a:r>
              <a:rPr sz="2400" b="1" kern="0" spc="-2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400" b="1" kern="0" spc="-20" dirty="0">
                <a:solidFill>
                  <a:srgbClr val="9B2C1F"/>
                </a:solidFill>
                <a:latin typeface="Arial"/>
                <a:cs typeface="Arial"/>
              </a:rPr>
              <a:t>File</a:t>
            </a:r>
            <a:endParaRPr sz="24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496570" indent="-342900">
              <a:spcBef>
                <a:spcPts val="1080"/>
              </a:spcBef>
              <a:buFont typeface="Wingdings"/>
              <a:buChar char=""/>
              <a:tabLst>
                <a:tab pos="49657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Tiếp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nhận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form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thông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tin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học viên và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lưu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954405" lvl="1" indent="-342900">
              <a:spcBef>
                <a:spcPts val="290"/>
              </a:spcBef>
              <a:buFont typeface="Wingdings"/>
              <a:buChar char=""/>
              <a:tabLst>
                <a:tab pos="95440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Mã học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viên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954405" lvl="1" indent="-342900">
              <a:spcBef>
                <a:spcPts val="330"/>
              </a:spcBef>
              <a:buFont typeface="Wingdings"/>
              <a:buChar char=""/>
              <a:tabLst>
                <a:tab pos="95440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Họ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tên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954405" lvl="1" indent="-342900">
              <a:spcBef>
                <a:spcPts val="290"/>
              </a:spcBef>
              <a:buFont typeface="Wingdings"/>
              <a:buChar char=""/>
              <a:tabLst>
                <a:tab pos="954405" algn="l"/>
              </a:tabLst>
            </a:pP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Giới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tính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954405" lvl="1" indent="-342900">
              <a:spcBef>
                <a:spcPts val="290"/>
              </a:spcBef>
              <a:buFont typeface="Wingdings"/>
              <a:buChar char=""/>
              <a:tabLst>
                <a:tab pos="95440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Ngày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sinh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954405" lvl="1" indent="-342900">
              <a:spcBef>
                <a:spcPts val="325"/>
              </a:spcBef>
              <a:buFont typeface="Wingdings"/>
              <a:buChar char=""/>
              <a:tabLst>
                <a:tab pos="95440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Học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phí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954405" lvl="1" indent="-342900">
              <a:spcBef>
                <a:spcPts val="290"/>
              </a:spcBef>
              <a:buFont typeface="Wingdings"/>
              <a:buChar char=""/>
              <a:tabLst>
                <a:tab pos="954405" algn="l"/>
              </a:tabLst>
            </a:pP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Hình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954405" lvl="1" indent="-342900">
              <a:spcBef>
                <a:spcPts val="290"/>
              </a:spcBef>
              <a:buFont typeface="Wingdings"/>
              <a:buChar char=""/>
              <a:tabLst>
                <a:tab pos="95440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Ghi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chú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496570" indent="-342900">
              <a:spcBef>
                <a:spcPts val="325"/>
              </a:spcBef>
              <a:buFont typeface="Wingdings"/>
              <a:buChar char=""/>
              <a:tabLst>
                <a:tab pos="49657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Đọc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thông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tin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học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viên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từ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xuất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ra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form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496570" indent="-342900">
              <a:spcBef>
                <a:spcPts val="290"/>
              </a:spcBef>
              <a:buFont typeface="Wingdings"/>
              <a:buChar char=""/>
              <a:tabLst>
                <a:tab pos="496570" algn="l"/>
              </a:tabLst>
            </a:pP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Gợi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ý: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954405" lvl="1" indent="-342900">
              <a:spcBef>
                <a:spcPts val="290"/>
              </a:spcBef>
              <a:buFont typeface="Wingdings"/>
              <a:buChar char=""/>
              <a:tabLst>
                <a:tab pos="954405" algn="l"/>
              </a:tabLst>
            </a:pPr>
            <a:r>
              <a:rPr sz="2400" kern="0" spc="1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model</a:t>
            </a:r>
            <a:r>
              <a:rPr sz="2400" kern="0" spc="-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nhận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tham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yêu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cầu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954405" lvl="1" indent="-342900">
              <a:spcBef>
                <a:spcPts val="330"/>
              </a:spcBef>
              <a:buFont typeface="Wingdings"/>
              <a:buChar char=""/>
              <a:tabLst>
                <a:tab pos="954405" algn="l"/>
              </a:tabLst>
            </a:pPr>
            <a:r>
              <a:rPr sz="2400" kern="0" spc="1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File.WriteAllLines()</a:t>
            </a:r>
            <a:r>
              <a:rPr sz="2400" kern="0" spc="-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lưu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thông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tin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nhân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sự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737754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9450" y="450927"/>
            <a:ext cx="8293100" cy="3651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">
              <a:spcBef>
                <a:spcPts val="110"/>
              </a:spcBef>
              <a:buSzPct val="98214"/>
              <a:tabLst>
                <a:tab pos="307975" algn="l"/>
                <a:tab pos="8279765" algn="l"/>
              </a:tabLst>
            </a:pPr>
            <a:r>
              <a:rPr lang="en-US" sz="2800" b="1" u="sng" kern="0" spc="-165" smtClean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4. </a:t>
            </a:r>
            <a:r>
              <a:rPr sz="2800" b="1" u="sng" kern="0" smtClean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ACTION</a:t>
            </a:r>
            <a:r>
              <a:rPr sz="2800" b="1" u="sng" kern="0" spc="-20" smtClean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 </a:t>
            </a:r>
            <a:r>
              <a:rPr sz="2800" b="1" u="sng" kern="0" spc="-10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SELECTORS</a:t>
            </a:r>
            <a:r>
              <a:rPr sz="2800" b="1" u="sng" kern="0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	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848994" lvl="1" indent="-457200">
              <a:spcBef>
                <a:spcPts val="3090"/>
              </a:spcBef>
              <a:buFont typeface="Wingdings"/>
              <a:buChar char=""/>
              <a:tabLst>
                <a:tab pos="848994" algn="l"/>
              </a:tabLst>
            </a:pPr>
            <a:r>
              <a:rPr sz="2800" b="1" kern="0" spc="-10" dirty="0">
                <a:solidFill>
                  <a:srgbClr val="9B2C1F"/>
                </a:solidFill>
                <a:latin typeface="Arial"/>
                <a:cs typeface="Arial"/>
              </a:rPr>
              <a:t>[HttpPost]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848994" lvl="1" indent="-457200">
              <a:spcBef>
                <a:spcPts val="2870"/>
              </a:spcBef>
              <a:buFont typeface="Wingdings"/>
              <a:buChar char=""/>
              <a:tabLst>
                <a:tab pos="848994" algn="l"/>
              </a:tabLst>
            </a:pPr>
            <a:r>
              <a:rPr sz="2800" b="1" kern="0" spc="-10" dirty="0">
                <a:solidFill>
                  <a:srgbClr val="9B2C1F"/>
                </a:solidFill>
                <a:latin typeface="Arial"/>
                <a:cs typeface="Arial"/>
              </a:rPr>
              <a:t>[HttpGet]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848994" lvl="1" indent="-457200">
              <a:spcBef>
                <a:spcPts val="2905"/>
              </a:spcBef>
              <a:buFont typeface="Wingdings"/>
              <a:buChar char=""/>
              <a:tabLst>
                <a:tab pos="848994" algn="l"/>
              </a:tabLst>
            </a:pPr>
            <a:r>
              <a:rPr sz="2800" b="1" kern="0" spc="-10" dirty="0">
                <a:solidFill>
                  <a:srgbClr val="9B2C1F"/>
                </a:solidFill>
                <a:latin typeface="Arial"/>
                <a:cs typeface="Arial"/>
              </a:rPr>
              <a:t>[ActionName(name)]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848994" lvl="1" indent="-457200">
              <a:spcBef>
                <a:spcPts val="2875"/>
              </a:spcBef>
              <a:buFont typeface="Wingdings"/>
              <a:buChar char=""/>
              <a:tabLst>
                <a:tab pos="848994" algn="l"/>
              </a:tabLst>
            </a:pPr>
            <a:r>
              <a:rPr sz="2800" b="1" kern="0" spc="-10" dirty="0">
                <a:solidFill>
                  <a:srgbClr val="9B2C1F"/>
                </a:solidFill>
                <a:latin typeface="Arial"/>
                <a:cs typeface="Arial"/>
              </a:rPr>
              <a:t>[ChildActionOnly]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93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9617" y="887334"/>
            <a:ext cx="7802245" cy="2770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95"/>
              </a:spcBef>
              <a:tabLst>
                <a:tab pos="6709409" algn="l"/>
              </a:tabLst>
            </a:pP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Một</a:t>
            </a:r>
            <a:r>
              <a:rPr sz="2400" kern="0" spc="-9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-4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sau khi</a:t>
            </a:r>
            <a:r>
              <a:rPr sz="2400" kern="0" spc="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rgbClr val="40404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định</a:t>
            </a:r>
            <a:r>
              <a:rPr sz="2400" kern="0" spc="3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nghĩa</a:t>
            </a:r>
            <a:r>
              <a:rPr sz="2400" kern="0" spc="3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thể </a:t>
            </a:r>
            <a:r>
              <a:rPr sz="2400" kern="0" spc="105" dirty="0">
                <a:solidFill>
                  <a:srgbClr val="40404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	triệu</a:t>
            </a:r>
            <a:r>
              <a:rPr sz="2400" kern="0" spc="-8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gọi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theo</a:t>
            </a:r>
            <a:r>
              <a:rPr sz="2400" kern="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cả</a:t>
            </a:r>
            <a:r>
              <a:rPr sz="2400" kern="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742117"/>
                </a:solidFill>
                <a:latin typeface="Microsoft Sans Serif"/>
                <a:cs typeface="Microsoft Sans Serif"/>
              </a:rPr>
              <a:t>POST</a:t>
            </a:r>
            <a:r>
              <a:rPr sz="2400" kern="0" spc="-60" dirty="0">
                <a:solidFill>
                  <a:srgbClr val="742117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và</a:t>
            </a:r>
            <a:r>
              <a:rPr sz="2400" kern="0" spc="-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rgbClr val="742117"/>
                </a:solidFill>
                <a:latin typeface="Microsoft Sans Serif"/>
                <a:cs typeface="Microsoft Sans Serif"/>
              </a:rPr>
              <a:t>GET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842135">
              <a:spcBef>
                <a:spcPts val="1445"/>
              </a:spcBef>
            </a:pPr>
            <a:r>
              <a:rPr sz="2400" kern="0" spc="-10" dirty="0">
                <a:solidFill>
                  <a:srgbClr val="742117"/>
                </a:solidFill>
                <a:latin typeface="Microsoft Sans Serif"/>
                <a:cs typeface="Microsoft Sans Serif"/>
              </a:rPr>
              <a:t>public</a:t>
            </a:r>
            <a:r>
              <a:rPr sz="2400" kern="0" spc="-135" dirty="0">
                <a:solidFill>
                  <a:srgbClr val="742117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742117"/>
                </a:solidFill>
                <a:latin typeface="Microsoft Sans Serif"/>
                <a:cs typeface="Microsoft Sans Serif"/>
              </a:rPr>
              <a:t>ActionResult</a:t>
            </a:r>
            <a:r>
              <a:rPr sz="2400" kern="0" spc="-70" dirty="0">
                <a:solidFill>
                  <a:srgbClr val="742117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rgbClr val="742117"/>
                </a:solidFill>
                <a:latin typeface="Microsoft Sans Serif"/>
                <a:cs typeface="Microsoft Sans Serif"/>
              </a:rPr>
              <a:t>MyAction()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marR="180975" indent="-343535">
              <a:lnSpc>
                <a:spcPct val="150100"/>
              </a:lnSpc>
              <a:buFont typeface="Wingdings"/>
              <a:buChar char=""/>
              <a:tabLst>
                <a:tab pos="355600" algn="l"/>
              </a:tabLst>
            </a:pP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Nếu</a:t>
            </a:r>
            <a:r>
              <a:rPr sz="2400" kern="0" spc="3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muốn</a:t>
            </a:r>
            <a:r>
              <a:rPr sz="2400" kern="0" spc="-2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chỉ</a:t>
            </a:r>
            <a:r>
              <a:rPr sz="2400" kern="0" spc="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gọi</a:t>
            </a:r>
            <a:r>
              <a:rPr sz="2400" kern="0" spc="5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rgbClr val="404040"/>
                </a:solidFill>
                <a:latin typeface="Microsoft Sans Serif"/>
                <a:cs typeface="Microsoft Sans Serif"/>
              </a:rPr>
              <a:t>với</a:t>
            </a:r>
            <a:r>
              <a:rPr sz="2400" kern="0" spc="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742117"/>
                </a:solidFill>
                <a:latin typeface="Microsoft Sans Serif"/>
                <a:cs typeface="Microsoft Sans Serif"/>
              </a:rPr>
              <a:t>POST</a:t>
            </a:r>
            <a:r>
              <a:rPr sz="2400" kern="0" spc="-55" dirty="0">
                <a:solidFill>
                  <a:srgbClr val="742117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hay</a:t>
            </a:r>
            <a:r>
              <a:rPr sz="2400" kern="0" spc="3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742117"/>
                </a:solidFill>
                <a:latin typeface="Microsoft Sans Serif"/>
                <a:cs typeface="Microsoft Sans Serif"/>
              </a:rPr>
              <a:t>GET</a:t>
            </a:r>
            <a:r>
              <a:rPr sz="2400" kern="0" spc="-55" dirty="0">
                <a:solidFill>
                  <a:srgbClr val="742117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thì</a:t>
            </a:r>
            <a:r>
              <a:rPr sz="2400" kern="0" spc="-1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đánh</a:t>
            </a:r>
            <a:r>
              <a:rPr sz="2400" kern="0" spc="4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rgbClr val="404040"/>
                </a:solidFill>
                <a:latin typeface="Microsoft Sans Serif"/>
                <a:cs typeface="Microsoft Sans Serif"/>
              </a:rPr>
              <a:t>dấu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-3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rgbClr val="404040"/>
                </a:solidFill>
                <a:latin typeface="Microsoft Sans Serif"/>
                <a:cs typeface="Microsoft Sans Serif"/>
              </a:rPr>
              <a:t>với</a:t>
            </a:r>
            <a:r>
              <a:rPr sz="2400" kern="0" spc="2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742117"/>
                </a:solidFill>
                <a:latin typeface="Microsoft Sans Serif"/>
                <a:cs typeface="Microsoft Sans Serif"/>
              </a:rPr>
              <a:t>[HttpPost]</a:t>
            </a:r>
            <a:r>
              <a:rPr sz="2400" kern="0" spc="-75" dirty="0">
                <a:solidFill>
                  <a:srgbClr val="742117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hay</a:t>
            </a:r>
            <a:r>
              <a:rPr sz="2400" kern="0" spc="3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rgbClr val="742117"/>
                </a:solidFill>
                <a:latin typeface="Microsoft Sans Serif"/>
                <a:cs typeface="Microsoft Sans Serif"/>
              </a:rPr>
              <a:t>[HttpGet]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22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24200" y="3810000"/>
            <a:ext cx="6705600" cy="936154"/>
          </a:xfrm>
          <a:prstGeom prst="rect">
            <a:avLst/>
          </a:prstGeom>
          <a:ln w="12700">
            <a:solidFill>
              <a:srgbClr val="9B310D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168275">
              <a:spcBef>
                <a:spcPts val="140"/>
              </a:spcBef>
            </a:pPr>
            <a:r>
              <a:rPr sz="2400" kern="0" spc="-10" dirty="0">
                <a:solidFill>
                  <a:srgbClr val="742117"/>
                </a:solidFill>
                <a:latin typeface="Microsoft Sans Serif"/>
                <a:cs typeface="Microsoft Sans Serif"/>
              </a:rPr>
              <a:t>[HttpGet]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68275">
              <a:spcBef>
                <a:spcPts val="1440"/>
              </a:spcBef>
            </a:pPr>
            <a:r>
              <a:rPr sz="2400" kern="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public</a:t>
            </a:r>
            <a:r>
              <a:rPr sz="2400" kern="0" spc="-15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ActionResult</a:t>
            </a:r>
            <a:r>
              <a:rPr sz="2400" kern="0" spc="-8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MyAction()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7883" y="5257787"/>
            <a:ext cx="6705600" cy="1136850"/>
          </a:xfrm>
          <a:prstGeom prst="rect">
            <a:avLst/>
          </a:prstGeom>
          <a:ln w="12700">
            <a:solidFill>
              <a:srgbClr val="9B310D"/>
            </a:solidFill>
          </a:ln>
        </p:spPr>
        <p:txBody>
          <a:bodyPr vert="horz" wrap="square" lIns="0" tIns="216535" rIns="0" bIns="0" rtlCol="0">
            <a:spAutoFit/>
          </a:bodyPr>
          <a:lstStyle/>
          <a:p>
            <a:pPr marL="164465">
              <a:spcBef>
                <a:spcPts val="1705"/>
              </a:spcBef>
            </a:pPr>
            <a:r>
              <a:rPr sz="2400" kern="0" spc="-10" dirty="0">
                <a:solidFill>
                  <a:srgbClr val="742117"/>
                </a:solidFill>
                <a:latin typeface="Microsoft Sans Serif"/>
                <a:cs typeface="Microsoft Sans Serif"/>
              </a:rPr>
              <a:t>[HttpPost]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64465">
              <a:spcBef>
                <a:spcPts val="1445"/>
              </a:spcBef>
            </a:pPr>
            <a:r>
              <a:rPr sz="2400" kern="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public</a:t>
            </a:r>
            <a:r>
              <a:rPr sz="2400" kern="0" spc="-150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ActionResult</a:t>
            </a:r>
            <a:r>
              <a:rPr sz="2400" kern="0" spc="-155" dirty="0">
                <a:solidFill>
                  <a:srgbClr val="40404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rgbClr val="404040"/>
                </a:solidFill>
                <a:latin typeface="Microsoft Sans Serif"/>
                <a:cs typeface="Microsoft Sans Serif"/>
              </a:rPr>
              <a:t>MyAction(MyModel</a:t>
            </a:r>
            <a:r>
              <a:rPr sz="2400" kern="0" spc="-10" dirty="0">
                <a:solidFill>
                  <a:srgbClr val="404040"/>
                </a:solidFill>
                <a:latin typeface="Microsoft Sans Serif"/>
                <a:cs typeface="Microsoft Sans Serif"/>
              </a:rPr>
              <a:t> model)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49450" y="450927"/>
            <a:ext cx="8293100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en-US" smtClean="0"/>
              <a:t>4. ACTION SELECTORS</a:t>
            </a:r>
            <a:r>
              <a:rPr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683957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en-US" smtClean="0"/>
              <a:t>4. ACTION SELECTORS</a:t>
            </a:r>
            <a:r>
              <a:rPr dirty="0"/>
              <a:t>	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23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29357" y="1205560"/>
            <a:ext cx="4156710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5600" indent="-342900">
              <a:spcBef>
                <a:spcPts val="11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Đổi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tên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giao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dịch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một</a:t>
            </a:r>
            <a:r>
              <a:rPr sz="2400" kern="0" spc="-1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38677" y="1752601"/>
            <a:ext cx="6705600" cy="934871"/>
          </a:xfrm>
          <a:prstGeom prst="rect">
            <a:avLst/>
          </a:prstGeom>
          <a:ln w="12700">
            <a:solidFill>
              <a:srgbClr val="9B310D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218440">
              <a:spcBef>
                <a:spcPts val="130"/>
              </a:spcBef>
            </a:pP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[ActionName(“OtherName”)]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218440">
              <a:spcBef>
                <a:spcPts val="1445"/>
              </a:spcBef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public</a:t>
            </a:r>
            <a:r>
              <a:rPr sz="2400" kern="0" spc="-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ActionResult</a:t>
            </a:r>
            <a:r>
              <a:rPr sz="2400" kern="0" spc="-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MyAction()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29357" y="2671811"/>
            <a:ext cx="7633334" cy="1123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50100"/>
              </a:lnSpc>
              <a:spcBef>
                <a:spcPts val="95"/>
              </a:spcBef>
              <a:buFont typeface="Wingdings"/>
              <a:buChar char=""/>
              <a:tabLst>
                <a:tab pos="355600" algn="l"/>
                <a:tab pos="977900" algn="l"/>
                <a:tab pos="1631950" algn="l"/>
                <a:tab pos="2468880" algn="l"/>
                <a:tab pos="2990215" algn="l"/>
                <a:tab pos="3831590" algn="l"/>
                <a:tab pos="6201410" algn="l"/>
                <a:tab pos="6786880" algn="l"/>
              </a:tabLst>
            </a:pP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Chỉ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phép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b="1" i="1" kern="0" spc="-10" dirty="0">
                <a:solidFill>
                  <a:srgbClr val="C00000"/>
                </a:solidFill>
                <a:latin typeface="Arial"/>
                <a:cs typeface="Arial"/>
              </a:rPr>
              <a:t>@Html.Action()</a:t>
            </a:r>
            <a:r>
              <a:rPr sz="2400" b="1" i="1" kern="0" dirty="0">
                <a:solidFill>
                  <a:srgbClr val="C00000"/>
                </a:solidFill>
                <a:latin typeface="Arial"/>
                <a:cs typeface="Arial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mà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không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phép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gọi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trực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tiếp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24200" y="3962401"/>
            <a:ext cx="6705600" cy="920765"/>
          </a:xfrm>
          <a:prstGeom prst="rect">
            <a:avLst/>
          </a:prstGeom>
          <a:ln w="12700">
            <a:solidFill>
              <a:srgbClr val="9B310D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 marL="232410">
              <a:spcBef>
                <a:spcPts val="20"/>
              </a:spcBef>
            </a:pP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[ChildActionOnly]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232410">
              <a:spcBef>
                <a:spcPts val="1445"/>
              </a:spcBef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public</a:t>
            </a:r>
            <a:r>
              <a:rPr sz="2400" kern="0" spc="-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ActionResult</a:t>
            </a:r>
            <a:r>
              <a:rPr sz="2400" kern="0" spc="-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MyAction()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130846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en-US" smtClean="0"/>
              <a:t>5. ACTION FILLTER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89048" y="6246270"/>
            <a:ext cx="165735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0"/>
              </a:lnSpc>
            </a:pPr>
            <a:r>
              <a:rPr sz="2400" kern="0" spc="-50" dirty="0">
                <a:solidFill>
                  <a:sysClr val="windowText" lastClr="000000"/>
                </a:solidFill>
                <a:latin typeface="Wingdings"/>
                <a:cs typeface="Wingdings"/>
              </a:rPr>
              <a:t></a:t>
            </a:r>
            <a:endParaRPr sz="2400" kern="0">
              <a:solidFill>
                <a:sysClr val="windowText" lastClr="000000"/>
              </a:solidFill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32201" y="6244324"/>
            <a:ext cx="399224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65"/>
              </a:lnSpc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Tất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cả</a:t>
            </a:r>
            <a:r>
              <a:rPr sz="2400" kern="0" spc="-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-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dự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án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8100">
                <a:lnSpc>
                  <a:spcPts val="1664"/>
                </a:lnSpc>
              </a:pPr>
              <a:t>24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31517" y="1091261"/>
            <a:ext cx="7806055" cy="51517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55600" marR="5080" indent="-343535" algn="just">
              <a:spcBef>
                <a:spcPts val="11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1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filter</a:t>
            </a:r>
            <a:r>
              <a:rPr sz="2400" kern="0" spc="1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1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20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1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thực</a:t>
            </a:r>
            <a:r>
              <a:rPr sz="2400" kern="0" spc="2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hiện</a:t>
            </a:r>
            <a:r>
              <a:rPr sz="2400" kern="0" spc="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2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nhiệm</a:t>
            </a:r>
            <a:r>
              <a:rPr sz="2400" kern="0" spc="229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vụ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xảy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ra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tại  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thời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điểm  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thực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hiện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khác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nhau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của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một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indent="-342900" algn="just">
              <a:spcBef>
                <a:spcPts val="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Một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số</a:t>
            </a:r>
            <a:r>
              <a:rPr sz="2400" kern="0" spc="-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-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Filter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cung cấp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sẵn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bởi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MVC5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lvl="1" indent="-342900">
              <a:buFont typeface="Wingdings"/>
              <a:buChar char=""/>
              <a:tabLst>
                <a:tab pos="812800" algn="l"/>
              </a:tabLst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[ValidateInput]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lvl="1" indent="-342900">
              <a:spcBef>
                <a:spcPts val="5"/>
              </a:spcBef>
              <a:buFont typeface="Wingdings"/>
              <a:buChar char=""/>
              <a:tabLst>
                <a:tab pos="812800" algn="l"/>
              </a:tabLst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[Authorize]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lvl="1" indent="-342900">
              <a:buFont typeface="Wingdings"/>
              <a:buChar char=""/>
              <a:tabLst>
                <a:tab pos="812800" algn="l"/>
              </a:tabLst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[ValidateAntiForgeryToken]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lvl="1" indent="-342900">
              <a:spcBef>
                <a:spcPts val="5"/>
              </a:spcBef>
              <a:buFont typeface="Wingdings"/>
              <a:buChar char=""/>
              <a:tabLst>
                <a:tab pos="812800" algn="l"/>
              </a:tabLst>
            </a:pP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[HandleError]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marR="6350" indent="-343535">
              <a:buFont typeface="Wingdings"/>
              <a:buChar char="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Ngoài</a:t>
            </a:r>
            <a:r>
              <a:rPr sz="2400" kern="0" spc="2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ra</a:t>
            </a:r>
            <a:r>
              <a:rPr sz="2400" kern="0" spc="20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chúng</a:t>
            </a:r>
            <a:r>
              <a:rPr sz="2400" kern="0" spc="1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ta</a:t>
            </a:r>
            <a:r>
              <a:rPr sz="2400" kern="0" spc="1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1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thể</a:t>
            </a:r>
            <a:r>
              <a:rPr sz="2400" kern="0" spc="1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tự</a:t>
            </a:r>
            <a:r>
              <a:rPr sz="2400" kern="0" spc="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viết</a:t>
            </a:r>
            <a:r>
              <a:rPr sz="2400" kern="0" spc="1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1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Filter</a:t>
            </a:r>
            <a:r>
              <a:rPr sz="2400" kern="0" spc="1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mục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đích</a:t>
            </a:r>
            <a:r>
              <a:rPr sz="2400" kern="0" spc="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riêng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947545"/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[InitializeSimpleMembership]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355600" indent="-342900">
              <a:spcBef>
                <a:spcPts val="5"/>
              </a:spcBef>
              <a:buFont typeface="Wingdings"/>
              <a:buChar char=""/>
              <a:tabLst>
                <a:tab pos="3556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Bộ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lọc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thể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lọc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lvl="1" indent="-342900">
              <a:buFont typeface="Wingdings"/>
              <a:buChar char=""/>
              <a:tabLst>
                <a:tab pos="8128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Một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-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đơn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lẻ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812800" lvl="1" indent="-342900">
              <a:buFont typeface="Wingdings"/>
              <a:buChar char=""/>
              <a:tabLst>
                <a:tab pos="81280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một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Controller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995554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en-US" smtClean="0"/>
              <a:t>5. ACTION FILLTER</a:t>
            </a:r>
            <a:r>
              <a:rPr dirty="0"/>
              <a:t>	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2196" y="4514850"/>
            <a:ext cx="7075805" cy="19431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09318" y="934226"/>
            <a:ext cx="8006715" cy="3394710"/>
          </a:xfrm>
          <a:prstGeom prst="rect">
            <a:avLst/>
          </a:prstGeom>
        </p:spPr>
        <p:txBody>
          <a:bodyPr vert="horz" wrap="square" lIns="0" tIns="216535" rIns="0" bIns="0" rtlCol="0">
            <a:spAutoFit/>
          </a:bodyPr>
          <a:lstStyle/>
          <a:p>
            <a:pPr marL="12700">
              <a:spcBef>
                <a:spcPts val="1705"/>
              </a:spcBef>
            </a:pPr>
            <a:r>
              <a:rPr sz="2800" b="1" kern="0" spc="-10" dirty="0">
                <a:solidFill>
                  <a:srgbClr val="9B2C1F"/>
                </a:solidFill>
                <a:latin typeface="Arial"/>
                <a:cs typeface="Arial"/>
              </a:rPr>
              <a:t>ValidateInput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556260" marR="5080" indent="-343535">
              <a:lnSpc>
                <a:spcPts val="4320"/>
              </a:lnSpc>
              <a:spcBef>
                <a:spcPts val="330"/>
              </a:spcBef>
              <a:buFont typeface="Wingdings"/>
              <a:buChar char=""/>
              <a:tabLst>
                <a:tab pos="556260" algn="l"/>
                <a:tab pos="1283335" algn="l"/>
                <a:tab pos="2129155" algn="l"/>
                <a:tab pos="2792730" algn="l"/>
                <a:tab pos="3794760" algn="l"/>
                <a:tab pos="4338955" algn="l"/>
                <a:tab pos="4984115" algn="l"/>
                <a:tab pos="5976620" algn="l"/>
                <a:tab pos="6877684" algn="l"/>
                <a:tab pos="7486015" algn="l"/>
              </a:tabLst>
            </a:pP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phép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hay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không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dữ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liệu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HTML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10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gửi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đến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Send.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013460" lvl="1" indent="-342900">
              <a:spcBef>
                <a:spcPts val="1065"/>
              </a:spcBef>
              <a:buFont typeface="Wingdings"/>
              <a:buChar char=""/>
              <a:tabLst>
                <a:tab pos="101346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Nếu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phép: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bạn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thể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nhập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HTML</a:t>
            </a:r>
            <a:r>
              <a:rPr sz="2400" kern="0" spc="-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vào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form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013460" lvl="1" indent="-342900">
              <a:spcBef>
                <a:spcPts val="1440"/>
              </a:spcBef>
              <a:buFont typeface="Wingdings"/>
              <a:buChar char=""/>
              <a:tabLst>
                <a:tab pos="1013460" algn="l"/>
              </a:tabLst>
            </a:pPr>
            <a:r>
              <a:rPr sz="2400" kern="0" spc="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Ngược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lại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sẽ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nhận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thông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báo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lỗi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670560" indent="-457834">
              <a:spcBef>
                <a:spcPts val="1445"/>
              </a:spcBef>
              <a:buFont typeface="Wingdings"/>
              <a:buChar char=""/>
              <a:tabLst>
                <a:tab pos="67056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Mã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phép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gửi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HTML</a:t>
            </a:r>
            <a:r>
              <a:rPr sz="2400" kern="0" spc="-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đến</a:t>
            </a:r>
            <a:r>
              <a:rPr sz="2400" kern="0" spc="-1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-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Send()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7465">
                <a:lnSpc>
                  <a:spcPts val="1664"/>
                </a:lnSpc>
              </a:pPr>
              <a:t>25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626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en-US" smtClean="0"/>
              <a:t>5. ACTION FILLTER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7465">
                <a:lnSpc>
                  <a:spcPts val="1664"/>
                </a:lnSpc>
              </a:pPr>
              <a:t>26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09317" y="934226"/>
            <a:ext cx="8008620" cy="5041900"/>
          </a:xfrm>
          <a:prstGeom prst="rect">
            <a:avLst/>
          </a:prstGeom>
        </p:spPr>
        <p:txBody>
          <a:bodyPr vert="horz" wrap="square" lIns="0" tIns="216535" rIns="0" bIns="0" rtlCol="0">
            <a:spAutoFit/>
          </a:bodyPr>
          <a:lstStyle/>
          <a:p>
            <a:pPr marL="12700">
              <a:spcBef>
                <a:spcPts val="1705"/>
              </a:spcBef>
            </a:pPr>
            <a:r>
              <a:rPr sz="2800" b="1" kern="0" spc="-10" dirty="0">
                <a:solidFill>
                  <a:srgbClr val="9B2C1F"/>
                </a:solidFill>
                <a:latin typeface="Arial"/>
                <a:cs typeface="Arial"/>
              </a:rPr>
              <a:t>Authorize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556260" marR="5080" indent="-343535">
              <a:lnSpc>
                <a:spcPts val="4320"/>
              </a:lnSpc>
              <a:spcBef>
                <a:spcPts val="330"/>
              </a:spcBef>
              <a:buFont typeface="Wingdings"/>
              <a:buChar char=""/>
              <a:tabLst>
                <a:tab pos="55626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Bộ</a:t>
            </a:r>
            <a:r>
              <a:rPr sz="2400" kern="0" spc="1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lọc</a:t>
            </a:r>
            <a:r>
              <a:rPr sz="2400" kern="0" spc="1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[Authorize]</a:t>
            </a:r>
            <a:r>
              <a:rPr sz="2400" kern="0" spc="1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1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1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1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1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19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kiểm</a:t>
            </a:r>
            <a:r>
              <a:rPr sz="2400" kern="0" spc="17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tra</a:t>
            </a:r>
            <a:r>
              <a:rPr sz="2400" kern="0" spc="1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việc</a:t>
            </a:r>
            <a:r>
              <a:rPr sz="2400" kern="0" spc="1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truy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xuất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-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với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thẩm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quyền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phù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hợp.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555625" indent="-342900">
              <a:spcBef>
                <a:spcPts val="1065"/>
              </a:spcBef>
              <a:buFont typeface="Wingdings"/>
              <a:buChar char=""/>
              <a:tabLst>
                <a:tab pos="55562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3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dạng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thường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013460" lvl="1" indent="-342900">
              <a:spcBef>
                <a:spcPts val="1440"/>
              </a:spcBef>
              <a:buFont typeface="Wingdings"/>
              <a:buChar char=""/>
              <a:tabLst>
                <a:tab pos="1013460" algn="l"/>
              </a:tabLst>
            </a:pP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[Authorize]</a:t>
            </a:r>
            <a:r>
              <a:rPr sz="2400" kern="0" spc="-4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Chỉ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phép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truy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xuất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đăng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nhập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013460" marR="8890" lvl="1" indent="-342900">
              <a:lnSpc>
                <a:spcPct val="150100"/>
              </a:lnSpc>
              <a:buFont typeface="Wingdings"/>
              <a:buChar char=""/>
              <a:tabLst>
                <a:tab pos="1013460" algn="l"/>
                <a:tab pos="5121275" algn="l"/>
                <a:tab pos="5821045" algn="l"/>
                <a:tab pos="6562090" algn="l"/>
                <a:tab pos="7481570" algn="l"/>
              </a:tabLst>
            </a:pP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[Authorize(users=“u1,u2…”)]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Chỉ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phép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truy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xuất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với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user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u1,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3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u2…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013460" marR="8255" lvl="1" indent="-342900">
              <a:lnSpc>
                <a:spcPct val="150100"/>
              </a:lnSpc>
              <a:spcBef>
                <a:spcPts val="5"/>
              </a:spcBef>
              <a:buFont typeface="Wingdings"/>
              <a:buChar char=""/>
              <a:tabLst>
                <a:tab pos="1013460" algn="l"/>
                <a:tab pos="4777740" algn="l"/>
                <a:tab pos="5981065" algn="l"/>
                <a:tab pos="6786245" algn="l"/>
              </a:tabLst>
            </a:pP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[Authorize(roles=“r1,r2…”)]</a:t>
            </a: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Chỉ</a:t>
            </a:r>
            <a:r>
              <a:rPr sz="2400" kern="0" spc="2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cho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phép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truy</a:t>
            </a:r>
            <a:r>
              <a:rPr sz="2400" kern="0" spc="3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xuất 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với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user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vai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trò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r1,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3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r2…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562920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en-US" smtClean="0"/>
              <a:t>5. ACTION FILLTER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09318" y="1137285"/>
            <a:ext cx="165798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800" b="1" kern="0" spc="-10" dirty="0">
                <a:solidFill>
                  <a:srgbClr val="9B2C1F"/>
                </a:solidFill>
                <a:latin typeface="Arial"/>
                <a:cs typeface="Arial"/>
              </a:rPr>
              <a:t>Authorize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9137" y="1739783"/>
            <a:ext cx="7740484" cy="46419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7465">
                <a:lnSpc>
                  <a:spcPts val="1664"/>
                </a:lnSpc>
              </a:pPr>
              <a:t>27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2475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en-US" smtClean="0"/>
              <a:t>5. ACTION FILLTER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09318" y="1137285"/>
            <a:ext cx="300418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800" b="1" kern="0" spc="-10" dirty="0">
                <a:solidFill>
                  <a:srgbClr val="9B2C1F"/>
                </a:solidFill>
                <a:latin typeface="Arial"/>
                <a:cs typeface="Arial"/>
              </a:rPr>
              <a:t>AllowAnonyMous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108" y="1687894"/>
            <a:ext cx="7712013" cy="474675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7465">
                <a:lnSpc>
                  <a:spcPts val="1664"/>
                </a:lnSpc>
              </a:pPr>
              <a:t>28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481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en-US" smtClean="0"/>
              <a:t>5. ACTION FILLTER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09318" y="1137285"/>
            <a:ext cx="526605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Lọc</a:t>
            </a:r>
            <a:r>
              <a:rPr sz="2800" b="1" kern="0" spc="-8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hết</a:t>
            </a:r>
            <a:r>
              <a:rPr sz="2800" b="1" kern="0" spc="-3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các</a:t>
            </a:r>
            <a:r>
              <a:rPr sz="2800" b="1" kern="0" spc="-15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Action</a:t>
            </a:r>
            <a:r>
              <a:rPr sz="2800" b="1" kern="0" spc="4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trong</a:t>
            </a:r>
            <a:r>
              <a:rPr sz="2800" b="1" kern="0" spc="-6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dự</a:t>
            </a:r>
            <a:r>
              <a:rPr sz="2800" b="1" kern="0" spc="-8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spc="-25" dirty="0">
                <a:solidFill>
                  <a:srgbClr val="9B2C1F"/>
                </a:solidFill>
                <a:latin typeface="Arial"/>
                <a:cs typeface="Arial"/>
              </a:rPr>
              <a:t>án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5467" y="1676400"/>
            <a:ext cx="7496683" cy="47625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7465">
                <a:lnSpc>
                  <a:spcPts val="1664"/>
                </a:lnSpc>
              </a:pPr>
              <a:t>29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0093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en-US" smtClean="0"/>
              <a:t>5. ACTION FILLTER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7465">
                <a:lnSpc>
                  <a:spcPts val="1664"/>
                </a:lnSpc>
              </a:pPr>
              <a:t>30</a:t>
            </a:fld>
            <a:endParaRPr spc="-25" dirty="0">
              <a:solidFill>
                <a:prstClr val="white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09318" y="978582"/>
            <a:ext cx="8105775" cy="532511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12700">
              <a:spcBef>
                <a:spcPts val="1355"/>
              </a:spcBef>
            </a:pP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Custom</a:t>
            </a:r>
            <a:r>
              <a:rPr sz="2800" b="1" kern="0" spc="-18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Action</a:t>
            </a:r>
            <a:r>
              <a:rPr sz="2800" b="1" kern="0" spc="-4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9B2C1F"/>
                </a:solidFill>
                <a:latin typeface="Arial"/>
                <a:cs typeface="Arial"/>
              </a:rPr>
              <a:t>Fillter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63905" marR="5080" indent="-343535" algn="just">
              <a:spcBef>
                <a:spcPts val="1090"/>
              </a:spcBef>
              <a:buFont typeface="Wingdings"/>
              <a:buChar char=""/>
              <a:tabLst>
                <a:tab pos="763905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Bộ</a:t>
            </a:r>
            <a:r>
              <a:rPr sz="2400" kern="0" spc="229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lọc</a:t>
            </a:r>
            <a:r>
              <a:rPr sz="2400" kern="0" spc="2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tùy</a:t>
            </a:r>
            <a:r>
              <a:rPr sz="2400" kern="0" spc="1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biến</a:t>
            </a:r>
            <a:r>
              <a:rPr sz="2400" kern="0" spc="2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1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spc="204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spc="2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để</a:t>
            </a:r>
            <a:r>
              <a:rPr sz="2400" kern="0" spc="1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thực</a:t>
            </a:r>
            <a:r>
              <a:rPr sz="2400" kern="0" spc="229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hiện</a:t>
            </a:r>
            <a:r>
              <a:rPr sz="2400" kern="0" spc="19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giám</a:t>
            </a:r>
            <a:r>
              <a:rPr sz="2400" kern="0" spc="2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sát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việc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7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thực</a:t>
            </a:r>
            <a:r>
              <a:rPr sz="2400" kern="0" spc="4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của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tại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thời</a:t>
            </a:r>
            <a:r>
              <a:rPr sz="2400" kern="0" spc="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điểm</a:t>
            </a:r>
            <a:r>
              <a:rPr sz="2400" kern="0" spc="6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khác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nhau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theo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yêu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cầu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của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riêng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mình.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763270" indent="-342265" algn="just">
              <a:spcBef>
                <a:spcPts val="1195"/>
              </a:spcBef>
              <a:buFont typeface="Wingdings"/>
              <a:buChar char=""/>
              <a:tabLst>
                <a:tab pos="763270" algn="l"/>
              </a:tabLst>
            </a:pP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spc="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bốn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5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thời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điểm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cần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1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được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giám</a:t>
            </a:r>
            <a:r>
              <a:rPr sz="2400" kern="0" spc="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sát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1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221105" lvl="1" indent="-342900">
              <a:spcBef>
                <a:spcPts val="1225"/>
              </a:spcBef>
              <a:buFont typeface="Wingdings"/>
              <a:buChar char=""/>
              <a:tabLst>
                <a:tab pos="1221105" algn="l"/>
              </a:tabLst>
            </a:pP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OnActionExecuting():</a:t>
            </a:r>
            <a:r>
              <a:rPr sz="2400" kern="0" spc="-9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Trước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lúc</a:t>
            </a:r>
            <a:r>
              <a:rPr sz="2400" kern="0" spc="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-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chạy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221105" lvl="1" indent="-342900">
              <a:spcBef>
                <a:spcPts val="1190"/>
              </a:spcBef>
              <a:buFont typeface="Wingdings"/>
              <a:buChar char=""/>
              <a:tabLst>
                <a:tab pos="1221105" algn="l"/>
              </a:tabLst>
            </a:pPr>
            <a:r>
              <a:rPr sz="24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OnActionResulting():</a:t>
            </a:r>
            <a:r>
              <a:rPr sz="2400" kern="0" spc="-8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Trước</a:t>
            </a:r>
            <a:r>
              <a:rPr sz="2400" kern="0" spc="-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lúc</a:t>
            </a:r>
            <a:r>
              <a:rPr sz="2400" kern="0" spc="4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trả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spc="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quả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221105" lvl="1" indent="-342900">
              <a:spcBef>
                <a:spcPts val="1190"/>
              </a:spcBef>
              <a:buFont typeface="Wingdings"/>
              <a:buChar char=""/>
              <a:tabLst>
                <a:tab pos="1221105" algn="l"/>
              </a:tabLst>
            </a:pP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OnActionResulted():</a:t>
            </a:r>
            <a:r>
              <a:rPr sz="2400" kern="0" spc="-7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khi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đã</a:t>
            </a:r>
            <a:r>
              <a:rPr sz="2400" kern="0" spc="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trả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kết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quả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1221105" lvl="1" indent="-342900">
              <a:spcBef>
                <a:spcPts val="1230"/>
              </a:spcBef>
              <a:buFont typeface="Wingdings"/>
              <a:buChar char=""/>
              <a:tabLst>
                <a:tab pos="1221105" algn="l"/>
              </a:tabLst>
            </a:pPr>
            <a:r>
              <a:rPr sz="2400" kern="0" dirty="0">
                <a:solidFill>
                  <a:srgbClr val="C00000"/>
                </a:solidFill>
                <a:latin typeface="Microsoft Sans Serif"/>
                <a:cs typeface="Microsoft Sans Serif"/>
              </a:rPr>
              <a:t>OnActionExecuted():</a:t>
            </a:r>
            <a:r>
              <a:rPr sz="2400" kern="0" spc="-5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spc="-3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khi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-6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chạy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762635" marR="7620" indent="-342265">
              <a:spcBef>
                <a:spcPts val="1190"/>
              </a:spcBef>
              <a:buFont typeface="Wingdings"/>
              <a:buChar char=""/>
              <a:tabLst>
                <a:tab pos="763905" algn="l"/>
                <a:tab pos="1440815" algn="l"/>
                <a:tab pos="1966595" algn="l"/>
                <a:tab pos="2675890" algn="l"/>
                <a:tab pos="3568065" algn="l"/>
                <a:tab pos="4596765" algn="l"/>
                <a:tab pos="5237480" algn="l"/>
                <a:tab pos="5690235" algn="l"/>
                <a:tab pos="6248400" algn="l"/>
                <a:tab pos="6737984" algn="l"/>
                <a:tab pos="7546975" algn="l"/>
              </a:tabLst>
            </a:pP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Sau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khi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định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nghĩa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action,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bạn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có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thể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10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sử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dụng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	</a:t>
            </a:r>
            <a:r>
              <a:rPr sz="2400" kern="0" spc="5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như 	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các</a:t>
            </a:r>
            <a:r>
              <a:rPr sz="2400" kern="0" spc="-1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action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hỗ</a:t>
            </a:r>
            <a:r>
              <a:rPr sz="2400" kern="0" spc="-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8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trợ</a:t>
            </a:r>
            <a:r>
              <a:rPr sz="2400" kern="0" spc="1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sẵn</a:t>
            </a:r>
            <a:r>
              <a:rPr sz="2400" kern="0" spc="-5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trong</a:t>
            </a:r>
            <a:r>
              <a:rPr sz="2400" kern="0" spc="3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 </a:t>
            </a:r>
            <a:r>
              <a:rPr sz="2400" kern="0" spc="-20" dirty="0">
                <a:solidFill>
                  <a:sysClr val="windowText" lastClr="000000"/>
                </a:solidFill>
                <a:latin typeface="Microsoft Sans Serif"/>
                <a:cs typeface="Microsoft Sans Serif"/>
              </a:rPr>
              <a:t>MVC5</a:t>
            </a:r>
            <a:endParaRPr sz="24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9571371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en-US" smtClean="0"/>
              <a:t>5. ACTION FILLTER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09318" y="1137285"/>
            <a:ext cx="4126229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Định</a:t>
            </a:r>
            <a:r>
              <a:rPr sz="2800" b="1" kern="0" spc="-10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nghĩa</a:t>
            </a:r>
            <a:r>
              <a:rPr sz="2800" b="1" kern="0" spc="-18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Action</a:t>
            </a:r>
            <a:r>
              <a:rPr sz="2800" b="1" kern="0" spc="3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9B2C1F"/>
                </a:solidFill>
                <a:latin typeface="Arial"/>
                <a:cs typeface="Arial"/>
              </a:rPr>
              <a:t>Fillter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72842" y="1666875"/>
            <a:ext cx="7715884" cy="4781550"/>
            <a:chOff x="748842" y="1666875"/>
            <a:chExt cx="7715884" cy="47815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367" y="1698971"/>
              <a:ext cx="7696708" cy="462707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53605" y="1671637"/>
              <a:ext cx="7706359" cy="4772025"/>
            </a:xfrm>
            <a:custGeom>
              <a:avLst/>
              <a:gdLst/>
              <a:ahLst/>
              <a:cxnLst/>
              <a:rect l="l" t="t" r="r" b="b"/>
              <a:pathLst>
                <a:path w="7706359" h="4772025">
                  <a:moveTo>
                    <a:pt x="0" y="4772025"/>
                  </a:moveTo>
                  <a:lnTo>
                    <a:pt x="7706233" y="4772025"/>
                  </a:lnTo>
                  <a:lnTo>
                    <a:pt x="7706233" y="0"/>
                  </a:lnTo>
                  <a:lnTo>
                    <a:pt x="0" y="0"/>
                  </a:lnTo>
                  <a:lnTo>
                    <a:pt x="0" y="4772025"/>
                  </a:lnTo>
                  <a:close/>
                </a:path>
              </a:pathLst>
            </a:custGeom>
            <a:ln w="9525">
              <a:solidFill>
                <a:srgbClr val="D24717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7465">
                <a:lnSpc>
                  <a:spcPts val="1664"/>
                </a:lnSpc>
              </a:pPr>
              <a:t>31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3195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1268" y="450927"/>
            <a:ext cx="11057467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en-US" smtClean="0"/>
              <a:t>5. ACTION FILLTER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09317" y="1137285"/>
            <a:ext cx="37477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Sử</a:t>
            </a:r>
            <a:r>
              <a:rPr sz="2800" b="1" kern="0" spc="-9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dụng</a:t>
            </a:r>
            <a:r>
              <a:rPr sz="2800" b="1" kern="0" spc="-19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Action</a:t>
            </a:r>
            <a:r>
              <a:rPr sz="2800" b="1" kern="0" spc="35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9B2C1F"/>
                </a:solidFill>
                <a:latin typeface="Arial"/>
                <a:cs typeface="Arial"/>
              </a:rPr>
              <a:t>Fillter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2326" y="1688054"/>
            <a:ext cx="7637923" cy="48214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7465">
                <a:lnSpc>
                  <a:spcPts val="1664"/>
                </a:lnSpc>
              </a:pPr>
              <a:t>32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4549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9450" y="450926"/>
            <a:ext cx="8293100" cy="327215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  <a:tabLst>
                <a:tab pos="8279765" algn="l"/>
              </a:tabLst>
            </a:pPr>
            <a:r>
              <a:rPr lang="en-US" sz="2800" b="1" u="sng" kern="0" smtClean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5. ACTION FILLTER</a:t>
            </a:r>
            <a:r>
              <a:rPr sz="2800" b="1" u="sng" kern="0" dirty="0">
                <a:solidFill>
                  <a:srgbClr val="9B2C1F"/>
                </a:solidFill>
                <a:uFill>
                  <a:solidFill>
                    <a:srgbClr val="D24717"/>
                  </a:solidFill>
                </a:uFill>
                <a:latin typeface="Arial"/>
                <a:cs typeface="Arial"/>
              </a:rPr>
              <a:t>	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172085">
              <a:spcBef>
                <a:spcPts val="2039"/>
              </a:spcBef>
            </a:pPr>
            <a:r>
              <a:rPr sz="2800" b="1" kern="0" dirty="0">
                <a:solidFill>
                  <a:srgbClr val="9B2C1F"/>
                </a:solidFill>
                <a:latin typeface="Arial"/>
                <a:cs typeface="Arial"/>
              </a:rPr>
              <a:t>Demo</a:t>
            </a:r>
            <a:r>
              <a:rPr sz="2800" b="1" kern="0" spc="-50" dirty="0">
                <a:solidFill>
                  <a:srgbClr val="9B2C1F"/>
                </a:solidFill>
                <a:latin typeface="Arial"/>
                <a:cs typeface="Arial"/>
              </a:rPr>
              <a:t> </a:t>
            </a:r>
            <a:r>
              <a:rPr sz="2800" b="1" kern="0" spc="-10" dirty="0">
                <a:solidFill>
                  <a:srgbClr val="9B2C1F"/>
                </a:solidFill>
                <a:latin typeface="Arial"/>
                <a:cs typeface="Arial"/>
              </a:rPr>
              <a:t>HitCounter</a:t>
            </a:r>
            <a:endParaRPr sz="2800" kern="0">
              <a:solidFill>
                <a:sysClr val="windowText" lastClr="000000"/>
              </a:solidFill>
              <a:latin typeface="Arial"/>
              <a:cs typeface="Arial"/>
            </a:endParaRPr>
          </a:p>
          <a:p>
            <a:pPr marL="737870" marR="39370">
              <a:lnSpc>
                <a:spcPts val="3350"/>
              </a:lnSpc>
              <a:spcBef>
                <a:spcPts val="1085"/>
              </a:spcBef>
              <a:tabLst>
                <a:tab pos="1386840" algn="l"/>
                <a:tab pos="2347595" algn="l"/>
                <a:tab pos="2974340" algn="l"/>
                <a:tab pos="3541395" algn="l"/>
                <a:tab pos="4227830" algn="l"/>
                <a:tab pos="4776470" algn="l"/>
                <a:tab pos="5417185" algn="l"/>
                <a:tab pos="6181090" algn="l"/>
                <a:tab pos="6926580" algn="l"/>
                <a:tab pos="7672070" algn="l"/>
              </a:tabLst>
            </a:pPr>
            <a:r>
              <a:rPr sz="2800" kern="0" spc="125" dirty="0">
                <a:solidFill>
                  <a:srgbClr val="0D0D0D"/>
                </a:solidFill>
                <a:latin typeface="Microsoft Sans Serif"/>
                <a:cs typeface="Microsoft Sans Serif"/>
              </a:rPr>
              <a:t>Sử</a:t>
            </a:r>
            <a:r>
              <a:rPr sz="2800" kern="0" dirty="0">
                <a:solidFill>
                  <a:srgbClr val="0D0D0D"/>
                </a:solidFill>
                <a:latin typeface="Microsoft Sans Serif"/>
                <a:cs typeface="Microsoft Sans Serif"/>
              </a:rPr>
              <a:t>	</a:t>
            </a:r>
            <a:r>
              <a:rPr sz="2800" kern="0" spc="-20" dirty="0">
                <a:solidFill>
                  <a:srgbClr val="0D0D0D"/>
                </a:solidFill>
                <a:latin typeface="Microsoft Sans Serif"/>
                <a:cs typeface="Microsoft Sans Serif"/>
              </a:rPr>
              <a:t>dụng</a:t>
            </a:r>
            <a:r>
              <a:rPr sz="2800" kern="0" dirty="0">
                <a:solidFill>
                  <a:srgbClr val="0D0D0D"/>
                </a:solidFill>
                <a:latin typeface="Microsoft Sans Serif"/>
                <a:cs typeface="Microsoft Sans Serif"/>
              </a:rPr>
              <a:t>	</a:t>
            </a:r>
            <a:r>
              <a:rPr sz="2800" kern="0" spc="-20" dirty="0">
                <a:solidFill>
                  <a:srgbClr val="0D0D0D"/>
                </a:solidFill>
                <a:latin typeface="Microsoft Sans Serif"/>
                <a:cs typeface="Microsoft Sans Serif"/>
              </a:rPr>
              <a:t>file</a:t>
            </a:r>
            <a:r>
              <a:rPr sz="2800" kern="0" dirty="0">
                <a:solidFill>
                  <a:srgbClr val="0D0D0D"/>
                </a:solidFill>
                <a:latin typeface="Microsoft Sans Serif"/>
                <a:cs typeface="Microsoft Sans Serif"/>
              </a:rPr>
              <a:t>	</a:t>
            </a:r>
            <a:r>
              <a:rPr sz="2800" kern="0" spc="-25" dirty="0">
                <a:solidFill>
                  <a:srgbClr val="0D0D0D"/>
                </a:solidFill>
                <a:latin typeface="Microsoft Sans Serif"/>
                <a:cs typeface="Microsoft Sans Serif"/>
              </a:rPr>
              <a:t>để</a:t>
            </a:r>
            <a:r>
              <a:rPr sz="2800" kern="0" dirty="0">
                <a:solidFill>
                  <a:srgbClr val="0D0D0D"/>
                </a:solidFill>
                <a:latin typeface="Microsoft Sans Serif"/>
                <a:cs typeface="Microsoft Sans Serif"/>
              </a:rPr>
              <a:t>	</a:t>
            </a:r>
            <a:r>
              <a:rPr sz="2800" kern="0" spc="65" dirty="0">
                <a:solidFill>
                  <a:srgbClr val="0D0D0D"/>
                </a:solidFill>
                <a:latin typeface="Microsoft Sans Serif"/>
                <a:cs typeface="Microsoft Sans Serif"/>
              </a:rPr>
              <a:t>lưu</a:t>
            </a:r>
            <a:r>
              <a:rPr sz="2800" kern="0" dirty="0">
                <a:solidFill>
                  <a:srgbClr val="0D0D0D"/>
                </a:solidFill>
                <a:latin typeface="Microsoft Sans Serif"/>
                <a:cs typeface="Microsoft Sans Serif"/>
              </a:rPr>
              <a:t>	</a:t>
            </a:r>
            <a:r>
              <a:rPr sz="2800" kern="0" spc="-25" dirty="0">
                <a:solidFill>
                  <a:srgbClr val="0D0D0D"/>
                </a:solidFill>
                <a:latin typeface="Microsoft Sans Serif"/>
                <a:cs typeface="Microsoft Sans Serif"/>
              </a:rPr>
              <a:t>số</a:t>
            </a:r>
            <a:r>
              <a:rPr sz="2800" kern="0" dirty="0">
                <a:solidFill>
                  <a:srgbClr val="0D0D0D"/>
                </a:solidFill>
                <a:latin typeface="Microsoft Sans Serif"/>
                <a:cs typeface="Microsoft Sans Serif"/>
              </a:rPr>
              <a:t>	</a:t>
            </a:r>
            <a:r>
              <a:rPr sz="2800" kern="0" spc="-25" dirty="0">
                <a:solidFill>
                  <a:srgbClr val="0D0D0D"/>
                </a:solidFill>
                <a:latin typeface="Microsoft Sans Serif"/>
                <a:cs typeface="Microsoft Sans Serif"/>
              </a:rPr>
              <a:t>lần</a:t>
            </a:r>
            <a:r>
              <a:rPr sz="2800" kern="0" dirty="0">
                <a:solidFill>
                  <a:srgbClr val="0D0D0D"/>
                </a:solidFill>
                <a:latin typeface="Microsoft Sans Serif"/>
                <a:cs typeface="Microsoft Sans Serif"/>
              </a:rPr>
              <a:t>	</a:t>
            </a:r>
            <a:r>
              <a:rPr sz="2800" kern="0" spc="-20" dirty="0">
                <a:solidFill>
                  <a:srgbClr val="0D0D0D"/>
                </a:solidFill>
                <a:latin typeface="Microsoft Sans Serif"/>
                <a:cs typeface="Microsoft Sans Serif"/>
              </a:rPr>
              <a:t>truy</a:t>
            </a:r>
            <a:r>
              <a:rPr sz="2800" kern="0" dirty="0">
                <a:solidFill>
                  <a:srgbClr val="0D0D0D"/>
                </a:solidFill>
                <a:latin typeface="Microsoft Sans Serif"/>
                <a:cs typeface="Microsoft Sans Serif"/>
              </a:rPr>
              <a:t>	</a:t>
            </a:r>
            <a:r>
              <a:rPr sz="2800" kern="0" spc="-25" dirty="0">
                <a:solidFill>
                  <a:srgbClr val="0D0D0D"/>
                </a:solidFill>
                <a:latin typeface="Microsoft Sans Serif"/>
                <a:cs typeface="Microsoft Sans Serif"/>
              </a:rPr>
              <a:t>cập</a:t>
            </a:r>
            <a:r>
              <a:rPr sz="2800" kern="0" dirty="0">
                <a:solidFill>
                  <a:srgbClr val="0D0D0D"/>
                </a:solidFill>
                <a:latin typeface="Microsoft Sans Serif"/>
                <a:cs typeface="Microsoft Sans Serif"/>
              </a:rPr>
              <a:t>	</a:t>
            </a:r>
            <a:r>
              <a:rPr sz="2800" kern="0" spc="-25" dirty="0">
                <a:solidFill>
                  <a:srgbClr val="0D0D0D"/>
                </a:solidFill>
                <a:latin typeface="Microsoft Sans Serif"/>
                <a:cs typeface="Microsoft Sans Serif"/>
              </a:rPr>
              <a:t>của</a:t>
            </a:r>
            <a:r>
              <a:rPr sz="2800" kern="0" dirty="0">
                <a:solidFill>
                  <a:srgbClr val="0D0D0D"/>
                </a:solidFill>
                <a:latin typeface="Microsoft Sans Serif"/>
                <a:cs typeface="Microsoft Sans Serif"/>
              </a:rPr>
              <a:t>	</a:t>
            </a:r>
            <a:r>
              <a:rPr sz="2800" kern="0" spc="-25" dirty="0">
                <a:solidFill>
                  <a:srgbClr val="0D0D0D"/>
                </a:solidFill>
                <a:latin typeface="Microsoft Sans Serif"/>
                <a:cs typeface="Microsoft Sans Serif"/>
              </a:rPr>
              <a:t>mỗi </a:t>
            </a:r>
            <a:r>
              <a:rPr sz="2800" kern="0" dirty="0">
                <a:solidFill>
                  <a:srgbClr val="0D0D0D"/>
                </a:solidFill>
                <a:latin typeface="Microsoft Sans Serif"/>
                <a:cs typeface="Microsoft Sans Serif"/>
              </a:rPr>
              <a:t>trang</a:t>
            </a:r>
            <a:r>
              <a:rPr sz="2800" kern="0" spc="-50" dirty="0">
                <a:solidFill>
                  <a:srgbClr val="0D0D0D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rgbClr val="0D0D0D"/>
                </a:solidFill>
                <a:latin typeface="Microsoft Sans Serif"/>
                <a:cs typeface="Microsoft Sans Serif"/>
              </a:rPr>
              <a:t>trong</a:t>
            </a:r>
            <a:r>
              <a:rPr sz="2800" kern="0" spc="-15" dirty="0">
                <a:solidFill>
                  <a:srgbClr val="0D0D0D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10" dirty="0">
                <a:solidFill>
                  <a:srgbClr val="0D0D0D"/>
                </a:solidFill>
                <a:latin typeface="Microsoft Sans Serif"/>
                <a:cs typeface="Microsoft Sans Serif"/>
              </a:rPr>
              <a:t>website</a:t>
            </a:r>
            <a:endParaRPr sz="28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2736850">
              <a:spcBef>
                <a:spcPts val="1105"/>
              </a:spcBef>
            </a:pPr>
            <a:r>
              <a:rPr sz="2800" kern="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Dictionary&lt;String,</a:t>
            </a:r>
            <a:r>
              <a:rPr sz="2800" kern="0" spc="1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20" dirty="0">
                <a:solidFill>
                  <a:srgbClr val="C00000"/>
                </a:solidFill>
                <a:latin typeface="Microsoft Sans Serif"/>
                <a:cs typeface="Microsoft Sans Serif"/>
              </a:rPr>
              <a:t>int&gt;</a:t>
            </a:r>
            <a:endParaRPr sz="28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  <a:p>
            <a:pPr marL="737870">
              <a:spcBef>
                <a:spcPts val="1180"/>
              </a:spcBef>
            </a:pPr>
            <a:r>
              <a:rPr sz="2800" kern="0" dirty="0">
                <a:solidFill>
                  <a:srgbClr val="0D0D0D"/>
                </a:solidFill>
                <a:latin typeface="Wingdings"/>
                <a:cs typeface="Wingdings"/>
              </a:rPr>
              <a:t></a:t>
            </a:r>
            <a:r>
              <a:rPr sz="2800" kern="0" spc="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sz="2800" kern="0" dirty="0">
                <a:solidFill>
                  <a:srgbClr val="0D0D0D"/>
                </a:solidFill>
                <a:latin typeface="Microsoft Sans Serif"/>
                <a:cs typeface="Microsoft Sans Serif"/>
              </a:rPr>
              <a:t>để</a:t>
            </a:r>
            <a:r>
              <a:rPr sz="2800" kern="0" spc="10" dirty="0">
                <a:solidFill>
                  <a:srgbClr val="0D0D0D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90" dirty="0">
                <a:solidFill>
                  <a:srgbClr val="0D0D0D"/>
                </a:solidFill>
                <a:latin typeface="Microsoft Sans Serif"/>
                <a:cs typeface="Microsoft Sans Serif"/>
              </a:rPr>
              <a:t>lưu</a:t>
            </a:r>
            <a:r>
              <a:rPr sz="2800" kern="0" spc="5" dirty="0">
                <a:solidFill>
                  <a:srgbClr val="0D0D0D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rgbClr val="0D0D0D"/>
                </a:solidFill>
                <a:latin typeface="Microsoft Sans Serif"/>
                <a:cs typeface="Microsoft Sans Serif"/>
              </a:rPr>
              <a:t>danh</a:t>
            </a:r>
            <a:r>
              <a:rPr sz="2800" kern="0" spc="50" dirty="0">
                <a:solidFill>
                  <a:srgbClr val="0D0D0D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rgbClr val="0D0D0D"/>
                </a:solidFill>
                <a:latin typeface="Microsoft Sans Serif"/>
                <a:cs typeface="Microsoft Sans Serif"/>
              </a:rPr>
              <a:t>sách</a:t>
            </a:r>
            <a:r>
              <a:rPr sz="2800" kern="0" spc="10" dirty="0">
                <a:solidFill>
                  <a:srgbClr val="0D0D0D"/>
                </a:solidFill>
                <a:latin typeface="Microsoft Sans Serif"/>
                <a:cs typeface="Microsoft Sans Serif"/>
              </a:rPr>
              <a:t> </a:t>
            </a:r>
            <a:r>
              <a:rPr sz="2800" kern="0" dirty="0">
                <a:solidFill>
                  <a:srgbClr val="0D0D0D"/>
                </a:solidFill>
                <a:latin typeface="Microsoft Sans Serif"/>
                <a:cs typeface="Microsoft Sans Serif"/>
              </a:rPr>
              <a:t>truy</a:t>
            </a:r>
            <a:r>
              <a:rPr sz="2800" kern="0" spc="30" dirty="0">
                <a:solidFill>
                  <a:srgbClr val="0D0D0D"/>
                </a:solidFill>
                <a:latin typeface="Microsoft Sans Serif"/>
                <a:cs typeface="Microsoft Sans Serif"/>
              </a:rPr>
              <a:t> </a:t>
            </a:r>
            <a:r>
              <a:rPr sz="2800" kern="0" spc="-25" dirty="0">
                <a:solidFill>
                  <a:srgbClr val="0D0D0D"/>
                </a:solidFill>
                <a:latin typeface="Microsoft Sans Serif"/>
                <a:cs typeface="Microsoft Sans Serif"/>
              </a:rPr>
              <a:t>cập</a:t>
            </a:r>
            <a:endParaRPr sz="2800" kern="0">
              <a:solidFill>
                <a:sysClr val="windowText" lastClr="0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7465">
                <a:lnSpc>
                  <a:spcPts val="1664"/>
                </a:lnSpc>
              </a:pPr>
              <a:t>33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6762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6675"/>
            <a:ext cx="12192000" cy="6697980"/>
            <a:chOff x="61912" y="66675"/>
            <a:chExt cx="9022080" cy="6697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087" y="69850"/>
              <a:ext cx="9013888" cy="66913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5087" y="69850"/>
              <a:ext cx="9014460" cy="6691630"/>
            </a:xfrm>
            <a:custGeom>
              <a:avLst/>
              <a:gdLst/>
              <a:ahLst/>
              <a:cxnLst/>
              <a:rect l="l" t="t" r="r" b="b"/>
              <a:pathLst>
                <a:path w="9014460" h="6691630">
                  <a:moveTo>
                    <a:pt x="0" y="329819"/>
                  </a:moveTo>
                  <a:lnTo>
                    <a:pt x="3576" y="281088"/>
                  </a:lnTo>
                  <a:lnTo>
                    <a:pt x="13964" y="234576"/>
                  </a:lnTo>
                  <a:lnTo>
                    <a:pt x="30653" y="190791"/>
                  </a:lnTo>
                  <a:lnTo>
                    <a:pt x="53135" y="150245"/>
                  </a:lnTo>
                  <a:lnTo>
                    <a:pt x="80898" y="113448"/>
                  </a:lnTo>
                  <a:lnTo>
                    <a:pt x="113432" y="80911"/>
                  </a:lnTo>
                  <a:lnTo>
                    <a:pt x="150228" y="53144"/>
                  </a:lnTo>
                  <a:lnTo>
                    <a:pt x="190774" y="30660"/>
                  </a:lnTo>
                  <a:lnTo>
                    <a:pt x="234562" y="13967"/>
                  </a:lnTo>
                  <a:lnTo>
                    <a:pt x="281080" y="3576"/>
                  </a:lnTo>
                  <a:lnTo>
                    <a:pt x="329819" y="0"/>
                  </a:lnTo>
                  <a:lnTo>
                    <a:pt x="8684069" y="0"/>
                  </a:lnTo>
                  <a:lnTo>
                    <a:pt x="8732799" y="3576"/>
                  </a:lnTo>
                  <a:lnTo>
                    <a:pt x="8779312" y="13967"/>
                  </a:lnTo>
                  <a:lnTo>
                    <a:pt x="8823097" y="30660"/>
                  </a:lnTo>
                  <a:lnTo>
                    <a:pt x="8863643" y="53144"/>
                  </a:lnTo>
                  <a:lnTo>
                    <a:pt x="8900440" y="80911"/>
                  </a:lnTo>
                  <a:lnTo>
                    <a:pt x="8932977" y="113448"/>
                  </a:lnTo>
                  <a:lnTo>
                    <a:pt x="8960743" y="150245"/>
                  </a:lnTo>
                  <a:lnTo>
                    <a:pt x="8983228" y="190791"/>
                  </a:lnTo>
                  <a:lnTo>
                    <a:pt x="8999921" y="234576"/>
                  </a:lnTo>
                  <a:lnTo>
                    <a:pt x="9010311" y="281088"/>
                  </a:lnTo>
                  <a:lnTo>
                    <a:pt x="9013888" y="329819"/>
                  </a:lnTo>
                  <a:lnTo>
                    <a:pt x="9013888" y="6361493"/>
                  </a:lnTo>
                  <a:lnTo>
                    <a:pt x="9010311" y="6410232"/>
                  </a:lnTo>
                  <a:lnTo>
                    <a:pt x="8999921" y="6456750"/>
                  </a:lnTo>
                  <a:lnTo>
                    <a:pt x="8983228" y="6500538"/>
                  </a:lnTo>
                  <a:lnTo>
                    <a:pt x="8960743" y="6541084"/>
                  </a:lnTo>
                  <a:lnTo>
                    <a:pt x="8932977" y="6577880"/>
                  </a:lnTo>
                  <a:lnTo>
                    <a:pt x="8900440" y="6610414"/>
                  </a:lnTo>
                  <a:lnTo>
                    <a:pt x="8863643" y="6638178"/>
                  </a:lnTo>
                  <a:lnTo>
                    <a:pt x="8823097" y="6660659"/>
                  </a:lnTo>
                  <a:lnTo>
                    <a:pt x="8779312" y="6677349"/>
                  </a:lnTo>
                  <a:lnTo>
                    <a:pt x="8732799" y="6687737"/>
                  </a:lnTo>
                  <a:lnTo>
                    <a:pt x="8684069" y="6691313"/>
                  </a:lnTo>
                  <a:lnTo>
                    <a:pt x="329819" y="6691313"/>
                  </a:lnTo>
                  <a:lnTo>
                    <a:pt x="281080" y="6687737"/>
                  </a:lnTo>
                  <a:lnTo>
                    <a:pt x="234562" y="6677349"/>
                  </a:lnTo>
                  <a:lnTo>
                    <a:pt x="190774" y="6660659"/>
                  </a:lnTo>
                  <a:lnTo>
                    <a:pt x="150228" y="6638178"/>
                  </a:lnTo>
                  <a:lnTo>
                    <a:pt x="113432" y="6610414"/>
                  </a:lnTo>
                  <a:lnTo>
                    <a:pt x="80898" y="6577880"/>
                  </a:lnTo>
                  <a:lnTo>
                    <a:pt x="53135" y="6541084"/>
                  </a:lnTo>
                  <a:lnTo>
                    <a:pt x="30653" y="6500538"/>
                  </a:lnTo>
                  <a:lnTo>
                    <a:pt x="13964" y="6456750"/>
                  </a:lnTo>
                  <a:lnTo>
                    <a:pt x="3576" y="6410232"/>
                  </a:lnTo>
                  <a:lnTo>
                    <a:pt x="0" y="6361493"/>
                  </a:lnTo>
                  <a:lnTo>
                    <a:pt x="0" y="329819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3500" y="1397000"/>
              <a:ext cx="9020175" cy="120650"/>
            </a:xfrm>
            <a:custGeom>
              <a:avLst/>
              <a:gdLst/>
              <a:ahLst/>
              <a:cxnLst/>
              <a:rect l="l" t="t" r="r" b="b"/>
              <a:pathLst>
                <a:path w="9020175" h="120650">
                  <a:moveTo>
                    <a:pt x="9020175" y="0"/>
                  </a:moveTo>
                  <a:lnTo>
                    <a:pt x="0" y="0"/>
                  </a:lnTo>
                  <a:lnTo>
                    <a:pt x="0" y="120650"/>
                  </a:lnTo>
                  <a:lnTo>
                    <a:pt x="9020175" y="120650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3500" y="2976626"/>
              <a:ext cx="9020175" cy="111125"/>
            </a:xfrm>
            <a:custGeom>
              <a:avLst/>
              <a:gdLst/>
              <a:ahLst/>
              <a:cxnLst/>
              <a:rect l="l" t="t" r="r" b="b"/>
              <a:pathLst>
                <a:path w="9020175" h="111125">
                  <a:moveTo>
                    <a:pt x="9020175" y="0"/>
                  </a:moveTo>
                  <a:lnTo>
                    <a:pt x="0" y="0"/>
                  </a:lnTo>
                  <a:lnTo>
                    <a:pt x="0" y="111125"/>
                  </a:lnTo>
                  <a:lnTo>
                    <a:pt x="9020175" y="111125"/>
                  </a:lnTo>
                  <a:lnTo>
                    <a:pt x="9020175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46050" y="62103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4"/>
                  </a:lnTo>
                  <a:lnTo>
                    <a:pt x="100788" y="39041"/>
                  </a:lnTo>
                  <a:lnTo>
                    <a:pt x="66955" y="66955"/>
                  </a:lnTo>
                  <a:lnTo>
                    <a:pt x="39041" y="100788"/>
                  </a:lnTo>
                  <a:lnTo>
                    <a:pt x="17964" y="139619"/>
                  </a:lnTo>
                  <a:lnTo>
                    <a:pt x="4644" y="182529"/>
                  </a:lnTo>
                  <a:lnTo>
                    <a:pt x="0" y="228600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600"/>
                  </a:lnTo>
                  <a:lnTo>
                    <a:pt x="452555" y="182529"/>
                  </a:lnTo>
                  <a:lnTo>
                    <a:pt x="439235" y="139619"/>
                  </a:lnTo>
                  <a:lnTo>
                    <a:pt x="418158" y="100788"/>
                  </a:lnTo>
                  <a:lnTo>
                    <a:pt x="390244" y="66955"/>
                  </a:lnTo>
                  <a:lnTo>
                    <a:pt x="356411" y="39041"/>
                  </a:lnTo>
                  <a:lnTo>
                    <a:pt x="317580" y="17964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D24717"/>
            </a:solidFill>
          </p:spPr>
          <p:txBody>
            <a:bodyPr wrap="square" lIns="0" tIns="0" rIns="0" bIns="0" rtlCol="0"/>
            <a:lstStyle/>
            <a:p>
              <a:endParaRPr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87501" y="1517651"/>
            <a:ext cx="9020175" cy="2323713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289560" rIns="0" bIns="0" rtlCol="0">
            <a:spAutoFit/>
          </a:bodyPr>
          <a:lstStyle/>
          <a:p>
            <a:pPr marL="1270" algn="ctr">
              <a:spcBef>
                <a:spcPts val="2280"/>
              </a:spcBef>
            </a:pPr>
            <a:r>
              <a:rPr lang="en-US" sz="6600" u="none">
                <a:solidFill>
                  <a:srgbClr val="FFFFFF"/>
                </a:solidFill>
              </a:rPr>
              <a:t>THẢO LUẬN </a:t>
            </a:r>
            <a:br>
              <a:rPr lang="en-US" sz="6600" u="none">
                <a:solidFill>
                  <a:srgbClr val="FFFFFF"/>
                </a:solidFill>
              </a:rPr>
            </a:br>
            <a:r>
              <a:rPr lang="en-US" sz="6600" u="none">
                <a:solidFill>
                  <a:srgbClr val="FFFFFF"/>
                </a:solidFill>
              </a:rPr>
              <a:t>VÀ THỰC HÀNH</a:t>
            </a:r>
            <a:endParaRPr sz="6600"/>
          </a:p>
        </p:txBody>
      </p:sp>
      <p:sp>
        <p:nvSpPr>
          <p:cNvPr id="9" name="object 9"/>
          <p:cNvSpPr/>
          <p:nvPr/>
        </p:nvSpPr>
        <p:spPr>
          <a:xfrm>
            <a:off x="1971676" y="6567487"/>
            <a:ext cx="8315325" cy="195580"/>
          </a:xfrm>
          <a:custGeom>
            <a:avLst/>
            <a:gdLst/>
            <a:ahLst/>
            <a:cxnLst/>
            <a:rect l="l" t="t" r="r" b="b"/>
            <a:pathLst>
              <a:path w="8315325" h="195579">
                <a:moveTo>
                  <a:pt x="2741676" y="195262"/>
                </a:moveTo>
                <a:lnTo>
                  <a:pt x="2735313" y="144627"/>
                </a:lnTo>
                <a:lnTo>
                  <a:pt x="2717393" y="99123"/>
                </a:lnTo>
                <a:lnTo>
                  <a:pt x="2689580" y="60566"/>
                </a:lnTo>
                <a:lnTo>
                  <a:pt x="2653601" y="30772"/>
                </a:lnTo>
                <a:lnTo>
                  <a:pt x="2611132" y="11569"/>
                </a:lnTo>
                <a:lnTo>
                  <a:pt x="2563876" y="4762"/>
                </a:lnTo>
                <a:lnTo>
                  <a:pt x="177800" y="4762"/>
                </a:lnTo>
                <a:lnTo>
                  <a:pt x="130530" y="11569"/>
                </a:lnTo>
                <a:lnTo>
                  <a:pt x="88049" y="30772"/>
                </a:lnTo>
                <a:lnTo>
                  <a:pt x="52070" y="60566"/>
                </a:lnTo>
                <a:lnTo>
                  <a:pt x="24269" y="99123"/>
                </a:lnTo>
                <a:lnTo>
                  <a:pt x="6350" y="144627"/>
                </a:lnTo>
                <a:lnTo>
                  <a:pt x="0" y="195262"/>
                </a:lnTo>
                <a:lnTo>
                  <a:pt x="2741676" y="195262"/>
                </a:lnTo>
                <a:close/>
              </a:path>
              <a:path w="8315325" h="195579">
                <a:moveTo>
                  <a:pt x="8315325" y="190512"/>
                </a:moveTo>
                <a:lnTo>
                  <a:pt x="8308962" y="139865"/>
                </a:lnTo>
                <a:lnTo>
                  <a:pt x="8291042" y="94361"/>
                </a:lnTo>
                <a:lnTo>
                  <a:pt x="8263229" y="55803"/>
                </a:lnTo>
                <a:lnTo>
                  <a:pt x="8227250" y="26022"/>
                </a:lnTo>
                <a:lnTo>
                  <a:pt x="8184782" y="6807"/>
                </a:lnTo>
                <a:lnTo>
                  <a:pt x="8137525" y="0"/>
                </a:lnTo>
                <a:lnTo>
                  <a:pt x="5749925" y="0"/>
                </a:lnTo>
                <a:lnTo>
                  <a:pt x="5702655" y="6807"/>
                </a:lnTo>
                <a:lnTo>
                  <a:pt x="5660187" y="26022"/>
                </a:lnTo>
                <a:lnTo>
                  <a:pt x="5624207" y="55803"/>
                </a:lnTo>
                <a:lnTo>
                  <a:pt x="5596394" y="94361"/>
                </a:lnTo>
                <a:lnTo>
                  <a:pt x="5578475" y="139865"/>
                </a:lnTo>
                <a:lnTo>
                  <a:pt x="5572125" y="190512"/>
                </a:lnTo>
                <a:lnTo>
                  <a:pt x="8315325" y="190512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 kern="0">
              <a:solidFill>
                <a:sysClr val="windowText" lastClr="000000"/>
              </a:solidFill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ts val="1664"/>
              </a:lnSpc>
            </a:pPr>
            <a:fld id="{81D60167-4931-47E6-BA6A-407CBD079E47}" type="slidenum">
              <a:rPr spc="-25" dirty="0">
                <a:solidFill>
                  <a:prstClr val="white"/>
                </a:solidFill>
              </a:rPr>
              <a:pPr marL="37465">
                <a:lnSpc>
                  <a:spcPts val="1664"/>
                </a:lnSpc>
              </a:pPr>
              <a:t>34</a:t>
            </a:fld>
            <a:endParaRPr spc="-25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565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802</Words>
  <Application>Microsoft Office PowerPoint</Application>
  <PresentationFormat>Widescreen</PresentationFormat>
  <Paragraphs>200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Calibri</vt:lpstr>
      <vt:lpstr>Calibri Light</vt:lpstr>
      <vt:lpstr>Franklin Gothic Medium</vt:lpstr>
      <vt:lpstr>Microsoft Sans Serif</vt:lpstr>
      <vt:lpstr>Times New Roman</vt:lpstr>
      <vt:lpstr>Wingdings</vt:lpstr>
      <vt:lpstr>Office Theme</vt:lpstr>
      <vt:lpstr>1_Office Theme</vt:lpstr>
      <vt:lpstr>LẬP TRÌNH WEBSITE (ASP.NET MVC)</vt:lpstr>
      <vt:lpstr> GIỚI THIỆU </vt:lpstr>
      <vt:lpstr> MỤC TIÊU </vt:lpstr>
      <vt:lpstr> NỘI DUNG </vt:lpstr>
      <vt:lpstr>1. THAM SỐ  Tham số yêu cầu từ người dùng được cung cấp dưới 2 dạng: Form field hoặc Query String</vt:lpstr>
      <vt:lpstr>2. TIẾP NHẬNTHAM SỐ </vt:lpstr>
      <vt:lpstr>2. TIẾP NHẬNTHAM SỐ </vt:lpstr>
      <vt:lpstr>2. TIẾP NHẬNTHAM SỐ </vt:lpstr>
      <vt:lpstr>2. TIẾP NHẬNTHAM SỐ </vt:lpstr>
      <vt:lpstr>2. TIẾP NHẬNTHAM SỐ </vt:lpstr>
      <vt:lpstr>3. ỨNG DỤNG </vt:lpstr>
      <vt:lpstr>3. ỨNG DỤNG </vt:lpstr>
      <vt:lpstr>3. ỨNG DỤNG </vt:lpstr>
      <vt:lpstr>3. ỨNG DỤNG </vt:lpstr>
      <vt:lpstr>3. ỨNG DỤNG </vt:lpstr>
      <vt:lpstr>3. ỨNG DỤNG </vt:lpstr>
      <vt:lpstr>3. ỨNG DỤNG </vt:lpstr>
      <vt:lpstr>3. ỨNG DỤNG </vt:lpstr>
      <vt:lpstr>3. ỨNG DỤNG </vt:lpstr>
      <vt:lpstr>3. ỨNG DỤNG </vt:lpstr>
      <vt:lpstr>PowerPoint Presentation</vt:lpstr>
      <vt:lpstr>4. ACTION SELECTORS </vt:lpstr>
      <vt:lpstr>4. ACTION SELECTORS </vt:lpstr>
      <vt:lpstr>5. ACTION FILLTER </vt:lpstr>
      <vt:lpstr>5. ACTION FILLTER </vt:lpstr>
      <vt:lpstr>5. ACTION FILLTER </vt:lpstr>
      <vt:lpstr>5. ACTION FILLTER </vt:lpstr>
      <vt:lpstr>5. ACTION FILLTER </vt:lpstr>
      <vt:lpstr>5. ACTION FILLTER </vt:lpstr>
      <vt:lpstr>5. ACTION FILLTER </vt:lpstr>
      <vt:lpstr>5. ACTION FILLTER </vt:lpstr>
      <vt:lpstr>5. ACTION FILLTER </vt:lpstr>
      <vt:lpstr>PowerPoint Presentation</vt:lpstr>
      <vt:lpstr>THẢO LUẬN  VÀ THỰC HÀNH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WEBSITE (ASP.NET MVC 5)</dc:title>
  <dc:creator>Microsoft account</dc:creator>
  <cp:lastModifiedBy>Microsoft account</cp:lastModifiedBy>
  <cp:revision>8</cp:revision>
  <dcterms:created xsi:type="dcterms:W3CDTF">2025-08-18T01:29:04Z</dcterms:created>
  <dcterms:modified xsi:type="dcterms:W3CDTF">2025-09-08T01:02:37Z</dcterms:modified>
</cp:coreProperties>
</file>