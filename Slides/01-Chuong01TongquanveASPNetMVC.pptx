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57"/>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308" r:id="rId19"/>
    <p:sldId id="309"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529" autoAdjust="0"/>
    <p:restoredTop sz="94660"/>
  </p:normalViewPr>
  <p:slideViewPr>
    <p:cSldViewPr snapToGrid="0">
      <p:cViewPr varScale="1">
        <p:scale>
          <a:sx n="67" d="100"/>
          <a:sy n="67" d="100"/>
        </p:scale>
        <p:origin x="84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tableStyles" Target="tableStyle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notesMaster" Target="notesMasters/notesMaster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3E757E-955F-44DB-8390-62245CFC5A00}" type="datetimeFigureOut">
              <a:rPr lang="en-US" smtClean="0"/>
              <a:t>9/8/2025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6C0170-45BB-428E-82DD-4656BBA44DF0}" type="slidenum">
              <a:rPr lang="en-US" smtClean="0"/>
              <a:t>‹#›</a:t>
            </a:fld>
            <a:endParaRPr lang="en-US"/>
          </a:p>
        </p:txBody>
      </p:sp>
    </p:spTree>
    <p:extLst>
      <p:ext uri="{BB962C8B-B14F-4D97-AF65-F5344CB8AC3E}">
        <p14:creationId xmlns:p14="http://schemas.microsoft.com/office/powerpoint/2010/main" val="20657353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ASP.NET MVC là framework phát triển web của Microsoft dựa trên mô hình Model – View – Controller, giúp tách biệt rõ ràng giao diện, xử lý và dữ liệu. Nhờ hiệu năng cao, hỗ trợ SEO và dễ bảo trì, ASP.NET MVC được ứng dụng rộng rãi trong nhiều hệ thống web hiện đại.</a:t>
            </a:r>
            <a:endParaRPr lang="en-US"/>
          </a:p>
        </p:txBody>
      </p:sp>
      <p:sp>
        <p:nvSpPr>
          <p:cNvPr id="4" name="Slide Number Placeholder 3"/>
          <p:cNvSpPr>
            <a:spLocks noGrp="1"/>
          </p:cNvSpPr>
          <p:nvPr>
            <p:ph type="sldNum" sz="quarter" idx="10"/>
          </p:nvPr>
        </p:nvSpPr>
        <p:spPr/>
        <p:txBody>
          <a:bodyPr/>
          <a:lstStyle/>
          <a:p>
            <a:fld id="{7E6C0170-45BB-428E-82DD-4656BBA44DF0}" type="slidenum">
              <a:rPr lang="en-US" smtClean="0"/>
              <a:t>4</a:t>
            </a:fld>
            <a:endParaRPr lang="en-US"/>
          </a:p>
        </p:txBody>
      </p:sp>
    </p:spTree>
    <p:extLst>
      <p:ext uri="{BB962C8B-B14F-4D97-AF65-F5344CB8AC3E}">
        <p14:creationId xmlns:p14="http://schemas.microsoft.com/office/powerpoint/2010/main" val="37168954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39381C3-3339-480F-BF7A-CA14287B47DC}" type="datetimeFigureOut">
              <a:rPr lang="en-US" smtClean="0"/>
              <a:t>9/8/2025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06A9C5-AF59-433F-86BB-9E658ADBDA54}" type="slidenum">
              <a:rPr lang="en-US" smtClean="0"/>
              <a:t>‹#›</a:t>
            </a:fld>
            <a:endParaRPr lang="en-US"/>
          </a:p>
        </p:txBody>
      </p:sp>
    </p:spTree>
    <p:extLst>
      <p:ext uri="{BB962C8B-B14F-4D97-AF65-F5344CB8AC3E}">
        <p14:creationId xmlns:p14="http://schemas.microsoft.com/office/powerpoint/2010/main" val="14447553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39381C3-3339-480F-BF7A-CA14287B47DC}" type="datetimeFigureOut">
              <a:rPr lang="en-US" smtClean="0"/>
              <a:t>9/8/2025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06A9C5-AF59-433F-86BB-9E658ADBDA54}" type="slidenum">
              <a:rPr lang="en-US" smtClean="0"/>
              <a:t>‹#›</a:t>
            </a:fld>
            <a:endParaRPr lang="en-US"/>
          </a:p>
        </p:txBody>
      </p:sp>
    </p:spTree>
    <p:extLst>
      <p:ext uri="{BB962C8B-B14F-4D97-AF65-F5344CB8AC3E}">
        <p14:creationId xmlns:p14="http://schemas.microsoft.com/office/powerpoint/2010/main" val="37936632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39381C3-3339-480F-BF7A-CA14287B47DC}" type="datetimeFigureOut">
              <a:rPr lang="en-US" smtClean="0"/>
              <a:t>9/8/2025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06A9C5-AF59-433F-86BB-9E658ADBDA54}" type="slidenum">
              <a:rPr lang="en-US" smtClean="0"/>
              <a:t>‹#›</a:t>
            </a:fld>
            <a:endParaRPr lang="en-US"/>
          </a:p>
        </p:txBody>
      </p:sp>
    </p:spTree>
    <p:extLst>
      <p:ext uri="{BB962C8B-B14F-4D97-AF65-F5344CB8AC3E}">
        <p14:creationId xmlns:p14="http://schemas.microsoft.com/office/powerpoint/2010/main" val="5718191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39381C3-3339-480F-BF7A-CA14287B47DC}" type="datetimeFigureOut">
              <a:rPr lang="en-US" smtClean="0"/>
              <a:t>9/8/2025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06A9C5-AF59-433F-86BB-9E658ADBDA54}" type="slidenum">
              <a:rPr lang="en-US" smtClean="0"/>
              <a:t>‹#›</a:t>
            </a:fld>
            <a:endParaRPr lang="en-US"/>
          </a:p>
        </p:txBody>
      </p:sp>
    </p:spTree>
    <p:extLst>
      <p:ext uri="{BB962C8B-B14F-4D97-AF65-F5344CB8AC3E}">
        <p14:creationId xmlns:p14="http://schemas.microsoft.com/office/powerpoint/2010/main" val="32122774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39381C3-3339-480F-BF7A-CA14287B47DC}" type="datetimeFigureOut">
              <a:rPr lang="en-US" smtClean="0"/>
              <a:t>9/8/2025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306A9C5-AF59-433F-86BB-9E658ADBDA54}" type="slidenum">
              <a:rPr lang="en-US" smtClean="0"/>
              <a:t>‹#›</a:t>
            </a:fld>
            <a:endParaRPr lang="en-US"/>
          </a:p>
        </p:txBody>
      </p:sp>
    </p:spTree>
    <p:extLst>
      <p:ext uri="{BB962C8B-B14F-4D97-AF65-F5344CB8AC3E}">
        <p14:creationId xmlns:p14="http://schemas.microsoft.com/office/powerpoint/2010/main" val="2582855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39381C3-3339-480F-BF7A-CA14287B47DC}" type="datetimeFigureOut">
              <a:rPr lang="en-US" smtClean="0"/>
              <a:t>9/8/2025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306A9C5-AF59-433F-86BB-9E658ADBDA54}" type="slidenum">
              <a:rPr lang="en-US" smtClean="0"/>
              <a:t>‹#›</a:t>
            </a:fld>
            <a:endParaRPr lang="en-US"/>
          </a:p>
        </p:txBody>
      </p:sp>
    </p:spTree>
    <p:extLst>
      <p:ext uri="{BB962C8B-B14F-4D97-AF65-F5344CB8AC3E}">
        <p14:creationId xmlns:p14="http://schemas.microsoft.com/office/powerpoint/2010/main" val="27961626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39381C3-3339-480F-BF7A-CA14287B47DC}" type="datetimeFigureOut">
              <a:rPr lang="en-US" smtClean="0"/>
              <a:t>9/8/2025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306A9C5-AF59-433F-86BB-9E658ADBDA54}" type="slidenum">
              <a:rPr lang="en-US" smtClean="0"/>
              <a:t>‹#›</a:t>
            </a:fld>
            <a:endParaRPr lang="en-US"/>
          </a:p>
        </p:txBody>
      </p:sp>
    </p:spTree>
    <p:extLst>
      <p:ext uri="{BB962C8B-B14F-4D97-AF65-F5344CB8AC3E}">
        <p14:creationId xmlns:p14="http://schemas.microsoft.com/office/powerpoint/2010/main" val="16682743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39381C3-3339-480F-BF7A-CA14287B47DC}" type="datetimeFigureOut">
              <a:rPr lang="en-US" smtClean="0"/>
              <a:t>9/8/2025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06A9C5-AF59-433F-86BB-9E658ADBDA54}" type="slidenum">
              <a:rPr lang="en-US" smtClean="0"/>
              <a:t>‹#›</a:t>
            </a:fld>
            <a:endParaRPr lang="en-US"/>
          </a:p>
        </p:txBody>
      </p:sp>
    </p:spTree>
    <p:extLst>
      <p:ext uri="{BB962C8B-B14F-4D97-AF65-F5344CB8AC3E}">
        <p14:creationId xmlns:p14="http://schemas.microsoft.com/office/powerpoint/2010/main" val="41584075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39381C3-3339-480F-BF7A-CA14287B47DC}" type="datetimeFigureOut">
              <a:rPr lang="en-US" smtClean="0"/>
              <a:t>9/8/2025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06A9C5-AF59-433F-86BB-9E658ADBDA54}" type="slidenum">
              <a:rPr lang="en-US" smtClean="0"/>
              <a:t>‹#›</a:t>
            </a:fld>
            <a:endParaRPr lang="en-US"/>
          </a:p>
        </p:txBody>
      </p:sp>
    </p:spTree>
    <p:extLst>
      <p:ext uri="{BB962C8B-B14F-4D97-AF65-F5344CB8AC3E}">
        <p14:creationId xmlns:p14="http://schemas.microsoft.com/office/powerpoint/2010/main" val="41750510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39381C3-3339-480F-BF7A-CA14287B47DC}" type="datetimeFigureOut">
              <a:rPr lang="en-US" smtClean="0"/>
              <a:t>9/8/2025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06A9C5-AF59-433F-86BB-9E658ADBDA54}" type="slidenum">
              <a:rPr lang="en-US" smtClean="0"/>
              <a:t>‹#›</a:t>
            </a:fld>
            <a:endParaRPr lang="en-US"/>
          </a:p>
        </p:txBody>
      </p:sp>
    </p:spTree>
    <p:extLst>
      <p:ext uri="{BB962C8B-B14F-4D97-AF65-F5344CB8AC3E}">
        <p14:creationId xmlns:p14="http://schemas.microsoft.com/office/powerpoint/2010/main" val="4520796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39381C3-3339-480F-BF7A-CA14287B47DC}" type="datetimeFigureOut">
              <a:rPr lang="en-US" smtClean="0"/>
              <a:t>9/8/2025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06A9C5-AF59-433F-86BB-9E658ADBDA54}" type="slidenum">
              <a:rPr lang="en-US" smtClean="0"/>
              <a:t>‹#›</a:t>
            </a:fld>
            <a:endParaRPr lang="en-US"/>
          </a:p>
        </p:txBody>
      </p:sp>
    </p:spTree>
    <p:extLst>
      <p:ext uri="{BB962C8B-B14F-4D97-AF65-F5344CB8AC3E}">
        <p14:creationId xmlns:p14="http://schemas.microsoft.com/office/powerpoint/2010/main" val="23878616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67267" y="450927"/>
            <a:ext cx="11057467" cy="430887"/>
          </a:xfrm>
          <a:prstGeom prst="rect">
            <a:avLst/>
          </a:prstGeom>
        </p:spPr>
        <p:txBody>
          <a:bodyPr wrap="square" lIns="0" tIns="0" rIns="0" bIns="0">
            <a:spAutoFit/>
          </a:bodyPr>
          <a:lstStyle>
            <a:lvl1pPr>
              <a:defRPr sz="2800" b="1" i="0" u="sng">
                <a:solidFill>
                  <a:srgbClr val="9B2C1F"/>
                </a:solidFill>
                <a:latin typeface="Arial"/>
                <a:cs typeface="Arial"/>
              </a:defRPr>
            </a:lvl1pPr>
          </a:lstStyle>
          <a:p>
            <a:endParaRPr/>
          </a:p>
        </p:txBody>
      </p:sp>
      <p:sp>
        <p:nvSpPr>
          <p:cNvPr id="3" name="Holder 3"/>
          <p:cNvSpPr>
            <a:spLocks noGrp="1"/>
          </p:cNvSpPr>
          <p:nvPr>
            <p:ph type="subTitle" idx="4"/>
          </p:nvPr>
        </p:nvSpPr>
        <p:spPr>
          <a:xfrm>
            <a:off x="1828800" y="3840480"/>
            <a:ext cx="8534400" cy="369332"/>
          </a:xfrm>
          <a:prstGeom prst="rect">
            <a:avLst/>
          </a:prstGeom>
        </p:spPr>
        <p:txBody>
          <a:bodyPr wrap="square" lIns="0" tIns="0" rIns="0" bIns="0">
            <a:spAutoFit/>
          </a:bodyPr>
          <a:lstStyle>
            <a:lvl1pPr>
              <a:defRPr sz="2400" b="1" i="0">
                <a:solidFill>
                  <a:srgbClr val="FF0000"/>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defRPr sz="1000" b="0" i="0">
                <a:solidFill>
                  <a:schemeClr val="bg1"/>
                </a:solidFill>
                <a:latin typeface="Microsoft Sans Serif"/>
                <a:cs typeface="Microsoft Sans Serif"/>
              </a:defRPr>
            </a:lvl1pPr>
          </a:lstStyle>
          <a:p>
            <a:pPr marL="12700">
              <a:spcBef>
                <a:spcPts val="10"/>
              </a:spcBef>
            </a:pPr>
            <a:endParaRPr lang="en-US" spc="-20" dirty="0">
              <a:solidFill>
                <a:prstClr val="white"/>
              </a:solidFill>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9/8/2025</a:t>
            </a:fld>
            <a:endParaRPr lang="en-US">
              <a:solidFill>
                <a:prstClr val="black">
                  <a:tint val="75000"/>
                </a:prstClr>
              </a:solidFill>
            </a:endParaRPr>
          </a:p>
        </p:txBody>
      </p:sp>
      <p:sp>
        <p:nvSpPr>
          <p:cNvPr id="6" name="Holder 6"/>
          <p:cNvSpPr>
            <a:spLocks noGrp="1"/>
          </p:cNvSpPr>
          <p:nvPr>
            <p:ph type="sldNum" sz="quarter" idx="7"/>
          </p:nvPr>
        </p:nvSpPr>
        <p:spPr/>
        <p:txBody>
          <a:bodyPr lIns="0" tIns="0" rIns="0" bIns="0"/>
          <a:lstStyle>
            <a:lvl1pPr>
              <a:defRPr sz="1400" b="0" i="0">
                <a:solidFill>
                  <a:schemeClr val="bg1"/>
                </a:solidFill>
                <a:latin typeface="Franklin Gothic Medium"/>
                <a:cs typeface="Franklin Gothic Medium"/>
              </a:defRPr>
            </a:lvl1pPr>
          </a:lstStyle>
          <a:p>
            <a:pPr marL="38100">
              <a:lnSpc>
                <a:spcPts val="1664"/>
              </a:lnSpc>
            </a:pPr>
            <a:fld id="{81D60167-4931-47E6-BA6A-407CBD079E47}" type="slidenum">
              <a:rPr lang="en-US" spc="-25" smtClean="0">
                <a:solidFill>
                  <a:prstClr val="white"/>
                </a:solidFill>
              </a:rPr>
              <a:pPr marL="38100">
                <a:lnSpc>
                  <a:spcPts val="1664"/>
                </a:lnSpc>
              </a:pPr>
              <a:t>‹#›</a:t>
            </a:fld>
            <a:endParaRPr lang="en-US" spc="-25" dirty="0">
              <a:solidFill>
                <a:prstClr val="white"/>
              </a:solidFill>
            </a:endParaRPr>
          </a:p>
        </p:txBody>
      </p:sp>
    </p:spTree>
    <p:extLst>
      <p:ext uri="{BB962C8B-B14F-4D97-AF65-F5344CB8AC3E}">
        <p14:creationId xmlns:p14="http://schemas.microsoft.com/office/powerpoint/2010/main" val="8843021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u="sng">
                <a:solidFill>
                  <a:srgbClr val="9B2C1F"/>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400" b="1" i="0">
                <a:solidFill>
                  <a:srgbClr val="FF0000"/>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defRPr sz="1000" b="0" i="0">
                <a:solidFill>
                  <a:schemeClr val="bg1"/>
                </a:solidFill>
                <a:latin typeface="Microsoft Sans Serif"/>
                <a:cs typeface="Microsoft Sans Serif"/>
              </a:defRPr>
            </a:lvl1pPr>
          </a:lstStyle>
          <a:p>
            <a:pPr marL="12700">
              <a:spcBef>
                <a:spcPts val="10"/>
              </a:spcBef>
            </a:pPr>
            <a:endParaRPr lang="en-US" spc="-20" dirty="0">
              <a:solidFill>
                <a:prstClr val="white"/>
              </a:solidFill>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9/8/2025</a:t>
            </a:fld>
            <a:endParaRPr lang="en-US">
              <a:solidFill>
                <a:prstClr val="black">
                  <a:tint val="75000"/>
                </a:prstClr>
              </a:solidFill>
            </a:endParaRPr>
          </a:p>
        </p:txBody>
      </p:sp>
      <p:sp>
        <p:nvSpPr>
          <p:cNvPr id="6" name="Holder 6"/>
          <p:cNvSpPr>
            <a:spLocks noGrp="1"/>
          </p:cNvSpPr>
          <p:nvPr>
            <p:ph type="sldNum" sz="quarter" idx="7"/>
          </p:nvPr>
        </p:nvSpPr>
        <p:spPr/>
        <p:txBody>
          <a:bodyPr lIns="0" tIns="0" rIns="0" bIns="0"/>
          <a:lstStyle>
            <a:lvl1pPr>
              <a:defRPr sz="1400" b="0" i="0">
                <a:solidFill>
                  <a:schemeClr val="bg1"/>
                </a:solidFill>
                <a:latin typeface="Franklin Gothic Medium"/>
                <a:cs typeface="Franklin Gothic Medium"/>
              </a:defRPr>
            </a:lvl1pPr>
          </a:lstStyle>
          <a:p>
            <a:pPr marL="38100">
              <a:lnSpc>
                <a:spcPts val="1664"/>
              </a:lnSpc>
            </a:pPr>
            <a:fld id="{81D60167-4931-47E6-BA6A-407CBD079E47}" type="slidenum">
              <a:rPr lang="en-US" spc="-25" smtClean="0">
                <a:solidFill>
                  <a:prstClr val="white"/>
                </a:solidFill>
              </a:rPr>
              <a:pPr marL="38100">
                <a:lnSpc>
                  <a:spcPts val="1664"/>
                </a:lnSpc>
              </a:pPr>
              <a:t>‹#›</a:t>
            </a:fld>
            <a:endParaRPr lang="en-US" spc="-25" dirty="0">
              <a:solidFill>
                <a:prstClr val="white"/>
              </a:solidFill>
            </a:endParaRPr>
          </a:p>
        </p:txBody>
      </p:sp>
    </p:spTree>
    <p:extLst>
      <p:ext uri="{BB962C8B-B14F-4D97-AF65-F5344CB8AC3E}">
        <p14:creationId xmlns:p14="http://schemas.microsoft.com/office/powerpoint/2010/main" val="15202967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u="sng">
                <a:solidFill>
                  <a:srgbClr val="9B2C1F"/>
                </a:solidFill>
                <a:latin typeface="Arial"/>
                <a:cs typeface="Arial"/>
              </a:defRPr>
            </a:lvl1pPr>
          </a:lstStyle>
          <a:p>
            <a:endParaRPr/>
          </a:p>
        </p:txBody>
      </p:sp>
      <p:sp>
        <p:nvSpPr>
          <p:cNvPr id="3" name="Holder 3"/>
          <p:cNvSpPr>
            <a:spLocks noGrp="1"/>
          </p:cNvSpPr>
          <p:nvPr>
            <p:ph sz="half" idx="2"/>
          </p:nvPr>
        </p:nvSpPr>
        <p:spPr>
          <a:xfrm>
            <a:off x="609600" y="1577340"/>
            <a:ext cx="5303520" cy="369332"/>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369332"/>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000" b="0" i="0">
                <a:solidFill>
                  <a:schemeClr val="bg1"/>
                </a:solidFill>
                <a:latin typeface="Microsoft Sans Serif"/>
                <a:cs typeface="Microsoft Sans Serif"/>
              </a:defRPr>
            </a:lvl1pPr>
          </a:lstStyle>
          <a:p>
            <a:pPr marL="12700">
              <a:spcBef>
                <a:spcPts val="10"/>
              </a:spcBef>
            </a:pPr>
            <a:endParaRPr lang="en-US" spc="-20" dirty="0">
              <a:solidFill>
                <a:prstClr val="white"/>
              </a:solidFill>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9/8/2025</a:t>
            </a:fld>
            <a:endParaRPr lang="en-US">
              <a:solidFill>
                <a:prstClr val="black">
                  <a:tint val="75000"/>
                </a:prstClr>
              </a:solidFill>
            </a:endParaRPr>
          </a:p>
        </p:txBody>
      </p:sp>
      <p:sp>
        <p:nvSpPr>
          <p:cNvPr id="7" name="Holder 7"/>
          <p:cNvSpPr>
            <a:spLocks noGrp="1"/>
          </p:cNvSpPr>
          <p:nvPr>
            <p:ph type="sldNum" sz="quarter" idx="7"/>
          </p:nvPr>
        </p:nvSpPr>
        <p:spPr/>
        <p:txBody>
          <a:bodyPr lIns="0" tIns="0" rIns="0" bIns="0"/>
          <a:lstStyle>
            <a:lvl1pPr>
              <a:defRPr sz="1400" b="0" i="0">
                <a:solidFill>
                  <a:schemeClr val="bg1"/>
                </a:solidFill>
                <a:latin typeface="Franklin Gothic Medium"/>
                <a:cs typeface="Franklin Gothic Medium"/>
              </a:defRPr>
            </a:lvl1pPr>
          </a:lstStyle>
          <a:p>
            <a:pPr marL="38100">
              <a:lnSpc>
                <a:spcPts val="1664"/>
              </a:lnSpc>
            </a:pPr>
            <a:fld id="{81D60167-4931-47E6-BA6A-407CBD079E47}" type="slidenum">
              <a:rPr lang="en-US" spc="-25" smtClean="0">
                <a:solidFill>
                  <a:prstClr val="white"/>
                </a:solidFill>
              </a:rPr>
              <a:pPr marL="38100">
                <a:lnSpc>
                  <a:spcPts val="1664"/>
                </a:lnSpc>
              </a:pPr>
              <a:t>‹#›</a:t>
            </a:fld>
            <a:endParaRPr lang="en-US" spc="-25" dirty="0">
              <a:solidFill>
                <a:prstClr val="white"/>
              </a:solidFill>
            </a:endParaRPr>
          </a:p>
        </p:txBody>
      </p:sp>
    </p:spTree>
    <p:extLst>
      <p:ext uri="{BB962C8B-B14F-4D97-AF65-F5344CB8AC3E}">
        <p14:creationId xmlns:p14="http://schemas.microsoft.com/office/powerpoint/2010/main" val="4141727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u="sng">
                <a:solidFill>
                  <a:srgbClr val="9B2C1F"/>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defRPr sz="1000" b="0" i="0">
                <a:solidFill>
                  <a:schemeClr val="bg1"/>
                </a:solidFill>
                <a:latin typeface="Microsoft Sans Serif"/>
                <a:cs typeface="Microsoft Sans Serif"/>
              </a:defRPr>
            </a:lvl1pPr>
          </a:lstStyle>
          <a:p>
            <a:pPr marL="12700">
              <a:spcBef>
                <a:spcPts val="10"/>
              </a:spcBef>
            </a:pPr>
            <a:endParaRPr lang="en-US" spc="-20" dirty="0">
              <a:solidFill>
                <a:prstClr val="white"/>
              </a:solidFill>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9/8/2025</a:t>
            </a:fld>
            <a:endParaRPr lang="en-US">
              <a:solidFill>
                <a:prstClr val="black">
                  <a:tint val="75000"/>
                </a:prstClr>
              </a:solidFill>
            </a:endParaRPr>
          </a:p>
        </p:txBody>
      </p:sp>
      <p:sp>
        <p:nvSpPr>
          <p:cNvPr id="5" name="Holder 5"/>
          <p:cNvSpPr>
            <a:spLocks noGrp="1"/>
          </p:cNvSpPr>
          <p:nvPr>
            <p:ph type="sldNum" sz="quarter" idx="7"/>
          </p:nvPr>
        </p:nvSpPr>
        <p:spPr/>
        <p:txBody>
          <a:bodyPr lIns="0" tIns="0" rIns="0" bIns="0"/>
          <a:lstStyle>
            <a:lvl1pPr>
              <a:defRPr sz="1400" b="0" i="0">
                <a:solidFill>
                  <a:schemeClr val="bg1"/>
                </a:solidFill>
                <a:latin typeface="Franklin Gothic Medium"/>
                <a:cs typeface="Franklin Gothic Medium"/>
              </a:defRPr>
            </a:lvl1pPr>
          </a:lstStyle>
          <a:p>
            <a:pPr marL="38100">
              <a:lnSpc>
                <a:spcPts val="1664"/>
              </a:lnSpc>
            </a:pPr>
            <a:fld id="{81D60167-4931-47E6-BA6A-407CBD079E47}" type="slidenum">
              <a:rPr lang="en-US" spc="-25" smtClean="0">
                <a:solidFill>
                  <a:prstClr val="white"/>
                </a:solidFill>
              </a:rPr>
              <a:pPr marL="38100">
                <a:lnSpc>
                  <a:spcPts val="1664"/>
                </a:lnSpc>
              </a:pPr>
              <a:t>‹#›</a:t>
            </a:fld>
            <a:endParaRPr lang="en-US" spc="-25" dirty="0">
              <a:solidFill>
                <a:prstClr val="white"/>
              </a:solidFill>
            </a:endParaRPr>
          </a:p>
        </p:txBody>
      </p:sp>
    </p:spTree>
    <p:extLst>
      <p:ext uri="{BB962C8B-B14F-4D97-AF65-F5344CB8AC3E}">
        <p14:creationId xmlns:p14="http://schemas.microsoft.com/office/powerpoint/2010/main" val="30684592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000" b="0" i="0">
                <a:solidFill>
                  <a:schemeClr val="bg1"/>
                </a:solidFill>
                <a:latin typeface="Microsoft Sans Serif"/>
                <a:cs typeface="Microsoft Sans Serif"/>
              </a:defRPr>
            </a:lvl1pPr>
          </a:lstStyle>
          <a:p>
            <a:pPr marL="12700">
              <a:spcBef>
                <a:spcPts val="10"/>
              </a:spcBef>
            </a:pPr>
            <a:endParaRPr lang="en-US" spc="-20" dirty="0">
              <a:solidFill>
                <a:prstClr val="white"/>
              </a:solidFill>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9/8/2025</a:t>
            </a:fld>
            <a:endParaRPr lang="en-US">
              <a:solidFill>
                <a:prstClr val="black">
                  <a:tint val="75000"/>
                </a:prstClr>
              </a:solidFill>
            </a:endParaRPr>
          </a:p>
        </p:txBody>
      </p:sp>
      <p:sp>
        <p:nvSpPr>
          <p:cNvPr id="4" name="Holder 4"/>
          <p:cNvSpPr>
            <a:spLocks noGrp="1"/>
          </p:cNvSpPr>
          <p:nvPr>
            <p:ph type="sldNum" sz="quarter" idx="7"/>
          </p:nvPr>
        </p:nvSpPr>
        <p:spPr/>
        <p:txBody>
          <a:bodyPr lIns="0" tIns="0" rIns="0" bIns="0"/>
          <a:lstStyle>
            <a:lvl1pPr>
              <a:defRPr sz="1400" b="0" i="0">
                <a:solidFill>
                  <a:schemeClr val="bg1"/>
                </a:solidFill>
                <a:latin typeface="Franklin Gothic Medium"/>
                <a:cs typeface="Franklin Gothic Medium"/>
              </a:defRPr>
            </a:lvl1pPr>
          </a:lstStyle>
          <a:p>
            <a:pPr marL="38100">
              <a:lnSpc>
                <a:spcPts val="1664"/>
              </a:lnSpc>
            </a:pPr>
            <a:fld id="{81D60167-4931-47E6-BA6A-407CBD079E47}" type="slidenum">
              <a:rPr lang="en-US" spc="-25" smtClean="0">
                <a:solidFill>
                  <a:prstClr val="white"/>
                </a:solidFill>
              </a:rPr>
              <a:pPr marL="38100">
                <a:lnSpc>
                  <a:spcPts val="1664"/>
                </a:lnSpc>
              </a:pPr>
              <a:t>‹#›</a:t>
            </a:fld>
            <a:endParaRPr lang="en-US" spc="-25" dirty="0">
              <a:solidFill>
                <a:prstClr val="white"/>
              </a:solidFill>
            </a:endParaRPr>
          </a:p>
        </p:txBody>
      </p:sp>
    </p:spTree>
    <p:extLst>
      <p:ext uri="{BB962C8B-B14F-4D97-AF65-F5344CB8AC3E}">
        <p14:creationId xmlns:p14="http://schemas.microsoft.com/office/powerpoint/2010/main" val="6509379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image" Target="../media/image1.pn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9381C3-3339-480F-BF7A-CA14287B47DC}" type="datetimeFigureOut">
              <a:rPr lang="en-US" smtClean="0"/>
              <a:t>9/8/2025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06A9C5-AF59-433F-86BB-9E658ADBDA54}" type="slidenum">
              <a:rPr lang="en-US" smtClean="0"/>
              <a:t>‹#›</a:t>
            </a:fld>
            <a:endParaRPr lang="en-US"/>
          </a:p>
        </p:txBody>
      </p:sp>
    </p:spTree>
    <p:extLst>
      <p:ext uri="{BB962C8B-B14F-4D97-AF65-F5344CB8AC3E}">
        <p14:creationId xmlns:p14="http://schemas.microsoft.com/office/powerpoint/2010/main" val="24674062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84668" y="69850"/>
            <a:ext cx="12018433" cy="6692900"/>
          </a:xfrm>
          <a:custGeom>
            <a:avLst/>
            <a:gdLst/>
            <a:ahLst/>
            <a:cxnLst/>
            <a:rect l="l" t="t" r="r" b="b"/>
            <a:pathLst>
              <a:path w="9013825" h="6692900">
                <a:moveTo>
                  <a:pt x="0" y="329946"/>
                </a:moveTo>
                <a:lnTo>
                  <a:pt x="3576" y="281184"/>
                </a:lnTo>
                <a:lnTo>
                  <a:pt x="13967" y="234645"/>
                </a:lnTo>
                <a:lnTo>
                  <a:pt x="30661" y="190840"/>
                </a:lnTo>
                <a:lnTo>
                  <a:pt x="53148" y="150277"/>
                </a:lnTo>
                <a:lnTo>
                  <a:pt x="80918" y="113468"/>
                </a:lnTo>
                <a:lnTo>
                  <a:pt x="113460" y="80923"/>
                </a:lnTo>
                <a:lnTo>
                  <a:pt x="150264" y="53151"/>
                </a:lnTo>
                <a:lnTo>
                  <a:pt x="190820" y="30662"/>
                </a:lnTo>
                <a:lnTo>
                  <a:pt x="234617" y="13967"/>
                </a:lnTo>
                <a:lnTo>
                  <a:pt x="281146" y="3576"/>
                </a:lnTo>
                <a:lnTo>
                  <a:pt x="329895" y="0"/>
                </a:lnTo>
                <a:lnTo>
                  <a:pt x="8683879" y="0"/>
                </a:lnTo>
                <a:lnTo>
                  <a:pt x="8732640" y="3576"/>
                </a:lnTo>
                <a:lnTo>
                  <a:pt x="8779179" y="13967"/>
                </a:lnTo>
                <a:lnTo>
                  <a:pt x="8822984" y="30662"/>
                </a:lnTo>
                <a:lnTo>
                  <a:pt x="8863547" y="53151"/>
                </a:lnTo>
                <a:lnTo>
                  <a:pt x="8900356" y="80923"/>
                </a:lnTo>
                <a:lnTo>
                  <a:pt x="8932901" y="113468"/>
                </a:lnTo>
                <a:lnTo>
                  <a:pt x="8960673" y="150277"/>
                </a:lnTo>
                <a:lnTo>
                  <a:pt x="8983162" y="190840"/>
                </a:lnTo>
                <a:lnTo>
                  <a:pt x="8999857" y="234645"/>
                </a:lnTo>
                <a:lnTo>
                  <a:pt x="9010248" y="281184"/>
                </a:lnTo>
                <a:lnTo>
                  <a:pt x="9013825" y="329946"/>
                </a:lnTo>
                <a:lnTo>
                  <a:pt x="9013825" y="6363004"/>
                </a:lnTo>
                <a:lnTo>
                  <a:pt x="9010248" y="6411753"/>
                </a:lnTo>
                <a:lnTo>
                  <a:pt x="8999857" y="6458282"/>
                </a:lnTo>
                <a:lnTo>
                  <a:pt x="8983162" y="6502079"/>
                </a:lnTo>
                <a:lnTo>
                  <a:pt x="8960673" y="6542635"/>
                </a:lnTo>
                <a:lnTo>
                  <a:pt x="8932901" y="6579439"/>
                </a:lnTo>
                <a:lnTo>
                  <a:pt x="8900356" y="6611981"/>
                </a:lnTo>
                <a:lnTo>
                  <a:pt x="8863547" y="6639751"/>
                </a:lnTo>
                <a:lnTo>
                  <a:pt x="8822984" y="6662238"/>
                </a:lnTo>
                <a:lnTo>
                  <a:pt x="8779179" y="6678932"/>
                </a:lnTo>
                <a:lnTo>
                  <a:pt x="8732640" y="6689323"/>
                </a:lnTo>
                <a:lnTo>
                  <a:pt x="8683879" y="6692900"/>
                </a:lnTo>
                <a:lnTo>
                  <a:pt x="329895" y="6692900"/>
                </a:lnTo>
                <a:lnTo>
                  <a:pt x="281146" y="6689323"/>
                </a:lnTo>
                <a:lnTo>
                  <a:pt x="234617" y="6678932"/>
                </a:lnTo>
                <a:lnTo>
                  <a:pt x="190820" y="6662238"/>
                </a:lnTo>
                <a:lnTo>
                  <a:pt x="150264" y="6639751"/>
                </a:lnTo>
                <a:lnTo>
                  <a:pt x="113460" y="6611981"/>
                </a:lnTo>
                <a:lnTo>
                  <a:pt x="80918" y="6579439"/>
                </a:lnTo>
                <a:lnTo>
                  <a:pt x="53148" y="6542635"/>
                </a:lnTo>
                <a:lnTo>
                  <a:pt x="30661" y="6502079"/>
                </a:lnTo>
                <a:lnTo>
                  <a:pt x="13967" y="6458282"/>
                </a:lnTo>
                <a:lnTo>
                  <a:pt x="3576" y="6411753"/>
                </a:lnTo>
                <a:lnTo>
                  <a:pt x="0" y="6363004"/>
                </a:lnTo>
                <a:lnTo>
                  <a:pt x="0" y="329946"/>
                </a:lnTo>
                <a:close/>
              </a:path>
            </a:pathLst>
          </a:custGeom>
          <a:ln w="6350">
            <a:solidFill>
              <a:srgbClr val="000000"/>
            </a:solidFill>
          </a:ln>
        </p:spPr>
        <p:txBody>
          <a:bodyPr wrap="square" lIns="0" tIns="0" rIns="0" bIns="0" rtlCol="0"/>
          <a:lstStyle/>
          <a:p>
            <a:endParaRPr sz="1800" kern="0">
              <a:solidFill>
                <a:sysClr val="windowText" lastClr="000000"/>
              </a:solidFill>
            </a:endParaRPr>
          </a:p>
        </p:txBody>
      </p:sp>
      <p:sp>
        <p:nvSpPr>
          <p:cNvPr id="17" name="bg object 17"/>
          <p:cNvSpPr/>
          <p:nvPr/>
        </p:nvSpPr>
        <p:spPr>
          <a:xfrm>
            <a:off x="194733" y="6210300"/>
            <a:ext cx="6096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sz="1800" kern="0">
              <a:solidFill>
                <a:sysClr val="windowText" lastClr="000000"/>
              </a:solidFill>
            </a:endParaRPr>
          </a:p>
        </p:txBody>
      </p:sp>
      <p:pic>
        <p:nvPicPr>
          <p:cNvPr id="18" name="bg object 18"/>
          <p:cNvPicPr/>
          <p:nvPr/>
        </p:nvPicPr>
        <p:blipFill>
          <a:blip r:embed="rId7" cstate="print"/>
          <a:stretch>
            <a:fillRect/>
          </a:stretch>
        </p:blipFill>
        <p:spPr>
          <a:xfrm>
            <a:off x="566927" y="886967"/>
            <a:ext cx="11058144" cy="105156"/>
          </a:xfrm>
          <a:prstGeom prst="rect">
            <a:avLst/>
          </a:prstGeom>
        </p:spPr>
      </p:pic>
      <p:sp>
        <p:nvSpPr>
          <p:cNvPr id="19" name="bg object 19"/>
          <p:cNvSpPr/>
          <p:nvPr/>
        </p:nvSpPr>
        <p:spPr>
          <a:xfrm>
            <a:off x="596901" y="6567487"/>
            <a:ext cx="11087100" cy="195580"/>
          </a:xfrm>
          <a:custGeom>
            <a:avLst/>
            <a:gdLst/>
            <a:ahLst/>
            <a:cxnLst/>
            <a:rect l="l" t="t" r="r" b="b"/>
            <a:pathLst>
              <a:path w="8315325" h="195579">
                <a:moveTo>
                  <a:pt x="2741676" y="195262"/>
                </a:moveTo>
                <a:lnTo>
                  <a:pt x="2735313" y="144627"/>
                </a:lnTo>
                <a:lnTo>
                  <a:pt x="2717393" y="99123"/>
                </a:lnTo>
                <a:lnTo>
                  <a:pt x="2689580" y="60566"/>
                </a:lnTo>
                <a:lnTo>
                  <a:pt x="2653601" y="30772"/>
                </a:lnTo>
                <a:lnTo>
                  <a:pt x="2611132" y="11569"/>
                </a:lnTo>
                <a:lnTo>
                  <a:pt x="2563876" y="4762"/>
                </a:lnTo>
                <a:lnTo>
                  <a:pt x="177800" y="4762"/>
                </a:lnTo>
                <a:lnTo>
                  <a:pt x="130530" y="11569"/>
                </a:lnTo>
                <a:lnTo>
                  <a:pt x="88049" y="30772"/>
                </a:lnTo>
                <a:lnTo>
                  <a:pt x="52070" y="60566"/>
                </a:lnTo>
                <a:lnTo>
                  <a:pt x="24269" y="99123"/>
                </a:lnTo>
                <a:lnTo>
                  <a:pt x="6350" y="144627"/>
                </a:lnTo>
                <a:lnTo>
                  <a:pt x="0" y="195262"/>
                </a:lnTo>
                <a:lnTo>
                  <a:pt x="2741676" y="195262"/>
                </a:lnTo>
                <a:close/>
              </a:path>
              <a:path w="8315325" h="195579">
                <a:moveTo>
                  <a:pt x="8315325" y="190512"/>
                </a:moveTo>
                <a:lnTo>
                  <a:pt x="8308962" y="139865"/>
                </a:lnTo>
                <a:lnTo>
                  <a:pt x="8291042" y="94361"/>
                </a:lnTo>
                <a:lnTo>
                  <a:pt x="8263229" y="55803"/>
                </a:lnTo>
                <a:lnTo>
                  <a:pt x="8227250" y="26022"/>
                </a:lnTo>
                <a:lnTo>
                  <a:pt x="8184782" y="6807"/>
                </a:lnTo>
                <a:lnTo>
                  <a:pt x="8137525" y="0"/>
                </a:lnTo>
                <a:lnTo>
                  <a:pt x="5749925" y="0"/>
                </a:lnTo>
                <a:lnTo>
                  <a:pt x="5702655" y="6807"/>
                </a:lnTo>
                <a:lnTo>
                  <a:pt x="5660187" y="26022"/>
                </a:lnTo>
                <a:lnTo>
                  <a:pt x="5624207" y="55803"/>
                </a:lnTo>
                <a:lnTo>
                  <a:pt x="5596394" y="94361"/>
                </a:lnTo>
                <a:lnTo>
                  <a:pt x="5578475" y="139865"/>
                </a:lnTo>
                <a:lnTo>
                  <a:pt x="5572125" y="190512"/>
                </a:lnTo>
                <a:lnTo>
                  <a:pt x="8315325" y="190512"/>
                </a:lnTo>
                <a:close/>
              </a:path>
            </a:pathLst>
          </a:custGeom>
          <a:solidFill>
            <a:srgbClr val="D24717"/>
          </a:solidFill>
        </p:spPr>
        <p:txBody>
          <a:bodyPr wrap="square" lIns="0" tIns="0" rIns="0" bIns="0" rtlCol="0"/>
          <a:lstStyle/>
          <a:p>
            <a:endParaRPr sz="1800" kern="0">
              <a:solidFill>
                <a:sysClr val="windowText" lastClr="000000"/>
              </a:solidFill>
            </a:endParaRPr>
          </a:p>
        </p:txBody>
      </p:sp>
      <p:sp>
        <p:nvSpPr>
          <p:cNvPr id="2" name="Holder 2"/>
          <p:cNvSpPr>
            <a:spLocks noGrp="1"/>
          </p:cNvSpPr>
          <p:nvPr>
            <p:ph type="title"/>
          </p:nvPr>
        </p:nvSpPr>
        <p:spPr>
          <a:xfrm>
            <a:off x="567267" y="450927"/>
            <a:ext cx="11057467" cy="430887"/>
          </a:xfrm>
          <a:prstGeom prst="rect">
            <a:avLst/>
          </a:prstGeom>
        </p:spPr>
        <p:txBody>
          <a:bodyPr wrap="square" lIns="0" tIns="0" rIns="0" bIns="0">
            <a:spAutoFit/>
          </a:bodyPr>
          <a:lstStyle>
            <a:lvl1pPr>
              <a:defRPr sz="2800" b="1" i="0" u="sng">
                <a:solidFill>
                  <a:srgbClr val="9B2C1F"/>
                </a:solidFill>
                <a:latin typeface="Arial"/>
                <a:cs typeface="Arial"/>
              </a:defRPr>
            </a:lvl1pPr>
          </a:lstStyle>
          <a:p>
            <a:endParaRPr/>
          </a:p>
        </p:txBody>
      </p:sp>
      <p:sp>
        <p:nvSpPr>
          <p:cNvPr id="3" name="Holder 3"/>
          <p:cNvSpPr>
            <a:spLocks noGrp="1"/>
          </p:cNvSpPr>
          <p:nvPr>
            <p:ph type="body" idx="1"/>
          </p:nvPr>
        </p:nvSpPr>
        <p:spPr>
          <a:xfrm>
            <a:off x="958426" y="1036807"/>
            <a:ext cx="10436860" cy="369332"/>
          </a:xfrm>
          <a:prstGeom prst="rect">
            <a:avLst/>
          </a:prstGeom>
        </p:spPr>
        <p:txBody>
          <a:bodyPr wrap="square" lIns="0" tIns="0" rIns="0" bIns="0">
            <a:spAutoFit/>
          </a:bodyPr>
          <a:lstStyle>
            <a:lvl1pPr>
              <a:defRPr sz="2400" b="1" i="0">
                <a:solidFill>
                  <a:srgbClr val="FF0000"/>
                </a:solidFill>
                <a:latin typeface="Arial"/>
                <a:cs typeface="Arial"/>
              </a:defRPr>
            </a:lvl1pPr>
          </a:lstStyle>
          <a:p>
            <a:endParaRPr/>
          </a:p>
        </p:txBody>
      </p:sp>
      <p:sp>
        <p:nvSpPr>
          <p:cNvPr id="4" name="Holder 4"/>
          <p:cNvSpPr>
            <a:spLocks noGrp="1"/>
          </p:cNvSpPr>
          <p:nvPr>
            <p:ph type="ftr" sz="quarter" idx="5"/>
          </p:nvPr>
        </p:nvSpPr>
        <p:spPr>
          <a:xfrm>
            <a:off x="1652557" y="6600175"/>
            <a:ext cx="1658619" cy="153888"/>
          </a:xfrm>
          <a:prstGeom prst="rect">
            <a:avLst/>
          </a:prstGeom>
        </p:spPr>
        <p:txBody>
          <a:bodyPr wrap="square" lIns="0" tIns="0" rIns="0" bIns="0">
            <a:spAutoFit/>
          </a:bodyPr>
          <a:lstStyle>
            <a:lvl1pPr>
              <a:defRPr sz="1000" b="0" i="0">
                <a:solidFill>
                  <a:schemeClr val="bg1"/>
                </a:solidFill>
                <a:latin typeface="Microsoft Sans Serif"/>
                <a:cs typeface="Microsoft Sans Serif"/>
              </a:defRPr>
            </a:lvl1pPr>
          </a:lstStyle>
          <a:p>
            <a:pPr marL="12700">
              <a:spcBef>
                <a:spcPts val="10"/>
              </a:spcBef>
            </a:pPr>
            <a:endParaRPr lang="en-US" kern="0" spc="-20" dirty="0">
              <a:solidFill>
                <a:prstClr val="white"/>
              </a:solidFill>
            </a:endParaRPr>
          </a:p>
        </p:txBody>
      </p:sp>
      <p:sp>
        <p:nvSpPr>
          <p:cNvPr id="5" name="Holder 5"/>
          <p:cNvSpPr>
            <a:spLocks noGrp="1"/>
          </p:cNvSpPr>
          <p:nvPr>
            <p:ph type="dt" sz="half" idx="6"/>
          </p:nvPr>
        </p:nvSpPr>
        <p:spPr>
          <a:xfrm>
            <a:off x="609600" y="6377940"/>
            <a:ext cx="280416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kern="0">
                <a:solidFill>
                  <a:prstClr val="black">
                    <a:tint val="75000"/>
                  </a:prstClr>
                </a:solidFill>
              </a:rPr>
              <a:pPr/>
              <a:t>9/8/2025</a:t>
            </a:fld>
            <a:endParaRPr lang="en-US" kern="0">
              <a:solidFill>
                <a:prstClr val="black">
                  <a:tint val="75000"/>
                </a:prstClr>
              </a:solidFill>
            </a:endParaRPr>
          </a:p>
        </p:txBody>
      </p:sp>
      <p:sp>
        <p:nvSpPr>
          <p:cNvPr id="6" name="Holder 6"/>
          <p:cNvSpPr>
            <a:spLocks noGrp="1"/>
          </p:cNvSpPr>
          <p:nvPr>
            <p:ph type="sldNum" sz="quarter" idx="7"/>
          </p:nvPr>
        </p:nvSpPr>
        <p:spPr>
          <a:xfrm>
            <a:off x="306833" y="6334103"/>
            <a:ext cx="400473" cy="218008"/>
          </a:xfrm>
          <a:prstGeom prst="rect">
            <a:avLst/>
          </a:prstGeom>
        </p:spPr>
        <p:txBody>
          <a:bodyPr wrap="square" lIns="0" tIns="0" rIns="0" bIns="0">
            <a:spAutoFit/>
          </a:bodyPr>
          <a:lstStyle>
            <a:lvl1pPr>
              <a:defRPr sz="1400" b="0" i="0">
                <a:solidFill>
                  <a:schemeClr val="bg1"/>
                </a:solidFill>
                <a:latin typeface="Franklin Gothic Medium"/>
                <a:cs typeface="Franklin Gothic Medium"/>
              </a:defRPr>
            </a:lvl1pPr>
          </a:lstStyle>
          <a:p>
            <a:pPr marL="38100">
              <a:lnSpc>
                <a:spcPts val="1664"/>
              </a:lnSpc>
            </a:pPr>
            <a:fld id="{81D60167-4931-47E6-BA6A-407CBD079E47}" type="slidenum">
              <a:rPr lang="en-US" kern="0" spc="-25" smtClean="0">
                <a:solidFill>
                  <a:prstClr val="white"/>
                </a:solidFill>
              </a:rPr>
              <a:pPr marL="38100">
                <a:lnSpc>
                  <a:spcPts val="1664"/>
                </a:lnSpc>
              </a:pPr>
              <a:t>‹#›</a:t>
            </a:fld>
            <a:endParaRPr lang="en-US" kern="0" spc="-25" dirty="0">
              <a:solidFill>
                <a:prstClr val="white"/>
              </a:solidFill>
            </a:endParaRPr>
          </a:p>
        </p:txBody>
      </p:sp>
    </p:spTree>
    <p:extLst>
      <p:ext uri="{BB962C8B-B14F-4D97-AF65-F5344CB8AC3E}">
        <p14:creationId xmlns:p14="http://schemas.microsoft.com/office/powerpoint/2010/main" val="92714888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3.jp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6.jp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hyperlink" Target="http://hp-aptech.edu.vn/blogs/programming/pro_30_12_08_20.jpg" TargetMode="External"/><Relationship Id="rId2" Type="http://schemas.openxmlformats.org/officeDocument/2006/relationships/image" Target="../media/image7.png"/><Relationship Id="rId1" Type="http://schemas.openxmlformats.org/officeDocument/2006/relationships/slideLayout" Target="../slideLayouts/slideLayout13.xml"/><Relationship Id="rId5" Type="http://schemas.openxmlformats.org/officeDocument/2006/relationships/image" Target="../media/image3.jpg"/><Relationship Id="rId4" Type="http://schemas.openxmlformats.org/officeDocument/2006/relationships/image" Target="../media/image8.jpg"/></Relationships>
</file>

<file path=ppt/slides/_rels/slide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hyperlink" Target="https://all-free-download.com/" TargetMode="External"/><Relationship Id="rId2" Type="http://schemas.openxmlformats.org/officeDocument/2006/relationships/image" Target="../media/image1.png"/><Relationship Id="rId1" Type="http://schemas.openxmlformats.org/officeDocument/2006/relationships/slideLayout" Target="../slideLayouts/slideLayout13.xml"/><Relationship Id="rId4" Type="http://schemas.openxmlformats.org/officeDocument/2006/relationships/hyperlink" Target="https://www.w3schools.com/"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image" Target="../media/image31.pn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jpg"/><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jpg"/><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5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image" Target="../media/image49.jpg"/><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66675"/>
            <a:ext cx="12192000" cy="6697980"/>
            <a:chOff x="61912" y="66675"/>
            <a:chExt cx="9022080" cy="6697980"/>
          </a:xfrm>
        </p:grpSpPr>
        <p:pic>
          <p:nvPicPr>
            <p:cNvPr id="3" name="object 3"/>
            <p:cNvPicPr/>
            <p:nvPr/>
          </p:nvPicPr>
          <p:blipFill>
            <a:blip r:embed="rId2" cstate="print"/>
            <a:stretch>
              <a:fillRect/>
            </a:stretch>
          </p:blipFill>
          <p:spPr>
            <a:xfrm>
              <a:off x="65087" y="69850"/>
              <a:ext cx="9013888" cy="6691313"/>
            </a:xfrm>
            <a:prstGeom prst="rect">
              <a:avLst/>
            </a:prstGeom>
          </p:spPr>
        </p:pic>
        <p:sp>
          <p:nvSpPr>
            <p:cNvPr id="4" name="object 4"/>
            <p:cNvSpPr/>
            <p:nvPr/>
          </p:nvSpPr>
          <p:spPr>
            <a:xfrm>
              <a:off x="65087" y="69850"/>
              <a:ext cx="9014460" cy="6691630"/>
            </a:xfrm>
            <a:custGeom>
              <a:avLst/>
              <a:gdLst/>
              <a:ahLst/>
              <a:cxnLst/>
              <a:rect l="l" t="t" r="r" b="b"/>
              <a:pathLst>
                <a:path w="9014460" h="6691630">
                  <a:moveTo>
                    <a:pt x="0" y="329819"/>
                  </a:moveTo>
                  <a:lnTo>
                    <a:pt x="3576" y="281088"/>
                  </a:lnTo>
                  <a:lnTo>
                    <a:pt x="13964" y="234576"/>
                  </a:lnTo>
                  <a:lnTo>
                    <a:pt x="30653" y="190791"/>
                  </a:lnTo>
                  <a:lnTo>
                    <a:pt x="53135" y="150245"/>
                  </a:lnTo>
                  <a:lnTo>
                    <a:pt x="80898" y="113448"/>
                  </a:lnTo>
                  <a:lnTo>
                    <a:pt x="113432" y="80911"/>
                  </a:lnTo>
                  <a:lnTo>
                    <a:pt x="150228" y="53144"/>
                  </a:lnTo>
                  <a:lnTo>
                    <a:pt x="190774" y="30660"/>
                  </a:lnTo>
                  <a:lnTo>
                    <a:pt x="234562" y="13967"/>
                  </a:lnTo>
                  <a:lnTo>
                    <a:pt x="281080" y="3576"/>
                  </a:lnTo>
                  <a:lnTo>
                    <a:pt x="329819" y="0"/>
                  </a:lnTo>
                  <a:lnTo>
                    <a:pt x="8684069" y="0"/>
                  </a:lnTo>
                  <a:lnTo>
                    <a:pt x="8732799" y="3576"/>
                  </a:lnTo>
                  <a:lnTo>
                    <a:pt x="8779312" y="13967"/>
                  </a:lnTo>
                  <a:lnTo>
                    <a:pt x="8823097" y="30660"/>
                  </a:lnTo>
                  <a:lnTo>
                    <a:pt x="8863643" y="53144"/>
                  </a:lnTo>
                  <a:lnTo>
                    <a:pt x="8900440" y="80911"/>
                  </a:lnTo>
                  <a:lnTo>
                    <a:pt x="8932977" y="113448"/>
                  </a:lnTo>
                  <a:lnTo>
                    <a:pt x="8960743" y="150245"/>
                  </a:lnTo>
                  <a:lnTo>
                    <a:pt x="8983228" y="190791"/>
                  </a:lnTo>
                  <a:lnTo>
                    <a:pt x="8999921" y="234576"/>
                  </a:lnTo>
                  <a:lnTo>
                    <a:pt x="9010311" y="281088"/>
                  </a:lnTo>
                  <a:lnTo>
                    <a:pt x="9013888" y="329819"/>
                  </a:lnTo>
                  <a:lnTo>
                    <a:pt x="9013888" y="6361493"/>
                  </a:lnTo>
                  <a:lnTo>
                    <a:pt x="9010311" y="6410232"/>
                  </a:lnTo>
                  <a:lnTo>
                    <a:pt x="8999921" y="6456750"/>
                  </a:lnTo>
                  <a:lnTo>
                    <a:pt x="8983228" y="6500538"/>
                  </a:lnTo>
                  <a:lnTo>
                    <a:pt x="8960743" y="6541084"/>
                  </a:lnTo>
                  <a:lnTo>
                    <a:pt x="8932977" y="6577880"/>
                  </a:lnTo>
                  <a:lnTo>
                    <a:pt x="8900440" y="6610414"/>
                  </a:lnTo>
                  <a:lnTo>
                    <a:pt x="8863643" y="6638178"/>
                  </a:lnTo>
                  <a:lnTo>
                    <a:pt x="8823097" y="6660659"/>
                  </a:lnTo>
                  <a:lnTo>
                    <a:pt x="8779312" y="6677349"/>
                  </a:lnTo>
                  <a:lnTo>
                    <a:pt x="8732799" y="6687737"/>
                  </a:lnTo>
                  <a:lnTo>
                    <a:pt x="8684069" y="6691313"/>
                  </a:lnTo>
                  <a:lnTo>
                    <a:pt x="329819" y="6691313"/>
                  </a:lnTo>
                  <a:lnTo>
                    <a:pt x="281080" y="6687737"/>
                  </a:lnTo>
                  <a:lnTo>
                    <a:pt x="234562" y="6677349"/>
                  </a:lnTo>
                  <a:lnTo>
                    <a:pt x="190774" y="6660659"/>
                  </a:lnTo>
                  <a:lnTo>
                    <a:pt x="150228" y="6638178"/>
                  </a:lnTo>
                  <a:lnTo>
                    <a:pt x="113432" y="6610414"/>
                  </a:lnTo>
                  <a:lnTo>
                    <a:pt x="80898" y="6577880"/>
                  </a:lnTo>
                  <a:lnTo>
                    <a:pt x="53135" y="6541084"/>
                  </a:lnTo>
                  <a:lnTo>
                    <a:pt x="30653" y="6500538"/>
                  </a:lnTo>
                  <a:lnTo>
                    <a:pt x="13964" y="6456750"/>
                  </a:lnTo>
                  <a:lnTo>
                    <a:pt x="3576" y="6410232"/>
                  </a:lnTo>
                  <a:lnTo>
                    <a:pt x="0" y="6361493"/>
                  </a:lnTo>
                  <a:lnTo>
                    <a:pt x="0" y="329819"/>
                  </a:lnTo>
                  <a:close/>
                </a:path>
              </a:pathLst>
            </a:custGeom>
            <a:ln w="6350">
              <a:solidFill>
                <a:srgbClr val="000000"/>
              </a:solidFill>
            </a:ln>
          </p:spPr>
          <p:txBody>
            <a:bodyPr wrap="square" lIns="0" tIns="0" rIns="0" bIns="0" rtlCol="0"/>
            <a:lstStyle/>
            <a:p>
              <a:endParaRPr kern="0">
                <a:solidFill>
                  <a:sysClr val="windowText" lastClr="000000"/>
                </a:solidFill>
              </a:endParaRPr>
            </a:p>
          </p:txBody>
        </p:sp>
        <p:sp>
          <p:nvSpPr>
            <p:cNvPr id="5" name="object 5"/>
            <p:cNvSpPr/>
            <p:nvPr/>
          </p:nvSpPr>
          <p:spPr>
            <a:xfrm>
              <a:off x="63500" y="1397000"/>
              <a:ext cx="9020175" cy="120650"/>
            </a:xfrm>
            <a:custGeom>
              <a:avLst/>
              <a:gdLst/>
              <a:ahLst/>
              <a:cxnLst/>
              <a:rect l="l" t="t" r="r" b="b"/>
              <a:pathLst>
                <a:path w="9020175" h="120650">
                  <a:moveTo>
                    <a:pt x="9020175" y="0"/>
                  </a:moveTo>
                  <a:lnTo>
                    <a:pt x="0" y="0"/>
                  </a:lnTo>
                  <a:lnTo>
                    <a:pt x="0" y="120650"/>
                  </a:lnTo>
                  <a:lnTo>
                    <a:pt x="9020175" y="120650"/>
                  </a:lnTo>
                  <a:lnTo>
                    <a:pt x="9020175" y="0"/>
                  </a:lnTo>
                  <a:close/>
                </a:path>
              </a:pathLst>
            </a:custGeom>
            <a:solidFill>
              <a:srgbClr val="E6B0AB"/>
            </a:solidFill>
          </p:spPr>
          <p:txBody>
            <a:bodyPr wrap="square" lIns="0" tIns="0" rIns="0" bIns="0" rtlCol="0"/>
            <a:lstStyle/>
            <a:p>
              <a:endParaRPr kern="0">
                <a:solidFill>
                  <a:sysClr val="windowText" lastClr="000000"/>
                </a:solidFill>
              </a:endParaRPr>
            </a:p>
          </p:txBody>
        </p:sp>
        <p:sp>
          <p:nvSpPr>
            <p:cNvPr id="6" name="object 6"/>
            <p:cNvSpPr/>
            <p:nvPr/>
          </p:nvSpPr>
          <p:spPr>
            <a:xfrm>
              <a:off x="63500" y="2976626"/>
              <a:ext cx="9020175" cy="111125"/>
            </a:xfrm>
            <a:custGeom>
              <a:avLst/>
              <a:gdLst/>
              <a:ahLst/>
              <a:cxnLst/>
              <a:rect l="l" t="t" r="r" b="b"/>
              <a:pathLst>
                <a:path w="9020175" h="111125">
                  <a:moveTo>
                    <a:pt x="9020175" y="0"/>
                  </a:moveTo>
                  <a:lnTo>
                    <a:pt x="0" y="0"/>
                  </a:lnTo>
                  <a:lnTo>
                    <a:pt x="0" y="111125"/>
                  </a:lnTo>
                  <a:lnTo>
                    <a:pt x="9020175" y="111125"/>
                  </a:lnTo>
                  <a:lnTo>
                    <a:pt x="9020175" y="0"/>
                  </a:lnTo>
                  <a:close/>
                </a:path>
              </a:pathLst>
            </a:custGeom>
            <a:solidFill>
              <a:srgbClr val="918485"/>
            </a:solidFill>
          </p:spPr>
          <p:txBody>
            <a:bodyPr wrap="square" lIns="0" tIns="0" rIns="0" bIns="0" rtlCol="0"/>
            <a:lstStyle/>
            <a:p>
              <a:endParaRPr kern="0">
                <a:solidFill>
                  <a:sysClr val="windowText" lastClr="000000"/>
                </a:solidFill>
              </a:endParaRPr>
            </a:p>
          </p:txBody>
        </p:sp>
        <p:sp>
          <p:nvSpPr>
            <p:cNvPr id="7" name="object 7"/>
            <p:cNvSpPr/>
            <p:nvPr/>
          </p:nvSpPr>
          <p:spPr>
            <a:xfrm>
              <a:off x="146050" y="6210300"/>
              <a:ext cx="8616950" cy="552450"/>
            </a:xfrm>
            <a:custGeom>
              <a:avLst/>
              <a:gdLst/>
              <a:ahLst/>
              <a:cxnLst/>
              <a:rect l="l" t="t" r="r" b="b"/>
              <a:pathLst>
                <a:path w="8616950" h="552450">
                  <a:moveTo>
                    <a:pt x="3043301" y="552450"/>
                  </a:moveTo>
                  <a:lnTo>
                    <a:pt x="3036938" y="501815"/>
                  </a:lnTo>
                  <a:lnTo>
                    <a:pt x="3019018" y="456311"/>
                  </a:lnTo>
                  <a:lnTo>
                    <a:pt x="2991205" y="417753"/>
                  </a:lnTo>
                  <a:lnTo>
                    <a:pt x="2955226" y="387959"/>
                  </a:lnTo>
                  <a:lnTo>
                    <a:pt x="2912757" y="368757"/>
                  </a:lnTo>
                  <a:lnTo>
                    <a:pt x="2865501" y="361950"/>
                  </a:lnTo>
                  <a:lnTo>
                    <a:pt x="479425" y="361950"/>
                  </a:lnTo>
                  <a:lnTo>
                    <a:pt x="432155" y="368757"/>
                  </a:lnTo>
                  <a:lnTo>
                    <a:pt x="393573" y="386207"/>
                  </a:lnTo>
                  <a:lnTo>
                    <a:pt x="418147" y="356412"/>
                  </a:lnTo>
                  <a:lnTo>
                    <a:pt x="439229" y="317588"/>
                  </a:lnTo>
                  <a:lnTo>
                    <a:pt x="452551" y="274675"/>
                  </a:lnTo>
                  <a:lnTo>
                    <a:pt x="457200" y="228600"/>
                  </a:lnTo>
                  <a:lnTo>
                    <a:pt x="452551" y="182537"/>
                  </a:lnTo>
                  <a:lnTo>
                    <a:pt x="439229" y="139623"/>
                  </a:lnTo>
                  <a:lnTo>
                    <a:pt x="418147" y="100799"/>
                  </a:lnTo>
                  <a:lnTo>
                    <a:pt x="390232" y="66967"/>
                  </a:lnTo>
                  <a:lnTo>
                    <a:pt x="356400" y="39052"/>
                  </a:lnTo>
                  <a:lnTo>
                    <a:pt x="317576" y="17970"/>
                  </a:lnTo>
                  <a:lnTo>
                    <a:pt x="274662" y="4648"/>
                  </a:lnTo>
                  <a:lnTo>
                    <a:pt x="228600" y="0"/>
                  </a:lnTo>
                  <a:lnTo>
                    <a:pt x="182524" y="4648"/>
                  </a:lnTo>
                  <a:lnTo>
                    <a:pt x="139611" y="17970"/>
                  </a:lnTo>
                  <a:lnTo>
                    <a:pt x="100787" y="39052"/>
                  </a:lnTo>
                  <a:lnTo>
                    <a:pt x="66954" y="66967"/>
                  </a:lnTo>
                  <a:lnTo>
                    <a:pt x="39039" y="100799"/>
                  </a:lnTo>
                  <a:lnTo>
                    <a:pt x="17957" y="139623"/>
                  </a:lnTo>
                  <a:lnTo>
                    <a:pt x="4635" y="182537"/>
                  </a:lnTo>
                  <a:lnTo>
                    <a:pt x="0" y="228600"/>
                  </a:lnTo>
                  <a:lnTo>
                    <a:pt x="4635" y="274675"/>
                  </a:lnTo>
                  <a:lnTo>
                    <a:pt x="17957" y="317588"/>
                  </a:lnTo>
                  <a:lnTo>
                    <a:pt x="39039" y="356412"/>
                  </a:lnTo>
                  <a:lnTo>
                    <a:pt x="66954" y="390245"/>
                  </a:lnTo>
                  <a:lnTo>
                    <a:pt x="100787" y="418160"/>
                  </a:lnTo>
                  <a:lnTo>
                    <a:pt x="139611" y="439242"/>
                  </a:lnTo>
                  <a:lnTo>
                    <a:pt x="182524" y="452564"/>
                  </a:lnTo>
                  <a:lnTo>
                    <a:pt x="228600" y="457200"/>
                  </a:lnTo>
                  <a:lnTo>
                    <a:pt x="274662" y="452564"/>
                  </a:lnTo>
                  <a:lnTo>
                    <a:pt x="317576" y="439242"/>
                  </a:lnTo>
                  <a:lnTo>
                    <a:pt x="351472" y="420839"/>
                  </a:lnTo>
                  <a:lnTo>
                    <a:pt x="325894" y="456311"/>
                  </a:lnTo>
                  <a:lnTo>
                    <a:pt x="307975" y="501815"/>
                  </a:lnTo>
                  <a:lnTo>
                    <a:pt x="301625" y="552450"/>
                  </a:lnTo>
                  <a:lnTo>
                    <a:pt x="3043301" y="552450"/>
                  </a:lnTo>
                  <a:close/>
                </a:path>
                <a:path w="8616950" h="552450">
                  <a:moveTo>
                    <a:pt x="8616950" y="547700"/>
                  </a:moveTo>
                  <a:lnTo>
                    <a:pt x="8610587" y="497052"/>
                  </a:lnTo>
                  <a:lnTo>
                    <a:pt x="8592668" y="451548"/>
                  </a:lnTo>
                  <a:lnTo>
                    <a:pt x="8564855" y="412991"/>
                  </a:lnTo>
                  <a:lnTo>
                    <a:pt x="8528875" y="383209"/>
                  </a:lnTo>
                  <a:lnTo>
                    <a:pt x="8486407" y="363994"/>
                  </a:lnTo>
                  <a:lnTo>
                    <a:pt x="8439150" y="357187"/>
                  </a:lnTo>
                  <a:lnTo>
                    <a:pt x="6051550" y="357187"/>
                  </a:lnTo>
                  <a:lnTo>
                    <a:pt x="6004280" y="363994"/>
                  </a:lnTo>
                  <a:lnTo>
                    <a:pt x="5961812" y="383209"/>
                  </a:lnTo>
                  <a:lnTo>
                    <a:pt x="5925832" y="412991"/>
                  </a:lnTo>
                  <a:lnTo>
                    <a:pt x="5898019" y="451548"/>
                  </a:lnTo>
                  <a:lnTo>
                    <a:pt x="5880100" y="497052"/>
                  </a:lnTo>
                  <a:lnTo>
                    <a:pt x="5873750" y="547700"/>
                  </a:lnTo>
                  <a:lnTo>
                    <a:pt x="8616950" y="547700"/>
                  </a:lnTo>
                  <a:close/>
                </a:path>
              </a:pathLst>
            </a:custGeom>
            <a:solidFill>
              <a:srgbClr val="D24717"/>
            </a:solidFill>
          </p:spPr>
          <p:txBody>
            <a:bodyPr wrap="square" lIns="0" tIns="0" rIns="0" bIns="0" rtlCol="0"/>
            <a:lstStyle/>
            <a:p>
              <a:endParaRPr kern="0">
                <a:solidFill>
                  <a:sysClr val="windowText" lastClr="000000"/>
                </a:solidFill>
              </a:endParaRPr>
            </a:p>
          </p:txBody>
        </p:sp>
        <p:pic>
          <p:nvPicPr>
            <p:cNvPr id="8" name="object 8"/>
            <p:cNvPicPr/>
            <p:nvPr/>
          </p:nvPicPr>
          <p:blipFill>
            <a:blip r:embed="rId3" cstate="print"/>
            <a:stretch>
              <a:fillRect/>
            </a:stretch>
          </p:blipFill>
          <p:spPr>
            <a:xfrm>
              <a:off x="619036" y="4246498"/>
              <a:ext cx="2486660" cy="1799082"/>
            </a:xfrm>
            <a:prstGeom prst="rect">
              <a:avLst/>
            </a:prstGeom>
          </p:spPr>
        </p:pic>
      </p:grpSp>
      <p:sp>
        <p:nvSpPr>
          <p:cNvPr id="9" name="object 9"/>
          <p:cNvSpPr txBox="1">
            <a:spLocks noGrp="1"/>
          </p:cNvSpPr>
          <p:nvPr>
            <p:ph type="title"/>
          </p:nvPr>
        </p:nvSpPr>
        <p:spPr>
          <a:xfrm>
            <a:off x="1587501" y="1517650"/>
            <a:ext cx="9020175" cy="1239442"/>
          </a:xfrm>
          <a:prstGeom prst="rect">
            <a:avLst/>
          </a:prstGeom>
          <a:solidFill>
            <a:srgbClr val="D24717"/>
          </a:solidFill>
        </p:spPr>
        <p:txBody>
          <a:bodyPr vert="horz" wrap="square" lIns="0" tIns="8255" rIns="0" bIns="0" rtlCol="0">
            <a:spAutoFit/>
          </a:bodyPr>
          <a:lstStyle/>
          <a:p>
            <a:pPr marL="2425065" marR="1931035" indent="-489584">
              <a:spcBef>
                <a:spcPts val="65"/>
              </a:spcBef>
            </a:pPr>
            <a:r>
              <a:rPr sz="4000" u="none" dirty="0">
                <a:solidFill>
                  <a:srgbClr val="FFFFFF"/>
                </a:solidFill>
              </a:rPr>
              <a:t>LẬP</a:t>
            </a:r>
            <a:r>
              <a:rPr sz="4000" u="none" spc="-110" dirty="0">
                <a:solidFill>
                  <a:srgbClr val="FFFFFF"/>
                </a:solidFill>
              </a:rPr>
              <a:t> </a:t>
            </a:r>
            <a:r>
              <a:rPr sz="4000" u="none" dirty="0">
                <a:solidFill>
                  <a:srgbClr val="FFFFFF"/>
                </a:solidFill>
              </a:rPr>
              <a:t>TRÌNH</a:t>
            </a:r>
            <a:r>
              <a:rPr sz="4000" u="none" spc="-85" dirty="0">
                <a:solidFill>
                  <a:srgbClr val="FFFFFF"/>
                </a:solidFill>
              </a:rPr>
              <a:t> </a:t>
            </a:r>
            <a:r>
              <a:rPr sz="4000" u="none" spc="-10" dirty="0">
                <a:solidFill>
                  <a:srgbClr val="FFFFFF"/>
                </a:solidFill>
              </a:rPr>
              <a:t>WEBSITE </a:t>
            </a:r>
            <a:r>
              <a:rPr sz="4000" u="none" spc="40" dirty="0">
                <a:solidFill>
                  <a:srgbClr val="FFFFFF"/>
                </a:solidFill>
              </a:rPr>
              <a:t>(</a:t>
            </a:r>
            <a:r>
              <a:rPr sz="4000" u="none" spc="-80">
                <a:solidFill>
                  <a:srgbClr val="FFFFFF"/>
                </a:solidFill>
              </a:rPr>
              <a:t>A</a:t>
            </a:r>
            <a:r>
              <a:rPr sz="4000" u="none" spc="40">
                <a:solidFill>
                  <a:srgbClr val="FFFFFF"/>
                </a:solidFill>
              </a:rPr>
              <a:t>S</a:t>
            </a:r>
            <a:r>
              <a:rPr sz="4000" u="none" spc="-475">
                <a:solidFill>
                  <a:srgbClr val="FFFFFF"/>
                </a:solidFill>
              </a:rPr>
              <a:t>P</a:t>
            </a:r>
            <a:r>
              <a:rPr sz="4000" u="none" spc="40">
                <a:solidFill>
                  <a:srgbClr val="FFFFFF"/>
                </a:solidFill>
              </a:rPr>
              <a:t>.NET</a:t>
            </a:r>
            <a:r>
              <a:rPr sz="4000" u="none" spc="-75">
                <a:solidFill>
                  <a:srgbClr val="FFFFFF"/>
                </a:solidFill>
              </a:rPr>
              <a:t> </a:t>
            </a:r>
            <a:r>
              <a:rPr lang="en-US" sz="4000" u="none" smtClean="0">
                <a:solidFill>
                  <a:srgbClr val="FFFFFF"/>
                </a:solidFill>
              </a:rPr>
              <a:t>MVC</a:t>
            </a:r>
            <a:r>
              <a:rPr sz="4000" u="none" spc="-25" smtClean="0">
                <a:solidFill>
                  <a:srgbClr val="FFFFFF"/>
                </a:solidFill>
              </a:rPr>
              <a:t>)</a:t>
            </a:r>
            <a:endParaRPr sz="4000"/>
          </a:p>
        </p:txBody>
      </p:sp>
      <p:sp>
        <p:nvSpPr>
          <p:cNvPr id="15" name="object 15"/>
          <p:cNvSpPr txBox="1"/>
          <p:nvPr/>
        </p:nvSpPr>
        <p:spPr>
          <a:xfrm>
            <a:off x="1907844" y="3272105"/>
            <a:ext cx="8289290" cy="938077"/>
          </a:xfrm>
          <a:prstGeom prst="rect">
            <a:avLst/>
          </a:prstGeom>
        </p:spPr>
        <p:txBody>
          <a:bodyPr vert="horz" wrap="square" lIns="0" tIns="14605" rIns="0" bIns="0" rtlCol="0">
            <a:spAutoFit/>
          </a:bodyPr>
          <a:lstStyle/>
          <a:p>
            <a:pPr marL="12700">
              <a:lnSpc>
                <a:spcPts val="2855"/>
              </a:lnSpc>
              <a:spcBef>
                <a:spcPts val="115"/>
              </a:spcBef>
            </a:pPr>
            <a:r>
              <a:rPr sz="2400" b="1" kern="0" spc="-10">
                <a:solidFill>
                  <a:srgbClr val="FF0000"/>
                </a:solidFill>
                <a:latin typeface="Arial"/>
                <a:cs typeface="Arial"/>
              </a:rPr>
              <a:t>CH</a:t>
            </a:r>
            <a:r>
              <a:rPr lang="vi-VN" sz="2400" b="1" kern="0" spc="-10">
                <a:solidFill>
                  <a:srgbClr val="FF0000"/>
                </a:solidFill>
                <a:cs typeface="Arial"/>
              </a:rPr>
              <a:t>ƯƠ</a:t>
            </a:r>
            <a:r>
              <a:rPr sz="2400" b="1" kern="0" spc="-10">
                <a:solidFill>
                  <a:srgbClr val="FF0000"/>
                </a:solidFill>
                <a:latin typeface="Arial"/>
                <a:cs typeface="Arial"/>
              </a:rPr>
              <a:t>NG</a:t>
            </a:r>
            <a:r>
              <a:rPr sz="2400" b="1" kern="0" spc="-140">
                <a:solidFill>
                  <a:srgbClr val="FF0000"/>
                </a:solidFill>
                <a:latin typeface="Arial"/>
                <a:cs typeface="Arial"/>
              </a:rPr>
              <a:t> </a:t>
            </a:r>
            <a:r>
              <a:rPr sz="2400" b="1" kern="0" spc="-25" dirty="0">
                <a:solidFill>
                  <a:srgbClr val="FF0000"/>
                </a:solidFill>
                <a:latin typeface="Arial"/>
                <a:cs typeface="Arial"/>
              </a:rPr>
              <a:t>1:</a:t>
            </a:r>
            <a:endParaRPr sz="2400" kern="0">
              <a:solidFill>
                <a:sysClr val="windowText" lastClr="000000"/>
              </a:solidFill>
              <a:latin typeface="Arial"/>
              <a:cs typeface="Arial"/>
            </a:endParaRPr>
          </a:p>
          <a:p>
            <a:pPr marL="648335">
              <a:lnSpc>
                <a:spcPts val="4295"/>
              </a:lnSpc>
            </a:pPr>
            <a:r>
              <a:rPr sz="3600" b="1" kern="0" dirty="0">
                <a:solidFill>
                  <a:srgbClr val="FF0000"/>
                </a:solidFill>
                <a:latin typeface="Arial"/>
                <a:cs typeface="Arial"/>
              </a:rPr>
              <a:t>TỔNG</a:t>
            </a:r>
            <a:r>
              <a:rPr sz="3600" b="1" kern="0" spc="-85" dirty="0">
                <a:solidFill>
                  <a:srgbClr val="FF0000"/>
                </a:solidFill>
                <a:latin typeface="Arial"/>
                <a:cs typeface="Arial"/>
              </a:rPr>
              <a:t> </a:t>
            </a:r>
            <a:r>
              <a:rPr sz="3600" b="1" kern="0" dirty="0">
                <a:solidFill>
                  <a:srgbClr val="FF0000"/>
                </a:solidFill>
                <a:latin typeface="Arial"/>
                <a:cs typeface="Arial"/>
              </a:rPr>
              <a:t>QUAN</a:t>
            </a:r>
            <a:r>
              <a:rPr sz="3600" b="1" kern="0" spc="10" dirty="0">
                <a:solidFill>
                  <a:srgbClr val="FF0000"/>
                </a:solidFill>
                <a:latin typeface="Arial"/>
                <a:cs typeface="Arial"/>
              </a:rPr>
              <a:t> </a:t>
            </a:r>
            <a:r>
              <a:rPr sz="3600" b="1" kern="0" dirty="0">
                <a:solidFill>
                  <a:srgbClr val="FF0000"/>
                </a:solidFill>
                <a:latin typeface="Arial"/>
                <a:cs typeface="Arial"/>
              </a:rPr>
              <a:t>VỀ</a:t>
            </a:r>
            <a:r>
              <a:rPr sz="3600" b="1" kern="0" spc="-225" dirty="0">
                <a:solidFill>
                  <a:srgbClr val="FF0000"/>
                </a:solidFill>
                <a:latin typeface="Arial"/>
                <a:cs typeface="Arial"/>
              </a:rPr>
              <a:t> </a:t>
            </a:r>
            <a:r>
              <a:rPr sz="3600" b="1" kern="0" spc="-45">
                <a:solidFill>
                  <a:srgbClr val="FF0000"/>
                </a:solidFill>
                <a:latin typeface="Arial"/>
                <a:cs typeface="Arial"/>
              </a:rPr>
              <a:t>ASP.NET</a:t>
            </a:r>
            <a:r>
              <a:rPr sz="3600" b="1" kern="0" spc="-15">
                <a:solidFill>
                  <a:srgbClr val="FF0000"/>
                </a:solidFill>
                <a:latin typeface="Arial"/>
                <a:cs typeface="Arial"/>
              </a:rPr>
              <a:t> </a:t>
            </a:r>
            <a:r>
              <a:rPr lang="en-US" sz="3600" b="1" kern="0" smtClean="0">
                <a:solidFill>
                  <a:srgbClr val="FF0000"/>
                </a:solidFill>
                <a:latin typeface="Arial"/>
                <a:cs typeface="Arial"/>
              </a:rPr>
              <a:t>MVC</a:t>
            </a:r>
            <a:endParaRPr sz="3600" kern="0">
              <a:solidFill>
                <a:sysClr val="windowText" lastClr="000000"/>
              </a:solidFill>
              <a:latin typeface="Arial"/>
              <a:cs typeface="Arial"/>
            </a:endParaRPr>
          </a:p>
        </p:txBody>
      </p:sp>
      <p:sp>
        <p:nvSpPr>
          <p:cNvPr id="16" name="object 16"/>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solidFill>
                  <a:prstClr val="white"/>
                </a:solidFill>
              </a:rPr>
              <a:pPr marL="38100">
                <a:lnSpc>
                  <a:spcPts val="1664"/>
                </a:lnSpc>
              </a:pPr>
              <a:t>1</a:t>
            </a:fld>
            <a:endParaRPr spc="-25" dirty="0">
              <a:solidFill>
                <a:prstClr val="white"/>
              </a:solidFill>
            </a:endParaRPr>
          </a:p>
        </p:txBody>
      </p:sp>
      <p:sp>
        <p:nvSpPr>
          <p:cNvPr id="18" name="object 18"/>
          <p:cNvSpPr txBox="1">
            <a:spLocks noGrp="1"/>
          </p:cNvSpPr>
          <p:nvPr>
            <p:ph type="ftr" sz="quarter" idx="5"/>
          </p:nvPr>
        </p:nvSpPr>
        <p:spPr>
          <a:xfrm>
            <a:off x="2763418" y="6600176"/>
            <a:ext cx="1243964" cy="155171"/>
          </a:xfrm>
          <a:prstGeom prst="rect">
            <a:avLst/>
          </a:prstGeom>
        </p:spPr>
        <p:txBody>
          <a:bodyPr vert="horz" wrap="square" lIns="0" tIns="1270" rIns="0" bIns="0" rtlCol="0">
            <a:spAutoFit/>
          </a:bodyPr>
          <a:lstStyle/>
          <a:p>
            <a:pPr marL="12700">
              <a:spcBef>
                <a:spcPts val="10"/>
              </a:spcBef>
            </a:pPr>
            <a:endParaRPr spc="-20" dirty="0">
              <a:solidFill>
                <a:prstClr val="white"/>
              </a:solidFill>
            </a:endParaRPr>
          </a:p>
        </p:txBody>
      </p:sp>
    </p:spTree>
    <p:extLst>
      <p:ext uri="{BB962C8B-B14F-4D97-AF65-F5344CB8AC3E}">
        <p14:creationId xmlns:p14="http://schemas.microsoft.com/office/powerpoint/2010/main" val="22667652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91268" y="450927"/>
            <a:ext cx="11057467" cy="444994"/>
          </a:xfrm>
          <a:prstGeom prst="rect">
            <a:avLst/>
          </a:prstGeom>
        </p:spPr>
        <p:txBody>
          <a:bodyPr vert="horz" wrap="square" lIns="0" tIns="13970" rIns="0" bIns="0" rtlCol="0">
            <a:spAutoFit/>
          </a:bodyPr>
          <a:lstStyle/>
          <a:p>
            <a:pPr marL="12700">
              <a:spcBef>
                <a:spcPts val="110"/>
              </a:spcBef>
              <a:tabLst>
                <a:tab pos="8279765" algn="l"/>
              </a:tabLst>
            </a:pPr>
            <a:r>
              <a:rPr spc="-445" dirty="0"/>
              <a:t> </a:t>
            </a:r>
            <a:r>
              <a:rPr dirty="0"/>
              <a:t>MỤC</a:t>
            </a:r>
            <a:r>
              <a:rPr spc="-25" dirty="0"/>
              <a:t> </a:t>
            </a:r>
            <a:r>
              <a:rPr spc="-20" dirty="0"/>
              <a:t>TIÊU</a:t>
            </a:r>
            <a:r>
              <a:rPr dirty="0"/>
              <a:t>	</a:t>
            </a:r>
          </a:p>
        </p:txBody>
      </p:sp>
      <p:sp>
        <p:nvSpPr>
          <p:cNvPr id="3" name="object 3"/>
          <p:cNvSpPr txBox="1"/>
          <p:nvPr/>
        </p:nvSpPr>
        <p:spPr>
          <a:xfrm>
            <a:off x="2288844" y="1113866"/>
            <a:ext cx="8077834" cy="4693920"/>
          </a:xfrm>
          <a:prstGeom prst="rect">
            <a:avLst/>
          </a:prstGeom>
        </p:spPr>
        <p:txBody>
          <a:bodyPr vert="horz" wrap="square" lIns="0" tIns="14605" rIns="0" bIns="0" rtlCol="0">
            <a:spAutoFit/>
          </a:bodyPr>
          <a:lstStyle/>
          <a:p>
            <a:pPr marL="12700">
              <a:spcBef>
                <a:spcPts val="115"/>
              </a:spcBef>
            </a:pPr>
            <a:r>
              <a:rPr sz="2400" b="1" i="1" kern="0" dirty="0">
                <a:solidFill>
                  <a:srgbClr val="9B2C1F"/>
                </a:solidFill>
                <a:latin typeface="Arial"/>
                <a:cs typeface="Arial"/>
              </a:rPr>
              <a:t>Kiến</a:t>
            </a:r>
            <a:r>
              <a:rPr sz="2400" b="1" i="1" kern="0" spc="-30" dirty="0">
                <a:solidFill>
                  <a:srgbClr val="9B2C1F"/>
                </a:solidFill>
                <a:latin typeface="Arial"/>
                <a:cs typeface="Arial"/>
              </a:rPr>
              <a:t> </a:t>
            </a:r>
            <a:r>
              <a:rPr sz="2400" b="1" i="1" kern="0" spc="-20" dirty="0">
                <a:solidFill>
                  <a:srgbClr val="9B2C1F"/>
                </a:solidFill>
                <a:latin typeface="Arial"/>
                <a:cs typeface="Arial"/>
              </a:rPr>
              <a:t>thức:</a:t>
            </a:r>
            <a:endParaRPr sz="2400" kern="0">
              <a:solidFill>
                <a:sysClr val="windowText" lastClr="000000"/>
              </a:solidFill>
              <a:latin typeface="Arial"/>
              <a:cs typeface="Arial"/>
            </a:endParaRPr>
          </a:p>
          <a:p>
            <a:pPr marL="12700" marR="5080" indent="177800">
              <a:spcBef>
                <a:spcPts val="1800"/>
              </a:spcBef>
              <a:buFontTx/>
              <a:buChar char="-"/>
              <a:tabLst>
                <a:tab pos="190500" algn="l"/>
              </a:tabLst>
            </a:pPr>
            <a:r>
              <a:rPr sz="2400" kern="0" dirty="0">
                <a:solidFill>
                  <a:sysClr val="windowText" lastClr="000000"/>
                </a:solidFill>
                <a:latin typeface="Microsoft Sans Serif"/>
                <a:cs typeface="Microsoft Sans Serif"/>
              </a:rPr>
              <a:t>Trình</a:t>
            </a:r>
            <a:r>
              <a:rPr sz="2400" kern="0" spc="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bài</a:t>
            </a:r>
            <a:r>
              <a:rPr sz="2400" kern="0" spc="25" dirty="0">
                <a:solidFill>
                  <a:sysClr val="windowText" lastClr="000000"/>
                </a:solidFill>
                <a:latin typeface="Microsoft Sans Serif"/>
                <a:cs typeface="Microsoft Sans Serif"/>
              </a:rPr>
              <a:t> </a:t>
            </a:r>
            <a:r>
              <a:rPr sz="2400" kern="0" spc="125" dirty="0">
                <a:solidFill>
                  <a:sysClr val="windowText" lastClr="000000"/>
                </a:solidFill>
                <a:latin typeface="Microsoft Sans Serif"/>
                <a:cs typeface="Microsoft Sans Serif"/>
              </a:rPr>
              <a:t>được</a:t>
            </a:r>
            <a:r>
              <a:rPr sz="2400" kern="0" spc="3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các</a:t>
            </a:r>
            <a:r>
              <a:rPr sz="2400" kern="0" spc="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khái</a:t>
            </a:r>
            <a:r>
              <a:rPr sz="2400" kern="0" spc="2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niệm, đặc</a:t>
            </a:r>
            <a:r>
              <a:rPr sz="2400" kern="0" spc="3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tính</a:t>
            </a:r>
            <a:r>
              <a:rPr sz="2400" kern="0" spc="1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về</a:t>
            </a:r>
            <a:r>
              <a:rPr sz="2400" kern="0" spc="15" dirty="0">
                <a:solidFill>
                  <a:sysClr val="windowText" lastClr="000000"/>
                </a:solidFill>
                <a:latin typeface="Microsoft Sans Serif"/>
                <a:cs typeface="Microsoft Sans Serif"/>
              </a:rPr>
              <a:t> </a:t>
            </a:r>
            <a:r>
              <a:rPr sz="2400" kern="0" spc="-30">
                <a:solidFill>
                  <a:sysClr val="windowText" lastClr="000000"/>
                </a:solidFill>
                <a:latin typeface="Microsoft Sans Serif"/>
                <a:cs typeface="Microsoft Sans Serif"/>
              </a:rPr>
              <a:t>ASP.Net</a:t>
            </a:r>
            <a:r>
              <a:rPr sz="2400" kern="0" spc="-10">
                <a:solidFill>
                  <a:sysClr val="windowText" lastClr="000000"/>
                </a:solidFill>
                <a:latin typeface="Microsoft Sans Serif"/>
                <a:cs typeface="Microsoft Sans Serif"/>
              </a:rPr>
              <a:t> </a:t>
            </a:r>
            <a:r>
              <a:rPr lang="en-US" sz="2400" kern="0" smtClean="0">
                <a:solidFill>
                  <a:sysClr val="windowText" lastClr="000000"/>
                </a:solidFill>
                <a:latin typeface="Microsoft Sans Serif"/>
                <a:cs typeface="Microsoft Sans Serif"/>
              </a:rPr>
              <a:t>MVC</a:t>
            </a:r>
            <a:r>
              <a:rPr sz="2400" kern="0" spc="-50" smtClean="0">
                <a:solidFill>
                  <a:sysClr val="windowText" lastClr="000000"/>
                </a:solidFill>
                <a:latin typeface="Microsoft Sans Serif"/>
                <a:cs typeface="Microsoft Sans Serif"/>
              </a:rPr>
              <a:t> </a:t>
            </a:r>
            <a:r>
              <a:rPr sz="2400" kern="0" spc="-10" dirty="0">
                <a:solidFill>
                  <a:sysClr val="windowText" lastClr="000000"/>
                </a:solidFill>
                <a:latin typeface="Microsoft Sans Serif"/>
                <a:cs typeface="Microsoft Sans Serif"/>
              </a:rPr>
              <a:t>Framework</a:t>
            </a:r>
            <a:endParaRPr sz="2400" kern="0">
              <a:solidFill>
                <a:sysClr val="windowText" lastClr="000000"/>
              </a:solidFill>
              <a:latin typeface="Microsoft Sans Serif"/>
              <a:cs typeface="Microsoft Sans Serif"/>
            </a:endParaRPr>
          </a:p>
          <a:p>
            <a:pPr marL="195580" indent="-182880">
              <a:spcBef>
                <a:spcPts val="1805"/>
              </a:spcBef>
              <a:buFontTx/>
              <a:buChar char="-"/>
              <a:tabLst>
                <a:tab pos="195580" algn="l"/>
              </a:tabLst>
            </a:pPr>
            <a:r>
              <a:rPr sz="2400" kern="0" dirty="0">
                <a:solidFill>
                  <a:sysClr val="windowText" lastClr="000000"/>
                </a:solidFill>
                <a:latin typeface="Microsoft Sans Serif"/>
                <a:cs typeface="Microsoft Sans Serif"/>
              </a:rPr>
              <a:t>So</a:t>
            </a:r>
            <a:r>
              <a:rPr sz="2400" kern="0" spc="-1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sánh</a:t>
            </a:r>
            <a:r>
              <a:rPr sz="2400" kern="0" spc="25" dirty="0">
                <a:solidFill>
                  <a:sysClr val="windowText" lastClr="000000"/>
                </a:solidFill>
                <a:latin typeface="Microsoft Sans Serif"/>
                <a:cs typeface="Microsoft Sans Serif"/>
              </a:rPr>
              <a:t> </a:t>
            </a:r>
            <a:r>
              <a:rPr sz="2400" kern="0" spc="145" dirty="0">
                <a:solidFill>
                  <a:sysClr val="windowText" lastClr="000000"/>
                </a:solidFill>
                <a:latin typeface="Microsoft Sans Serif"/>
                <a:cs typeface="Microsoft Sans Serif"/>
              </a:rPr>
              <a:t>sự</a:t>
            </a:r>
            <a:r>
              <a:rPr sz="2400" kern="0" spc="-3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khác</a:t>
            </a:r>
            <a:r>
              <a:rPr sz="2400" kern="0" spc="-2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biệt</a:t>
            </a:r>
            <a:r>
              <a:rPr sz="2400" kern="0" spc="-110" dirty="0">
                <a:solidFill>
                  <a:sysClr val="windowText" lastClr="000000"/>
                </a:solidFill>
                <a:latin typeface="Microsoft Sans Serif"/>
                <a:cs typeface="Microsoft Sans Serif"/>
              </a:rPr>
              <a:t> </a:t>
            </a:r>
            <a:r>
              <a:rPr sz="2400" kern="0" spc="-35">
                <a:solidFill>
                  <a:sysClr val="windowText" lastClr="000000"/>
                </a:solidFill>
                <a:latin typeface="Microsoft Sans Serif"/>
                <a:cs typeface="Microsoft Sans Serif"/>
              </a:rPr>
              <a:t>ASP.Net</a:t>
            </a:r>
            <a:r>
              <a:rPr sz="2400" kern="0" spc="-60">
                <a:solidFill>
                  <a:sysClr val="windowText" lastClr="000000"/>
                </a:solidFill>
                <a:latin typeface="Microsoft Sans Serif"/>
                <a:cs typeface="Microsoft Sans Serif"/>
              </a:rPr>
              <a:t> </a:t>
            </a:r>
            <a:r>
              <a:rPr lang="en-US" sz="2400" kern="0" smtClean="0">
                <a:solidFill>
                  <a:sysClr val="windowText" lastClr="000000"/>
                </a:solidFill>
                <a:latin typeface="Microsoft Sans Serif"/>
                <a:cs typeface="Microsoft Sans Serif"/>
              </a:rPr>
              <a:t>MVC</a:t>
            </a:r>
            <a:r>
              <a:rPr sz="2400" kern="0" spc="-5" smtClean="0">
                <a:solidFill>
                  <a:sysClr val="windowText" lastClr="000000"/>
                </a:solidFill>
                <a:latin typeface="Microsoft Sans Serif"/>
                <a:cs typeface="Microsoft Sans Serif"/>
              </a:rPr>
              <a:t> </a:t>
            </a:r>
            <a:r>
              <a:rPr sz="2400" kern="0" spc="65" dirty="0">
                <a:solidFill>
                  <a:sysClr val="windowText" lastClr="000000"/>
                </a:solidFill>
                <a:latin typeface="Microsoft Sans Serif"/>
                <a:cs typeface="Microsoft Sans Serif"/>
              </a:rPr>
              <a:t>với</a:t>
            </a:r>
            <a:r>
              <a:rPr sz="2400" kern="0" spc="4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Web</a:t>
            </a:r>
            <a:r>
              <a:rPr sz="2400" kern="0" spc="-114" dirty="0">
                <a:solidFill>
                  <a:sysClr val="windowText" lastClr="000000"/>
                </a:solidFill>
                <a:latin typeface="Microsoft Sans Serif"/>
                <a:cs typeface="Microsoft Sans Serif"/>
              </a:rPr>
              <a:t> </a:t>
            </a:r>
            <a:r>
              <a:rPr sz="2400" kern="0" spc="-20" dirty="0">
                <a:solidFill>
                  <a:sysClr val="windowText" lastClr="000000"/>
                </a:solidFill>
                <a:latin typeface="Microsoft Sans Serif"/>
                <a:cs typeface="Microsoft Sans Serif"/>
              </a:rPr>
              <a:t>Form</a:t>
            </a:r>
            <a:endParaRPr sz="2400" kern="0">
              <a:solidFill>
                <a:sysClr val="windowText" lastClr="000000"/>
              </a:solidFill>
              <a:latin typeface="Microsoft Sans Serif"/>
              <a:cs typeface="Microsoft Sans Serif"/>
            </a:endParaRPr>
          </a:p>
          <a:p>
            <a:pPr marL="191135" indent="-178435">
              <a:spcBef>
                <a:spcPts val="1805"/>
              </a:spcBef>
              <a:buFontTx/>
              <a:buChar char="-"/>
              <a:tabLst>
                <a:tab pos="191135" algn="l"/>
              </a:tabLst>
            </a:pPr>
            <a:r>
              <a:rPr sz="2400" kern="0" dirty="0">
                <a:solidFill>
                  <a:sysClr val="windowText" lastClr="000000"/>
                </a:solidFill>
                <a:latin typeface="Microsoft Sans Serif"/>
                <a:cs typeface="Microsoft Sans Serif"/>
              </a:rPr>
              <a:t>Trình</a:t>
            </a:r>
            <a:r>
              <a:rPr sz="2400" kern="0" spc="2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bày</a:t>
            </a:r>
            <a:r>
              <a:rPr sz="2400" kern="0" spc="2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khái</a:t>
            </a:r>
            <a:r>
              <a:rPr sz="2400" kern="0" spc="1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niệm</a:t>
            </a:r>
            <a:r>
              <a:rPr sz="2400" kern="0" spc="1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về</a:t>
            </a:r>
            <a:r>
              <a:rPr sz="2400" kern="0" spc="4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các</a:t>
            </a:r>
            <a:r>
              <a:rPr sz="2400" kern="0" spc="-2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đối</a:t>
            </a:r>
            <a:r>
              <a:rPr sz="2400" kern="0" spc="45" dirty="0">
                <a:solidFill>
                  <a:sysClr val="windowText" lastClr="000000"/>
                </a:solidFill>
                <a:latin typeface="Microsoft Sans Serif"/>
                <a:cs typeface="Microsoft Sans Serif"/>
              </a:rPr>
              <a:t> </a:t>
            </a:r>
            <a:r>
              <a:rPr sz="2400" kern="0" spc="100" dirty="0">
                <a:solidFill>
                  <a:sysClr val="windowText" lastClr="000000"/>
                </a:solidFill>
                <a:latin typeface="Microsoft Sans Serif"/>
                <a:cs typeface="Microsoft Sans Serif"/>
              </a:rPr>
              <a:t>tượng</a:t>
            </a:r>
            <a:r>
              <a:rPr sz="2400" kern="0" spc="-4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trong</a:t>
            </a:r>
            <a:r>
              <a:rPr sz="2400" kern="0" spc="3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mô</a:t>
            </a:r>
            <a:r>
              <a:rPr sz="2400" kern="0" spc="-3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hình</a:t>
            </a:r>
            <a:r>
              <a:rPr sz="2400" kern="0" spc="20" dirty="0">
                <a:solidFill>
                  <a:sysClr val="windowText" lastClr="000000"/>
                </a:solidFill>
                <a:latin typeface="Microsoft Sans Serif"/>
                <a:cs typeface="Microsoft Sans Serif"/>
              </a:rPr>
              <a:t> </a:t>
            </a:r>
            <a:r>
              <a:rPr sz="2400" kern="0" spc="-25" dirty="0">
                <a:solidFill>
                  <a:sysClr val="windowText" lastClr="000000"/>
                </a:solidFill>
                <a:latin typeface="Microsoft Sans Serif"/>
                <a:cs typeface="Microsoft Sans Serif"/>
              </a:rPr>
              <a:t>MVC</a:t>
            </a:r>
            <a:endParaRPr sz="2400" kern="0">
              <a:solidFill>
                <a:sysClr val="windowText" lastClr="000000"/>
              </a:solidFill>
              <a:latin typeface="Microsoft Sans Serif"/>
              <a:cs typeface="Microsoft Sans Serif"/>
            </a:endParaRPr>
          </a:p>
          <a:p>
            <a:pPr marL="12700">
              <a:spcBef>
                <a:spcPts val="1800"/>
              </a:spcBef>
            </a:pPr>
            <a:r>
              <a:rPr sz="2400" b="1" i="1" kern="0" dirty="0">
                <a:solidFill>
                  <a:srgbClr val="9B2C1F"/>
                </a:solidFill>
                <a:latin typeface="Arial"/>
                <a:cs typeface="Arial"/>
              </a:rPr>
              <a:t>Kỹ</a:t>
            </a:r>
            <a:r>
              <a:rPr sz="2400" b="1" i="1" kern="0" spc="-10" dirty="0">
                <a:solidFill>
                  <a:srgbClr val="9B2C1F"/>
                </a:solidFill>
                <a:latin typeface="Arial"/>
                <a:cs typeface="Arial"/>
              </a:rPr>
              <a:t> </a:t>
            </a:r>
            <a:r>
              <a:rPr sz="2400" b="1" i="1" kern="0" spc="-20" dirty="0">
                <a:solidFill>
                  <a:srgbClr val="9B2C1F"/>
                </a:solidFill>
                <a:latin typeface="Arial"/>
                <a:cs typeface="Arial"/>
              </a:rPr>
              <a:t>năng:</a:t>
            </a:r>
            <a:endParaRPr sz="2400" kern="0">
              <a:solidFill>
                <a:sysClr val="windowText" lastClr="000000"/>
              </a:solidFill>
              <a:latin typeface="Arial"/>
              <a:cs typeface="Arial"/>
            </a:endParaRPr>
          </a:p>
          <a:p>
            <a:pPr marL="190500" indent="-177800">
              <a:spcBef>
                <a:spcPts val="1805"/>
              </a:spcBef>
              <a:buFontTx/>
              <a:buChar char="-"/>
              <a:tabLst>
                <a:tab pos="190500" algn="l"/>
                <a:tab pos="4344035" algn="l"/>
              </a:tabLst>
            </a:pPr>
            <a:r>
              <a:rPr sz="2400" kern="0" spc="65" dirty="0">
                <a:solidFill>
                  <a:sysClr val="windowText" lastClr="000000"/>
                </a:solidFill>
                <a:latin typeface="Microsoft Sans Serif"/>
                <a:cs typeface="Microsoft Sans Serif"/>
              </a:rPr>
              <a:t>Thực</a:t>
            </a:r>
            <a:r>
              <a:rPr sz="2400" kern="0" spc="-3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hiện </a:t>
            </a:r>
            <a:r>
              <a:rPr sz="2400" kern="0" spc="125" dirty="0">
                <a:solidFill>
                  <a:sysClr val="windowText" lastClr="000000"/>
                </a:solidFill>
                <a:latin typeface="Microsoft Sans Serif"/>
                <a:cs typeface="Microsoft Sans Serif"/>
              </a:rPr>
              <a:t>được</a:t>
            </a:r>
            <a:r>
              <a:rPr sz="2400" kern="0" dirty="0">
                <a:solidFill>
                  <a:sysClr val="windowText" lastClr="000000"/>
                </a:solidFill>
                <a:latin typeface="Microsoft Sans Serif"/>
                <a:cs typeface="Microsoft Sans Serif"/>
              </a:rPr>
              <a:t> việc </a:t>
            </a:r>
            <a:r>
              <a:rPr sz="2400" kern="0">
                <a:solidFill>
                  <a:sysClr val="windowText" lastClr="000000"/>
                </a:solidFill>
                <a:latin typeface="Microsoft Sans Serif"/>
                <a:cs typeface="Microsoft Sans Serif"/>
              </a:rPr>
              <a:t>truy</a:t>
            </a:r>
            <a:r>
              <a:rPr sz="2400" kern="0" spc="-30">
                <a:solidFill>
                  <a:sysClr val="windowText" lastClr="000000"/>
                </a:solidFill>
                <a:latin typeface="Microsoft Sans Serif"/>
                <a:cs typeface="Microsoft Sans Serif"/>
              </a:rPr>
              <a:t> </a:t>
            </a:r>
            <a:r>
              <a:rPr sz="2400" kern="0" spc="-25">
                <a:solidFill>
                  <a:sysClr val="windowText" lastClr="000000"/>
                </a:solidFill>
                <a:latin typeface="Microsoft Sans Serif"/>
                <a:cs typeface="Microsoft Sans Serif"/>
              </a:rPr>
              <a:t>cập</a:t>
            </a:r>
            <a:r>
              <a:rPr lang="en-US" sz="2400" kern="0" dirty="0">
                <a:solidFill>
                  <a:sysClr val="windowText" lastClr="000000"/>
                </a:solidFill>
                <a:latin typeface="Microsoft Sans Serif"/>
                <a:cs typeface="Microsoft Sans Serif"/>
              </a:rPr>
              <a:t> </a:t>
            </a:r>
            <a:r>
              <a:rPr sz="2400" kern="0" spc="65">
                <a:solidFill>
                  <a:sysClr val="windowText" lastClr="000000"/>
                </a:solidFill>
                <a:latin typeface="Microsoft Sans Serif"/>
                <a:cs typeface="Microsoft Sans Serif"/>
              </a:rPr>
              <a:t>với</a:t>
            </a:r>
            <a:r>
              <a:rPr sz="2400" kern="0">
                <a:solidFill>
                  <a:sysClr val="windowText" lastClr="000000"/>
                </a:solidFill>
                <a:latin typeface="Microsoft Sans Serif"/>
                <a:cs typeface="Microsoft Sans Serif"/>
              </a:rPr>
              <a:t> LINQ</a:t>
            </a:r>
            <a:r>
              <a:rPr sz="2400" kern="0" spc="-50">
                <a:solidFill>
                  <a:sysClr val="windowText" lastClr="000000"/>
                </a:solidFill>
                <a:latin typeface="Microsoft Sans Serif"/>
                <a:cs typeface="Microsoft Sans Serif"/>
              </a:rPr>
              <a:t> </a:t>
            </a:r>
            <a:r>
              <a:rPr lang="en-US" sz="2400" kern="0">
                <a:solidFill>
                  <a:sysClr val="windowText" lastClr="000000"/>
                </a:solidFill>
                <a:latin typeface="Microsoft Sans Serif"/>
                <a:cs typeface="Microsoft Sans Serif"/>
              </a:rPr>
              <a:t>to</a:t>
            </a:r>
            <a:r>
              <a:rPr sz="2400" kern="0" spc="-15">
                <a:solidFill>
                  <a:sysClr val="windowText" lastClr="000000"/>
                </a:solidFill>
                <a:latin typeface="Microsoft Sans Serif"/>
                <a:cs typeface="Microsoft Sans Serif"/>
              </a:rPr>
              <a:t> </a:t>
            </a:r>
            <a:r>
              <a:rPr sz="2400" kern="0" spc="-25" dirty="0">
                <a:solidFill>
                  <a:sysClr val="windowText" lastClr="000000"/>
                </a:solidFill>
                <a:latin typeface="Microsoft Sans Serif"/>
                <a:cs typeface="Microsoft Sans Serif"/>
              </a:rPr>
              <a:t>SQL</a:t>
            </a:r>
            <a:endParaRPr sz="2400" kern="0">
              <a:solidFill>
                <a:sysClr val="windowText" lastClr="000000"/>
              </a:solidFill>
              <a:latin typeface="Microsoft Sans Serif"/>
              <a:cs typeface="Microsoft Sans Serif"/>
            </a:endParaRPr>
          </a:p>
          <a:p>
            <a:pPr marL="12700" marR="8890" indent="187325">
              <a:spcBef>
                <a:spcPts val="1800"/>
              </a:spcBef>
              <a:buFontTx/>
              <a:buChar char="-"/>
              <a:tabLst>
                <a:tab pos="200025" algn="l"/>
              </a:tabLst>
            </a:pPr>
            <a:r>
              <a:rPr sz="2400" kern="0" dirty="0">
                <a:solidFill>
                  <a:sysClr val="windowText" lastClr="000000"/>
                </a:solidFill>
                <a:latin typeface="Microsoft Sans Serif"/>
                <a:cs typeface="Microsoft Sans Serif"/>
              </a:rPr>
              <a:t>Xây</a:t>
            </a:r>
            <a:r>
              <a:rPr sz="2400" kern="0" spc="260" dirty="0">
                <a:solidFill>
                  <a:sysClr val="windowText" lastClr="000000"/>
                </a:solidFill>
                <a:latin typeface="Microsoft Sans Serif"/>
                <a:cs typeface="Microsoft Sans Serif"/>
              </a:rPr>
              <a:t> </a:t>
            </a:r>
            <a:r>
              <a:rPr sz="2400" kern="0" spc="65" dirty="0">
                <a:solidFill>
                  <a:sysClr val="windowText" lastClr="000000"/>
                </a:solidFill>
                <a:latin typeface="Microsoft Sans Serif"/>
                <a:cs typeface="Microsoft Sans Serif"/>
              </a:rPr>
              <a:t>dựng</a:t>
            </a:r>
            <a:r>
              <a:rPr sz="2400" kern="0" spc="270" dirty="0">
                <a:solidFill>
                  <a:sysClr val="windowText" lastClr="000000"/>
                </a:solidFill>
                <a:latin typeface="Microsoft Sans Serif"/>
                <a:cs typeface="Microsoft Sans Serif"/>
              </a:rPr>
              <a:t> </a:t>
            </a:r>
            <a:r>
              <a:rPr sz="2400" kern="0" spc="125" dirty="0">
                <a:solidFill>
                  <a:sysClr val="windowText" lastClr="000000"/>
                </a:solidFill>
                <a:latin typeface="Microsoft Sans Serif"/>
                <a:cs typeface="Microsoft Sans Serif"/>
              </a:rPr>
              <a:t>được</a:t>
            </a:r>
            <a:r>
              <a:rPr sz="2400" kern="0" spc="295" dirty="0">
                <a:solidFill>
                  <a:sysClr val="windowText" lastClr="000000"/>
                </a:solidFill>
                <a:latin typeface="Microsoft Sans Serif"/>
                <a:cs typeface="Microsoft Sans Serif"/>
              </a:rPr>
              <a:t> </a:t>
            </a:r>
            <a:r>
              <a:rPr sz="2400" kern="0" spc="90" dirty="0">
                <a:solidFill>
                  <a:sysClr val="windowText" lastClr="000000"/>
                </a:solidFill>
                <a:latin typeface="Microsoft Sans Serif"/>
                <a:cs typeface="Microsoft Sans Serif"/>
              </a:rPr>
              <a:t>ứng</a:t>
            </a:r>
            <a:r>
              <a:rPr sz="2400" kern="0" spc="27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dụng</a:t>
            </a:r>
            <a:r>
              <a:rPr sz="2400" kern="0" spc="27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truy</a:t>
            </a:r>
            <a:r>
              <a:rPr sz="2400" kern="0" spc="27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xuất</a:t>
            </a:r>
            <a:r>
              <a:rPr sz="2400" kern="0" spc="290" dirty="0">
                <a:solidFill>
                  <a:sysClr val="windowText" lastClr="000000"/>
                </a:solidFill>
                <a:latin typeface="Microsoft Sans Serif"/>
                <a:cs typeface="Microsoft Sans Serif"/>
              </a:rPr>
              <a:t> </a:t>
            </a:r>
            <a:r>
              <a:rPr sz="2400" kern="0" spc="125" dirty="0">
                <a:solidFill>
                  <a:sysClr val="windowText" lastClr="000000"/>
                </a:solidFill>
                <a:latin typeface="Microsoft Sans Serif"/>
                <a:cs typeface="Microsoft Sans Serif"/>
              </a:rPr>
              <a:t>dữ</a:t>
            </a:r>
            <a:r>
              <a:rPr sz="2400" kern="0" spc="29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liệu</a:t>
            </a:r>
            <a:r>
              <a:rPr sz="2400" kern="0" spc="275" dirty="0">
                <a:solidFill>
                  <a:sysClr val="windowText" lastClr="000000"/>
                </a:solidFill>
                <a:latin typeface="Microsoft Sans Serif"/>
                <a:cs typeface="Microsoft Sans Serif"/>
              </a:rPr>
              <a:t> </a:t>
            </a:r>
            <a:r>
              <a:rPr sz="2400" kern="0" spc="65" dirty="0">
                <a:solidFill>
                  <a:sysClr val="windowText" lastClr="000000"/>
                </a:solidFill>
                <a:latin typeface="Microsoft Sans Serif"/>
                <a:cs typeface="Microsoft Sans Serif"/>
              </a:rPr>
              <a:t>với</a:t>
            </a:r>
            <a:r>
              <a:rPr sz="2400" kern="0" spc="254"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mô</a:t>
            </a:r>
            <a:r>
              <a:rPr sz="2400" kern="0" spc="235" dirty="0">
                <a:solidFill>
                  <a:sysClr val="windowText" lastClr="000000"/>
                </a:solidFill>
                <a:latin typeface="Microsoft Sans Serif"/>
                <a:cs typeface="Microsoft Sans Serif"/>
              </a:rPr>
              <a:t> </a:t>
            </a:r>
            <a:r>
              <a:rPr sz="2400" kern="0" spc="-20" dirty="0">
                <a:solidFill>
                  <a:sysClr val="windowText" lastClr="000000"/>
                </a:solidFill>
                <a:latin typeface="Microsoft Sans Serif"/>
                <a:cs typeface="Microsoft Sans Serif"/>
              </a:rPr>
              <a:t>hình </a:t>
            </a:r>
            <a:r>
              <a:rPr sz="2400" kern="0" spc="-35">
                <a:solidFill>
                  <a:sysClr val="windowText" lastClr="000000"/>
                </a:solidFill>
                <a:latin typeface="Microsoft Sans Serif"/>
                <a:cs typeface="Microsoft Sans Serif"/>
              </a:rPr>
              <a:t>ASP.Net</a:t>
            </a:r>
            <a:r>
              <a:rPr sz="2400" kern="0" spc="-95">
                <a:solidFill>
                  <a:sysClr val="windowText" lastClr="000000"/>
                </a:solidFill>
                <a:latin typeface="Microsoft Sans Serif"/>
                <a:cs typeface="Microsoft Sans Serif"/>
              </a:rPr>
              <a:t> </a:t>
            </a:r>
            <a:r>
              <a:rPr lang="en-US" sz="2400" kern="0" smtClean="0">
                <a:solidFill>
                  <a:sysClr val="windowText" lastClr="000000"/>
                </a:solidFill>
                <a:latin typeface="Microsoft Sans Serif"/>
                <a:cs typeface="Microsoft Sans Serif"/>
              </a:rPr>
              <a:t>MVC</a:t>
            </a:r>
            <a:endParaRPr sz="2400" kern="0">
              <a:solidFill>
                <a:sysClr val="windowText" lastClr="000000"/>
              </a:solidFill>
              <a:latin typeface="Microsoft Sans Serif"/>
              <a:cs typeface="Microsoft Sans Serif"/>
            </a:endParaRPr>
          </a:p>
        </p:txBody>
      </p:sp>
      <p:pic>
        <p:nvPicPr>
          <p:cNvPr id="4" name="object 4"/>
          <p:cNvPicPr/>
          <p:nvPr/>
        </p:nvPicPr>
        <p:blipFill>
          <a:blip r:embed="rId2" cstate="print"/>
          <a:stretch>
            <a:fillRect/>
          </a:stretch>
        </p:blipFill>
        <p:spPr>
          <a:xfrm>
            <a:off x="9150732" y="160870"/>
            <a:ext cx="1266913" cy="916597"/>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solidFill>
                  <a:prstClr val="white"/>
                </a:solidFill>
              </a:rPr>
              <a:pPr marL="38100">
                <a:lnSpc>
                  <a:spcPts val="1664"/>
                </a:lnSpc>
              </a:pPr>
              <a:t>2</a:t>
            </a:fld>
            <a:endParaRPr spc="-25" dirty="0">
              <a:solidFill>
                <a:prstClr val="white"/>
              </a:solidFill>
            </a:endParaRPr>
          </a:p>
        </p:txBody>
      </p:sp>
      <p:sp>
        <p:nvSpPr>
          <p:cNvPr id="7" name="object 7"/>
          <p:cNvSpPr txBox="1">
            <a:spLocks noGrp="1"/>
          </p:cNvSpPr>
          <p:nvPr>
            <p:ph type="ftr" sz="quarter" idx="5"/>
          </p:nvPr>
        </p:nvSpPr>
        <p:spPr>
          <a:xfrm>
            <a:off x="2763418" y="6600176"/>
            <a:ext cx="1243964" cy="155171"/>
          </a:xfrm>
          <a:prstGeom prst="rect">
            <a:avLst/>
          </a:prstGeom>
        </p:spPr>
        <p:txBody>
          <a:bodyPr vert="horz" wrap="square" lIns="0" tIns="1270" rIns="0" bIns="0" rtlCol="0">
            <a:spAutoFit/>
          </a:bodyPr>
          <a:lstStyle/>
          <a:p>
            <a:pPr marL="12700">
              <a:spcBef>
                <a:spcPts val="10"/>
              </a:spcBef>
            </a:pPr>
            <a:endParaRPr spc="-20" dirty="0">
              <a:solidFill>
                <a:prstClr val="white"/>
              </a:solidFill>
            </a:endParaRPr>
          </a:p>
        </p:txBody>
      </p:sp>
    </p:spTree>
    <p:extLst>
      <p:ext uri="{BB962C8B-B14F-4D97-AF65-F5344CB8AC3E}">
        <p14:creationId xmlns:p14="http://schemas.microsoft.com/office/powerpoint/2010/main" val="34145530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949450" y="204733"/>
            <a:ext cx="8293100" cy="5273880"/>
          </a:xfrm>
          <a:prstGeom prst="rect">
            <a:avLst/>
          </a:prstGeom>
        </p:spPr>
        <p:txBody>
          <a:bodyPr vert="horz" wrap="square" lIns="0" tIns="259715" rIns="0" bIns="0" rtlCol="0">
            <a:spAutoFit/>
          </a:bodyPr>
          <a:lstStyle/>
          <a:p>
            <a:pPr marL="12700">
              <a:spcBef>
                <a:spcPts val="2045"/>
              </a:spcBef>
              <a:tabLst>
                <a:tab pos="8279765" algn="l"/>
              </a:tabLst>
            </a:pPr>
            <a:r>
              <a:rPr sz="2800" b="1" u="sng" kern="0" spc="-434" dirty="0">
                <a:solidFill>
                  <a:srgbClr val="9B2C1F"/>
                </a:solidFill>
                <a:uFill>
                  <a:solidFill>
                    <a:srgbClr val="D24717"/>
                  </a:solidFill>
                </a:uFill>
                <a:latin typeface="Arial"/>
                <a:cs typeface="Arial"/>
              </a:rPr>
              <a:t> </a:t>
            </a:r>
            <a:r>
              <a:rPr sz="2800" b="1" u="sng" kern="0" dirty="0">
                <a:solidFill>
                  <a:srgbClr val="9B2C1F"/>
                </a:solidFill>
                <a:uFill>
                  <a:solidFill>
                    <a:srgbClr val="D24717"/>
                  </a:solidFill>
                </a:uFill>
                <a:latin typeface="Arial"/>
                <a:cs typeface="Arial"/>
              </a:rPr>
              <a:t>NỘI</a:t>
            </a:r>
            <a:r>
              <a:rPr sz="2800" b="1" u="sng" kern="0" spc="-25" dirty="0">
                <a:solidFill>
                  <a:srgbClr val="9B2C1F"/>
                </a:solidFill>
                <a:uFill>
                  <a:solidFill>
                    <a:srgbClr val="D24717"/>
                  </a:solidFill>
                </a:uFill>
                <a:latin typeface="Arial"/>
                <a:cs typeface="Arial"/>
              </a:rPr>
              <a:t> </a:t>
            </a:r>
            <a:r>
              <a:rPr sz="2800" b="1" u="sng" kern="0" spc="-20" dirty="0">
                <a:solidFill>
                  <a:srgbClr val="9B2C1F"/>
                </a:solidFill>
                <a:uFill>
                  <a:solidFill>
                    <a:srgbClr val="D24717"/>
                  </a:solidFill>
                </a:uFill>
                <a:latin typeface="Arial"/>
                <a:cs typeface="Arial"/>
              </a:rPr>
              <a:t>DUNG</a:t>
            </a:r>
            <a:r>
              <a:rPr sz="2800" b="1" u="sng" kern="0" dirty="0">
                <a:solidFill>
                  <a:srgbClr val="9B2C1F"/>
                </a:solidFill>
                <a:uFill>
                  <a:solidFill>
                    <a:srgbClr val="D24717"/>
                  </a:solidFill>
                </a:uFill>
                <a:latin typeface="Arial"/>
                <a:cs typeface="Arial"/>
              </a:rPr>
              <a:t>	</a:t>
            </a:r>
            <a:endParaRPr sz="2800" kern="0">
              <a:solidFill>
                <a:sysClr val="windowText" lastClr="000000"/>
              </a:solidFill>
              <a:latin typeface="Arial"/>
              <a:cs typeface="Arial"/>
            </a:endParaRPr>
          </a:p>
          <a:p>
            <a:pPr marL="935355" indent="-393065">
              <a:spcBef>
                <a:spcPts val="1955"/>
              </a:spcBef>
              <a:buFontTx/>
              <a:buAutoNum type="arabicPeriod"/>
              <a:tabLst>
                <a:tab pos="935355" algn="l"/>
              </a:tabLst>
            </a:pPr>
            <a:r>
              <a:rPr sz="2800" kern="0" spc="55" dirty="0">
                <a:solidFill>
                  <a:sysClr val="windowText" lastClr="000000"/>
                </a:solidFill>
                <a:latin typeface="Microsoft Sans Serif"/>
                <a:cs typeface="Microsoft Sans Serif"/>
              </a:rPr>
              <a:t>Giới</a:t>
            </a:r>
            <a:r>
              <a:rPr sz="2800" kern="0" dirty="0">
                <a:solidFill>
                  <a:sysClr val="windowText" lastClr="000000"/>
                </a:solidFill>
                <a:latin typeface="Microsoft Sans Serif"/>
                <a:cs typeface="Microsoft Sans Serif"/>
              </a:rPr>
              <a:t> thiệu</a:t>
            </a:r>
            <a:r>
              <a:rPr sz="2800" kern="0" spc="45" dirty="0">
                <a:solidFill>
                  <a:sysClr val="windowText" lastClr="000000"/>
                </a:solidFill>
                <a:latin typeface="Microsoft Sans Serif"/>
                <a:cs typeface="Microsoft Sans Serif"/>
              </a:rPr>
              <a:t> </a:t>
            </a:r>
            <a:r>
              <a:rPr sz="2800" kern="0" dirty="0">
                <a:solidFill>
                  <a:sysClr val="windowText" lastClr="000000"/>
                </a:solidFill>
                <a:latin typeface="Microsoft Sans Serif"/>
                <a:cs typeface="Microsoft Sans Serif"/>
              </a:rPr>
              <a:t>về</a:t>
            </a:r>
            <a:r>
              <a:rPr sz="2800" kern="0" spc="-165" dirty="0">
                <a:solidFill>
                  <a:sysClr val="windowText" lastClr="000000"/>
                </a:solidFill>
                <a:latin typeface="Microsoft Sans Serif"/>
                <a:cs typeface="Microsoft Sans Serif"/>
              </a:rPr>
              <a:t> </a:t>
            </a:r>
            <a:r>
              <a:rPr sz="2800" kern="0" spc="-45">
                <a:solidFill>
                  <a:sysClr val="windowText" lastClr="000000"/>
                </a:solidFill>
                <a:latin typeface="Microsoft Sans Serif"/>
                <a:cs typeface="Microsoft Sans Serif"/>
              </a:rPr>
              <a:t>ASP.NET</a:t>
            </a:r>
            <a:r>
              <a:rPr sz="2800" kern="0" spc="-75">
                <a:solidFill>
                  <a:sysClr val="windowText" lastClr="000000"/>
                </a:solidFill>
                <a:latin typeface="Microsoft Sans Serif"/>
                <a:cs typeface="Microsoft Sans Serif"/>
              </a:rPr>
              <a:t> </a:t>
            </a:r>
            <a:r>
              <a:rPr lang="en-US" sz="2800" kern="0" smtClean="0">
                <a:solidFill>
                  <a:sysClr val="windowText" lastClr="000000"/>
                </a:solidFill>
                <a:latin typeface="Microsoft Sans Serif"/>
                <a:cs typeface="Microsoft Sans Serif"/>
              </a:rPr>
              <a:t>MVC và công cụ</a:t>
            </a:r>
            <a:endParaRPr sz="2800" kern="0">
              <a:solidFill>
                <a:sysClr val="windowText" lastClr="000000"/>
              </a:solidFill>
              <a:latin typeface="Microsoft Sans Serif"/>
              <a:cs typeface="Microsoft Sans Serif"/>
            </a:endParaRPr>
          </a:p>
          <a:p>
            <a:pPr marL="935355" indent="-393065">
              <a:spcBef>
                <a:spcPts val="1680"/>
              </a:spcBef>
              <a:buFontTx/>
              <a:buAutoNum type="arabicPeriod"/>
              <a:tabLst>
                <a:tab pos="935355" algn="l"/>
              </a:tabLst>
            </a:pPr>
            <a:r>
              <a:rPr sz="2800" kern="0" dirty="0">
                <a:solidFill>
                  <a:sysClr val="windowText" lastClr="000000"/>
                </a:solidFill>
                <a:latin typeface="Microsoft Sans Serif"/>
                <a:cs typeface="Microsoft Sans Serif"/>
              </a:rPr>
              <a:t>Xây</a:t>
            </a:r>
            <a:r>
              <a:rPr sz="2800" kern="0" spc="45" dirty="0">
                <a:solidFill>
                  <a:sysClr val="windowText" lastClr="000000"/>
                </a:solidFill>
                <a:latin typeface="Microsoft Sans Serif"/>
                <a:cs typeface="Microsoft Sans Serif"/>
              </a:rPr>
              <a:t> </a:t>
            </a:r>
            <a:r>
              <a:rPr sz="2800" kern="0" spc="65" dirty="0">
                <a:solidFill>
                  <a:sysClr val="windowText" lastClr="000000"/>
                </a:solidFill>
                <a:latin typeface="Microsoft Sans Serif"/>
                <a:cs typeface="Microsoft Sans Serif"/>
              </a:rPr>
              <a:t>dựng</a:t>
            </a:r>
            <a:r>
              <a:rPr sz="2800" kern="0" spc="75" dirty="0">
                <a:solidFill>
                  <a:sysClr val="windowText" lastClr="000000"/>
                </a:solidFill>
                <a:latin typeface="Microsoft Sans Serif"/>
                <a:cs typeface="Microsoft Sans Serif"/>
              </a:rPr>
              <a:t> </a:t>
            </a:r>
            <a:r>
              <a:rPr sz="2800" kern="0" spc="90" dirty="0">
                <a:solidFill>
                  <a:sysClr val="windowText" lastClr="000000"/>
                </a:solidFill>
                <a:latin typeface="Microsoft Sans Serif"/>
                <a:cs typeface="Microsoft Sans Serif"/>
              </a:rPr>
              <a:t>ứng</a:t>
            </a:r>
            <a:r>
              <a:rPr sz="2800" kern="0" spc="30" dirty="0">
                <a:solidFill>
                  <a:sysClr val="windowText" lastClr="000000"/>
                </a:solidFill>
                <a:latin typeface="Microsoft Sans Serif"/>
                <a:cs typeface="Microsoft Sans Serif"/>
              </a:rPr>
              <a:t> </a:t>
            </a:r>
            <a:r>
              <a:rPr sz="2800" kern="0" dirty="0">
                <a:solidFill>
                  <a:sysClr val="windowText" lastClr="000000"/>
                </a:solidFill>
                <a:latin typeface="Microsoft Sans Serif"/>
                <a:cs typeface="Microsoft Sans Serif"/>
              </a:rPr>
              <a:t>dụng</a:t>
            </a:r>
            <a:r>
              <a:rPr sz="2800" kern="0" spc="40" dirty="0">
                <a:solidFill>
                  <a:sysClr val="windowText" lastClr="000000"/>
                </a:solidFill>
                <a:latin typeface="Microsoft Sans Serif"/>
                <a:cs typeface="Microsoft Sans Serif"/>
              </a:rPr>
              <a:t> </a:t>
            </a:r>
            <a:r>
              <a:rPr sz="2800" kern="0">
                <a:solidFill>
                  <a:sysClr val="windowText" lastClr="000000"/>
                </a:solidFill>
                <a:latin typeface="Microsoft Sans Serif"/>
                <a:cs typeface="Microsoft Sans Serif"/>
              </a:rPr>
              <a:t>Web</a:t>
            </a:r>
            <a:r>
              <a:rPr sz="2800" kern="0" spc="-35">
                <a:solidFill>
                  <a:sysClr val="windowText" lastClr="000000"/>
                </a:solidFill>
                <a:latin typeface="Microsoft Sans Serif"/>
                <a:cs typeface="Microsoft Sans Serif"/>
              </a:rPr>
              <a:t> </a:t>
            </a:r>
            <a:r>
              <a:rPr lang="en-US" sz="2800" kern="0" smtClean="0">
                <a:solidFill>
                  <a:sysClr val="windowText" lastClr="000000"/>
                </a:solidFill>
                <a:latin typeface="Microsoft Sans Serif"/>
                <a:cs typeface="Microsoft Sans Serif"/>
              </a:rPr>
              <a:t>MVC</a:t>
            </a:r>
            <a:endParaRPr sz="2800" kern="0">
              <a:solidFill>
                <a:sysClr val="windowText" lastClr="000000"/>
              </a:solidFill>
              <a:latin typeface="Microsoft Sans Serif"/>
              <a:cs typeface="Microsoft Sans Serif"/>
            </a:endParaRPr>
          </a:p>
          <a:p>
            <a:pPr marL="935355" indent="-393065">
              <a:spcBef>
                <a:spcPts val="1685"/>
              </a:spcBef>
              <a:buFontTx/>
              <a:buAutoNum type="arabicPeriod"/>
              <a:tabLst>
                <a:tab pos="935355" algn="l"/>
              </a:tabLst>
            </a:pPr>
            <a:r>
              <a:rPr sz="2800" kern="0" spc="55" dirty="0">
                <a:solidFill>
                  <a:sysClr val="windowText" lastClr="000000"/>
                </a:solidFill>
                <a:latin typeface="Microsoft Sans Serif"/>
                <a:cs typeface="Microsoft Sans Serif"/>
              </a:rPr>
              <a:t>Giới</a:t>
            </a:r>
            <a:r>
              <a:rPr sz="2800" kern="0" spc="-10" dirty="0">
                <a:solidFill>
                  <a:sysClr val="windowText" lastClr="000000"/>
                </a:solidFill>
                <a:latin typeface="Microsoft Sans Serif"/>
                <a:cs typeface="Microsoft Sans Serif"/>
              </a:rPr>
              <a:t> </a:t>
            </a:r>
            <a:r>
              <a:rPr sz="2800" kern="0" dirty="0">
                <a:solidFill>
                  <a:sysClr val="windowText" lastClr="000000"/>
                </a:solidFill>
                <a:latin typeface="Microsoft Sans Serif"/>
                <a:cs typeface="Microsoft Sans Serif"/>
              </a:rPr>
              <a:t>thiệu</a:t>
            </a:r>
            <a:r>
              <a:rPr sz="2800" kern="0" spc="30" dirty="0">
                <a:solidFill>
                  <a:sysClr val="windowText" lastClr="000000"/>
                </a:solidFill>
                <a:latin typeface="Microsoft Sans Serif"/>
                <a:cs typeface="Microsoft Sans Serif"/>
              </a:rPr>
              <a:t> </a:t>
            </a:r>
            <a:r>
              <a:rPr sz="2800" kern="0">
                <a:solidFill>
                  <a:sysClr val="windowText" lastClr="000000"/>
                </a:solidFill>
                <a:latin typeface="Microsoft Sans Serif"/>
                <a:cs typeface="Microsoft Sans Serif"/>
              </a:rPr>
              <a:t>về</a:t>
            </a:r>
            <a:r>
              <a:rPr sz="2800" kern="0" spc="25">
                <a:solidFill>
                  <a:sysClr val="windowText" lastClr="000000"/>
                </a:solidFill>
                <a:latin typeface="Microsoft Sans Serif"/>
                <a:cs typeface="Microsoft Sans Serif"/>
              </a:rPr>
              <a:t> </a:t>
            </a:r>
            <a:r>
              <a:rPr sz="2800" kern="0" spc="-10">
                <a:solidFill>
                  <a:srgbClr val="FF0000"/>
                </a:solidFill>
                <a:latin typeface="Microsoft Sans Serif"/>
                <a:cs typeface="Microsoft Sans Serif"/>
              </a:rPr>
              <a:t>C</a:t>
            </a:r>
            <a:r>
              <a:rPr sz="2800" kern="0" spc="-10">
                <a:solidFill>
                  <a:sysClr val="windowText" lastClr="000000"/>
                </a:solidFill>
                <a:latin typeface="Microsoft Sans Serif"/>
                <a:cs typeface="Microsoft Sans Serif"/>
              </a:rPr>
              <a:t>ontroller</a:t>
            </a:r>
            <a:r>
              <a:rPr lang="en-US" sz="2800" kern="0" spc="-10">
                <a:solidFill>
                  <a:sysClr val="windowText" lastClr="000000"/>
                </a:solidFill>
                <a:latin typeface="Microsoft Sans Serif"/>
                <a:cs typeface="Microsoft Sans Serif"/>
              </a:rPr>
              <a:t>s</a:t>
            </a:r>
            <a:endParaRPr sz="2800" kern="0">
              <a:solidFill>
                <a:sysClr val="windowText" lastClr="000000"/>
              </a:solidFill>
              <a:latin typeface="Microsoft Sans Serif"/>
              <a:cs typeface="Microsoft Sans Serif"/>
            </a:endParaRPr>
          </a:p>
          <a:p>
            <a:pPr marL="935355" indent="-393065">
              <a:spcBef>
                <a:spcPts val="1685"/>
              </a:spcBef>
              <a:buFontTx/>
              <a:buAutoNum type="arabicPeriod"/>
              <a:tabLst>
                <a:tab pos="935355" algn="l"/>
              </a:tabLst>
            </a:pPr>
            <a:r>
              <a:rPr sz="2800" kern="0" spc="55" dirty="0">
                <a:solidFill>
                  <a:sysClr val="windowText" lastClr="000000"/>
                </a:solidFill>
                <a:latin typeface="Microsoft Sans Serif"/>
                <a:cs typeface="Microsoft Sans Serif"/>
              </a:rPr>
              <a:t>Giới</a:t>
            </a:r>
            <a:r>
              <a:rPr sz="2800" kern="0" spc="5" dirty="0">
                <a:solidFill>
                  <a:sysClr val="windowText" lastClr="000000"/>
                </a:solidFill>
                <a:latin typeface="Microsoft Sans Serif"/>
                <a:cs typeface="Microsoft Sans Serif"/>
              </a:rPr>
              <a:t> </a:t>
            </a:r>
            <a:r>
              <a:rPr sz="2800" kern="0" dirty="0">
                <a:solidFill>
                  <a:sysClr val="windowText" lastClr="000000"/>
                </a:solidFill>
                <a:latin typeface="Microsoft Sans Serif"/>
                <a:cs typeface="Microsoft Sans Serif"/>
              </a:rPr>
              <a:t>thiệu</a:t>
            </a:r>
            <a:r>
              <a:rPr sz="2800" kern="0" spc="45" dirty="0">
                <a:solidFill>
                  <a:sysClr val="windowText" lastClr="000000"/>
                </a:solidFill>
                <a:latin typeface="Microsoft Sans Serif"/>
                <a:cs typeface="Microsoft Sans Serif"/>
              </a:rPr>
              <a:t> </a:t>
            </a:r>
            <a:r>
              <a:rPr sz="2800" kern="0">
                <a:solidFill>
                  <a:sysClr val="windowText" lastClr="000000"/>
                </a:solidFill>
                <a:latin typeface="Microsoft Sans Serif"/>
                <a:cs typeface="Microsoft Sans Serif"/>
              </a:rPr>
              <a:t>về</a:t>
            </a:r>
            <a:r>
              <a:rPr sz="2800" kern="0" spc="35">
                <a:solidFill>
                  <a:sysClr val="windowText" lastClr="000000"/>
                </a:solidFill>
                <a:latin typeface="Microsoft Sans Serif"/>
                <a:cs typeface="Microsoft Sans Serif"/>
              </a:rPr>
              <a:t> </a:t>
            </a:r>
            <a:r>
              <a:rPr sz="2800" kern="0" spc="-20">
                <a:solidFill>
                  <a:srgbClr val="FF0000"/>
                </a:solidFill>
                <a:latin typeface="Microsoft Sans Serif"/>
                <a:cs typeface="Microsoft Sans Serif"/>
              </a:rPr>
              <a:t>V</a:t>
            </a:r>
            <a:r>
              <a:rPr sz="2800" kern="0" spc="-20">
                <a:solidFill>
                  <a:sysClr val="windowText" lastClr="000000"/>
                </a:solidFill>
                <a:latin typeface="Microsoft Sans Serif"/>
                <a:cs typeface="Microsoft Sans Serif"/>
              </a:rPr>
              <a:t>iew</a:t>
            </a:r>
            <a:r>
              <a:rPr lang="en-US" sz="2800" kern="0" spc="-20">
                <a:solidFill>
                  <a:sysClr val="windowText" lastClr="000000"/>
                </a:solidFill>
                <a:latin typeface="Microsoft Sans Serif"/>
                <a:cs typeface="Microsoft Sans Serif"/>
              </a:rPr>
              <a:t>s</a:t>
            </a:r>
            <a:endParaRPr sz="2800" kern="0">
              <a:solidFill>
                <a:sysClr val="windowText" lastClr="000000"/>
              </a:solidFill>
              <a:latin typeface="Microsoft Sans Serif"/>
              <a:cs typeface="Microsoft Sans Serif"/>
            </a:endParaRPr>
          </a:p>
          <a:p>
            <a:pPr marL="935355" indent="-393065">
              <a:spcBef>
                <a:spcPts val="1680"/>
              </a:spcBef>
              <a:buFontTx/>
              <a:buAutoNum type="arabicPeriod"/>
              <a:tabLst>
                <a:tab pos="935355" algn="l"/>
              </a:tabLst>
            </a:pPr>
            <a:r>
              <a:rPr sz="2800" kern="0" spc="55" dirty="0">
                <a:solidFill>
                  <a:sysClr val="windowText" lastClr="000000"/>
                </a:solidFill>
                <a:latin typeface="Microsoft Sans Serif"/>
                <a:cs typeface="Microsoft Sans Serif"/>
              </a:rPr>
              <a:t>Giới</a:t>
            </a:r>
            <a:r>
              <a:rPr sz="2800" kern="0" spc="-10" dirty="0">
                <a:solidFill>
                  <a:sysClr val="windowText" lastClr="000000"/>
                </a:solidFill>
                <a:latin typeface="Microsoft Sans Serif"/>
                <a:cs typeface="Microsoft Sans Serif"/>
              </a:rPr>
              <a:t> </a:t>
            </a:r>
            <a:r>
              <a:rPr sz="2800" kern="0" dirty="0">
                <a:solidFill>
                  <a:sysClr val="windowText" lastClr="000000"/>
                </a:solidFill>
                <a:latin typeface="Microsoft Sans Serif"/>
                <a:cs typeface="Microsoft Sans Serif"/>
              </a:rPr>
              <a:t>thiệu</a:t>
            </a:r>
            <a:r>
              <a:rPr sz="2800" kern="0" spc="30" dirty="0">
                <a:solidFill>
                  <a:sysClr val="windowText" lastClr="000000"/>
                </a:solidFill>
                <a:latin typeface="Microsoft Sans Serif"/>
                <a:cs typeface="Microsoft Sans Serif"/>
              </a:rPr>
              <a:t> </a:t>
            </a:r>
            <a:r>
              <a:rPr sz="2800" kern="0">
                <a:solidFill>
                  <a:sysClr val="windowText" lastClr="000000"/>
                </a:solidFill>
                <a:latin typeface="Microsoft Sans Serif"/>
                <a:cs typeface="Microsoft Sans Serif"/>
              </a:rPr>
              <a:t>về</a:t>
            </a:r>
            <a:r>
              <a:rPr sz="2800" kern="0" spc="20">
                <a:solidFill>
                  <a:sysClr val="windowText" lastClr="000000"/>
                </a:solidFill>
                <a:latin typeface="Microsoft Sans Serif"/>
                <a:cs typeface="Microsoft Sans Serif"/>
              </a:rPr>
              <a:t> </a:t>
            </a:r>
            <a:r>
              <a:rPr sz="2800" kern="0" spc="-10">
                <a:solidFill>
                  <a:srgbClr val="FF0000"/>
                </a:solidFill>
                <a:latin typeface="Microsoft Sans Serif"/>
                <a:cs typeface="Microsoft Sans Serif"/>
              </a:rPr>
              <a:t>M</a:t>
            </a:r>
            <a:r>
              <a:rPr sz="2800" kern="0" spc="-10">
                <a:solidFill>
                  <a:sysClr val="windowText" lastClr="000000"/>
                </a:solidFill>
                <a:latin typeface="Microsoft Sans Serif"/>
                <a:cs typeface="Microsoft Sans Serif"/>
              </a:rPr>
              <a:t>odel</a:t>
            </a:r>
            <a:r>
              <a:rPr lang="en-US" sz="2800" kern="0" spc="-10">
                <a:solidFill>
                  <a:sysClr val="windowText" lastClr="000000"/>
                </a:solidFill>
                <a:latin typeface="Microsoft Sans Serif"/>
                <a:cs typeface="Microsoft Sans Serif"/>
              </a:rPr>
              <a:t>s</a:t>
            </a:r>
            <a:endParaRPr sz="2800" kern="0">
              <a:solidFill>
                <a:sysClr val="windowText" lastClr="000000"/>
              </a:solidFill>
              <a:latin typeface="Microsoft Sans Serif"/>
              <a:cs typeface="Microsoft Sans Serif"/>
            </a:endParaRPr>
          </a:p>
          <a:p>
            <a:pPr marL="935355" indent="-393065">
              <a:spcBef>
                <a:spcPts val="1685"/>
              </a:spcBef>
              <a:buFontTx/>
              <a:buAutoNum type="arabicPeriod"/>
              <a:tabLst>
                <a:tab pos="935355" algn="l"/>
              </a:tabLst>
            </a:pPr>
            <a:r>
              <a:rPr sz="2800" kern="0" spc="55" dirty="0">
                <a:solidFill>
                  <a:sysClr val="windowText" lastClr="000000"/>
                </a:solidFill>
                <a:latin typeface="Microsoft Sans Serif"/>
                <a:cs typeface="Microsoft Sans Serif"/>
              </a:rPr>
              <a:t>Giới</a:t>
            </a:r>
            <a:r>
              <a:rPr sz="2800" kern="0" spc="-5" dirty="0">
                <a:solidFill>
                  <a:sysClr val="windowText" lastClr="000000"/>
                </a:solidFill>
                <a:latin typeface="Microsoft Sans Serif"/>
                <a:cs typeface="Microsoft Sans Serif"/>
              </a:rPr>
              <a:t> </a:t>
            </a:r>
            <a:r>
              <a:rPr sz="2800" kern="0" dirty="0">
                <a:solidFill>
                  <a:sysClr val="windowText" lastClr="000000"/>
                </a:solidFill>
                <a:latin typeface="Microsoft Sans Serif"/>
                <a:cs typeface="Microsoft Sans Serif"/>
              </a:rPr>
              <a:t>thiệu</a:t>
            </a:r>
            <a:r>
              <a:rPr sz="2800" kern="0" spc="35" dirty="0">
                <a:solidFill>
                  <a:sysClr val="windowText" lastClr="000000"/>
                </a:solidFill>
                <a:latin typeface="Microsoft Sans Serif"/>
                <a:cs typeface="Microsoft Sans Serif"/>
              </a:rPr>
              <a:t> </a:t>
            </a:r>
            <a:r>
              <a:rPr sz="2800" kern="0" dirty="0">
                <a:solidFill>
                  <a:sysClr val="windowText" lastClr="000000"/>
                </a:solidFill>
                <a:latin typeface="Microsoft Sans Serif"/>
                <a:cs typeface="Microsoft Sans Serif"/>
              </a:rPr>
              <a:t>về</a:t>
            </a:r>
            <a:r>
              <a:rPr sz="2800" kern="0" spc="-5" dirty="0">
                <a:solidFill>
                  <a:sysClr val="windowText" lastClr="000000"/>
                </a:solidFill>
                <a:latin typeface="Microsoft Sans Serif"/>
                <a:cs typeface="Microsoft Sans Serif"/>
              </a:rPr>
              <a:t> </a:t>
            </a:r>
            <a:r>
              <a:rPr sz="2800" kern="0" dirty="0">
                <a:solidFill>
                  <a:sysClr val="windowText" lastClr="000000"/>
                </a:solidFill>
                <a:latin typeface="Microsoft Sans Serif"/>
                <a:cs typeface="Microsoft Sans Serif"/>
              </a:rPr>
              <a:t>Định</a:t>
            </a:r>
            <a:r>
              <a:rPr sz="2800" kern="0" spc="35" dirty="0">
                <a:solidFill>
                  <a:sysClr val="windowText" lastClr="000000"/>
                </a:solidFill>
                <a:latin typeface="Microsoft Sans Serif"/>
                <a:cs typeface="Microsoft Sans Serif"/>
              </a:rPr>
              <a:t> </a:t>
            </a:r>
            <a:r>
              <a:rPr sz="2800" kern="0" spc="-10" dirty="0">
                <a:solidFill>
                  <a:sysClr val="windowText" lastClr="000000"/>
                </a:solidFill>
                <a:latin typeface="Microsoft Sans Serif"/>
                <a:cs typeface="Microsoft Sans Serif"/>
              </a:rPr>
              <a:t>tuyến</a:t>
            </a:r>
            <a:endParaRPr sz="2800" kern="0">
              <a:solidFill>
                <a:sysClr val="windowText" lastClr="000000"/>
              </a:solidFill>
              <a:latin typeface="Microsoft Sans Serif"/>
              <a:cs typeface="Microsoft Sans Serif"/>
            </a:endParaRPr>
          </a:p>
          <a:p>
            <a:pPr marL="935355" indent="-393065">
              <a:spcBef>
                <a:spcPts val="1680"/>
              </a:spcBef>
              <a:buFontTx/>
              <a:buAutoNum type="arabicPeriod"/>
              <a:tabLst>
                <a:tab pos="935355" algn="l"/>
              </a:tabLst>
            </a:pPr>
            <a:r>
              <a:rPr sz="2800" kern="0" dirty="0">
                <a:solidFill>
                  <a:sysClr val="windowText" lastClr="000000"/>
                </a:solidFill>
                <a:latin typeface="Microsoft Sans Serif"/>
                <a:cs typeface="Microsoft Sans Serif"/>
              </a:rPr>
              <a:t>Xây</a:t>
            </a:r>
            <a:r>
              <a:rPr sz="2800" kern="0" spc="30" dirty="0">
                <a:solidFill>
                  <a:sysClr val="windowText" lastClr="000000"/>
                </a:solidFill>
                <a:latin typeface="Microsoft Sans Serif"/>
                <a:cs typeface="Microsoft Sans Serif"/>
              </a:rPr>
              <a:t> </a:t>
            </a:r>
            <a:r>
              <a:rPr sz="2800" kern="0" spc="65" dirty="0">
                <a:solidFill>
                  <a:sysClr val="windowText" lastClr="000000"/>
                </a:solidFill>
                <a:latin typeface="Microsoft Sans Serif"/>
                <a:cs typeface="Microsoft Sans Serif"/>
              </a:rPr>
              <a:t>dựng</a:t>
            </a:r>
            <a:r>
              <a:rPr sz="2800" kern="0" spc="60" dirty="0">
                <a:solidFill>
                  <a:sysClr val="windowText" lastClr="000000"/>
                </a:solidFill>
                <a:latin typeface="Microsoft Sans Serif"/>
                <a:cs typeface="Microsoft Sans Serif"/>
              </a:rPr>
              <a:t> </a:t>
            </a:r>
            <a:r>
              <a:rPr sz="2800" kern="0" spc="90" dirty="0">
                <a:solidFill>
                  <a:sysClr val="windowText" lastClr="000000"/>
                </a:solidFill>
                <a:latin typeface="Microsoft Sans Serif"/>
                <a:cs typeface="Microsoft Sans Serif"/>
              </a:rPr>
              <a:t>ứng</a:t>
            </a:r>
            <a:r>
              <a:rPr sz="2800" kern="0" spc="20" dirty="0">
                <a:solidFill>
                  <a:sysClr val="windowText" lastClr="000000"/>
                </a:solidFill>
                <a:latin typeface="Microsoft Sans Serif"/>
                <a:cs typeface="Microsoft Sans Serif"/>
              </a:rPr>
              <a:t> </a:t>
            </a:r>
            <a:r>
              <a:rPr sz="2800" kern="0" dirty="0">
                <a:solidFill>
                  <a:sysClr val="windowText" lastClr="000000"/>
                </a:solidFill>
                <a:latin typeface="Microsoft Sans Serif"/>
                <a:cs typeface="Microsoft Sans Serif"/>
              </a:rPr>
              <a:t>dụng</a:t>
            </a:r>
            <a:r>
              <a:rPr sz="2800" kern="0" spc="60" dirty="0">
                <a:solidFill>
                  <a:sysClr val="windowText" lastClr="000000"/>
                </a:solidFill>
                <a:latin typeface="Microsoft Sans Serif"/>
                <a:cs typeface="Microsoft Sans Serif"/>
              </a:rPr>
              <a:t> </a:t>
            </a:r>
            <a:r>
              <a:rPr sz="2800" kern="0" dirty="0">
                <a:solidFill>
                  <a:sysClr val="windowText" lastClr="000000"/>
                </a:solidFill>
                <a:latin typeface="Microsoft Sans Serif"/>
                <a:cs typeface="Microsoft Sans Serif"/>
              </a:rPr>
              <a:t>web</a:t>
            </a:r>
            <a:r>
              <a:rPr sz="2800" kern="0" spc="25" dirty="0">
                <a:solidFill>
                  <a:sysClr val="windowText" lastClr="000000"/>
                </a:solidFill>
                <a:latin typeface="Microsoft Sans Serif"/>
                <a:cs typeface="Microsoft Sans Serif"/>
              </a:rPr>
              <a:t> </a:t>
            </a:r>
            <a:r>
              <a:rPr sz="2800" kern="0" dirty="0">
                <a:solidFill>
                  <a:sysClr val="windowText" lastClr="000000"/>
                </a:solidFill>
                <a:latin typeface="Microsoft Sans Serif"/>
                <a:cs typeface="Microsoft Sans Serif"/>
              </a:rPr>
              <a:t>MVC</a:t>
            </a:r>
            <a:r>
              <a:rPr sz="2800" kern="0" spc="-20" dirty="0">
                <a:solidFill>
                  <a:sysClr val="windowText" lastClr="000000"/>
                </a:solidFill>
                <a:latin typeface="Microsoft Sans Serif"/>
                <a:cs typeface="Microsoft Sans Serif"/>
              </a:rPr>
              <a:t> </a:t>
            </a:r>
            <a:r>
              <a:rPr sz="2800" kern="0" spc="75" dirty="0">
                <a:solidFill>
                  <a:sysClr val="windowText" lastClr="000000"/>
                </a:solidFill>
                <a:latin typeface="Microsoft Sans Serif"/>
                <a:cs typeface="Microsoft Sans Serif"/>
              </a:rPr>
              <a:t>với</a:t>
            </a:r>
            <a:r>
              <a:rPr sz="2800" kern="0" spc="25" dirty="0">
                <a:solidFill>
                  <a:sysClr val="windowText" lastClr="000000"/>
                </a:solidFill>
                <a:latin typeface="Microsoft Sans Serif"/>
                <a:cs typeface="Microsoft Sans Serif"/>
              </a:rPr>
              <a:t> </a:t>
            </a:r>
            <a:r>
              <a:rPr sz="2800" kern="0" spc="-20" dirty="0">
                <a:solidFill>
                  <a:sysClr val="windowText" lastClr="000000"/>
                </a:solidFill>
                <a:latin typeface="Microsoft Sans Serif"/>
                <a:cs typeface="Microsoft Sans Serif"/>
              </a:rPr>
              <a:t>CSDL</a:t>
            </a:r>
            <a:endParaRPr sz="2800" kern="0">
              <a:solidFill>
                <a:sysClr val="windowText" lastClr="000000"/>
              </a:solidFill>
              <a:latin typeface="Microsoft Sans Serif"/>
              <a:cs typeface="Microsoft Sans Serif"/>
            </a:endParaRPr>
          </a:p>
        </p:txBody>
      </p:sp>
      <p:pic>
        <p:nvPicPr>
          <p:cNvPr id="3" name="object 3"/>
          <p:cNvPicPr/>
          <p:nvPr/>
        </p:nvPicPr>
        <p:blipFill>
          <a:blip r:embed="rId2" cstate="print"/>
          <a:stretch>
            <a:fillRect/>
          </a:stretch>
        </p:blipFill>
        <p:spPr>
          <a:xfrm>
            <a:off x="9150732" y="189446"/>
            <a:ext cx="1266913" cy="916597"/>
          </a:xfrm>
          <a:prstGeom prst="rect">
            <a:avLst/>
          </a:prstGeom>
        </p:spPr>
      </p:pic>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solidFill>
                  <a:prstClr val="white"/>
                </a:solidFill>
              </a:rPr>
              <a:pPr marL="38100">
                <a:lnSpc>
                  <a:spcPts val="1664"/>
                </a:lnSpc>
              </a:pPr>
              <a:t>3</a:t>
            </a:fld>
            <a:endParaRPr spc="-25" dirty="0">
              <a:solidFill>
                <a:prstClr val="white"/>
              </a:solidFill>
            </a:endParaRPr>
          </a:p>
        </p:txBody>
      </p:sp>
      <p:sp>
        <p:nvSpPr>
          <p:cNvPr id="6" name="object 6"/>
          <p:cNvSpPr txBox="1">
            <a:spLocks noGrp="1"/>
          </p:cNvSpPr>
          <p:nvPr>
            <p:ph type="ftr" sz="quarter" idx="5"/>
          </p:nvPr>
        </p:nvSpPr>
        <p:spPr>
          <a:xfrm>
            <a:off x="2763418" y="6600176"/>
            <a:ext cx="1243964" cy="155171"/>
          </a:xfrm>
          <a:prstGeom prst="rect">
            <a:avLst/>
          </a:prstGeom>
        </p:spPr>
        <p:txBody>
          <a:bodyPr vert="horz" wrap="square" lIns="0" tIns="1270" rIns="0" bIns="0" rtlCol="0">
            <a:spAutoFit/>
          </a:bodyPr>
          <a:lstStyle/>
          <a:p>
            <a:pPr marL="12700">
              <a:spcBef>
                <a:spcPts val="10"/>
              </a:spcBef>
            </a:pPr>
            <a:endParaRPr spc="-20" dirty="0">
              <a:solidFill>
                <a:prstClr val="white"/>
              </a:solidFill>
            </a:endParaRPr>
          </a:p>
        </p:txBody>
      </p:sp>
    </p:spTree>
    <p:extLst>
      <p:ext uri="{BB962C8B-B14F-4D97-AF65-F5344CB8AC3E}">
        <p14:creationId xmlns:p14="http://schemas.microsoft.com/office/powerpoint/2010/main" val="55312491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2091268" y="450927"/>
            <a:ext cx="11057467" cy="444994"/>
          </a:xfrm>
          <a:prstGeom prst="rect">
            <a:avLst/>
          </a:prstGeom>
        </p:spPr>
        <p:txBody>
          <a:bodyPr vert="horz" wrap="square" lIns="0" tIns="13970" rIns="0" bIns="0" rtlCol="0">
            <a:spAutoFit/>
          </a:bodyPr>
          <a:lstStyle/>
          <a:p>
            <a:pPr marL="12700">
              <a:spcBef>
                <a:spcPts val="110"/>
              </a:spcBef>
              <a:tabLst>
                <a:tab pos="8279765" algn="l"/>
              </a:tabLst>
            </a:pPr>
            <a:r>
              <a:rPr dirty="0"/>
              <a:t>1.</a:t>
            </a:r>
            <a:r>
              <a:rPr spc="-65" dirty="0"/>
              <a:t> </a:t>
            </a:r>
            <a:r>
              <a:rPr dirty="0"/>
              <a:t>GIỚI</a:t>
            </a:r>
            <a:r>
              <a:rPr spc="-90" dirty="0"/>
              <a:t> </a:t>
            </a:r>
            <a:r>
              <a:rPr dirty="0"/>
              <a:t>THIỆU</a:t>
            </a:r>
            <a:r>
              <a:rPr spc="-60" dirty="0"/>
              <a:t> </a:t>
            </a:r>
            <a:r>
              <a:rPr dirty="0"/>
              <a:t>VỀ</a:t>
            </a:r>
            <a:r>
              <a:rPr spc="-170" dirty="0"/>
              <a:t> </a:t>
            </a:r>
            <a:r>
              <a:rPr spc="-45" dirty="0"/>
              <a:t>ASP.NET</a:t>
            </a:r>
            <a:r>
              <a:rPr dirty="0"/>
              <a:t> </a:t>
            </a:r>
            <a:r>
              <a:rPr spc="-25" dirty="0"/>
              <a:t>MVC</a:t>
            </a:r>
            <a:r>
              <a:rPr dirty="0"/>
              <a:t>	</a:t>
            </a:r>
          </a:p>
        </p:txBody>
      </p:sp>
      <p:sp>
        <p:nvSpPr>
          <p:cNvPr id="3" name="object 3"/>
          <p:cNvSpPr txBox="1"/>
          <p:nvPr/>
        </p:nvSpPr>
        <p:spPr>
          <a:xfrm>
            <a:off x="2242820" y="1167766"/>
            <a:ext cx="3616325" cy="393065"/>
          </a:xfrm>
          <a:prstGeom prst="rect">
            <a:avLst/>
          </a:prstGeom>
        </p:spPr>
        <p:txBody>
          <a:bodyPr vert="horz" wrap="square" lIns="0" tIns="13970" rIns="0" bIns="0" rtlCol="0">
            <a:spAutoFit/>
          </a:bodyPr>
          <a:lstStyle/>
          <a:p>
            <a:pPr marL="12700">
              <a:spcBef>
                <a:spcPts val="110"/>
              </a:spcBef>
            </a:pPr>
            <a:r>
              <a:rPr sz="2400" b="1" kern="0" dirty="0">
                <a:solidFill>
                  <a:srgbClr val="FF0000"/>
                </a:solidFill>
                <a:latin typeface="Arial"/>
                <a:cs typeface="Arial"/>
              </a:rPr>
              <a:t>1.1.</a:t>
            </a:r>
            <a:r>
              <a:rPr sz="2400" b="1" kern="0" spc="-140" dirty="0">
                <a:solidFill>
                  <a:srgbClr val="FF0000"/>
                </a:solidFill>
                <a:latin typeface="Arial"/>
                <a:cs typeface="Arial"/>
              </a:rPr>
              <a:t> </a:t>
            </a:r>
            <a:r>
              <a:rPr sz="2400" b="1" kern="0" spc="-35" dirty="0">
                <a:solidFill>
                  <a:srgbClr val="FF0000"/>
                </a:solidFill>
                <a:latin typeface="Arial"/>
                <a:cs typeface="Arial"/>
              </a:rPr>
              <a:t>ASP.NET</a:t>
            </a:r>
            <a:r>
              <a:rPr sz="2400" b="1" kern="0" spc="35" dirty="0">
                <a:solidFill>
                  <a:srgbClr val="FF0000"/>
                </a:solidFill>
                <a:latin typeface="Arial"/>
                <a:cs typeface="Arial"/>
              </a:rPr>
              <a:t> </a:t>
            </a:r>
            <a:r>
              <a:rPr sz="2400" b="1" kern="0" dirty="0">
                <a:solidFill>
                  <a:srgbClr val="FF0000"/>
                </a:solidFill>
                <a:latin typeface="Arial"/>
                <a:cs typeface="Arial"/>
              </a:rPr>
              <a:t>MVC</a:t>
            </a:r>
            <a:r>
              <a:rPr sz="2400" b="1" kern="0" spc="-120" dirty="0">
                <a:solidFill>
                  <a:srgbClr val="FF0000"/>
                </a:solidFill>
                <a:latin typeface="Arial"/>
                <a:cs typeface="Arial"/>
              </a:rPr>
              <a:t> </a:t>
            </a:r>
            <a:r>
              <a:rPr sz="2400" b="1" kern="0" dirty="0">
                <a:solidFill>
                  <a:srgbClr val="FF0000"/>
                </a:solidFill>
                <a:latin typeface="Arial"/>
                <a:cs typeface="Arial"/>
              </a:rPr>
              <a:t>là</a:t>
            </a:r>
            <a:r>
              <a:rPr sz="2400" b="1" kern="0" spc="-55" dirty="0">
                <a:solidFill>
                  <a:srgbClr val="FF0000"/>
                </a:solidFill>
                <a:latin typeface="Arial"/>
                <a:cs typeface="Arial"/>
              </a:rPr>
              <a:t> </a:t>
            </a:r>
            <a:r>
              <a:rPr sz="2400" b="1" kern="0" dirty="0">
                <a:solidFill>
                  <a:srgbClr val="FF0000"/>
                </a:solidFill>
                <a:latin typeface="Arial"/>
                <a:cs typeface="Arial"/>
              </a:rPr>
              <a:t>gì</a:t>
            </a:r>
            <a:r>
              <a:rPr sz="2400" b="1" kern="0" spc="-30" dirty="0">
                <a:solidFill>
                  <a:srgbClr val="FF0000"/>
                </a:solidFill>
                <a:latin typeface="Arial"/>
                <a:cs typeface="Arial"/>
              </a:rPr>
              <a:t> </a:t>
            </a:r>
            <a:r>
              <a:rPr sz="2400" b="1" kern="0" spc="-50" dirty="0">
                <a:solidFill>
                  <a:srgbClr val="FF0000"/>
                </a:solidFill>
                <a:latin typeface="Arial"/>
                <a:cs typeface="Arial"/>
              </a:rPr>
              <a:t>?</a:t>
            </a:r>
            <a:endParaRPr sz="2400" kern="0">
              <a:solidFill>
                <a:sysClr val="windowText" lastClr="000000"/>
              </a:solidFill>
              <a:latin typeface="Arial"/>
              <a:cs typeface="Arial"/>
            </a:endParaRPr>
          </a:p>
        </p:txBody>
      </p:sp>
      <p:grpSp>
        <p:nvGrpSpPr>
          <p:cNvPr id="4" name="object 4"/>
          <p:cNvGrpSpPr/>
          <p:nvPr/>
        </p:nvGrpSpPr>
        <p:grpSpPr>
          <a:xfrm>
            <a:off x="2076577" y="114496"/>
            <a:ext cx="8341359" cy="5301615"/>
            <a:chOff x="552576" y="189445"/>
            <a:chExt cx="8341359" cy="5301615"/>
          </a:xfrm>
        </p:grpSpPr>
        <p:pic>
          <p:nvPicPr>
            <p:cNvPr id="5" name="object 5"/>
            <p:cNvPicPr/>
            <p:nvPr/>
          </p:nvPicPr>
          <p:blipFill>
            <a:blip r:embed="rId3" cstate="print"/>
            <a:stretch>
              <a:fillRect/>
            </a:stretch>
          </p:blipFill>
          <p:spPr>
            <a:xfrm>
              <a:off x="552576" y="1748937"/>
              <a:ext cx="8293100" cy="3741706"/>
            </a:xfrm>
            <a:prstGeom prst="rect">
              <a:avLst/>
            </a:prstGeom>
          </p:spPr>
        </p:pic>
        <p:pic>
          <p:nvPicPr>
            <p:cNvPr id="6" name="object 6"/>
            <p:cNvPicPr/>
            <p:nvPr/>
          </p:nvPicPr>
          <p:blipFill>
            <a:blip r:embed="rId4" cstate="print"/>
            <a:stretch>
              <a:fillRect/>
            </a:stretch>
          </p:blipFill>
          <p:spPr>
            <a:xfrm>
              <a:off x="7626731" y="189445"/>
              <a:ext cx="1266913" cy="916597"/>
            </a:xfrm>
            <a:prstGeom prst="rect">
              <a:avLst/>
            </a:prstGeom>
          </p:spPr>
        </p:pic>
      </p:gr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solidFill>
                  <a:prstClr val="white"/>
                </a:solidFill>
              </a:rPr>
              <a:pPr marL="38100">
                <a:lnSpc>
                  <a:spcPts val="1664"/>
                </a:lnSpc>
              </a:pPr>
              <a:t>4</a:t>
            </a:fld>
            <a:endParaRPr spc="-25" dirty="0">
              <a:solidFill>
                <a:prstClr val="white"/>
              </a:solidFill>
            </a:endParaRPr>
          </a:p>
        </p:txBody>
      </p:sp>
      <p:sp>
        <p:nvSpPr>
          <p:cNvPr id="9" name="object 9"/>
          <p:cNvSpPr txBox="1">
            <a:spLocks noGrp="1"/>
          </p:cNvSpPr>
          <p:nvPr>
            <p:ph type="ftr" sz="quarter" idx="5"/>
          </p:nvPr>
        </p:nvSpPr>
        <p:spPr>
          <a:xfrm>
            <a:off x="2763418" y="6600176"/>
            <a:ext cx="1243964" cy="155171"/>
          </a:xfrm>
          <a:prstGeom prst="rect">
            <a:avLst/>
          </a:prstGeom>
        </p:spPr>
        <p:txBody>
          <a:bodyPr vert="horz" wrap="square" lIns="0" tIns="1270" rIns="0" bIns="0" rtlCol="0">
            <a:spAutoFit/>
          </a:bodyPr>
          <a:lstStyle/>
          <a:p>
            <a:pPr marL="12700">
              <a:spcBef>
                <a:spcPts val="10"/>
              </a:spcBef>
            </a:pPr>
            <a:endParaRPr spc="-20" dirty="0">
              <a:solidFill>
                <a:prstClr val="white"/>
              </a:solidFill>
            </a:endParaRPr>
          </a:p>
        </p:txBody>
      </p:sp>
    </p:spTree>
    <p:extLst>
      <p:ext uri="{BB962C8B-B14F-4D97-AF65-F5344CB8AC3E}">
        <p14:creationId xmlns:p14="http://schemas.microsoft.com/office/powerpoint/2010/main" val="356475088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2091268" y="450927"/>
            <a:ext cx="11057467" cy="444994"/>
          </a:xfrm>
          <a:prstGeom prst="rect">
            <a:avLst/>
          </a:prstGeom>
        </p:spPr>
        <p:txBody>
          <a:bodyPr vert="horz" wrap="square" lIns="0" tIns="13970" rIns="0" bIns="0" rtlCol="0">
            <a:spAutoFit/>
          </a:bodyPr>
          <a:lstStyle/>
          <a:p>
            <a:pPr marL="12700">
              <a:spcBef>
                <a:spcPts val="110"/>
              </a:spcBef>
              <a:tabLst>
                <a:tab pos="8279765" algn="l"/>
              </a:tabLst>
            </a:pPr>
            <a:r>
              <a:rPr dirty="0"/>
              <a:t>1.</a:t>
            </a:r>
            <a:r>
              <a:rPr spc="-65" dirty="0"/>
              <a:t> </a:t>
            </a:r>
            <a:r>
              <a:rPr dirty="0"/>
              <a:t>GIỚI</a:t>
            </a:r>
            <a:r>
              <a:rPr spc="-90" dirty="0"/>
              <a:t> </a:t>
            </a:r>
            <a:r>
              <a:rPr dirty="0"/>
              <a:t>THIỆU</a:t>
            </a:r>
            <a:r>
              <a:rPr spc="-60" dirty="0"/>
              <a:t> </a:t>
            </a:r>
            <a:r>
              <a:rPr dirty="0"/>
              <a:t>VỀ</a:t>
            </a:r>
            <a:r>
              <a:rPr spc="-170" dirty="0"/>
              <a:t> </a:t>
            </a:r>
            <a:r>
              <a:rPr spc="-45" dirty="0"/>
              <a:t>ASP.NET</a:t>
            </a:r>
            <a:r>
              <a:rPr dirty="0"/>
              <a:t> </a:t>
            </a:r>
            <a:r>
              <a:rPr spc="-25" dirty="0"/>
              <a:t>MVC</a:t>
            </a:r>
            <a:r>
              <a:rPr dirty="0"/>
              <a:t>	</a:t>
            </a:r>
          </a:p>
        </p:txBody>
      </p:sp>
      <p:sp>
        <p:nvSpPr>
          <p:cNvPr id="3" name="object 3"/>
          <p:cNvSpPr txBox="1"/>
          <p:nvPr/>
        </p:nvSpPr>
        <p:spPr>
          <a:xfrm>
            <a:off x="2242820" y="1167766"/>
            <a:ext cx="3616325" cy="393065"/>
          </a:xfrm>
          <a:prstGeom prst="rect">
            <a:avLst/>
          </a:prstGeom>
        </p:spPr>
        <p:txBody>
          <a:bodyPr vert="horz" wrap="square" lIns="0" tIns="13970" rIns="0" bIns="0" rtlCol="0">
            <a:spAutoFit/>
          </a:bodyPr>
          <a:lstStyle/>
          <a:p>
            <a:pPr marL="12700">
              <a:spcBef>
                <a:spcPts val="110"/>
              </a:spcBef>
            </a:pPr>
            <a:r>
              <a:rPr sz="2400" b="1" kern="0" dirty="0">
                <a:solidFill>
                  <a:srgbClr val="4E160F"/>
                </a:solidFill>
                <a:latin typeface="Arial"/>
                <a:cs typeface="Arial"/>
              </a:rPr>
              <a:t>1.1.</a:t>
            </a:r>
            <a:r>
              <a:rPr sz="2400" b="1" kern="0" spc="-140" dirty="0">
                <a:solidFill>
                  <a:srgbClr val="4E160F"/>
                </a:solidFill>
                <a:latin typeface="Arial"/>
                <a:cs typeface="Arial"/>
              </a:rPr>
              <a:t> </a:t>
            </a:r>
            <a:r>
              <a:rPr sz="2400" b="1" kern="0" spc="-35" dirty="0">
                <a:solidFill>
                  <a:srgbClr val="4E160F"/>
                </a:solidFill>
                <a:latin typeface="Arial"/>
                <a:cs typeface="Arial"/>
              </a:rPr>
              <a:t>ASP.NET</a:t>
            </a:r>
            <a:r>
              <a:rPr sz="2400" b="1" kern="0" spc="35" dirty="0">
                <a:solidFill>
                  <a:srgbClr val="4E160F"/>
                </a:solidFill>
                <a:latin typeface="Arial"/>
                <a:cs typeface="Arial"/>
              </a:rPr>
              <a:t> </a:t>
            </a:r>
            <a:r>
              <a:rPr sz="2400" b="1" kern="0" dirty="0">
                <a:solidFill>
                  <a:srgbClr val="4E160F"/>
                </a:solidFill>
                <a:latin typeface="Arial"/>
                <a:cs typeface="Arial"/>
              </a:rPr>
              <a:t>MVC</a:t>
            </a:r>
            <a:r>
              <a:rPr sz="2400" b="1" kern="0" spc="-120" dirty="0">
                <a:solidFill>
                  <a:srgbClr val="4E160F"/>
                </a:solidFill>
                <a:latin typeface="Arial"/>
                <a:cs typeface="Arial"/>
              </a:rPr>
              <a:t> </a:t>
            </a:r>
            <a:r>
              <a:rPr sz="2400" b="1" kern="0" dirty="0">
                <a:solidFill>
                  <a:srgbClr val="4E160F"/>
                </a:solidFill>
                <a:latin typeface="Arial"/>
                <a:cs typeface="Arial"/>
              </a:rPr>
              <a:t>là</a:t>
            </a:r>
            <a:r>
              <a:rPr sz="2400" b="1" kern="0" spc="-55" dirty="0">
                <a:solidFill>
                  <a:srgbClr val="4E160F"/>
                </a:solidFill>
                <a:latin typeface="Arial"/>
                <a:cs typeface="Arial"/>
              </a:rPr>
              <a:t> </a:t>
            </a:r>
            <a:r>
              <a:rPr sz="2400" b="1" kern="0" dirty="0">
                <a:solidFill>
                  <a:srgbClr val="4E160F"/>
                </a:solidFill>
                <a:latin typeface="Arial"/>
                <a:cs typeface="Arial"/>
              </a:rPr>
              <a:t>gì</a:t>
            </a:r>
            <a:r>
              <a:rPr sz="2400" b="1" kern="0" spc="-30" dirty="0">
                <a:solidFill>
                  <a:srgbClr val="4E160F"/>
                </a:solidFill>
                <a:latin typeface="Arial"/>
                <a:cs typeface="Arial"/>
              </a:rPr>
              <a:t> </a:t>
            </a:r>
            <a:r>
              <a:rPr sz="2400" b="1" kern="0" spc="-50" dirty="0">
                <a:solidFill>
                  <a:srgbClr val="4E160F"/>
                </a:solidFill>
                <a:latin typeface="Arial"/>
                <a:cs typeface="Arial"/>
              </a:rPr>
              <a:t>?</a:t>
            </a:r>
            <a:endParaRPr sz="2400" kern="0">
              <a:solidFill>
                <a:sysClr val="windowText" lastClr="000000"/>
              </a:solidFill>
              <a:latin typeface="Arial"/>
              <a:cs typeface="Arial"/>
            </a:endParaRPr>
          </a:p>
        </p:txBody>
      </p:sp>
      <p:grpSp>
        <p:nvGrpSpPr>
          <p:cNvPr id="4" name="object 4"/>
          <p:cNvGrpSpPr/>
          <p:nvPr/>
        </p:nvGrpSpPr>
        <p:grpSpPr>
          <a:xfrm>
            <a:off x="2667001" y="189446"/>
            <a:ext cx="7750809" cy="6073775"/>
            <a:chOff x="1143000" y="189445"/>
            <a:chExt cx="7750809" cy="6073775"/>
          </a:xfrm>
        </p:grpSpPr>
        <p:pic>
          <p:nvPicPr>
            <p:cNvPr id="5" name="object 5"/>
            <p:cNvPicPr/>
            <p:nvPr/>
          </p:nvPicPr>
          <p:blipFill>
            <a:blip r:embed="rId2" cstate="print"/>
            <a:stretch>
              <a:fillRect/>
            </a:stretch>
          </p:blipFill>
          <p:spPr>
            <a:xfrm>
              <a:off x="7626730" y="189445"/>
              <a:ext cx="1266913" cy="916597"/>
            </a:xfrm>
            <a:prstGeom prst="rect">
              <a:avLst/>
            </a:prstGeom>
          </p:spPr>
        </p:pic>
        <p:pic>
          <p:nvPicPr>
            <p:cNvPr id="6" name="object 6"/>
            <p:cNvPicPr/>
            <p:nvPr/>
          </p:nvPicPr>
          <p:blipFill>
            <a:blip r:embed="rId3" cstate="print"/>
            <a:stretch>
              <a:fillRect/>
            </a:stretch>
          </p:blipFill>
          <p:spPr>
            <a:xfrm>
              <a:off x="1143000" y="1604949"/>
              <a:ext cx="7288276" cy="4657721"/>
            </a:xfrm>
            <a:prstGeom prst="rect">
              <a:avLst/>
            </a:prstGeom>
          </p:spPr>
        </p:pic>
      </p:gr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solidFill>
                  <a:prstClr val="white"/>
                </a:solidFill>
              </a:rPr>
              <a:pPr marL="38100">
                <a:lnSpc>
                  <a:spcPts val="1664"/>
                </a:lnSpc>
              </a:pPr>
              <a:t>5</a:t>
            </a:fld>
            <a:endParaRPr spc="-25" dirty="0">
              <a:solidFill>
                <a:prstClr val="white"/>
              </a:solidFill>
            </a:endParaRPr>
          </a:p>
        </p:txBody>
      </p:sp>
      <p:sp>
        <p:nvSpPr>
          <p:cNvPr id="9" name="object 9"/>
          <p:cNvSpPr txBox="1">
            <a:spLocks noGrp="1"/>
          </p:cNvSpPr>
          <p:nvPr>
            <p:ph type="ftr" sz="quarter" idx="5"/>
          </p:nvPr>
        </p:nvSpPr>
        <p:spPr>
          <a:xfrm>
            <a:off x="2763418" y="6600176"/>
            <a:ext cx="1243964" cy="155171"/>
          </a:xfrm>
          <a:prstGeom prst="rect">
            <a:avLst/>
          </a:prstGeom>
        </p:spPr>
        <p:txBody>
          <a:bodyPr vert="horz" wrap="square" lIns="0" tIns="1270" rIns="0" bIns="0" rtlCol="0">
            <a:spAutoFit/>
          </a:bodyPr>
          <a:lstStyle/>
          <a:p>
            <a:pPr marL="12700">
              <a:spcBef>
                <a:spcPts val="10"/>
              </a:spcBef>
            </a:pPr>
            <a:endParaRPr spc="-20" dirty="0">
              <a:solidFill>
                <a:prstClr val="white"/>
              </a:solidFill>
            </a:endParaRPr>
          </a:p>
        </p:txBody>
      </p:sp>
    </p:spTree>
    <p:extLst>
      <p:ext uri="{BB962C8B-B14F-4D97-AF65-F5344CB8AC3E}">
        <p14:creationId xmlns:p14="http://schemas.microsoft.com/office/powerpoint/2010/main" val="288173171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91268" y="450927"/>
            <a:ext cx="11057467" cy="444994"/>
          </a:xfrm>
          <a:prstGeom prst="rect">
            <a:avLst/>
          </a:prstGeom>
        </p:spPr>
        <p:txBody>
          <a:bodyPr vert="horz" wrap="square" lIns="0" tIns="13970" rIns="0" bIns="0" rtlCol="0">
            <a:spAutoFit/>
          </a:bodyPr>
          <a:lstStyle/>
          <a:p>
            <a:pPr marL="12700">
              <a:spcBef>
                <a:spcPts val="110"/>
              </a:spcBef>
              <a:tabLst>
                <a:tab pos="8279765" algn="l"/>
              </a:tabLst>
            </a:pPr>
            <a:r>
              <a:rPr dirty="0"/>
              <a:t>1.</a:t>
            </a:r>
            <a:r>
              <a:rPr spc="-65" dirty="0"/>
              <a:t> </a:t>
            </a:r>
            <a:r>
              <a:rPr dirty="0"/>
              <a:t>GIỚI</a:t>
            </a:r>
            <a:r>
              <a:rPr spc="-90" dirty="0"/>
              <a:t> </a:t>
            </a:r>
            <a:r>
              <a:rPr dirty="0"/>
              <a:t>THIỆU</a:t>
            </a:r>
            <a:r>
              <a:rPr spc="-60" dirty="0"/>
              <a:t> </a:t>
            </a:r>
            <a:r>
              <a:rPr dirty="0"/>
              <a:t>VỀ</a:t>
            </a:r>
            <a:r>
              <a:rPr spc="-170" dirty="0"/>
              <a:t> </a:t>
            </a:r>
            <a:r>
              <a:rPr spc="-45" dirty="0"/>
              <a:t>ASP.NET</a:t>
            </a:r>
            <a:r>
              <a:rPr dirty="0"/>
              <a:t> </a:t>
            </a:r>
            <a:r>
              <a:rPr spc="-25" dirty="0"/>
              <a:t>MVC</a:t>
            </a:r>
            <a:r>
              <a:rPr dirty="0"/>
              <a:t>	</a:t>
            </a:r>
          </a:p>
        </p:txBody>
      </p:sp>
      <p:sp>
        <p:nvSpPr>
          <p:cNvPr id="3" name="object 3"/>
          <p:cNvSpPr txBox="1">
            <a:spLocks noGrp="1"/>
          </p:cNvSpPr>
          <p:nvPr>
            <p:ph type="body" idx="1"/>
          </p:nvPr>
        </p:nvSpPr>
        <p:spPr>
          <a:xfrm>
            <a:off x="2482426" y="1036808"/>
            <a:ext cx="9047587" cy="4396075"/>
          </a:xfrm>
          <a:prstGeom prst="rect">
            <a:avLst/>
          </a:prstGeom>
        </p:spPr>
        <p:txBody>
          <a:bodyPr vert="horz" wrap="square" lIns="0" tIns="144780" rIns="0" bIns="0" rtlCol="0">
            <a:spAutoFit/>
          </a:bodyPr>
          <a:lstStyle/>
          <a:p>
            <a:pPr marL="592455" lvl="1" indent="-579755">
              <a:spcBef>
                <a:spcPts val="1140"/>
              </a:spcBef>
              <a:buAutoNum type="arabicPeriod"/>
              <a:tabLst>
                <a:tab pos="592455" algn="l"/>
              </a:tabLst>
            </a:pPr>
            <a:r>
              <a:rPr sz="2400" b="1" spc="-35" dirty="0">
                <a:solidFill>
                  <a:srgbClr val="FF0000"/>
                </a:solidFill>
                <a:latin typeface="Arial"/>
                <a:cs typeface="Arial"/>
              </a:rPr>
              <a:t>ASP.NET</a:t>
            </a:r>
            <a:r>
              <a:rPr sz="2400" b="1" spc="25" dirty="0">
                <a:solidFill>
                  <a:srgbClr val="FF0000"/>
                </a:solidFill>
                <a:latin typeface="Arial"/>
                <a:cs typeface="Arial"/>
              </a:rPr>
              <a:t> </a:t>
            </a:r>
            <a:r>
              <a:rPr sz="2400" b="1" dirty="0">
                <a:solidFill>
                  <a:srgbClr val="FF0000"/>
                </a:solidFill>
                <a:latin typeface="Arial"/>
                <a:cs typeface="Arial"/>
              </a:rPr>
              <a:t>MVC</a:t>
            </a:r>
            <a:r>
              <a:rPr sz="2400" b="1" spc="-130" dirty="0">
                <a:solidFill>
                  <a:srgbClr val="FF0000"/>
                </a:solidFill>
                <a:latin typeface="Arial"/>
                <a:cs typeface="Arial"/>
              </a:rPr>
              <a:t> </a:t>
            </a:r>
            <a:r>
              <a:rPr sz="2400" b="1" dirty="0">
                <a:solidFill>
                  <a:srgbClr val="FF0000"/>
                </a:solidFill>
                <a:latin typeface="Arial"/>
                <a:cs typeface="Arial"/>
              </a:rPr>
              <a:t>là</a:t>
            </a:r>
            <a:r>
              <a:rPr sz="2400" b="1" spc="-60" dirty="0">
                <a:solidFill>
                  <a:srgbClr val="FF0000"/>
                </a:solidFill>
                <a:latin typeface="Arial"/>
                <a:cs typeface="Arial"/>
              </a:rPr>
              <a:t> </a:t>
            </a:r>
            <a:r>
              <a:rPr sz="2400" b="1" dirty="0">
                <a:solidFill>
                  <a:srgbClr val="FF0000"/>
                </a:solidFill>
                <a:latin typeface="Arial"/>
                <a:cs typeface="Arial"/>
              </a:rPr>
              <a:t>gì</a:t>
            </a:r>
            <a:r>
              <a:rPr sz="2400" b="1" spc="-35" dirty="0">
                <a:solidFill>
                  <a:srgbClr val="FF0000"/>
                </a:solidFill>
                <a:latin typeface="Arial"/>
                <a:cs typeface="Arial"/>
              </a:rPr>
              <a:t> </a:t>
            </a:r>
            <a:r>
              <a:rPr sz="2400" b="1" spc="-50" dirty="0">
                <a:solidFill>
                  <a:srgbClr val="FF0000"/>
                </a:solidFill>
                <a:latin typeface="Arial"/>
                <a:cs typeface="Arial"/>
              </a:rPr>
              <a:t>?</a:t>
            </a:r>
            <a:endParaRPr sz="2400">
              <a:latin typeface="Arial"/>
              <a:cs typeface="Arial"/>
            </a:endParaRPr>
          </a:p>
          <a:p>
            <a:pPr marL="529590" lvl="2" indent="-425450">
              <a:spcBef>
                <a:spcPts val="1050"/>
              </a:spcBef>
              <a:buFont typeface="Wingdings"/>
              <a:buChar char=""/>
              <a:tabLst>
                <a:tab pos="529590" algn="l"/>
              </a:tabLst>
            </a:pPr>
            <a:r>
              <a:rPr sz="2400" spc="-10">
                <a:solidFill>
                  <a:srgbClr val="FF0000"/>
                </a:solidFill>
                <a:latin typeface="Microsoft Sans Serif"/>
                <a:cs typeface="Microsoft Sans Serif"/>
              </a:rPr>
              <a:t>Controller</a:t>
            </a:r>
            <a:r>
              <a:rPr lang="en-US" sz="2400" spc="-10">
                <a:solidFill>
                  <a:srgbClr val="FF0000"/>
                </a:solidFill>
                <a:latin typeface="Microsoft Sans Serif"/>
                <a:cs typeface="Microsoft Sans Serif"/>
              </a:rPr>
              <a:t>s</a:t>
            </a:r>
            <a:endParaRPr sz="2400">
              <a:latin typeface="Microsoft Sans Serif"/>
              <a:cs typeface="Microsoft Sans Serif"/>
            </a:endParaRPr>
          </a:p>
          <a:p>
            <a:pPr marL="904875" lvl="3" indent="-342900">
              <a:spcBef>
                <a:spcPts val="1805"/>
              </a:spcBef>
              <a:buFont typeface="Wingdings"/>
              <a:buChar char=""/>
              <a:tabLst>
                <a:tab pos="904875" algn="l"/>
              </a:tabLst>
            </a:pPr>
            <a:r>
              <a:rPr sz="2400" dirty="0">
                <a:latin typeface="Microsoft Sans Serif"/>
                <a:cs typeface="Microsoft Sans Serif"/>
              </a:rPr>
              <a:t>Nhận</a:t>
            </a:r>
            <a:r>
              <a:rPr sz="2400" spc="5" dirty="0">
                <a:latin typeface="Microsoft Sans Serif"/>
                <a:cs typeface="Microsoft Sans Serif"/>
              </a:rPr>
              <a:t> </a:t>
            </a:r>
            <a:r>
              <a:rPr sz="2400" dirty="0">
                <a:latin typeface="Microsoft Sans Serif"/>
                <a:cs typeface="Microsoft Sans Serif"/>
              </a:rPr>
              <a:t>yêu</a:t>
            </a:r>
            <a:r>
              <a:rPr sz="2400" spc="15" dirty="0">
                <a:latin typeface="Microsoft Sans Serif"/>
                <a:cs typeface="Microsoft Sans Serif"/>
              </a:rPr>
              <a:t> </a:t>
            </a:r>
            <a:r>
              <a:rPr sz="2400" dirty="0">
                <a:latin typeface="Microsoft Sans Serif"/>
                <a:cs typeface="Microsoft Sans Serif"/>
              </a:rPr>
              <a:t>cầu</a:t>
            </a:r>
            <a:r>
              <a:rPr sz="2400" spc="-20" dirty="0">
                <a:latin typeface="Microsoft Sans Serif"/>
                <a:cs typeface="Microsoft Sans Serif"/>
              </a:rPr>
              <a:t> </a:t>
            </a:r>
            <a:r>
              <a:rPr sz="2400" spc="145" dirty="0">
                <a:latin typeface="Microsoft Sans Serif"/>
                <a:cs typeface="Microsoft Sans Serif"/>
              </a:rPr>
              <a:t>từ</a:t>
            </a:r>
            <a:r>
              <a:rPr sz="2400" dirty="0">
                <a:latin typeface="Microsoft Sans Serif"/>
                <a:cs typeface="Microsoft Sans Serif"/>
              </a:rPr>
              <a:t> </a:t>
            </a:r>
            <a:r>
              <a:rPr sz="2400" spc="-20" dirty="0">
                <a:latin typeface="Microsoft Sans Serif"/>
                <a:cs typeface="Microsoft Sans Serif"/>
              </a:rPr>
              <a:t>user</a:t>
            </a:r>
            <a:endParaRPr sz="2400">
              <a:latin typeface="Microsoft Sans Serif"/>
              <a:cs typeface="Microsoft Sans Serif"/>
            </a:endParaRPr>
          </a:p>
          <a:p>
            <a:pPr marL="904875" lvl="3" indent="-342900">
              <a:spcBef>
                <a:spcPts val="1800"/>
              </a:spcBef>
              <a:buFont typeface="Wingdings"/>
              <a:buChar char=""/>
              <a:tabLst>
                <a:tab pos="904875" algn="l"/>
              </a:tabLst>
            </a:pPr>
            <a:r>
              <a:rPr sz="2400" spc="95" dirty="0">
                <a:latin typeface="Microsoft Sans Serif"/>
                <a:cs typeface="Microsoft Sans Serif"/>
              </a:rPr>
              <a:t>Xử</a:t>
            </a:r>
            <a:r>
              <a:rPr sz="2400" spc="60" dirty="0">
                <a:latin typeface="Microsoft Sans Serif"/>
                <a:cs typeface="Microsoft Sans Serif"/>
              </a:rPr>
              <a:t> </a:t>
            </a:r>
            <a:r>
              <a:rPr sz="2400" dirty="0">
                <a:latin typeface="Microsoft Sans Serif"/>
                <a:cs typeface="Microsoft Sans Serif"/>
              </a:rPr>
              <a:t>lý</a:t>
            </a:r>
            <a:r>
              <a:rPr sz="2400" spc="-25" dirty="0">
                <a:latin typeface="Microsoft Sans Serif"/>
                <a:cs typeface="Microsoft Sans Serif"/>
              </a:rPr>
              <a:t> </a:t>
            </a:r>
            <a:r>
              <a:rPr sz="2400" dirty="0">
                <a:latin typeface="Microsoft Sans Serif"/>
                <a:cs typeface="Microsoft Sans Serif"/>
              </a:rPr>
              <a:t>và</a:t>
            </a:r>
            <a:r>
              <a:rPr sz="2400" spc="15" dirty="0">
                <a:latin typeface="Microsoft Sans Serif"/>
                <a:cs typeface="Microsoft Sans Serif"/>
              </a:rPr>
              <a:t> </a:t>
            </a:r>
            <a:r>
              <a:rPr sz="2400" dirty="0">
                <a:latin typeface="Microsoft Sans Serif"/>
                <a:cs typeface="Microsoft Sans Serif"/>
              </a:rPr>
              <a:t>xây</a:t>
            </a:r>
            <a:r>
              <a:rPr sz="2400" spc="45" dirty="0">
                <a:latin typeface="Microsoft Sans Serif"/>
                <a:cs typeface="Microsoft Sans Serif"/>
              </a:rPr>
              <a:t> </a:t>
            </a:r>
            <a:r>
              <a:rPr sz="2400" spc="65" dirty="0">
                <a:latin typeface="Microsoft Sans Serif"/>
                <a:cs typeface="Microsoft Sans Serif"/>
              </a:rPr>
              <a:t>dựng</a:t>
            </a:r>
            <a:r>
              <a:rPr sz="2400" spc="5" dirty="0">
                <a:latin typeface="Microsoft Sans Serif"/>
                <a:cs typeface="Microsoft Sans Serif"/>
              </a:rPr>
              <a:t> </a:t>
            </a:r>
            <a:r>
              <a:rPr sz="2400" dirty="0">
                <a:latin typeface="Microsoft Sans Serif"/>
                <a:cs typeface="Microsoft Sans Serif"/>
              </a:rPr>
              <a:t>model</a:t>
            </a:r>
            <a:r>
              <a:rPr sz="2400" spc="-45" dirty="0">
                <a:latin typeface="Microsoft Sans Serif"/>
                <a:cs typeface="Microsoft Sans Serif"/>
              </a:rPr>
              <a:t> </a:t>
            </a:r>
            <a:r>
              <a:rPr sz="2400" dirty="0">
                <a:latin typeface="Microsoft Sans Serif"/>
                <a:cs typeface="Microsoft Sans Serif"/>
              </a:rPr>
              <a:t>phù</a:t>
            </a:r>
            <a:r>
              <a:rPr sz="2400" spc="15" dirty="0">
                <a:latin typeface="Microsoft Sans Serif"/>
                <a:cs typeface="Microsoft Sans Serif"/>
              </a:rPr>
              <a:t> </a:t>
            </a:r>
            <a:r>
              <a:rPr sz="2400" spc="45" dirty="0">
                <a:latin typeface="Microsoft Sans Serif"/>
                <a:cs typeface="Microsoft Sans Serif"/>
              </a:rPr>
              <a:t>hợp</a:t>
            </a:r>
            <a:endParaRPr sz="2400">
              <a:latin typeface="Microsoft Sans Serif"/>
              <a:cs typeface="Microsoft Sans Serif"/>
            </a:endParaRPr>
          </a:p>
          <a:p>
            <a:pPr marL="904875" lvl="3" indent="-342900">
              <a:spcBef>
                <a:spcPts val="1805"/>
              </a:spcBef>
              <a:buFont typeface="Wingdings"/>
              <a:buChar char=""/>
              <a:tabLst>
                <a:tab pos="904875" algn="l"/>
              </a:tabLst>
            </a:pPr>
            <a:r>
              <a:rPr sz="2400" dirty="0">
                <a:latin typeface="Microsoft Sans Serif"/>
                <a:cs typeface="Microsoft Sans Serif"/>
              </a:rPr>
              <a:t>Chuyển</a:t>
            </a:r>
            <a:r>
              <a:rPr sz="2400" spc="10" dirty="0">
                <a:latin typeface="Microsoft Sans Serif"/>
                <a:cs typeface="Microsoft Sans Serif"/>
              </a:rPr>
              <a:t> </a:t>
            </a:r>
            <a:r>
              <a:rPr sz="2400" dirty="0">
                <a:latin typeface="Microsoft Sans Serif"/>
                <a:cs typeface="Microsoft Sans Serif"/>
              </a:rPr>
              <a:t>Model</a:t>
            </a:r>
            <a:r>
              <a:rPr sz="2400" spc="-5" dirty="0">
                <a:latin typeface="Microsoft Sans Serif"/>
                <a:cs typeface="Microsoft Sans Serif"/>
              </a:rPr>
              <a:t> </a:t>
            </a:r>
            <a:r>
              <a:rPr sz="2400" dirty="0">
                <a:latin typeface="Microsoft Sans Serif"/>
                <a:cs typeface="Microsoft Sans Serif"/>
              </a:rPr>
              <a:t>cho</a:t>
            </a:r>
            <a:r>
              <a:rPr sz="2400" spc="-40" dirty="0">
                <a:latin typeface="Microsoft Sans Serif"/>
                <a:cs typeface="Microsoft Sans Serif"/>
              </a:rPr>
              <a:t> </a:t>
            </a:r>
            <a:r>
              <a:rPr sz="2400" spc="-20" dirty="0">
                <a:latin typeface="Microsoft Sans Serif"/>
                <a:cs typeface="Microsoft Sans Serif"/>
              </a:rPr>
              <a:t>View</a:t>
            </a:r>
            <a:endParaRPr sz="2400">
              <a:latin typeface="Microsoft Sans Serif"/>
              <a:cs typeface="Microsoft Sans Serif"/>
            </a:endParaRPr>
          </a:p>
          <a:p>
            <a:pPr marL="447675" marR="5080" lvl="2" indent="-343535">
              <a:spcBef>
                <a:spcPts val="1805"/>
              </a:spcBef>
              <a:buFont typeface="Wingdings"/>
              <a:buChar char=""/>
              <a:tabLst>
                <a:tab pos="447675" algn="l"/>
              </a:tabLst>
            </a:pPr>
            <a:r>
              <a:rPr sz="2400">
                <a:solidFill>
                  <a:srgbClr val="FF0000"/>
                </a:solidFill>
                <a:latin typeface="Microsoft Sans Serif"/>
                <a:cs typeface="Microsoft Sans Serif"/>
              </a:rPr>
              <a:t>View</a:t>
            </a:r>
            <a:r>
              <a:rPr lang="en-US" sz="2400">
                <a:solidFill>
                  <a:srgbClr val="FF0000"/>
                </a:solidFill>
                <a:latin typeface="Microsoft Sans Serif"/>
                <a:cs typeface="Microsoft Sans Serif"/>
              </a:rPr>
              <a:t>s</a:t>
            </a:r>
            <a:r>
              <a:rPr sz="2400">
                <a:solidFill>
                  <a:srgbClr val="FF0000"/>
                </a:solidFill>
                <a:latin typeface="Microsoft Sans Serif"/>
                <a:cs typeface="Microsoft Sans Serif"/>
              </a:rPr>
              <a:t>:</a:t>
            </a:r>
            <a:r>
              <a:rPr sz="2400" spc="70">
                <a:solidFill>
                  <a:srgbClr val="FF0000"/>
                </a:solidFill>
                <a:latin typeface="Microsoft Sans Serif"/>
                <a:cs typeface="Microsoft Sans Serif"/>
              </a:rPr>
              <a:t> </a:t>
            </a:r>
            <a:r>
              <a:rPr sz="2400" dirty="0">
                <a:latin typeface="Microsoft Sans Serif"/>
                <a:cs typeface="Microsoft Sans Serif"/>
              </a:rPr>
              <a:t>Tiếp</a:t>
            </a:r>
            <a:r>
              <a:rPr sz="2400" spc="35" dirty="0">
                <a:latin typeface="Microsoft Sans Serif"/>
                <a:cs typeface="Microsoft Sans Serif"/>
              </a:rPr>
              <a:t> </a:t>
            </a:r>
            <a:r>
              <a:rPr sz="2400" dirty="0">
                <a:latin typeface="Microsoft Sans Serif"/>
                <a:cs typeface="Microsoft Sans Serif"/>
              </a:rPr>
              <a:t>nhận</a:t>
            </a:r>
            <a:r>
              <a:rPr sz="2400" spc="50" dirty="0">
                <a:latin typeface="Microsoft Sans Serif"/>
                <a:cs typeface="Microsoft Sans Serif"/>
              </a:rPr>
              <a:t> </a:t>
            </a:r>
            <a:r>
              <a:rPr sz="2400" dirty="0">
                <a:latin typeface="Microsoft Sans Serif"/>
                <a:cs typeface="Microsoft Sans Serif"/>
              </a:rPr>
              <a:t>Model</a:t>
            </a:r>
            <a:r>
              <a:rPr sz="2400" spc="50" dirty="0">
                <a:latin typeface="Microsoft Sans Serif"/>
                <a:cs typeface="Microsoft Sans Serif"/>
              </a:rPr>
              <a:t> </a:t>
            </a:r>
            <a:r>
              <a:rPr sz="2400" spc="145" dirty="0">
                <a:latin typeface="Microsoft Sans Serif"/>
                <a:cs typeface="Microsoft Sans Serif"/>
              </a:rPr>
              <a:t>từ</a:t>
            </a:r>
            <a:r>
              <a:rPr sz="2400" spc="60" dirty="0">
                <a:latin typeface="Microsoft Sans Serif"/>
                <a:cs typeface="Microsoft Sans Serif"/>
              </a:rPr>
              <a:t> </a:t>
            </a:r>
            <a:r>
              <a:rPr sz="2400" dirty="0">
                <a:latin typeface="Microsoft Sans Serif"/>
                <a:cs typeface="Microsoft Sans Serif"/>
              </a:rPr>
              <a:t>Controller</a:t>
            </a:r>
            <a:r>
              <a:rPr sz="2400" spc="40" dirty="0">
                <a:latin typeface="Microsoft Sans Serif"/>
                <a:cs typeface="Microsoft Sans Serif"/>
              </a:rPr>
              <a:t> </a:t>
            </a:r>
            <a:r>
              <a:rPr sz="2400" dirty="0">
                <a:latin typeface="Microsoft Sans Serif"/>
                <a:cs typeface="Microsoft Sans Serif"/>
              </a:rPr>
              <a:t>để</a:t>
            </a:r>
            <a:r>
              <a:rPr sz="2400" spc="50" dirty="0">
                <a:latin typeface="Microsoft Sans Serif"/>
                <a:cs typeface="Microsoft Sans Serif"/>
              </a:rPr>
              <a:t> </a:t>
            </a:r>
            <a:r>
              <a:rPr sz="2400" dirty="0">
                <a:latin typeface="Microsoft Sans Serif"/>
                <a:cs typeface="Microsoft Sans Serif"/>
              </a:rPr>
              <a:t>sinh</a:t>
            </a:r>
            <a:r>
              <a:rPr sz="2400" spc="40" dirty="0">
                <a:latin typeface="Microsoft Sans Serif"/>
                <a:cs typeface="Microsoft Sans Serif"/>
              </a:rPr>
              <a:t> </a:t>
            </a:r>
            <a:r>
              <a:rPr sz="2400" dirty="0">
                <a:latin typeface="Microsoft Sans Serif"/>
                <a:cs typeface="Microsoft Sans Serif"/>
              </a:rPr>
              <a:t>giao</a:t>
            </a:r>
            <a:r>
              <a:rPr sz="2400" spc="45" dirty="0">
                <a:latin typeface="Microsoft Sans Serif"/>
                <a:cs typeface="Microsoft Sans Serif"/>
              </a:rPr>
              <a:t> </a:t>
            </a:r>
            <a:r>
              <a:rPr sz="2400" spc="-20" dirty="0">
                <a:latin typeface="Microsoft Sans Serif"/>
                <a:cs typeface="Microsoft Sans Serif"/>
              </a:rPr>
              <a:t>diện </a:t>
            </a:r>
            <a:r>
              <a:rPr sz="2400" dirty="0">
                <a:latin typeface="Microsoft Sans Serif"/>
                <a:cs typeface="Microsoft Sans Serif"/>
              </a:rPr>
              <a:t>phù</a:t>
            </a:r>
            <a:r>
              <a:rPr sz="2400" spc="10" dirty="0">
                <a:latin typeface="Microsoft Sans Serif"/>
                <a:cs typeface="Microsoft Sans Serif"/>
              </a:rPr>
              <a:t> </a:t>
            </a:r>
            <a:r>
              <a:rPr sz="2400" spc="45" dirty="0">
                <a:latin typeface="Microsoft Sans Serif"/>
                <a:cs typeface="Microsoft Sans Serif"/>
              </a:rPr>
              <a:t>hợp</a:t>
            </a:r>
            <a:endParaRPr sz="2400">
              <a:latin typeface="Microsoft Sans Serif"/>
              <a:cs typeface="Microsoft Sans Serif"/>
            </a:endParaRPr>
          </a:p>
          <a:p>
            <a:pPr marL="447675" marR="12700" lvl="2" indent="-343535">
              <a:spcBef>
                <a:spcPts val="1805"/>
              </a:spcBef>
              <a:buFont typeface="Wingdings"/>
              <a:buChar char=""/>
              <a:tabLst>
                <a:tab pos="447675" algn="l"/>
              </a:tabLst>
            </a:pPr>
            <a:r>
              <a:rPr sz="2400">
                <a:solidFill>
                  <a:srgbClr val="FF0000"/>
                </a:solidFill>
                <a:latin typeface="Microsoft Sans Serif"/>
                <a:cs typeface="Microsoft Sans Serif"/>
              </a:rPr>
              <a:t>Model</a:t>
            </a:r>
            <a:r>
              <a:rPr lang="en-US" sz="2400">
                <a:solidFill>
                  <a:srgbClr val="FF0000"/>
                </a:solidFill>
                <a:latin typeface="Microsoft Sans Serif"/>
                <a:cs typeface="Microsoft Sans Serif"/>
              </a:rPr>
              <a:t>s</a:t>
            </a:r>
            <a:r>
              <a:rPr sz="2400">
                <a:solidFill>
                  <a:srgbClr val="FF0000"/>
                </a:solidFill>
                <a:latin typeface="Microsoft Sans Serif"/>
                <a:cs typeface="Microsoft Sans Serif"/>
              </a:rPr>
              <a:t>:</a:t>
            </a:r>
            <a:r>
              <a:rPr sz="2400" spc="100">
                <a:solidFill>
                  <a:srgbClr val="FF0000"/>
                </a:solidFill>
                <a:latin typeface="Microsoft Sans Serif"/>
                <a:cs typeface="Microsoft Sans Serif"/>
              </a:rPr>
              <a:t> </a:t>
            </a:r>
            <a:r>
              <a:rPr sz="2400" spc="55" dirty="0">
                <a:latin typeface="Microsoft Sans Serif"/>
                <a:cs typeface="Microsoft Sans Serif"/>
              </a:rPr>
              <a:t>Chứa</a:t>
            </a:r>
            <a:r>
              <a:rPr sz="2400" spc="80" dirty="0">
                <a:latin typeface="Microsoft Sans Serif"/>
                <a:cs typeface="Microsoft Sans Serif"/>
              </a:rPr>
              <a:t> </a:t>
            </a:r>
            <a:r>
              <a:rPr sz="2400" spc="125" dirty="0">
                <a:latin typeface="Microsoft Sans Serif"/>
                <a:cs typeface="Microsoft Sans Serif"/>
              </a:rPr>
              <a:t>dữ</a:t>
            </a:r>
            <a:r>
              <a:rPr sz="2400" spc="95" dirty="0">
                <a:latin typeface="Microsoft Sans Serif"/>
                <a:cs typeface="Microsoft Sans Serif"/>
              </a:rPr>
              <a:t> </a:t>
            </a:r>
            <a:r>
              <a:rPr sz="2400" dirty="0">
                <a:latin typeface="Microsoft Sans Serif"/>
                <a:cs typeface="Microsoft Sans Serif"/>
              </a:rPr>
              <a:t>liệu</a:t>
            </a:r>
            <a:r>
              <a:rPr sz="2400" spc="80" dirty="0">
                <a:latin typeface="Microsoft Sans Serif"/>
                <a:cs typeface="Microsoft Sans Serif"/>
              </a:rPr>
              <a:t> </a:t>
            </a:r>
            <a:r>
              <a:rPr sz="2400" dirty="0">
                <a:latin typeface="Microsoft Sans Serif"/>
                <a:cs typeface="Microsoft Sans Serif"/>
              </a:rPr>
              <a:t>chia</a:t>
            </a:r>
            <a:r>
              <a:rPr sz="2400" spc="85" dirty="0">
                <a:latin typeface="Microsoft Sans Serif"/>
                <a:cs typeface="Microsoft Sans Serif"/>
              </a:rPr>
              <a:t> </a:t>
            </a:r>
            <a:r>
              <a:rPr sz="2400" dirty="0">
                <a:latin typeface="Microsoft Sans Serif"/>
                <a:cs typeface="Microsoft Sans Serif"/>
              </a:rPr>
              <a:t>sẽ</a:t>
            </a:r>
            <a:r>
              <a:rPr sz="2400" spc="40" dirty="0">
                <a:latin typeface="Microsoft Sans Serif"/>
                <a:cs typeface="Microsoft Sans Serif"/>
              </a:rPr>
              <a:t> </a:t>
            </a:r>
            <a:r>
              <a:rPr sz="2400" dirty="0">
                <a:latin typeface="Microsoft Sans Serif"/>
                <a:cs typeface="Microsoft Sans Serif"/>
              </a:rPr>
              <a:t>chung</a:t>
            </a:r>
            <a:r>
              <a:rPr sz="2400" spc="75" dirty="0">
                <a:latin typeface="Microsoft Sans Serif"/>
                <a:cs typeface="Microsoft Sans Serif"/>
              </a:rPr>
              <a:t> </a:t>
            </a:r>
            <a:r>
              <a:rPr sz="2400" spc="60" dirty="0">
                <a:latin typeface="Microsoft Sans Serif"/>
                <a:cs typeface="Microsoft Sans Serif"/>
              </a:rPr>
              <a:t>giữa</a:t>
            </a:r>
            <a:r>
              <a:rPr sz="2400" spc="80" dirty="0">
                <a:latin typeface="Microsoft Sans Serif"/>
                <a:cs typeface="Microsoft Sans Serif"/>
              </a:rPr>
              <a:t> </a:t>
            </a:r>
            <a:r>
              <a:rPr sz="2400" dirty="0">
                <a:latin typeface="Microsoft Sans Serif"/>
                <a:cs typeface="Microsoft Sans Serif"/>
              </a:rPr>
              <a:t>Controller</a:t>
            </a:r>
            <a:r>
              <a:rPr sz="2400" spc="70" dirty="0">
                <a:latin typeface="Microsoft Sans Serif"/>
                <a:cs typeface="Microsoft Sans Serif"/>
              </a:rPr>
              <a:t> </a:t>
            </a:r>
            <a:r>
              <a:rPr sz="2400" spc="-25" dirty="0">
                <a:latin typeface="Microsoft Sans Serif"/>
                <a:cs typeface="Microsoft Sans Serif"/>
              </a:rPr>
              <a:t>và </a:t>
            </a:r>
            <a:r>
              <a:rPr sz="2400" spc="-20" dirty="0">
                <a:latin typeface="Microsoft Sans Serif"/>
                <a:cs typeface="Microsoft Sans Serif"/>
              </a:rPr>
              <a:t>View</a:t>
            </a:r>
            <a:endParaRPr sz="2400">
              <a:latin typeface="Microsoft Sans Serif"/>
              <a:cs typeface="Microsoft Sans Serif"/>
            </a:endParaRPr>
          </a:p>
        </p:txBody>
      </p:sp>
      <p:grpSp>
        <p:nvGrpSpPr>
          <p:cNvPr id="4" name="object 4"/>
          <p:cNvGrpSpPr/>
          <p:nvPr/>
        </p:nvGrpSpPr>
        <p:grpSpPr>
          <a:xfrm>
            <a:off x="8145919" y="189445"/>
            <a:ext cx="2656840" cy="3468370"/>
            <a:chOff x="6279007" y="189445"/>
            <a:chExt cx="2656840" cy="3468370"/>
          </a:xfrm>
        </p:grpSpPr>
        <p:pic>
          <p:nvPicPr>
            <p:cNvPr id="5" name="object 5"/>
            <p:cNvPicPr/>
            <p:nvPr/>
          </p:nvPicPr>
          <p:blipFill>
            <a:blip r:embed="rId2" cstate="print"/>
            <a:stretch>
              <a:fillRect/>
            </a:stretch>
          </p:blipFill>
          <p:spPr>
            <a:xfrm>
              <a:off x="6279007" y="1374013"/>
              <a:ext cx="2656713" cy="2283587"/>
            </a:xfrm>
            <a:prstGeom prst="rect">
              <a:avLst/>
            </a:prstGeom>
          </p:spPr>
        </p:pic>
        <p:pic>
          <p:nvPicPr>
            <p:cNvPr id="6" name="object 6"/>
            <p:cNvPicPr/>
            <p:nvPr/>
          </p:nvPicPr>
          <p:blipFill>
            <a:blip r:embed="rId3" cstate="print"/>
            <a:stretch>
              <a:fillRect/>
            </a:stretch>
          </p:blipFill>
          <p:spPr>
            <a:xfrm>
              <a:off x="7626731" y="189445"/>
              <a:ext cx="1266913" cy="916597"/>
            </a:xfrm>
            <a:prstGeom prst="rect">
              <a:avLst/>
            </a:prstGeom>
          </p:spPr>
        </p:pic>
      </p:gr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solidFill>
                  <a:prstClr val="white"/>
                </a:solidFill>
              </a:rPr>
              <a:pPr marL="38100">
                <a:lnSpc>
                  <a:spcPts val="1664"/>
                </a:lnSpc>
              </a:pPr>
              <a:t>6</a:t>
            </a:fld>
            <a:endParaRPr spc="-25" dirty="0">
              <a:solidFill>
                <a:prstClr val="white"/>
              </a:solidFill>
            </a:endParaRPr>
          </a:p>
        </p:txBody>
      </p:sp>
      <p:sp>
        <p:nvSpPr>
          <p:cNvPr id="9" name="object 9"/>
          <p:cNvSpPr txBox="1">
            <a:spLocks noGrp="1"/>
          </p:cNvSpPr>
          <p:nvPr>
            <p:ph type="ftr" sz="quarter" idx="5"/>
          </p:nvPr>
        </p:nvSpPr>
        <p:spPr>
          <a:xfrm>
            <a:off x="2763418" y="6600176"/>
            <a:ext cx="1243964" cy="155171"/>
          </a:xfrm>
          <a:prstGeom prst="rect">
            <a:avLst/>
          </a:prstGeom>
        </p:spPr>
        <p:txBody>
          <a:bodyPr vert="horz" wrap="square" lIns="0" tIns="1270" rIns="0" bIns="0" rtlCol="0">
            <a:spAutoFit/>
          </a:bodyPr>
          <a:lstStyle/>
          <a:p>
            <a:pPr marL="12700">
              <a:spcBef>
                <a:spcPts val="10"/>
              </a:spcBef>
            </a:pPr>
            <a:endParaRPr spc="-20" dirty="0">
              <a:solidFill>
                <a:prstClr val="white"/>
              </a:solidFill>
            </a:endParaRPr>
          </a:p>
        </p:txBody>
      </p:sp>
    </p:spTree>
    <p:extLst>
      <p:ext uri="{BB962C8B-B14F-4D97-AF65-F5344CB8AC3E}">
        <p14:creationId xmlns:p14="http://schemas.microsoft.com/office/powerpoint/2010/main" val="27392153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91268" y="450927"/>
            <a:ext cx="11057467" cy="444994"/>
          </a:xfrm>
          <a:prstGeom prst="rect">
            <a:avLst/>
          </a:prstGeom>
        </p:spPr>
        <p:txBody>
          <a:bodyPr vert="horz" wrap="square" lIns="0" tIns="13970" rIns="0" bIns="0" rtlCol="0">
            <a:spAutoFit/>
          </a:bodyPr>
          <a:lstStyle/>
          <a:p>
            <a:pPr marL="12700">
              <a:spcBef>
                <a:spcPts val="110"/>
              </a:spcBef>
              <a:tabLst>
                <a:tab pos="8279765" algn="l"/>
              </a:tabLst>
            </a:pPr>
            <a:r>
              <a:rPr dirty="0"/>
              <a:t>1.</a:t>
            </a:r>
            <a:r>
              <a:rPr spc="-65" dirty="0"/>
              <a:t> </a:t>
            </a:r>
            <a:r>
              <a:rPr dirty="0"/>
              <a:t>GIỚI</a:t>
            </a:r>
            <a:r>
              <a:rPr spc="-90" dirty="0"/>
              <a:t> </a:t>
            </a:r>
            <a:r>
              <a:rPr dirty="0"/>
              <a:t>THIỆU</a:t>
            </a:r>
            <a:r>
              <a:rPr spc="-60" dirty="0"/>
              <a:t> </a:t>
            </a:r>
            <a:r>
              <a:rPr dirty="0"/>
              <a:t>VỀ</a:t>
            </a:r>
            <a:r>
              <a:rPr spc="-170" dirty="0"/>
              <a:t> </a:t>
            </a:r>
            <a:r>
              <a:rPr spc="-45" dirty="0"/>
              <a:t>ASP.NET</a:t>
            </a:r>
            <a:r>
              <a:rPr dirty="0"/>
              <a:t> </a:t>
            </a:r>
            <a:r>
              <a:rPr spc="-25" dirty="0"/>
              <a:t>MVC</a:t>
            </a:r>
            <a:r>
              <a:rPr dirty="0"/>
              <a:t>	</a:t>
            </a:r>
          </a:p>
        </p:txBody>
      </p:sp>
      <p:sp>
        <p:nvSpPr>
          <p:cNvPr id="3" name="object 3"/>
          <p:cNvSpPr txBox="1"/>
          <p:nvPr/>
        </p:nvSpPr>
        <p:spPr>
          <a:xfrm>
            <a:off x="2230018" y="1000048"/>
            <a:ext cx="7739380" cy="3196590"/>
          </a:xfrm>
          <a:prstGeom prst="rect">
            <a:avLst/>
          </a:prstGeom>
        </p:spPr>
        <p:txBody>
          <a:bodyPr vert="horz" wrap="square" lIns="0" tIns="163195" rIns="0" bIns="0" rtlCol="0">
            <a:spAutoFit/>
          </a:bodyPr>
          <a:lstStyle/>
          <a:p>
            <a:pPr marL="12700">
              <a:spcBef>
                <a:spcPts val="1285"/>
              </a:spcBef>
            </a:pPr>
            <a:r>
              <a:rPr sz="2400" b="1" kern="0" spc="-10">
                <a:solidFill>
                  <a:srgbClr val="C00000"/>
                </a:solidFill>
                <a:latin typeface="Arial"/>
                <a:cs typeface="Arial"/>
              </a:rPr>
              <a:t>Model</a:t>
            </a:r>
            <a:r>
              <a:rPr lang="en-US" sz="2400" b="1" kern="0" spc="-10">
                <a:solidFill>
                  <a:srgbClr val="C00000"/>
                </a:solidFill>
                <a:latin typeface="Arial"/>
                <a:cs typeface="Arial"/>
              </a:rPr>
              <a:t>s</a:t>
            </a:r>
            <a:r>
              <a:rPr sz="2400" b="1" kern="0" spc="-10">
                <a:solidFill>
                  <a:srgbClr val="C00000"/>
                </a:solidFill>
                <a:latin typeface="Arial"/>
                <a:cs typeface="Arial"/>
              </a:rPr>
              <a:t>:</a:t>
            </a:r>
            <a:endParaRPr sz="2400" kern="0">
              <a:solidFill>
                <a:sysClr val="windowText" lastClr="000000"/>
              </a:solidFill>
              <a:latin typeface="Arial"/>
              <a:cs typeface="Arial"/>
            </a:endParaRPr>
          </a:p>
          <a:p>
            <a:pPr marL="355600" marR="5080" indent="-343535">
              <a:spcBef>
                <a:spcPts val="1195"/>
              </a:spcBef>
              <a:buFont typeface="Wingdings"/>
              <a:buChar char=""/>
              <a:tabLst>
                <a:tab pos="355600" algn="l"/>
                <a:tab pos="7193915" algn="l"/>
              </a:tabLst>
            </a:pPr>
            <a:r>
              <a:rPr sz="2400" kern="0" spc="90" dirty="0">
                <a:solidFill>
                  <a:sysClr val="windowText" lastClr="000000"/>
                </a:solidFill>
                <a:latin typeface="Microsoft Sans Serif"/>
                <a:cs typeface="Microsoft Sans Serif"/>
              </a:rPr>
              <a:t>Lưu</a:t>
            </a:r>
            <a:r>
              <a:rPr sz="2400" kern="0" spc="340" dirty="0">
                <a:solidFill>
                  <a:sysClr val="windowText" lastClr="000000"/>
                </a:solidFill>
                <a:latin typeface="Microsoft Sans Serif"/>
                <a:cs typeface="Microsoft Sans Serif"/>
              </a:rPr>
              <a:t> </a:t>
            </a:r>
            <a:r>
              <a:rPr sz="2400" kern="0" spc="90" dirty="0">
                <a:solidFill>
                  <a:sysClr val="windowText" lastClr="000000"/>
                </a:solidFill>
                <a:latin typeface="Microsoft Sans Serif"/>
                <a:cs typeface="Microsoft Sans Serif"/>
              </a:rPr>
              <a:t>trữ</a:t>
            </a:r>
            <a:r>
              <a:rPr sz="2400" kern="0" spc="32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thông</a:t>
            </a:r>
            <a:r>
              <a:rPr sz="2400" kern="0" spc="30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tin,</a:t>
            </a:r>
            <a:r>
              <a:rPr sz="2400" kern="0" spc="32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trạng</a:t>
            </a:r>
            <a:r>
              <a:rPr sz="2400" kern="0" spc="31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thái</a:t>
            </a:r>
            <a:r>
              <a:rPr sz="2400" kern="0" spc="32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của</a:t>
            </a:r>
            <a:r>
              <a:rPr sz="2400" kern="0" spc="30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các</a:t>
            </a:r>
            <a:r>
              <a:rPr sz="2400" kern="0" spc="33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đối</a:t>
            </a:r>
            <a:r>
              <a:rPr sz="2400" kern="0" spc="320" dirty="0">
                <a:solidFill>
                  <a:sysClr val="windowText" lastClr="000000"/>
                </a:solidFill>
                <a:latin typeface="Microsoft Sans Serif"/>
                <a:cs typeface="Microsoft Sans Serif"/>
              </a:rPr>
              <a:t> </a:t>
            </a:r>
            <a:r>
              <a:rPr sz="2400" kern="0" spc="65" dirty="0">
                <a:solidFill>
                  <a:sysClr val="windowText" lastClr="000000"/>
                </a:solidFill>
                <a:latin typeface="Microsoft Sans Serif"/>
                <a:cs typeface="Microsoft Sans Serif"/>
              </a:rPr>
              <a:t>tượng,</a:t>
            </a:r>
            <a:r>
              <a:rPr sz="2400" kern="0" dirty="0">
                <a:solidFill>
                  <a:sysClr val="windowText" lastClr="000000"/>
                </a:solidFill>
                <a:latin typeface="Microsoft Sans Serif"/>
                <a:cs typeface="Microsoft Sans Serif"/>
              </a:rPr>
              <a:t>	là</a:t>
            </a:r>
            <a:r>
              <a:rPr sz="2400" kern="0" spc="305" dirty="0">
                <a:solidFill>
                  <a:sysClr val="windowText" lastClr="000000"/>
                </a:solidFill>
                <a:latin typeface="Microsoft Sans Serif"/>
                <a:cs typeface="Microsoft Sans Serif"/>
              </a:rPr>
              <a:t> </a:t>
            </a:r>
            <a:r>
              <a:rPr sz="2400" kern="0" spc="-50" dirty="0">
                <a:solidFill>
                  <a:sysClr val="windowText" lastClr="000000"/>
                </a:solidFill>
                <a:latin typeface="Microsoft Sans Serif"/>
                <a:cs typeface="Microsoft Sans Serif"/>
              </a:rPr>
              <a:t>1 </a:t>
            </a:r>
            <a:r>
              <a:rPr sz="2400" kern="0" spc="75" dirty="0">
                <a:solidFill>
                  <a:sysClr val="windowText" lastClr="000000"/>
                </a:solidFill>
                <a:latin typeface="Microsoft Sans Serif"/>
                <a:cs typeface="Microsoft Sans Serif"/>
              </a:rPr>
              <a:t>lớp</a:t>
            </a:r>
            <a:r>
              <a:rPr sz="2400" kern="0" spc="-20" dirty="0">
                <a:solidFill>
                  <a:sysClr val="windowText" lastClr="000000"/>
                </a:solidFill>
                <a:latin typeface="Microsoft Sans Serif"/>
                <a:cs typeface="Microsoft Sans Serif"/>
              </a:rPr>
              <a:t> </a:t>
            </a:r>
            <a:r>
              <a:rPr sz="2400" kern="0" spc="130" dirty="0">
                <a:solidFill>
                  <a:sysClr val="windowText" lastClr="000000"/>
                </a:solidFill>
                <a:latin typeface="Microsoft Sans Serif"/>
                <a:cs typeface="Microsoft Sans Serif"/>
              </a:rPr>
              <a:t>được</a:t>
            </a:r>
            <a:r>
              <a:rPr sz="2400" kern="0" spc="1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ánh</a:t>
            </a:r>
            <a:r>
              <a:rPr sz="2400" kern="0" spc="2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xạ</a:t>
            </a:r>
            <a:r>
              <a:rPr sz="2400" kern="0" spc="20" dirty="0">
                <a:solidFill>
                  <a:sysClr val="windowText" lastClr="000000"/>
                </a:solidFill>
                <a:latin typeface="Microsoft Sans Serif"/>
                <a:cs typeface="Microsoft Sans Serif"/>
              </a:rPr>
              <a:t> </a:t>
            </a:r>
            <a:r>
              <a:rPr sz="2400" kern="0" spc="145" dirty="0">
                <a:solidFill>
                  <a:sysClr val="windowText" lastClr="000000"/>
                </a:solidFill>
                <a:latin typeface="Microsoft Sans Serif"/>
                <a:cs typeface="Microsoft Sans Serif"/>
              </a:rPr>
              <a:t>từ</a:t>
            </a:r>
            <a:r>
              <a:rPr sz="2400" kern="0" spc="-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1</a:t>
            </a:r>
            <a:r>
              <a:rPr sz="2400" kern="0" spc="3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bảng</a:t>
            </a:r>
            <a:r>
              <a:rPr sz="2400" kern="0" spc="1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trong</a:t>
            </a:r>
            <a:r>
              <a:rPr sz="2400" kern="0" spc="-20" dirty="0">
                <a:solidFill>
                  <a:sysClr val="windowText" lastClr="000000"/>
                </a:solidFill>
                <a:latin typeface="Microsoft Sans Serif"/>
                <a:cs typeface="Microsoft Sans Serif"/>
              </a:rPr>
              <a:t> </a:t>
            </a:r>
            <a:r>
              <a:rPr sz="2400" b="1" kern="0" spc="-10" dirty="0">
                <a:solidFill>
                  <a:sysClr val="windowText" lastClr="000000"/>
                </a:solidFill>
                <a:latin typeface="Arial"/>
                <a:cs typeface="Arial"/>
              </a:rPr>
              <a:t>CSDL</a:t>
            </a:r>
            <a:r>
              <a:rPr sz="2400" kern="0" spc="-10" dirty="0">
                <a:solidFill>
                  <a:sysClr val="windowText" lastClr="000000"/>
                </a:solidFill>
                <a:latin typeface="Microsoft Sans Serif"/>
                <a:cs typeface="Microsoft Sans Serif"/>
              </a:rPr>
              <a:t>.</a:t>
            </a:r>
            <a:endParaRPr sz="2400" kern="0">
              <a:solidFill>
                <a:sysClr val="windowText" lastClr="000000"/>
              </a:solidFill>
              <a:latin typeface="Microsoft Sans Serif"/>
              <a:cs typeface="Microsoft Sans Serif"/>
            </a:endParaRPr>
          </a:p>
          <a:p>
            <a:pPr marL="355600" marR="6985" indent="-343535">
              <a:spcBef>
                <a:spcPts val="1225"/>
              </a:spcBef>
              <a:buFont typeface="Wingdings"/>
              <a:buChar char=""/>
              <a:tabLst>
                <a:tab pos="355600" algn="l"/>
              </a:tabLst>
            </a:pPr>
            <a:r>
              <a:rPr sz="2400" kern="0" spc="55" dirty="0">
                <a:solidFill>
                  <a:sysClr val="windowText" lastClr="000000"/>
                </a:solidFill>
                <a:latin typeface="Microsoft Sans Serif"/>
                <a:cs typeface="Microsoft Sans Serif"/>
              </a:rPr>
              <a:t>Chứa</a:t>
            </a:r>
            <a:r>
              <a:rPr sz="2400" kern="0" spc="26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tất</a:t>
            </a:r>
            <a:r>
              <a:rPr sz="2400" kern="0" spc="254"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cả</a:t>
            </a:r>
            <a:r>
              <a:rPr sz="2400" kern="0" spc="23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các</a:t>
            </a:r>
            <a:r>
              <a:rPr sz="2400" kern="0" spc="254"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nghiệp</a:t>
            </a:r>
            <a:r>
              <a:rPr sz="2400" kern="0" spc="254"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vụ</a:t>
            </a:r>
            <a:r>
              <a:rPr sz="2400" kern="0" spc="26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logic,</a:t>
            </a:r>
            <a:r>
              <a:rPr sz="2400" kern="0" spc="215" dirty="0">
                <a:solidFill>
                  <a:sysClr val="windowText" lastClr="000000"/>
                </a:solidFill>
                <a:latin typeface="Microsoft Sans Serif"/>
                <a:cs typeface="Microsoft Sans Serif"/>
              </a:rPr>
              <a:t> </a:t>
            </a:r>
            <a:r>
              <a:rPr sz="2400" kern="0" spc="80" dirty="0">
                <a:solidFill>
                  <a:sysClr val="windowText" lastClr="000000"/>
                </a:solidFill>
                <a:latin typeface="Microsoft Sans Serif"/>
                <a:cs typeface="Microsoft Sans Serif"/>
              </a:rPr>
              <a:t>phương</a:t>
            </a:r>
            <a:r>
              <a:rPr sz="2400" kern="0" spc="254" dirty="0">
                <a:solidFill>
                  <a:sysClr val="windowText" lastClr="000000"/>
                </a:solidFill>
                <a:latin typeface="Microsoft Sans Serif"/>
                <a:cs typeface="Microsoft Sans Serif"/>
              </a:rPr>
              <a:t> </a:t>
            </a:r>
            <a:r>
              <a:rPr sz="2400" kern="0" spc="60" dirty="0">
                <a:solidFill>
                  <a:sysClr val="windowText" lastClr="000000"/>
                </a:solidFill>
                <a:latin typeface="Microsoft Sans Serif"/>
                <a:cs typeface="Microsoft Sans Serif"/>
              </a:rPr>
              <a:t>thức</a:t>
            </a:r>
            <a:r>
              <a:rPr sz="2400" kern="0" spc="260" dirty="0">
                <a:solidFill>
                  <a:sysClr val="windowText" lastClr="000000"/>
                </a:solidFill>
                <a:latin typeface="Microsoft Sans Serif"/>
                <a:cs typeface="Microsoft Sans Serif"/>
              </a:rPr>
              <a:t> </a:t>
            </a:r>
            <a:r>
              <a:rPr sz="2400" kern="0" spc="110" dirty="0">
                <a:solidFill>
                  <a:sysClr val="windowText" lastClr="000000"/>
                </a:solidFill>
                <a:latin typeface="Microsoft Sans Serif"/>
                <a:cs typeface="Microsoft Sans Serif"/>
              </a:rPr>
              <a:t>xử</a:t>
            </a:r>
            <a:r>
              <a:rPr sz="2400" kern="0" spc="280" dirty="0">
                <a:solidFill>
                  <a:sysClr val="windowText" lastClr="000000"/>
                </a:solidFill>
                <a:latin typeface="Microsoft Sans Serif"/>
                <a:cs typeface="Microsoft Sans Serif"/>
              </a:rPr>
              <a:t> </a:t>
            </a:r>
            <a:r>
              <a:rPr sz="2400" kern="0" spc="-25" dirty="0">
                <a:solidFill>
                  <a:sysClr val="windowText" lastClr="000000"/>
                </a:solidFill>
                <a:latin typeface="Microsoft Sans Serif"/>
                <a:cs typeface="Microsoft Sans Serif"/>
              </a:rPr>
              <a:t>lý, </a:t>
            </a:r>
            <a:r>
              <a:rPr sz="2400" kern="0" dirty="0">
                <a:solidFill>
                  <a:sysClr val="windowText" lastClr="000000"/>
                </a:solidFill>
                <a:latin typeface="Microsoft Sans Serif"/>
                <a:cs typeface="Microsoft Sans Serif"/>
              </a:rPr>
              <a:t>truy xuất</a:t>
            </a:r>
            <a:r>
              <a:rPr sz="2400" kern="0" spc="3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database,</a:t>
            </a:r>
            <a:r>
              <a:rPr sz="2400" kern="0" spc="-3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các</a:t>
            </a:r>
            <a:r>
              <a:rPr sz="2400" kern="0" spc="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Class,</a:t>
            </a:r>
            <a:r>
              <a:rPr sz="2400" kern="0" spc="-7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hàm</a:t>
            </a:r>
            <a:r>
              <a:rPr sz="2400" kern="0" spc="25" dirty="0">
                <a:solidFill>
                  <a:sysClr val="windowText" lastClr="000000"/>
                </a:solidFill>
                <a:latin typeface="Microsoft Sans Serif"/>
                <a:cs typeface="Microsoft Sans Serif"/>
              </a:rPr>
              <a:t> </a:t>
            </a:r>
            <a:r>
              <a:rPr sz="2400" kern="0" spc="110" dirty="0">
                <a:solidFill>
                  <a:sysClr val="windowText" lastClr="000000"/>
                </a:solidFill>
                <a:latin typeface="Microsoft Sans Serif"/>
                <a:cs typeface="Microsoft Sans Serif"/>
              </a:rPr>
              <a:t>xử</a:t>
            </a:r>
            <a:r>
              <a:rPr sz="2400" kern="0" spc="30" dirty="0">
                <a:solidFill>
                  <a:sysClr val="windowText" lastClr="000000"/>
                </a:solidFill>
                <a:latin typeface="Microsoft Sans Serif"/>
                <a:cs typeface="Microsoft Sans Serif"/>
              </a:rPr>
              <a:t> </a:t>
            </a:r>
            <a:r>
              <a:rPr sz="2400" kern="0" spc="-20" dirty="0">
                <a:solidFill>
                  <a:sysClr val="windowText" lastClr="000000"/>
                </a:solidFill>
                <a:latin typeface="Microsoft Sans Serif"/>
                <a:cs typeface="Microsoft Sans Serif"/>
              </a:rPr>
              <a:t>lý..</a:t>
            </a:r>
            <a:endParaRPr sz="2400" kern="0">
              <a:solidFill>
                <a:sysClr val="windowText" lastClr="000000"/>
              </a:solidFill>
              <a:latin typeface="Microsoft Sans Serif"/>
              <a:cs typeface="Microsoft Sans Serif"/>
            </a:endParaRPr>
          </a:p>
          <a:p>
            <a:pPr marL="12700" marR="5080">
              <a:spcBef>
                <a:spcPts val="1195"/>
              </a:spcBef>
              <a:tabLst>
                <a:tab pos="433070" algn="l"/>
                <a:tab pos="991235" algn="l"/>
                <a:tab pos="2747645" algn="l"/>
                <a:tab pos="3602990" algn="l"/>
                <a:tab pos="4092575" algn="l"/>
                <a:tab pos="4902200" algn="l"/>
                <a:tab pos="5373370" algn="l"/>
                <a:tab pos="6320790" algn="l"/>
                <a:tab pos="6828155" algn="l"/>
              </a:tabLst>
            </a:pPr>
            <a:r>
              <a:rPr sz="2400" kern="0" spc="40" dirty="0">
                <a:solidFill>
                  <a:sysClr val="windowText" lastClr="000000"/>
                </a:solidFill>
                <a:latin typeface="Microsoft Sans Serif"/>
                <a:cs typeface="Microsoft Sans Serif"/>
              </a:rPr>
              <a:t>Ví</a:t>
            </a:r>
            <a:r>
              <a:rPr sz="2400" kern="0" dirty="0">
                <a:solidFill>
                  <a:sysClr val="windowText" lastClr="000000"/>
                </a:solidFill>
                <a:latin typeface="Microsoft Sans Serif"/>
                <a:cs typeface="Microsoft Sans Serif"/>
              </a:rPr>
              <a:t>	</a:t>
            </a:r>
            <a:r>
              <a:rPr sz="2400" kern="0" spc="-25" dirty="0">
                <a:solidFill>
                  <a:sysClr val="windowText" lastClr="000000"/>
                </a:solidFill>
                <a:latin typeface="Microsoft Sans Serif"/>
                <a:cs typeface="Microsoft Sans Serif"/>
              </a:rPr>
              <a:t>dụ:</a:t>
            </a:r>
            <a:r>
              <a:rPr sz="2400" kern="0" dirty="0">
                <a:solidFill>
                  <a:sysClr val="windowText" lastClr="000000"/>
                </a:solidFill>
                <a:latin typeface="Microsoft Sans Serif"/>
                <a:cs typeface="Microsoft Sans Serif"/>
              </a:rPr>
              <a:t>	</a:t>
            </a:r>
            <a:r>
              <a:rPr sz="2400" kern="0" spc="75" dirty="0">
                <a:solidFill>
                  <a:sysClr val="windowText" lastClr="000000"/>
                </a:solidFill>
                <a:latin typeface="Microsoft Sans Serif"/>
                <a:cs typeface="Microsoft Sans Serif"/>
              </a:rPr>
              <a:t>lớp</a:t>
            </a:r>
            <a:r>
              <a:rPr sz="2400" kern="0" spc="360" dirty="0">
                <a:solidFill>
                  <a:sysClr val="windowText" lastClr="000000"/>
                </a:solidFill>
                <a:latin typeface="Microsoft Sans Serif"/>
                <a:cs typeface="Microsoft Sans Serif"/>
              </a:rPr>
              <a:t> </a:t>
            </a:r>
            <a:r>
              <a:rPr sz="2400" i="1" kern="0" spc="-10" dirty="0">
                <a:solidFill>
                  <a:sysClr val="windowText" lastClr="000000"/>
                </a:solidFill>
                <a:latin typeface="Arial"/>
                <a:cs typeface="Arial"/>
              </a:rPr>
              <a:t>Product</a:t>
            </a:r>
            <a:r>
              <a:rPr sz="2400" i="1" kern="0" dirty="0">
                <a:solidFill>
                  <a:sysClr val="windowText" lastClr="000000"/>
                </a:solidFill>
                <a:latin typeface="Arial"/>
                <a:cs typeface="Arial"/>
              </a:rPr>
              <a:t>	</a:t>
            </a:r>
            <a:r>
              <a:rPr sz="2400" kern="0" spc="90" dirty="0">
                <a:solidFill>
                  <a:sysClr val="windowText" lastClr="000000"/>
                </a:solidFill>
                <a:latin typeface="Microsoft Sans Serif"/>
                <a:cs typeface="Microsoft Sans Serif"/>
              </a:rPr>
              <a:t>được</a:t>
            </a:r>
            <a:r>
              <a:rPr sz="2400" kern="0" dirty="0">
                <a:solidFill>
                  <a:sysClr val="windowText" lastClr="000000"/>
                </a:solidFill>
                <a:latin typeface="Microsoft Sans Serif"/>
                <a:cs typeface="Microsoft Sans Serif"/>
              </a:rPr>
              <a:t>	</a:t>
            </a:r>
            <a:r>
              <a:rPr sz="2400" kern="0" spc="120" dirty="0">
                <a:solidFill>
                  <a:sysClr val="windowText" lastClr="000000"/>
                </a:solidFill>
                <a:latin typeface="Microsoft Sans Serif"/>
                <a:cs typeface="Microsoft Sans Serif"/>
              </a:rPr>
              <a:t>sử</a:t>
            </a:r>
            <a:r>
              <a:rPr sz="2400" kern="0" dirty="0">
                <a:solidFill>
                  <a:sysClr val="windowText" lastClr="000000"/>
                </a:solidFill>
                <a:latin typeface="Microsoft Sans Serif"/>
                <a:cs typeface="Microsoft Sans Serif"/>
              </a:rPr>
              <a:t>	</a:t>
            </a:r>
            <a:r>
              <a:rPr sz="2400" kern="0" spc="-20" dirty="0">
                <a:solidFill>
                  <a:sysClr val="windowText" lastClr="000000"/>
                </a:solidFill>
                <a:latin typeface="Microsoft Sans Serif"/>
                <a:cs typeface="Microsoft Sans Serif"/>
              </a:rPr>
              <a:t>dụng</a:t>
            </a:r>
            <a:r>
              <a:rPr sz="2400" kern="0" dirty="0">
                <a:solidFill>
                  <a:sysClr val="windowText" lastClr="000000"/>
                </a:solidFill>
                <a:latin typeface="Microsoft Sans Serif"/>
                <a:cs typeface="Microsoft Sans Serif"/>
              </a:rPr>
              <a:t>	</a:t>
            </a:r>
            <a:r>
              <a:rPr sz="2400" kern="0" spc="-25" dirty="0">
                <a:solidFill>
                  <a:sysClr val="windowText" lastClr="000000"/>
                </a:solidFill>
                <a:latin typeface="Microsoft Sans Serif"/>
                <a:cs typeface="Microsoft Sans Serif"/>
              </a:rPr>
              <a:t>để</a:t>
            </a:r>
            <a:r>
              <a:rPr sz="2400" kern="0" dirty="0">
                <a:solidFill>
                  <a:sysClr val="windowText" lastClr="000000"/>
                </a:solidFill>
                <a:latin typeface="Microsoft Sans Serif"/>
                <a:cs typeface="Microsoft Sans Serif"/>
              </a:rPr>
              <a:t>	mô</a:t>
            </a:r>
            <a:r>
              <a:rPr sz="2400" kern="0" spc="385" dirty="0">
                <a:solidFill>
                  <a:sysClr val="windowText" lastClr="000000"/>
                </a:solidFill>
                <a:latin typeface="Microsoft Sans Serif"/>
                <a:cs typeface="Microsoft Sans Serif"/>
              </a:rPr>
              <a:t> </a:t>
            </a:r>
            <a:r>
              <a:rPr sz="2400" kern="0" spc="-25" dirty="0">
                <a:solidFill>
                  <a:sysClr val="windowText" lastClr="000000"/>
                </a:solidFill>
                <a:latin typeface="Microsoft Sans Serif"/>
                <a:cs typeface="Microsoft Sans Serif"/>
              </a:rPr>
              <a:t>tả</a:t>
            </a:r>
            <a:r>
              <a:rPr sz="2400" kern="0" dirty="0">
                <a:solidFill>
                  <a:sysClr val="windowText" lastClr="000000"/>
                </a:solidFill>
                <a:latin typeface="Microsoft Sans Serif"/>
                <a:cs typeface="Microsoft Sans Serif"/>
              </a:rPr>
              <a:t>	</a:t>
            </a:r>
            <a:r>
              <a:rPr sz="2400" kern="0" spc="90" dirty="0">
                <a:solidFill>
                  <a:sysClr val="windowText" lastClr="000000"/>
                </a:solidFill>
                <a:latin typeface="Microsoft Sans Serif"/>
                <a:cs typeface="Microsoft Sans Serif"/>
              </a:rPr>
              <a:t>dữ</a:t>
            </a:r>
            <a:r>
              <a:rPr sz="2400" kern="0" dirty="0">
                <a:solidFill>
                  <a:sysClr val="windowText" lastClr="000000"/>
                </a:solidFill>
                <a:latin typeface="Microsoft Sans Serif"/>
                <a:cs typeface="Microsoft Sans Serif"/>
              </a:rPr>
              <a:t>	liệu</a:t>
            </a:r>
            <a:r>
              <a:rPr sz="2400" kern="0" spc="305" dirty="0">
                <a:solidFill>
                  <a:sysClr val="windowText" lastClr="000000"/>
                </a:solidFill>
                <a:latin typeface="Microsoft Sans Serif"/>
                <a:cs typeface="Microsoft Sans Serif"/>
              </a:rPr>
              <a:t> </a:t>
            </a:r>
            <a:r>
              <a:rPr sz="2400" kern="0" spc="125" dirty="0">
                <a:solidFill>
                  <a:sysClr val="windowText" lastClr="000000"/>
                </a:solidFill>
                <a:latin typeface="Microsoft Sans Serif"/>
                <a:cs typeface="Microsoft Sans Serif"/>
              </a:rPr>
              <a:t>từ </a:t>
            </a:r>
            <a:r>
              <a:rPr sz="2400" kern="0" dirty="0">
                <a:solidFill>
                  <a:sysClr val="windowText" lastClr="000000"/>
                </a:solidFill>
                <a:latin typeface="Microsoft Sans Serif"/>
                <a:cs typeface="Microsoft Sans Serif"/>
              </a:rPr>
              <a:t>bảng</a:t>
            </a:r>
            <a:r>
              <a:rPr sz="2400" kern="0" spc="15" dirty="0">
                <a:solidFill>
                  <a:sysClr val="windowText" lastClr="000000"/>
                </a:solidFill>
                <a:latin typeface="Microsoft Sans Serif"/>
                <a:cs typeface="Microsoft Sans Serif"/>
              </a:rPr>
              <a:t> </a:t>
            </a:r>
            <a:r>
              <a:rPr sz="2400" i="1" kern="0" dirty="0">
                <a:solidFill>
                  <a:sysClr val="windowText" lastClr="000000"/>
                </a:solidFill>
                <a:latin typeface="Arial"/>
                <a:cs typeface="Arial"/>
              </a:rPr>
              <a:t>Products</a:t>
            </a:r>
            <a:r>
              <a:rPr sz="2400" kern="0" dirty="0">
                <a:solidFill>
                  <a:sysClr val="windowText" lastClr="000000"/>
                </a:solidFill>
                <a:latin typeface="Microsoft Sans Serif"/>
                <a:cs typeface="Microsoft Sans Serif"/>
              </a:rPr>
              <a:t>,</a:t>
            </a:r>
            <a:r>
              <a:rPr sz="2400" kern="0" spc="-6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bao</a:t>
            </a:r>
            <a:r>
              <a:rPr sz="2400" kern="0" spc="1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gồm </a:t>
            </a:r>
            <a:r>
              <a:rPr sz="2400" i="1" kern="0" dirty="0">
                <a:solidFill>
                  <a:sysClr val="windowText" lastClr="000000"/>
                </a:solidFill>
                <a:latin typeface="Arial"/>
                <a:cs typeface="Arial"/>
              </a:rPr>
              <a:t>ProductID</a:t>
            </a:r>
            <a:r>
              <a:rPr sz="2400" kern="0" dirty="0">
                <a:solidFill>
                  <a:sysClr val="windowText" lastClr="000000"/>
                </a:solidFill>
                <a:latin typeface="Microsoft Sans Serif"/>
                <a:cs typeface="Microsoft Sans Serif"/>
              </a:rPr>
              <a:t>,</a:t>
            </a:r>
            <a:r>
              <a:rPr sz="2400" kern="0" spc="-65" dirty="0">
                <a:solidFill>
                  <a:sysClr val="windowText" lastClr="000000"/>
                </a:solidFill>
                <a:latin typeface="Microsoft Sans Serif"/>
                <a:cs typeface="Microsoft Sans Serif"/>
              </a:rPr>
              <a:t> </a:t>
            </a:r>
            <a:r>
              <a:rPr sz="2400" i="1" kern="0" spc="-10" dirty="0">
                <a:solidFill>
                  <a:sysClr val="windowText" lastClr="000000"/>
                </a:solidFill>
                <a:latin typeface="Arial"/>
                <a:cs typeface="Arial"/>
              </a:rPr>
              <a:t>OrderDate</a:t>
            </a:r>
            <a:r>
              <a:rPr sz="2400" kern="0" spc="-10" dirty="0">
                <a:solidFill>
                  <a:sysClr val="windowText" lastClr="000000"/>
                </a:solidFill>
                <a:latin typeface="Microsoft Sans Serif"/>
                <a:cs typeface="Microsoft Sans Serif"/>
              </a:rPr>
              <a:t>...</a:t>
            </a:r>
            <a:endParaRPr sz="2400" kern="0">
              <a:solidFill>
                <a:sysClr val="windowText" lastClr="000000"/>
              </a:solidFill>
              <a:latin typeface="Microsoft Sans Serif"/>
              <a:cs typeface="Microsoft Sans Serif"/>
            </a:endParaRPr>
          </a:p>
        </p:txBody>
      </p:sp>
      <p:pic>
        <p:nvPicPr>
          <p:cNvPr id="4" name="object 4"/>
          <p:cNvPicPr/>
          <p:nvPr/>
        </p:nvPicPr>
        <p:blipFill>
          <a:blip r:embed="rId2" cstate="print"/>
          <a:stretch>
            <a:fillRect/>
          </a:stretch>
        </p:blipFill>
        <p:spPr>
          <a:xfrm>
            <a:off x="9150732" y="189446"/>
            <a:ext cx="1266913" cy="916597"/>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solidFill>
                  <a:prstClr val="white"/>
                </a:solidFill>
              </a:rPr>
              <a:pPr marL="38100">
                <a:lnSpc>
                  <a:spcPts val="1664"/>
                </a:lnSpc>
              </a:pPr>
              <a:t>7</a:t>
            </a:fld>
            <a:endParaRPr spc="-25" dirty="0">
              <a:solidFill>
                <a:prstClr val="white"/>
              </a:solidFill>
            </a:endParaRPr>
          </a:p>
        </p:txBody>
      </p:sp>
      <p:sp>
        <p:nvSpPr>
          <p:cNvPr id="7" name="object 7"/>
          <p:cNvSpPr txBox="1">
            <a:spLocks noGrp="1"/>
          </p:cNvSpPr>
          <p:nvPr>
            <p:ph type="ftr" sz="quarter" idx="5"/>
          </p:nvPr>
        </p:nvSpPr>
        <p:spPr>
          <a:xfrm>
            <a:off x="2763418" y="6600176"/>
            <a:ext cx="1243964" cy="155171"/>
          </a:xfrm>
          <a:prstGeom prst="rect">
            <a:avLst/>
          </a:prstGeom>
        </p:spPr>
        <p:txBody>
          <a:bodyPr vert="horz" wrap="square" lIns="0" tIns="1270" rIns="0" bIns="0" rtlCol="0">
            <a:spAutoFit/>
          </a:bodyPr>
          <a:lstStyle/>
          <a:p>
            <a:pPr marL="12700">
              <a:spcBef>
                <a:spcPts val="10"/>
              </a:spcBef>
            </a:pPr>
            <a:endParaRPr spc="-20" dirty="0">
              <a:solidFill>
                <a:prstClr val="white"/>
              </a:solidFill>
            </a:endParaRPr>
          </a:p>
        </p:txBody>
      </p:sp>
    </p:spTree>
    <p:extLst>
      <p:ext uri="{BB962C8B-B14F-4D97-AF65-F5344CB8AC3E}">
        <p14:creationId xmlns:p14="http://schemas.microsoft.com/office/powerpoint/2010/main" val="19927454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91268" y="450927"/>
            <a:ext cx="11057467" cy="444994"/>
          </a:xfrm>
          <a:prstGeom prst="rect">
            <a:avLst/>
          </a:prstGeom>
        </p:spPr>
        <p:txBody>
          <a:bodyPr vert="horz" wrap="square" lIns="0" tIns="13970" rIns="0" bIns="0" rtlCol="0">
            <a:spAutoFit/>
          </a:bodyPr>
          <a:lstStyle/>
          <a:p>
            <a:pPr marL="12700">
              <a:spcBef>
                <a:spcPts val="110"/>
              </a:spcBef>
              <a:tabLst>
                <a:tab pos="8279765" algn="l"/>
              </a:tabLst>
            </a:pPr>
            <a:r>
              <a:rPr dirty="0"/>
              <a:t>1.</a:t>
            </a:r>
            <a:r>
              <a:rPr spc="-65" dirty="0"/>
              <a:t> </a:t>
            </a:r>
            <a:r>
              <a:rPr dirty="0"/>
              <a:t>GIỚI</a:t>
            </a:r>
            <a:r>
              <a:rPr spc="-90" dirty="0"/>
              <a:t> </a:t>
            </a:r>
            <a:r>
              <a:rPr dirty="0"/>
              <a:t>THIỆU</a:t>
            </a:r>
            <a:r>
              <a:rPr spc="-60" dirty="0"/>
              <a:t> </a:t>
            </a:r>
            <a:r>
              <a:rPr dirty="0"/>
              <a:t>VỀ</a:t>
            </a:r>
            <a:r>
              <a:rPr spc="-170" dirty="0"/>
              <a:t> </a:t>
            </a:r>
            <a:r>
              <a:rPr spc="-45" dirty="0"/>
              <a:t>ASP.NET</a:t>
            </a:r>
            <a:r>
              <a:rPr dirty="0"/>
              <a:t> </a:t>
            </a:r>
            <a:r>
              <a:rPr spc="-25" dirty="0"/>
              <a:t>MVC</a:t>
            </a:r>
            <a:r>
              <a:rPr dirty="0"/>
              <a:t>	</a:t>
            </a:r>
          </a:p>
        </p:txBody>
      </p:sp>
      <p:sp>
        <p:nvSpPr>
          <p:cNvPr id="3" name="object 3"/>
          <p:cNvSpPr txBox="1"/>
          <p:nvPr/>
        </p:nvSpPr>
        <p:spPr>
          <a:xfrm>
            <a:off x="2334870" y="1000048"/>
            <a:ext cx="7737475" cy="4079240"/>
          </a:xfrm>
          <a:prstGeom prst="rect">
            <a:avLst/>
          </a:prstGeom>
        </p:spPr>
        <p:txBody>
          <a:bodyPr vert="horz" wrap="square" lIns="0" tIns="163195" rIns="0" bIns="0" rtlCol="0">
            <a:spAutoFit/>
          </a:bodyPr>
          <a:lstStyle/>
          <a:p>
            <a:pPr marL="12700">
              <a:spcBef>
                <a:spcPts val="1285"/>
              </a:spcBef>
            </a:pPr>
            <a:r>
              <a:rPr sz="2400" b="1" kern="0" spc="-10" dirty="0">
                <a:solidFill>
                  <a:srgbClr val="C00000"/>
                </a:solidFill>
                <a:latin typeface="Arial"/>
                <a:cs typeface="Arial"/>
              </a:rPr>
              <a:t>Views</a:t>
            </a:r>
            <a:endParaRPr sz="2400" kern="0">
              <a:solidFill>
                <a:sysClr val="windowText" lastClr="000000"/>
              </a:solidFill>
              <a:latin typeface="Arial"/>
              <a:cs typeface="Arial"/>
            </a:endParaRPr>
          </a:p>
          <a:p>
            <a:pPr marL="355600" marR="5080" indent="-343535">
              <a:spcBef>
                <a:spcPts val="1195"/>
              </a:spcBef>
              <a:buFont typeface="Wingdings"/>
              <a:buChar char=""/>
              <a:tabLst>
                <a:tab pos="355600" algn="l"/>
              </a:tabLst>
            </a:pPr>
            <a:r>
              <a:rPr sz="2400" kern="0" dirty="0">
                <a:solidFill>
                  <a:sysClr val="windowText" lastClr="000000"/>
                </a:solidFill>
                <a:latin typeface="Microsoft Sans Serif"/>
                <a:cs typeface="Microsoft Sans Serif"/>
              </a:rPr>
              <a:t>Chịu</a:t>
            </a:r>
            <a:r>
              <a:rPr sz="2400" kern="0" spc="17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trách</a:t>
            </a:r>
            <a:r>
              <a:rPr sz="2400" kern="0" spc="15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nhiệm</a:t>
            </a:r>
            <a:r>
              <a:rPr sz="2400" kern="0" spc="19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hiển</a:t>
            </a:r>
            <a:r>
              <a:rPr sz="2400" kern="0" spc="114"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thị</a:t>
            </a:r>
            <a:r>
              <a:rPr sz="2400" kern="0" spc="15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các</a:t>
            </a:r>
            <a:r>
              <a:rPr sz="2400" kern="0" spc="18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thông</a:t>
            </a:r>
            <a:r>
              <a:rPr sz="2400" kern="0" spc="17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tin</a:t>
            </a:r>
            <a:r>
              <a:rPr sz="2400" kern="0" spc="15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lên</a:t>
            </a:r>
            <a:r>
              <a:rPr sz="2400" kern="0" spc="11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cho</a:t>
            </a:r>
            <a:r>
              <a:rPr sz="2400" kern="0" spc="145" dirty="0">
                <a:solidFill>
                  <a:sysClr val="windowText" lastClr="000000"/>
                </a:solidFill>
                <a:latin typeface="Microsoft Sans Serif"/>
                <a:cs typeface="Microsoft Sans Serif"/>
              </a:rPr>
              <a:t> </a:t>
            </a:r>
            <a:r>
              <a:rPr sz="2400" kern="0" spc="80" dirty="0">
                <a:solidFill>
                  <a:sysClr val="windowText" lastClr="000000"/>
                </a:solidFill>
                <a:latin typeface="Microsoft Sans Serif"/>
                <a:cs typeface="Microsoft Sans Serif"/>
              </a:rPr>
              <a:t>người </a:t>
            </a:r>
            <a:r>
              <a:rPr sz="2400" kern="0" dirty="0">
                <a:solidFill>
                  <a:sysClr val="windowText" lastClr="000000"/>
                </a:solidFill>
                <a:latin typeface="Microsoft Sans Serif"/>
                <a:cs typeface="Microsoft Sans Serif"/>
              </a:rPr>
              <a:t>dùng thông</a:t>
            </a:r>
            <a:r>
              <a:rPr sz="2400" kern="0" spc="-3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qua giao</a:t>
            </a:r>
            <a:r>
              <a:rPr sz="2400" kern="0" spc="5" dirty="0">
                <a:solidFill>
                  <a:sysClr val="windowText" lastClr="000000"/>
                </a:solidFill>
                <a:latin typeface="Microsoft Sans Serif"/>
                <a:cs typeface="Microsoft Sans Serif"/>
              </a:rPr>
              <a:t> </a:t>
            </a:r>
            <a:r>
              <a:rPr sz="2400" kern="0" spc="-10" dirty="0">
                <a:solidFill>
                  <a:sysClr val="windowText" lastClr="000000"/>
                </a:solidFill>
                <a:latin typeface="Microsoft Sans Serif"/>
                <a:cs typeface="Microsoft Sans Serif"/>
              </a:rPr>
              <a:t>diện.</a:t>
            </a:r>
            <a:endParaRPr sz="2400" kern="0">
              <a:solidFill>
                <a:sysClr val="windowText" lastClr="000000"/>
              </a:solidFill>
              <a:latin typeface="Microsoft Sans Serif"/>
              <a:cs typeface="Microsoft Sans Serif"/>
            </a:endParaRPr>
          </a:p>
          <a:p>
            <a:pPr marL="355600" indent="-342900">
              <a:spcBef>
                <a:spcPts val="1225"/>
              </a:spcBef>
              <a:buFont typeface="Wingdings"/>
              <a:buChar char=""/>
              <a:tabLst>
                <a:tab pos="355600" algn="l"/>
              </a:tabLst>
            </a:pPr>
            <a:r>
              <a:rPr sz="2400" kern="0" spc="55" dirty="0">
                <a:solidFill>
                  <a:sysClr val="windowText" lastClr="000000"/>
                </a:solidFill>
                <a:latin typeface="Microsoft Sans Serif"/>
                <a:cs typeface="Microsoft Sans Serif"/>
              </a:rPr>
              <a:t>Chứa</a:t>
            </a:r>
            <a:r>
              <a:rPr sz="2400" kern="0" spc="2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các</a:t>
            </a:r>
            <a:r>
              <a:rPr sz="2400" kern="0" spc="-2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đối</a:t>
            </a:r>
            <a:r>
              <a:rPr sz="2400" kern="0" spc="35" dirty="0">
                <a:solidFill>
                  <a:sysClr val="windowText" lastClr="000000"/>
                </a:solidFill>
                <a:latin typeface="Microsoft Sans Serif"/>
                <a:cs typeface="Microsoft Sans Serif"/>
              </a:rPr>
              <a:t> </a:t>
            </a:r>
            <a:r>
              <a:rPr sz="2400" kern="0" spc="100" dirty="0">
                <a:solidFill>
                  <a:sysClr val="windowText" lastClr="000000"/>
                </a:solidFill>
                <a:latin typeface="Microsoft Sans Serif"/>
                <a:cs typeface="Microsoft Sans Serif"/>
              </a:rPr>
              <a:t>tượng</a:t>
            </a:r>
            <a:r>
              <a:rPr sz="2400" kern="0" spc="-50" dirty="0">
                <a:solidFill>
                  <a:sysClr val="windowText" lastClr="000000"/>
                </a:solidFill>
                <a:latin typeface="Microsoft Sans Serif"/>
                <a:cs typeface="Microsoft Sans Serif"/>
              </a:rPr>
              <a:t> </a:t>
            </a:r>
            <a:r>
              <a:rPr sz="2400" kern="0" spc="-25" dirty="0">
                <a:solidFill>
                  <a:sysClr val="windowText" lastClr="000000"/>
                </a:solidFill>
                <a:latin typeface="Microsoft Sans Serif"/>
                <a:cs typeface="Microsoft Sans Serif"/>
              </a:rPr>
              <a:t>GUI(Textbox,</a:t>
            </a:r>
            <a:r>
              <a:rPr sz="2400" kern="0" spc="4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images...</a:t>
            </a:r>
            <a:r>
              <a:rPr sz="2400" kern="0" spc="-100" dirty="0">
                <a:solidFill>
                  <a:sysClr val="windowText" lastClr="000000"/>
                </a:solidFill>
                <a:latin typeface="Microsoft Sans Serif"/>
                <a:cs typeface="Microsoft Sans Serif"/>
              </a:rPr>
              <a:t> </a:t>
            </a:r>
            <a:r>
              <a:rPr sz="2400" kern="0" spc="-25" dirty="0">
                <a:solidFill>
                  <a:sysClr val="windowText" lastClr="000000"/>
                </a:solidFill>
                <a:latin typeface="Microsoft Sans Serif"/>
                <a:cs typeface="Microsoft Sans Serif"/>
              </a:rPr>
              <a:t>).</a:t>
            </a:r>
            <a:endParaRPr sz="2400" kern="0">
              <a:solidFill>
                <a:sysClr val="windowText" lastClr="000000"/>
              </a:solidFill>
              <a:latin typeface="Microsoft Sans Serif"/>
              <a:cs typeface="Microsoft Sans Serif"/>
            </a:endParaRPr>
          </a:p>
          <a:p>
            <a:pPr marL="355600" indent="-342900">
              <a:spcBef>
                <a:spcPts val="1190"/>
              </a:spcBef>
              <a:buFont typeface="Wingdings"/>
              <a:buChar char=""/>
              <a:tabLst>
                <a:tab pos="355600" algn="l"/>
                <a:tab pos="1050925" algn="l"/>
                <a:tab pos="1960880" algn="l"/>
                <a:tab pos="2432050" algn="l"/>
                <a:tab pos="3077210" algn="l"/>
                <a:tab pos="3804920" algn="l"/>
                <a:tab pos="4275455" algn="l"/>
                <a:tab pos="5149215" algn="l"/>
                <a:tab pos="5688965" algn="l"/>
                <a:tab pos="6128385" algn="l"/>
                <a:tab pos="7043420" algn="l"/>
              </a:tabLst>
            </a:pPr>
            <a:r>
              <a:rPr sz="2400" kern="0" spc="-25" dirty="0">
                <a:solidFill>
                  <a:sysClr val="windowText" lastClr="000000"/>
                </a:solidFill>
                <a:latin typeface="Microsoft Sans Serif"/>
                <a:cs typeface="Microsoft Sans Serif"/>
              </a:rPr>
              <a:t>Các</a:t>
            </a:r>
            <a:r>
              <a:rPr sz="2400" kern="0" dirty="0">
                <a:solidFill>
                  <a:sysClr val="windowText" lastClr="000000"/>
                </a:solidFill>
                <a:latin typeface="Microsoft Sans Serif"/>
                <a:cs typeface="Microsoft Sans Serif"/>
              </a:rPr>
              <a:t>	</a:t>
            </a:r>
            <a:r>
              <a:rPr sz="2400" kern="0" spc="-20" dirty="0">
                <a:solidFill>
                  <a:sysClr val="windowText" lastClr="000000"/>
                </a:solidFill>
                <a:latin typeface="Microsoft Sans Serif"/>
                <a:cs typeface="Microsoft Sans Serif"/>
              </a:rPr>
              <a:t>thông</a:t>
            </a:r>
            <a:r>
              <a:rPr sz="2400" kern="0" dirty="0">
                <a:solidFill>
                  <a:sysClr val="windowText" lastClr="000000"/>
                </a:solidFill>
                <a:latin typeface="Microsoft Sans Serif"/>
                <a:cs typeface="Microsoft Sans Serif"/>
              </a:rPr>
              <a:t>	</a:t>
            </a:r>
            <a:r>
              <a:rPr sz="2400" kern="0" spc="-25" dirty="0">
                <a:solidFill>
                  <a:sysClr val="windowText" lastClr="000000"/>
                </a:solidFill>
                <a:latin typeface="Microsoft Sans Serif"/>
                <a:cs typeface="Microsoft Sans Serif"/>
              </a:rPr>
              <a:t>tin</a:t>
            </a:r>
            <a:r>
              <a:rPr sz="2400" kern="0" dirty="0">
                <a:solidFill>
                  <a:sysClr val="windowText" lastClr="000000"/>
                </a:solidFill>
                <a:latin typeface="Microsoft Sans Serif"/>
                <a:cs typeface="Microsoft Sans Serif"/>
              </a:rPr>
              <a:t>	</a:t>
            </a:r>
            <a:r>
              <a:rPr sz="2400" kern="0" spc="-25" dirty="0">
                <a:solidFill>
                  <a:sysClr val="windowText" lastClr="000000"/>
                </a:solidFill>
                <a:latin typeface="Microsoft Sans Serif"/>
                <a:cs typeface="Microsoft Sans Serif"/>
              </a:rPr>
              <a:t>cần</a:t>
            </a:r>
            <a:r>
              <a:rPr sz="2400" kern="0" dirty="0">
                <a:solidFill>
                  <a:sysClr val="windowText" lastClr="000000"/>
                </a:solidFill>
                <a:latin typeface="Microsoft Sans Serif"/>
                <a:cs typeface="Microsoft Sans Serif"/>
              </a:rPr>
              <a:t>	</a:t>
            </a:r>
            <a:r>
              <a:rPr sz="2400" kern="0" spc="-20" dirty="0">
                <a:solidFill>
                  <a:sysClr val="windowText" lastClr="000000"/>
                </a:solidFill>
                <a:latin typeface="Microsoft Sans Serif"/>
                <a:cs typeface="Microsoft Sans Serif"/>
              </a:rPr>
              <a:t>hiển</a:t>
            </a:r>
            <a:r>
              <a:rPr sz="2400" kern="0" dirty="0">
                <a:solidFill>
                  <a:sysClr val="windowText" lastClr="000000"/>
                </a:solidFill>
                <a:latin typeface="Microsoft Sans Serif"/>
                <a:cs typeface="Microsoft Sans Serif"/>
              </a:rPr>
              <a:t>	</a:t>
            </a:r>
            <a:r>
              <a:rPr sz="2400" kern="0" spc="-25" dirty="0">
                <a:solidFill>
                  <a:sysClr val="windowText" lastClr="000000"/>
                </a:solidFill>
                <a:latin typeface="Microsoft Sans Serif"/>
                <a:cs typeface="Microsoft Sans Serif"/>
              </a:rPr>
              <a:t>thị</a:t>
            </a:r>
            <a:r>
              <a:rPr sz="2400" kern="0" dirty="0">
                <a:solidFill>
                  <a:sysClr val="windowText" lastClr="000000"/>
                </a:solidFill>
                <a:latin typeface="Microsoft Sans Serif"/>
                <a:cs typeface="Microsoft Sans Serif"/>
              </a:rPr>
              <a:t>	</a:t>
            </a:r>
            <a:r>
              <a:rPr sz="2400" kern="0" spc="100" dirty="0">
                <a:solidFill>
                  <a:sysClr val="windowText" lastClr="000000"/>
                </a:solidFill>
                <a:latin typeface="Microsoft Sans Serif"/>
                <a:cs typeface="Microsoft Sans Serif"/>
              </a:rPr>
              <a:t>được</a:t>
            </a:r>
            <a:r>
              <a:rPr sz="2400" kern="0" dirty="0">
                <a:solidFill>
                  <a:sysClr val="windowText" lastClr="000000"/>
                </a:solidFill>
                <a:latin typeface="Microsoft Sans Serif"/>
                <a:cs typeface="Microsoft Sans Serif"/>
              </a:rPr>
              <a:t>	</a:t>
            </a:r>
            <a:r>
              <a:rPr sz="2400" kern="0" spc="-25" dirty="0">
                <a:solidFill>
                  <a:sysClr val="windowText" lastClr="000000"/>
                </a:solidFill>
                <a:latin typeface="Microsoft Sans Serif"/>
                <a:cs typeface="Microsoft Sans Serif"/>
              </a:rPr>
              <a:t>lấy</a:t>
            </a:r>
            <a:r>
              <a:rPr sz="2400" kern="0" dirty="0">
                <a:solidFill>
                  <a:sysClr val="windowText" lastClr="000000"/>
                </a:solidFill>
                <a:latin typeface="Microsoft Sans Serif"/>
                <a:cs typeface="Microsoft Sans Serif"/>
              </a:rPr>
              <a:t>	</a:t>
            </a:r>
            <a:r>
              <a:rPr sz="2400" kern="0" spc="120" dirty="0">
                <a:solidFill>
                  <a:sysClr val="windowText" lastClr="000000"/>
                </a:solidFill>
                <a:latin typeface="Microsoft Sans Serif"/>
                <a:cs typeface="Microsoft Sans Serif"/>
              </a:rPr>
              <a:t>từ</a:t>
            </a:r>
            <a:r>
              <a:rPr sz="2400" kern="0" dirty="0">
                <a:solidFill>
                  <a:sysClr val="windowText" lastClr="000000"/>
                </a:solidFill>
                <a:latin typeface="Microsoft Sans Serif"/>
                <a:cs typeface="Microsoft Sans Serif"/>
              </a:rPr>
              <a:t>	</a:t>
            </a:r>
            <a:r>
              <a:rPr sz="2400" kern="0" spc="-10" dirty="0">
                <a:solidFill>
                  <a:sysClr val="windowText" lastClr="000000"/>
                </a:solidFill>
                <a:latin typeface="Microsoft Sans Serif"/>
                <a:cs typeface="Microsoft Sans Serif"/>
              </a:rPr>
              <a:t>thành</a:t>
            </a:r>
            <a:r>
              <a:rPr sz="2400" kern="0" dirty="0">
                <a:solidFill>
                  <a:sysClr val="windowText" lastClr="000000"/>
                </a:solidFill>
                <a:latin typeface="Microsoft Sans Serif"/>
                <a:cs typeface="Microsoft Sans Serif"/>
              </a:rPr>
              <a:t>	</a:t>
            </a:r>
            <a:r>
              <a:rPr sz="2400" kern="0" spc="-20" dirty="0">
                <a:solidFill>
                  <a:sysClr val="windowText" lastClr="000000"/>
                </a:solidFill>
                <a:latin typeface="Microsoft Sans Serif"/>
                <a:cs typeface="Microsoft Sans Serif"/>
              </a:rPr>
              <a:t>phần</a:t>
            </a:r>
            <a:endParaRPr sz="2400" kern="0">
              <a:solidFill>
                <a:sysClr val="windowText" lastClr="000000"/>
              </a:solidFill>
              <a:latin typeface="Microsoft Sans Serif"/>
              <a:cs typeface="Microsoft Sans Serif"/>
            </a:endParaRPr>
          </a:p>
          <a:p>
            <a:pPr marL="355600">
              <a:spcBef>
                <a:spcPts val="5"/>
              </a:spcBef>
            </a:pPr>
            <a:r>
              <a:rPr sz="2400" b="1" kern="0" spc="-10" dirty="0">
                <a:solidFill>
                  <a:sysClr val="windowText" lastClr="000000"/>
                </a:solidFill>
                <a:latin typeface="Arial"/>
                <a:cs typeface="Arial"/>
              </a:rPr>
              <a:t>Models</a:t>
            </a:r>
            <a:r>
              <a:rPr sz="2400" kern="0" spc="-10" dirty="0">
                <a:solidFill>
                  <a:sysClr val="windowText" lastClr="000000"/>
                </a:solidFill>
                <a:latin typeface="Microsoft Sans Serif"/>
                <a:cs typeface="Microsoft Sans Serif"/>
              </a:rPr>
              <a:t>.</a:t>
            </a:r>
            <a:endParaRPr sz="2400" kern="0">
              <a:solidFill>
                <a:sysClr val="windowText" lastClr="000000"/>
              </a:solidFill>
              <a:latin typeface="Microsoft Sans Serif"/>
              <a:cs typeface="Microsoft Sans Serif"/>
            </a:endParaRPr>
          </a:p>
          <a:p>
            <a:pPr marL="12700" marR="6350" algn="just">
              <a:spcBef>
                <a:spcPts val="1190"/>
              </a:spcBef>
            </a:pPr>
            <a:r>
              <a:rPr sz="2400" kern="0" spc="65" dirty="0">
                <a:solidFill>
                  <a:sysClr val="windowText" lastClr="000000"/>
                </a:solidFill>
                <a:latin typeface="Microsoft Sans Serif"/>
                <a:cs typeface="Microsoft Sans Serif"/>
              </a:rPr>
              <a:t>Ví</a:t>
            </a:r>
            <a:r>
              <a:rPr sz="2400" kern="0" spc="43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dụ:</a:t>
            </a:r>
            <a:r>
              <a:rPr sz="2400" kern="0" spc="47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Đối</a:t>
            </a:r>
            <a:r>
              <a:rPr sz="2400" kern="0" spc="420" dirty="0">
                <a:solidFill>
                  <a:sysClr val="windowText" lastClr="000000"/>
                </a:solidFill>
                <a:latin typeface="Microsoft Sans Serif"/>
                <a:cs typeface="Microsoft Sans Serif"/>
              </a:rPr>
              <a:t> </a:t>
            </a:r>
            <a:r>
              <a:rPr sz="2400" kern="0" spc="100" dirty="0">
                <a:solidFill>
                  <a:sysClr val="windowText" lastClr="000000"/>
                </a:solidFill>
                <a:latin typeface="Microsoft Sans Serif"/>
                <a:cs typeface="Microsoft Sans Serif"/>
              </a:rPr>
              <a:t>tượng</a:t>
            </a:r>
            <a:r>
              <a:rPr sz="2400" kern="0" spc="409" dirty="0">
                <a:solidFill>
                  <a:sysClr val="windowText" lastClr="000000"/>
                </a:solidFill>
                <a:latin typeface="Microsoft Sans Serif"/>
                <a:cs typeface="Microsoft Sans Serif"/>
              </a:rPr>
              <a:t> </a:t>
            </a:r>
            <a:r>
              <a:rPr sz="2400" i="1" kern="0" dirty="0">
                <a:solidFill>
                  <a:sysClr val="windowText" lastClr="000000"/>
                </a:solidFill>
                <a:latin typeface="Arial"/>
                <a:cs typeface="Arial"/>
              </a:rPr>
              <a:t>Product</a:t>
            </a:r>
            <a:r>
              <a:rPr sz="2400" i="1" kern="0" spc="390" dirty="0">
                <a:solidFill>
                  <a:sysClr val="windowText" lastClr="000000"/>
                </a:solidFill>
                <a:latin typeface="Arial"/>
                <a:cs typeface="Arial"/>
              </a:rPr>
              <a:t> </a:t>
            </a:r>
            <a:r>
              <a:rPr sz="2400" kern="0" dirty="0">
                <a:solidFill>
                  <a:sysClr val="windowText" lastClr="000000"/>
                </a:solidFill>
                <a:latin typeface="Microsoft Sans Serif"/>
                <a:cs typeface="Microsoft Sans Serif"/>
              </a:rPr>
              <a:t>có</a:t>
            </a:r>
            <a:r>
              <a:rPr sz="2400" kern="0" spc="41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a:t>
            </a:r>
            <a:r>
              <a:rPr sz="2400" i="1" kern="0" dirty="0">
                <a:solidFill>
                  <a:sysClr val="windowText" lastClr="000000"/>
                </a:solidFill>
                <a:latin typeface="Arial"/>
                <a:cs typeface="Arial"/>
              </a:rPr>
              <a:t>Edit</a:t>
            </a:r>
            <a:r>
              <a:rPr sz="2400" kern="0" dirty="0">
                <a:solidFill>
                  <a:sysClr val="windowText" lastClr="000000"/>
                </a:solidFill>
                <a:latin typeface="Microsoft Sans Serif"/>
                <a:cs typeface="Microsoft Sans Serif"/>
              </a:rPr>
              <a:t>"</a:t>
            </a:r>
            <a:r>
              <a:rPr sz="2400" kern="0" spc="46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view</a:t>
            </a:r>
            <a:r>
              <a:rPr sz="2400" kern="0" spc="40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bao</a:t>
            </a:r>
            <a:r>
              <a:rPr sz="2400" kern="0" spc="44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gồm</a:t>
            </a:r>
            <a:r>
              <a:rPr sz="2400" kern="0" spc="455" dirty="0">
                <a:solidFill>
                  <a:sysClr val="windowText" lastClr="000000"/>
                </a:solidFill>
                <a:latin typeface="Microsoft Sans Serif"/>
                <a:cs typeface="Microsoft Sans Serif"/>
              </a:rPr>
              <a:t> </a:t>
            </a:r>
            <a:r>
              <a:rPr sz="2400" kern="0" spc="-25" dirty="0">
                <a:solidFill>
                  <a:sysClr val="windowText" lastClr="000000"/>
                </a:solidFill>
                <a:latin typeface="Microsoft Sans Serif"/>
                <a:cs typeface="Microsoft Sans Serif"/>
              </a:rPr>
              <a:t>các </a:t>
            </a:r>
            <a:r>
              <a:rPr sz="2400" kern="0" dirty="0">
                <a:solidFill>
                  <a:sysClr val="windowText" lastClr="000000"/>
                </a:solidFill>
                <a:latin typeface="Microsoft Sans Serif"/>
                <a:cs typeface="Microsoft Sans Serif"/>
              </a:rPr>
              <a:t>textboxes,</a:t>
            </a:r>
            <a:r>
              <a:rPr sz="2400" kern="0" spc="25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các</a:t>
            </a:r>
            <a:r>
              <a:rPr sz="2400" kern="0" spc="254"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dropdowns</a:t>
            </a:r>
            <a:r>
              <a:rPr sz="2400" kern="0" spc="24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và</a:t>
            </a:r>
            <a:r>
              <a:rPr sz="2400" kern="0" spc="23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checkboxes</a:t>
            </a:r>
            <a:r>
              <a:rPr sz="2400" kern="0" spc="24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để</a:t>
            </a:r>
            <a:r>
              <a:rPr sz="2400" kern="0" spc="20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chỉnh</a:t>
            </a:r>
            <a:r>
              <a:rPr sz="2400" kern="0" spc="225" dirty="0">
                <a:solidFill>
                  <a:sysClr val="windowText" lastClr="000000"/>
                </a:solidFill>
                <a:latin typeface="Microsoft Sans Serif"/>
                <a:cs typeface="Microsoft Sans Serif"/>
              </a:rPr>
              <a:t> </a:t>
            </a:r>
            <a:r>
              <a:rPr sz="2400" kern="0" spc="50" dirty="0">
                <a:solidFill>
                  <a:sysClr val="windowText" lastClr="000000"/>
                </a:solidFill>
                <a:latin typeface="Microsoft Sans Serif"/>
                <a:cs typeface="Microsoft Sans Serif"/>
              </a:rPr>
              <a:t>sửa </a:t>
            </a:r>
            <a:r>
              <a:rPr sz="2400" kern="0" dirty="0">
                <a:solidFill>
                  <a:sysClr val="windowText" lastClr="000000"/>
                </a:solidFill>
                <a:latin typeface="Microsoft Sans Serif"/>
                <a:cs typeface="Microsoft Sans Serif"/>
              </a:rPr>
              <a:t>các</a:t>
            </a:r>
            <a:r>
              <a:rPr sz="2400" kern="0" spc="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thuộc</a:t>
            </a:r>
            <a:r>
              <a:rPr sz="2400" kern="0" spc="4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tính</a:t>
            </a:r>
            <a:r>
              <a:rPr sz="2400" kern="0" spc="1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của</a:t>
            </a:r>
            <a:r>
              <a:rPr sz="2400" kern="0" spc="1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sản</a:t>
            </a:r>
            <a:r>
              <a:rPr sz="2400" kern="0" spc="15" dirty="0">
                <a:solidFill>
                  <a:sysClr val="windowText" lastClr="000000"/>
                </a:solidFill>
                <a:latin typeface="Microsoft Sans Serif"/>
                <a:cs typeface="Microsoft Sans Serif"/>
              </a:rPr>
              <a:t> </a:t>
            </a:r>
            <a:r>
              <a:rPr sz="2400" kern="0" spc="-10" dirty="0">
                <a:solidFill>
                  <a:sysClr val="windowText" lastClr="000000"/>
                </a:solidFill>
                <a:latin typeface="Microsoft Sans Serif"/>
                <a:cs typeface="Microsoft Sans Serif"/>
              </a:rPr>
              <a:t>phẩm;</a:t>
            </a:r>
            <a:endParaRPr sz="2400" kern="0">
              <a:solidFill>
                <a:sysClr val="windowText" lastClr="000000"/>
              </a:solidFill>
              <a:latin typeface="Microsoft Sans Serif"/>
              <a:cs typeface="Microsoft Sans Serif"/>
            </a:endParaRPr>
          </a:p>
        </p:txBody>
      </p:sp>
      <p:pic>
        <p:nvPicPr>
          <p:cNvPr id="4" name="object 4"/>
          <p:cNvPicPr/>
          <p:nvPr/>
        </p:nvPicPr>
        <p:blipFill>
          <a:blip r:embed="rId2" cstate="print"/>
          <a:stretch>
            <a:fillRect/>
          </a:stretch>
        </p:blipFill>
        <p:spPr>
          <a:xfrm>
            <a:off x="9150732" y="189446"/>
            <a:ext cx="1266913" cy="916597"/>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solidFill>
                  <a:prstClr val="white"/>
                </a:solidFill>
              </a:rPr>
              <a:pPr marL="38100">
                <a:lnSpc>
                  <a:spcPts val="1664"/>
                </a:lnSpc>
              </a:pPr>
              <a:t>8</a:t>
            </a:fld>
            <a:endParaRPr spc="-25" dirty="0">
              <a:solidFill>
                <a:prstClr val="white"/>
              </a:solidFill>
            </a:endParaRPr>
          </a:p>
        </p:txBody>
      </p:sp>
      <p:sp>
        <p:nvSpPr>
          <p:cNvPr id="7" name="object 7"/>
          <p:cNvSpPr txBox="1">
            <a:spLocks noGrp="1"/>
          </p:cNvSpPr>
          <p:nvPr>
            <p:ph type="ftr" sz="quarter" idx="5"/>
          </p:nvPr>
        </p:nvSpPr>
        <p:spPr>
          <a:xfrm>
            <a:off x="2763418" y="6600176"/>
            <a:ext cx="1243964" cy="155171"/>
          </a:xfrm>
          <a:prstGeom prst="rect">
            <a:avLst/>
          </a:prstGeom>
        </p:spPr>
        <p:txBody>
          <a:bodyPr vert="horz" wrap="square" lIns="0" tIns="1270" rIns="0" bIns="0" rtlCol="0">
            <a:spAutoFit/>
          </a:bodyPr>
          <a:lstStyle/>
          <a:p>
            <a:pPr marL="12700">
              <a:spcBef>
                <a:spcPts val="10"/>
              </a:spcBef>
            </a:pPr>
            <a:endParaRPr spc="-20" dirty="0">
              <a:solidFill>
                <a:prstClr val="white"/>
              </a:solidFill>
            </a:endParaRPr>
          </a:p>
        </p:txBody>
      </p:sp>
    </p:spTree>
    <p:extLst>
      <p:ext uri="{BB962C8B-B14F-4D97-AF65-F5344CB8AC3E}">
        <p14:creationId xmlns:p14="http://schemas.microsoft.com/office/powerpoint/2010/main" val="118329193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91268" y="450927"/>
            <a:ext cx="11057467" cy="444994"/>
          </a:xfrm>
          <a:prstGeom prst="rect">
            <a:avLst/>
          </a:prstGeom>
        </p:spPr>
        <p:txBody>
          <a:bodyPr vert="horz" wrap="square" lIns="0" tIns="13970" rIns="0" bIns="0" rtlCol="0">
            <a:spAutoFit/>
          </a:bodyPr>
          <a:lstStyle/>
          <a:p>
            <a:pPr marL="12700">
              <a:spcBef>
                <a:spcPts val="110"/>
              </a:spcBef>
              <a:tabLst>
                <a:tab pos="8279765" algn="l"/>
              </a:tabLst>
            </a:pPr>
            <a:r>
              <a:rPr dirty="0"/>
              <a:t>1.</a:t>
            </a:r>
            <a:r>
              <a:rPr spc="-65" dirty="0"/>
              <a:t> </a:t>
            </a:r>
            <a:r>
              <a:rPr dirty="0"/>
              <a:t>GIỚI</a:t>
            </a:r>
            <a:r>
              <a:rPr spc="-90" dirty="0"/>
              <a:t> </a:t>
            </a:r>
            <a:r>
              <a:rPr dirty="0"/>
              <a:t>THIỆU</a:t>
            </a:r>
            <a:r>
              <a:rPr spc="-60" dirty="0"/>
              <a:t> </a:t>
            </a:r>
            <a:r>
              <a:rPr dirty="0"/>
              <a:t>VỀ</a:t>
            </a:r>
            <a:r>
              <a:rPr spc="-170" dirty="0"/>
              <a:t> </a:t>
            </a:r>
            <a:r>
              <a:rPr spc="-45" dirty="0"/>
              <a:t>ASP.NET</a:t>
            </a:r>
            <a:r>
              <a:rPr dirty="0"/>
              <a:t> </a:t>
            </a:r>
            <a:r>
              <a:rPr spc="-25" dirty="0"/>
              <a:t>MVC</a:t>
            </a:r>
            <a:r>
              <a:rPr dirty="0"/>
              <a:t>	</a:t>
            </a:r>
          </a:p>
        </p:txBody>
      </p:sp>
      <p:sp>
        <p:nvSpPr>
          <p:cNvPr id="3" name="object 3"/>
          <p:cNvSpPr txBox="1"/>
          <p:nvPr/>
        </p:nvSpPr>
        <p:spPr>
          <a:xfrm>
            <a:off x="2334869" y="1000049"/>
            <a:ext cx="7736840" cy="1425575"/>
          </a:xfrm>
          <a:prstGeom prst="rect">
            <a:avLst/>
          </a:prstGeom>
        </p:spPr>
        <p:txBody>
          <a:bodyPr vert="horz" wrap="square" lIns="0" tIns="163195" rIns="0" bIns="0" rtlCol="0">
            <a:spAutoFit/>
          </a:bodyPr>
          <a:lstStyle/>
          <a:p>
            <a:pPr marL="12700">
              <a:spcBef>
                <a:spcPts val="1285"/>
              </a:spcBef>
            </a:pPr>
            <a:r>
              <a:rPr sz="2400" b="1" kern="0" spc="-10" dirty="0">
                <a:solidFill>
                  <a:srgbClr val="C00000"/>
                </a:solidFill>
                <a:latin typeface="Arial"/>
                <a:cs typeface="Arial"/>
              </a:rPr>
              <a:t>Controllers</a:t>
            </a:r>
            <a:endParaRPr sz="2400" kern="0">
              <a:solidFill>
                <a:sysClr val="windowText" lastClr="000000"/>
              </a:solidFill>
              <a:latin typeface="Arial"/>
              <a:cs typeface="Arial"/>
            </a:endParaRPr>
          </a:p>
          <a:p>
            <a:pPr marL="355600" marR="5080" indent="-343535">
              <a:spcBef>
                <a:spcPts val="1195"/>
              </a:spcBef>
              <a:buFont typeface="Wingdings"/>
              <a:buChar char=""/>
              <a:tabLst>
                <a:tab pos="355600" algn="l"/>
              </a:tabLst>
            </a:pPr>
            <a:r>
              <a:rPr sz="2400" kern="0" spc="100" dirty="0">
                <a:solidFill>
                  <a:sysClr val="windowText" lastClr="000000"/>
                </a:solidFill>
                <a:latin typeface="Microsoft Sans Serif"/>
                <a:cs typeface="Microsoft Sans Serif"/>
              </a:rPr>
              <a:t>Xử</a:t>
            </a:r>
            <a:r>
              <a:rPr sz="2400" kern="0" spc="18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lý</a:t>
            </a:r>
            <a:r>
              <a:rPr sz="2400" kern="0" spc="16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các</a:t>
            </a:r>
            <a:r>
              <a:rPr sz="2400" kern="0" spc="12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tác</a:t>
            </a:r>
            <a:r>
              <a:rPr sz="2400" kern="0" spc="15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động</a:t>
            </a:r>
            <a:r>
              <a:rPr sz="2400" kern="0" spc="16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về</a:t>
            </a:r>
            <a:r>
              <a:rPr sz="2400" kern="0" spc="13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mặt</a:t>
            </a:r>
            <a:r>
              <a:rPr sz="2400" kern="0" spc="15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giao</a:t>
            </a:r>
            <a:r>
              <a:rPr sz="2400" kern="0" spc="16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diện,</a:t>
            </a:r>
            <a:r>
              <a:rPr sz="2400" kern="0" spc="15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các</a:t>
            </a:r>
            <a:r>
              <a:rPr sz="2400" kern="0" spc="12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thao</a:t>
            </a:r>
            <a:r>
              <a:rPr sz="2400" kern="0" spc="13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tác</a:t>
            </a:r>
            <a:r>
              <a:rPr sz="2400" kern="0" spc="155" dirty="0">
                <a:solidFill>
                  <a:sysClr val="windowText" lastClr="000000"/>
                </a:solidFill>
                <a:latin typeface="Microsoft Sans Serif"/>
                <a:cs typeface="Microsoft Sans Serif"/>
              </a:rPr>
              <a:t> </a:t>
            </a:r>
            <a:r>
              <a:rPr sz="2400" kern="0" spc="-25" dirty="0">
                <a:solidFill>
                  <a:sysClr val="windowText" lastClr="000000"/>
                </a:solidFill>
                <a:latin typeface="Microsoft Sans Serif"/>
                <a:cs typeface="Microsoft Sans Serif"/>
              </a:rPr>
              <a:t>đối </a:t>
            </a:r>
            <a:r>
              <a:rPr sz="2400" kern="0" spc="65" dirty="0">
                <a:solidFill>
                  <a:sysClr val="windowText" lastClr="000000"/>
                </a:solidFill>
                <a:latin typeface="Microsoft Sans Serif"/>
                <a:cs typeface="Microsoft Sans Serif"/>
              </a:rPr>
              <a:t>với</a:t>
            </a:r>
            <a:r>
              <a:rPr sz="2400" kern="0" dirty="0">
                <a:solidFill>
                  <a:sysClr val="windowText" lastClr="000000"/>
                </a:solidFill>
                <a:latin typeface="Microsoft Sans Serif"/>
                <a:cs typeface="Microsoft Sans Serif"/>
              </a:rPr>
              <a:t> models,</a:t>
            </a:r>
            <a:r>
              <a:rPr sz="2400" kern="0" spc="-6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và</a:t>
            </a:r>
            <a:r>
              <a:rPr sz="2400" kern="0" spc="2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chọn</a:t>
            </a:r>
            <a:r>
              <a:rPr sz="2400" kern="0" spc="2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view</a:t>
            </a:r>
            <a:r>
              <a:rPr sz="2400" kern="0" spc="1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để</a:t>
            </a:r>
            <a:r>
              <a:rPr sz="2400" kern="0" spc="-2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hiển</a:t>
            </a:r>
            <a:r>
              <a:rPr sz="2400" kern="0" spc="2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thị</a:t>
            </a:r>
            <a:r>
              <a:rPr sz="2400" kern="0" spc="-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ra</a:t>
            </a:r>
            <a:r>
              <a:rPr sz="2400" kern="0" spc="2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màn</a:t>
            </a:r>
            <a:r>
              <a:rPr sz="2400" kern="0" spc="-55" dirty="0">
                <a:solidFill>
                  <a:sysClr val="windowText" lastClr="000000"/>
                </a:solidFill>
                <a:latin typeface="Microsoft Sans Serif"/>
                <a:cs typeface="Microsoft Sans Serif"/>
              </a:rPr>
              <a:t> </a:t>
            </a:r>
            <a:r>
              <a:rPr sz="2400" kern="0" spc="-10" dirty="0">
                <a:solidFill>
                  <a:sysClr val="windowText" lastClr="000000"/>
                </a:solidFill>
                <a:latin typeface="Microsoft Sans Serif"/>
                <a:cs typeface="Microsoft Sans Serif"/>
              </a:rPr>
              <a:t>hình.</a:t>
            </a:r>
            <a:endParaRPr sz="2400" kern="0">
              <a:solidFill>
                <a:sysClr val="windowText" lastClr="000000"/>
              </a:solidFill>
              <a:latin typeface="Microsoft Sans Serif"/>
              <a:cs typeface="Microsoft Sans Serif"/>
            </a:endParaRPr>
          </a:p>
        </p:txBody>
      </p:sp>
      <p:sp>
        <p:nvSpPr>
          <p:cNvPr id="4" name="object 4"/>
          <p:cNvSpPr txBox="1"/>
          <p:nvPr/>
        </p:nvSpPr>
        <p:spPr>
          <a:xfrm>
            <a:off x="2334870" y="2553665"/>
            <a:ext cx="7732395" cy="393700"/>
          </a:xfrm>
          <a:prstGeom prst="rect">
            <a:avLst/>
          </a:prstGeom>
        </p:spPr>
        <p:txBody>
          <a:bodyPr vert="horz" wrap="square" lIns="0" tIns="14605" rIns="0" bIns="0" rtlCol="0">
            <a:spAutoFit/>
          </a:bodyPr>
          <a:lstStyle/>
          <a:p>
            <a:pPr marL="355600" indent="-342900">
              <a:spcBef>
                <a:spcPts val="115"/>
              </a:spcBef>
              <a:buFont typeface="Wingdings"/>
              <a:buChar char=""/>
              <a:tabLst>
                <a:tab pos="355600" algn="l"/>
                <a:tab pos="1192530" algn="l"/>
                <a:tab pos="2313305" algn="l"/>
                <a:tab pos="2994660" algn="l"/>
                <a:tab pos="3689985" algn="l"/>
                <a:tab pos="4389755" algn="l"/>
                <a:tab pos="4879340" algn="l"/>
                <a:tab pos="5904230" algn="l"/>
                <a:tab pos="6786880" algn="l"/>
                <a:tab pos="7312659" algn="l"/>
              </a:tabLst>
            </a:pPr>
            <a:r>
              <a:rPr sz="2400" kern="0" spc="-20" dirty="0">
                <a:solidFill>
                  <a:sysClr val="windowText" lastClr="000000"/>
                </a:solidFill>
                <a:latin typeface="Microsoft Sans Serif"/>
                <a:cs typeface="Microsoft Sans Serif"/>
              </a:rPr>
              <a:t>Điều</a:t>
            </a:r>
            <a:r>
              <a:rPr sz="2400" kern="0" dirty="0">
                <a:solidFill>
                  <a:sysClr val="windowText" lastClr="000000"/>
                </a:solidFill>
                <a:latin typeface="Microsoft Sans Serif"/>
                <a:cs typeface="Microsoft Sans Serif"/>
              </a:rPr>
              <a:t>	</a:t>
            </a:r>
            <a:r>
              <a:rPr sz="2400" kern="0" spc="85" dirty="0">
                <a:solidFill>
                  <a:sysClr val="windowText" lastClr="000000"/>
                </a:solidFill>
                <a:latin typeface="Microsoft Sans Serif"/>
                <a:cs typeface="Microsoft Sans Serif"/>
              </a:rPr>
              <a:t>hướng</a:t>
            </a:r>
            <a:r>
              <a:rPr sz="2400" kern="0" dirty="0">
                <a:solidFill>
                  <a:sysClr val="windowText" lastClr="000000"/>
                </a:solidFill>
                <a:latin typeface="Microsoft Sans Serif"/>
                <a:cs typeface="Microsoft Sans Serif"/>
              </a:rPr>
              <a:t>	</a:t>
            </a:r>
            <a:r>
              <a:rPr sz="2400" kern="0" spc="-25" dirty="0">
                <a:solidFill>
                  <a:sysClr val="windowText" lastClr="000000"/>
                </a:solidFill>
                <a:latin typeface="Microsoft Sans Serif"/>
                <a:cs typeface="Microsoft Sans Serif"/>
              </a:rPr>
              <a:t>các</a:t>
            </a:r>
            <a:r>
              <a:rPr sz="2400" kern="0" dirty="0">
                <a:solidFill>
                  <a:sysClr val="windowText" lastClr="000000"/>
                </a:solidFill>
                <a:latin typeface="Microsoft Sans Serif"/>
                <a:cs typeface="Microsoft Sans Serif"/>
              </a:rPr>
              <a:t>	</a:t>
            </a:r>
            <a:r>
              <a:rPr sz="2400" kern="0" spc="-25" dirty="0">
                <a:solidFill>
                  <a:sysClr val="windowText" lastClr="000000"/>
                </a:solidFill>
                <a:latin typeface="Microsoft Sans Serif"/>
                <a:cs typeface="Microsoft Sans Serif"/>
              </a:rPr>
              <a:t>yêu</a:t>
            </a:r>
            <a:r>
              <a:rPr sz="2400" kern="0" dirty="0">
                <a:solidFill>
                  <a:sysClr val="windowText" lastClr="000000"/>
                </a:solidFill>
                <a:latin typeface="Microsoft Sans Serif"/>
                <a:cs typeface="Microsoft Sans Serif"/>
              </a:rPr>
              <a:t>	</a:t>
            </a:r>
            <a:r>
              <a:rPr sz="2400" kern="0" spc="-25" dirty="0">
                <a:solidFill>
                  <a:sysClr val="windowText" lastClr="000000"/>
                </a:solidFill>
                <a:latin typeface="Microsoft Sans Serif"/>
                <a:cs typeface="Microsoft Sans Serif"/>
              </a:rPr>
              <a:t>cầu</a:t>
            </a:r>
            <a:r>
              <a:rPr sz="2400" kern="0" dirty="0">
                <a:solidFill>
                  <a:sysClr val="windowText" lastClr="000000"/>
                </a:solidFill>
                <a:latin typeface="Microsoft Sans Serif"/>
                <a:cs typeface="Microsoft Sans Serif"/>
              </a:rPr>
              <a:t>	</a:t>
            </a:r>
            <a:r>
              <a:rPr sz="2400" kern="0" spc="100" dirty="0">
                <a:solidFill>
                  <a:sysClr val="windowText" lastClr="000000"/>
                </a:solidFill>
                <a:latin typeface="Microsoft Sans Serif"/>
                <a:cs typeface="Microsoft Sans Serif"/>
              </a:rPr>
              <a:t>từ</a:t>
            </a:r>
            <a:r>
              <a:rPr sz="2400" kern="0" dirty="0">
                <a:solidFill>
                  <a:sysClr val="windowText" lastClr="000000"/>
                </a:solidFill>
                <a:latin typeface="Microsoft Sans Serif"/>
                <a:cs typeface="Microsoft Sans Serif"/>
              </a:rPr>
              <a:t>	</a:t>
            </a:r>
            <a:r>
              <a:rPr sz="2400" kern="0" spc="75" dirty="0">
                <a:solidFill>
                  <a:sysClr val="windowText" lastClr="000000"/>
                </a:solidFill>
                <a:latin typeface="Microsoft Sans Serif"/>
                <a:cs typeface="Microsoft Sans Serif"/>
              </a:rPr>
              <a:t>người</a:t>
            </a:r>
            <a:r>
              <a:rPr sz="2400" kern="0" dirty="0">
                <a:solidFill>
                  <a:sysClr val="windowText" lastClr="000000"/>
                </a:solidFill>
                <a:latin typeface="Microsoft Sans Serif"/>
                <a:cs typeface="Microsoft Sans Serif"/>
              </a:rPr>
              <a:t>	</a:t>
            </a:r>
            <a:r>
              <a:rPr sz="2400" kern="0" spc="-20" dirty="0">
                <a:solidFill>
                  <a:sysClr val="windowText" lastClr="000000"/>
                </a:solidFill>
                <a:latin typeface="Microsoft Sans Serif"/>
                <a:cs typeface="Microsoft Sans Serif"/>
              </a:rPr>
              <a:t>dùng</a:t>
            </a:r>
            <a:r>
              <a:rPr sz="2400" kern="0" dirty="0">
                <a:solidFill>
                  <a:sysClr val="windowText" lastClr="000000"/>
                </a:solidFill>
                <a:latin typeface="Microsoft Sans Serif"/>
                <a:cs typeface="Microsoft Sans Serif"/>
              </a:rPr>
              <a:t>	</a:t>
            </a:r>
            <a:r>
              <a:rPr sz="2400" kern="0" spc="-25" dirty="0">
                <a:solidFill>
                  <a:sysClr val="windowText" lastClr="000000"/>
                </a:solidFill>
                <a:latin typeface="Microsoft Sans Serif"/>
                <a:cs typeface="Microsoft Sans Serif"/>
              </a:rPr>
              <a:t>và</a:t>
            </a:r>
            <a:r>
              <a:rPr sz="2400" kern="0" dirty="0">
                <a:solidFill>
                  <a:sysClr val="windowText" lastClr="000000"/>
                </a:solidFill>
                <a:latin typeface="Microsoft Sans Serif"/>
                <a:cs typeface="Microsoft Sans Serif"/>
              </a:rPr>
              <a:t>	</a:t>
            </a:r>
            <a:r>
              <a:rPr sz="2400" kern="0" spc="-25" dirty="0">
                <a:solidFill>
                  <a:sysClr val="windowText" lastClr="000000"/>
                </a:solidFill>
                <a:latin typeface="Microsoft Sans Serif"/>
                <a:cs typeface="Microsoft Sans Serif"/>
              </a:rPr>
              <a:t>gọi</a:t>
            </a:r>
            <a:endParaRPr sz="2400" kern="0">
              <a:solidFill>
                <a:sysClr val="windowText" lastClr="000000"/>
              </a:solidFill>
              <a:latin typeface="Microsoft Sans Serif"/>
              <a:cs typeface="Microsoft Sans Serif"/>
            </a:endParaRPr>
          </a:p>
        </p:txBody>
      </p:sp>
      <p:sp>
        <p:nvSpPr>
          <p:cNvPr id="5" name="object 5"/>
          <p:cNvSpPr txBox="1"/>
          <p:nvPr/>
        </p:nvSpPr>
        <p:spPr>
          <a:xfrm>
            <a:off x="2334870" y="2770871"/>
            <a:ext cx="7736205" cy="1425575"/>
          </a:xfrm>
          <a:prstGeom prst="rect">
            <a:avLst/>
          </a:prstGeom>
        </p:spPr>
        <p:txBody>
          <a:bodyPr vert="horz" wrap="square" lIns="0" tIns="163195" rIns="0" bIns="0" rtlCol="0">
            <a:spAutoFit/>
          </a:bodyPr>
          <a:lstStyle/>
          <a:p>
            <a:pPr marL="355600">
              <a:spcBef>
                <a:spcPts val="1285"/>
              </a:spcBef>
            </a:pPr>
            <a:r>
              <a:rPr sz="2400" kern="0" spc="80" dirty="0">
                <a:solidFill>
                  <a:sysClr val="windowText" lastClr="000000"/>
                </a:solidFill>
                <a:latin typeface="Microsoft Sans Serif"/>
                <a:cs typeface="Microsoft Sans Serif"/>
              </a:rPr>
              <a:t>phương</a:t>
            </a:r>
            <a:r>
              <a:rPr sz="2400" kern="0" spc="25" dirty="0">
                <a:solidFill>
                  <a:sysClr val="windowText" lastClr="000000"/>
                </a:solidFill>
                <a:latin typeface="Microsoft Sans Serif"/>
                <a:cs typeface="Microsoft Sans Serif"/>
              </a:rPr>
              <a:t> </a:t>
            </a:r>
            <a:r>
              <a:rPr sz="2400" kern="0" spc="70" dirty="0">
                <a:solidFill>
                  <a:sysClr val="windowText" lastClr="000000"/>
                </a:solidFill>
                <a:latin typeface="Microsoft Sans Serif"/>
                <a:cs typeface="Microsoft Sans Serif"/>
              </a:rPr>
              <a:t>thức</a:t>
            </a:r>
            <a:r>
              <a:rPr sz="2400" kern="0" spc="-5" dirty="0">
                <a:solidFill>
                  <a:sysClr val="windowText" lastClr="000000"/>
                </a:solidFill>
                <a:latin typeface="Microsoft Sans Serif"/>
                <a:cs typeface="Microsoft Sans Serif"/>
              </a:rPr>
              <a:t> </a:t>
            </a:r>
            <a:r>
              <a:rPr sz="2400" kern="0" spc="110" dirty="0">
                <a:solidFill>
                  <a:sysClr val="windowText" lastClr="000000"/>
                </a:solidFill>
                <a:latin typeface="Microsoft Sans Serif"/>
                <a:cs typeface="Microsoft Sans Serif"/>
              </a:rPr>
              <a:t>xử</a:t>
            </a:r>
            <a:r>
              <a:rPr sz="2400" kern="0" spc="55" dirty="0">
                <a:solidFill>
                  <a:sysClr val="windowText" lastClr="000000"/>
                </a:solidFill>
                <a:latin typeface="Microsoft Sans Serif"/>
                <a:cs typeface="Microsoft Sans Serif"/>
              </a:rPr>
              <a:t> </a:t>
            </a:r>
            <a:r>
              <a:rPr sz="2400" kern="0" spc="-25" dirty="0">
                <a:solidFill>
                  <a:sysClr val="windowText" lastClr="000000"/>
                </a:solidFill>
                <a:latin typeface="Microsoft Sans Serif"/>
                <a:cs typeface="Microsoft Sans Serif"/>
              </a:rPr>
              <a:t>lý</a:t>
            </a:r>
            <a:endParaRPr sz="2400" kern="0">
              <a:solidFill>
                <a:sysClr val="windowText" lastClr="000000"/>
              </a:solidFill>
              <a:latin typeface="Microsoft Sans Serif"/>
              <a:cs typeface="Microsoft Sans Serif"/>
            </a:endParaRPr>
          </a:p>
          <a:p>
            <a:pPr marL="355600" marR="5080" indent="-343535">
              <a:spcBef>
                <a:spcPts val="1190"/>
              </a:spcBef>
              <a:buFont typeface="Wingdings"/>
              <a:buChar char=""/>
              <a:tabLst>
                <a:tab pos="355600" algn="l"/>
                <a:tab pos="2162175" algn="l"/>
                <a:tab pos="3415665" algn="l"/>
                <a:tab pos="4399280" algn="l"/>
                <a:tab pos="6356985" algn="l"/>
              </a:tabLst>
            </a:pPr>
            <a:r>
              <a:rPr sz="2400" kern="0" dirty="0">
                <a:solidFill>
                  <a:sysClr val="windowText" lastClr="000000"/>
                </a:solidFill>
                <a:latin typeface="Microsoft Sans Serif"/>
                <a:cs typeface="Microsoft Sans Serif"/>
              </a:rPr>
              <a:t>Trong</a:t>
            </a:r>
            <a:r>
              <a:rPr sz="2400" kern="0" spc="200" dirty="0">
                <a:solidFill>
                  <a:sysClr val="windowText" lastClr="000000"/>
                </a:solidFill>
                <a:latin typeface="Microsoft Sans Serif"/>
                <a:cs typeface="Microsoft Sans Serif"/>
              </a:rPr>
              <a:t> </a:t>
            </a:r>
            <a:r>
              <a:rPr sz="2400" b="1" kern="0" spc="-20" dirty="0">
                <a:solidFill>
                  <a:sysClr val="windowText" lastClr="000000"/>
                </a:solidFill>
                <a:latin typeface="Arial"/>
                <a:cs typeface="Arial"/>
              </a:rPr>
              <a:t>MVC</a:t>
            </a:r>
            <a:r>
              <a:rPr sz="2400" kern="0" spc="-20" dirty="0">
                <a:solidFill>
                  <a:sysClr val="windowText" lastClr="000000"/>
                </a:solidFill>
                <a:latin typeface="Microsoft Sans Serif"/>
                <a:cs typeface="Microsoft Sans Serif"/>
              </a:rPr>
              <a:t>,</a:t>
            </a:r>
            <a:r>
              <a:rPr sz="2400" kern="0" dirty="0">
                <a:solidFill>
                  <a:sysClr val="windowText" lastClr="000000"/>
                </a:solidFill>
                <a:latin typeface="Microsoft Sans Serif"/>
                <a:cs typeface="Microsoft Sans Serif"/>
              </a:rPr>
              <a:t>	view</a:t>
            </a:r>
            <a:r>
              <a:rPr sz="2400" kern="0" spc="240" dirty="0">
                <a:solidFill>
                  <a:sysClr val="windowText" lastClr="000000"/>
                </a:solidFill>
                <a:latin typeface="Microsoft Sans Serif"/>
                <a:cs typeface="Microsoft Sans Serif"/>
              </a:rPr>
              <a:t> </a:t>
            </a:r>
            <a:r>
              <a:rPr sz="2400" kern="0" spc="-25" dirty="0">
                <a:solidFill>
                  <a:sysClr val="windowText" lastClr="000000"/>
                </a:solidFill>
                <a:latin typeface="Microsoft Sans Serif"/>
                <a:cs typeface="Microsoft Sans Serif"/>
              </a:rPr>
              <a:t>chỉ</a:t>
            </a:r>
            <a:r>
              <a:rPr sz="2400" kern="0" dirty="0">
                <a:solidFill>
                  <a:sysClr val="windowText" lastClr="000000"/>
                </a:solidFill>
                <a:latin typeface="Microsoft Sans Serif"/>
                <a:cs typeface="Microsoft Sans Serif"/>
              </a:rPr>
              <a:t>	có</a:t>
            </a:r>
            <a:r>
              <a:rPr sz="2400" kern="0" spc="335" dirty="0">
                <a:solidFill>
                  <a:sysClr val="windowText" lastClr="000000"/>
                </a:solidFill>
                <a:latin typeface="Microsoft Sans Serif"/>
                <a:cs typeface="Microsoft Sans Serif"/>
              </a:rPr>
              <a:t> </a:t>
            </a:r>
            <a:r>
              <a:rPr sz="2400" kern="0" spc="-25" dirty="0">
                <a:solidFill>
                  <a:sysClr val="windowText" lastClr="000000"/>
                </a:solidFill>
                <a:latin typeface="Microsoft Sans Serif"/>
                <a:cs typeface="Microsoft Sans Serif"/>
              </a:rPr>
              <a:t>tác</a:t>
            </a:r>
            <a:r>
              <a:rPr sz="2400" kern="0" dirty="0">
                <a:solidFill>
                  <a:sysClr val="windowText" lastClr="000000"/>
                </a:solidFill>
                <a:latin typeface="Microsoft Sans Serif"/>
                <a:cs typeface="Microsoft Sans Serif"/>
              </a:rPr>
              <a:t>	dụng</a:t>
            </a:r>
            <a:r>
              <a:rPr sz="2400" kern="0" spc="29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hiển</a:t>
            </a:r>
            <a:r>
              <a:rPr sz="2400" kern="0" spc="290" dirty="0">
                <a:solidFill>
                  <a:sysClr val="windowText" lastClr="000000"/>
                </a:solidFill>
                <a:latin typeface="Microsoft Sans Serif"/>
                <a:cs typeface="Microsoft Sans Serif"/>
              </a:rPr>
              <a:t> </a:t>
            </a:r>
            <a:r>
              <a:rPr sz="2400" kern="0" spc="-25" dirty="0">
                <a:solidFill>
                  <a:sysClr val="windowText" lastClr="000000"/>
                </a:solidFill>
                <a:latin typeface="Microsoft Sans Serif"/>
                <a:cs typeface="Microsoft Sans Serif"/>
              </a:rPr>
              <a:t>thị</a:t>
            </a:r>
            <a:r>
              <a:rPr sz="2400" kern="0" dirty="0">
                <a:solidFill>
                  <a:sysClr val="windowText" lastClr="000000"/>
                </a:solidFill>
                <a:latin typeface="Microsoft Sans Serif"/>
                <a:cs typeface="Microsoft Sans Serif"/>
              </a:rPr>
              <a:t>	giao</a:t>
            </a:r>
            <a:r>
              <a:rPr sz="2400" kern="0" spc="295" dirty="0">
                <a:solidFill>
                  <a:sysClr val="windowText" lastClr="000000"/>
                </a:solidFill>
                <a:latin typeface="Microsoft Sans Serif"/>
                <a:cs typeface="Microsoft Sans Serif"/>
              </a:rPr>
              <a:t> </a:t>
            </a:r>
            <a:r>
              <a:rPr sz="2400" kern="0" spc="-10" dirty="0">
                <a:solidFill>
                  <a:sysClr val="windowText" lastClr="000000"/>
                </a:solidFill>
                <a:latin typeface="Microsoft Sans Serif"/>
                <a:cs typeface="Microsoft Sans Serif"/>
              </a:rPr>
              <a:t>diện, </a:t>
            </a:r>
            <a:r>
              <a:rPr sz="2400" kern="0" dirty="0">
                <a:solidFill>
                  <a:sysClr val="windowText" lastClr="000000"/>
                </a:solidFill>
                <a:latin typeface="Microsoft Sans Serif"/>
                <a:cs typeface="Microsoft Sans Serif"/>
              </a:rPr>
              <a:t>còn</a:t>
            </a:r>
            <a:r>
              <a:rPr sz="2400" kern="0" spc="-3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điều</a:t>
            </a:r>
            <a:r>
              <a:rPr sz="2400" kern="0" spc="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khiển</a:t>
            </a:r>
            <a:r>
              <a:rPr sz="2400" kern="0" spc="-3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vẫn</a:t>
            </a:r>
            <a:r>
              <a:rPr sz="2400" kern="0" spc="1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do</a:t>
            </a:r>
            <a:r>
              <a:rPr sz="2400" kern="0" spc="15" dirty="0">
                <a:solidFill>
                  <a:sysClr val="windowText" lastClr="000000"/>
                </a:solidFill>
                <a:latin typeface="Microsoft Sans Serif"/>
                <a:cs typeface="Microsoft Sans Serif"/>
              </a:rPr>
              <a:t> </a:t>
            </a:r>
            <a:r>
              <a:rPr sz="2400" b="1" kern="0" dirty="0">
                <a:solidFill>
                  <a:sysClr val="windowText" lastClr="000000"/>
                </a:solidFill>
                <a:latin typeface="Arial"/>
                <a:cs typeface="Arial"/>
              </a:rPr>
              <a:t>Controllers</a:t>
            </a:r>
            <a:r>
              <a:rPr sz="2400" b="1" kern="0" spc="-100" dirty="0">
                <a:solidFill>
                  <a:sysClr val="windowText" lastClr="000000"/>
                </a:solidFill>
                <a:latin typeface="Arial"/>
                <a:cs typeface="Arial"/>
              </a:rPr>
              <a:t> </a:t>
            </a:r>
            <a:r>
              <a:rPr sz="2400" kern="0" dirty="0">
                <a:solidFill>
                  <a:sysClr val="windowText" lastClr="000000"/>
                </a:solidFill>
                <a:latin typeface="Microsoft Sans Serif"/>
                <a:cs typeface="Microsoft Sans Serif"/>
              </a:rPr>
              <a:t>đảm</a:t>
            </a:r>
            <a:r>
              <a:rPr sz="2400" kern="0" spc="-10" dirty="0">
                <a:solidFill>
                  <a:sysClr val="windowText" lastClr="000000"/>
                </a:solidFill>
                <a:latin typeface="Microsoft Sans Serif"/>
                <a:cs typeface="Microsoft Sans Serif"/>
              </a:rPr>
              <a:t> trách.</a:t>
            </a:r>
            <a:endParaRPr sz="2400" kern="0">
              <a:solidFill>
                <a:sysClr val="windowText" lastClr="000000"/>
              </a:solidFill>
              <a:latin typeface="Microsoft Sans Serif"/>
              <a:cs typeface="Microsoft Sans Serif"/>
            </a:endParaRPr>
          </a:p>
        </p:txBody>
      </p:sp>
      <p:pic>
        <p:nvPicPr>
          <p:cNvPr id="6" name="object 6"/>
          <p:cNvPicPr/>
          <p:nvPr/>
        </p:nvPicPr>
        <p:blipFill>
          <a:blip r:embed="rId2" cstate="print"/>
          <a:stretch>
            <a:fillRect/>
          </a:stretch>
        </p:blipFill>
        <p:spPr>
          <a:xfrm>
            <a:off x="9150732" y="189446"/>
            <a:ext cx="1266913" cy="916597"/>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solidFill>
                  <a:prstClr val="white"/>
                </a:solidFill>
              </a:rPr>
              <a:pPr marL="38100">
                <a:lnSpc>
                  <a:spcPts val="1664"/>
                </a:lnSpc>
              </a:pPr>
              <a:t>9</a:t>
            </a:fld>
            <a:endParaRPr spc="-25" dirty="0">
              <a:solidFill>
                <a:prstClr val="white"/>
              </a:solidFill>
            </a:endParaRPr>
          </a:p>
        </p:txBody>
      </p:sp>
      <p:sp>
        <p:nvSpPr>
          <p:cNvPr id="9" name="object 9"/>
          <p:cNvSpPr txBox="1">
            <a:spLocks noGrp="1"/>
          </p:cNvSpPr>
          <p:nvPr>
            <p:ph type="ftr" sz="quarter" idx="5"/>
          </p:nvPr>
        </p:nvSpPr>
        <p:spPr>
          <a:xfrm>
            <a:off x="2763418" y="6600176"/>
            <a:ext cx="1243964" cy="155171"/>
          </a:xfrm>
          <a:prstGeom prst="rect">
            <a:avLst/>
          </a:prstGeom>
        </p:spPr>
        <p:txBody>
          <a:bodyPr vert="horz" wrap="square" lIns="0" tIns="1270" rIns="0" bIns="0" rtlCol="0">
            <a:spAutoFit/>
          </a:bodyPr>
          <a:lstStyle/>
          <a:p>
            <a:pPr marL="12700">
              <a:spcBef>
                <a:spcPts val="10"/>
              </a:spcBef>
            </a:pPr>
            <a:endParaRPr spc="-20" dirty="0">
              <a:solidFill>
                <a:prstClr val="white"/>
              </a:solidFill>
            </a:endParaRPr>
          </a:p>
        </p:txBody>
      </p:sp>
    </p:spTree>
    <p:extLst>
      <p:ext uri="{BB962C8B-B14F-4D97-AF65-F5344CB8AC3E}">
        <p14:creationId xmlns:p14="http://schemas.microsoft.com/office/powerpoint/2010/main" val="342372503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91268" y="450927"/>
            <a:ext cx="11057467" cy="444994"/>
          </a:xfrm>
          <a:prstGeom prst="rect">
            <a:avLst/>
          </a:prstGeom>
        </p:spPr>
        <p:txBody>
          <a:bodyPr vert="horz" wrap="square" lIns="0" tIns="13970" rIns="0" bIns="0" rtlCol="0">
            <a:spAutoFit/>
          </a:bodyPr>
          <a:lstStyle/>
          <a:p>
            <a:pPr marL="12700">
              <a:spcBef>
                <a:spcPts val="110"/>
              </a:spcBef>
              <a:tabLst>
                <a:tab pos="8279765" algn="l"/>
              </a:tabLst>
            </a:pPr>
            <a:r>
              <a:rPr dirty="0"/>
              <a:t>1.</a:t>
            </a:r>
            <a:r>
              <a:rPr spc="-65" dirty="0"/>
              <a:t> </a:t>
            </a:r>
            <a:r>
              <a:rPr dirty="0"/>
              <a:t>GIỚI</a:t>
            </a:r>
            <a:r>
              <a:rPr spc="-90" dirty="0"/>
              <a:t> </a:t>
            </a:r>
            <a:r>
              <a:rPr dirty="0"/>
              <a:t>THIỆU</a:t>
            </a:r>
            <a:r>
              <a:rPr spc="-60" dirty="0"/>
              <a:t> </a:t>
            </a:r>
            <a:r>
              <a:rPr dirty="0"/>
              <a:t>VỀ</a:t>
            </a:r>
            <a:r>
              <a:rPr spc="-170" dirty="0"/>
              <a:t> </a:t>
            </a:r>
            <a:r>
              <a:rPr spc="-45" dirty="0"/>
              <a:t>ASP.NET</a:t>
            </a:r>
            <a:r>
              <a:rPr dirty="0"/>
              <a:t> </a:t>
            </a:r>
            <a:r>
              <a:rPr spc="-25" dirty="0"/>
              <a:t>MVC</a:t>
            </a:r>
            <a:r>
              <a:rPr dirty="0"/>
              <a:t>	</a:t>
            </a:r>
          </a:p>
        </p:txBody>
      </p:sp>
      <p:sp>
        <p:nvSpPr>
          <p:cNvPr id="3" name="object 3"/>
          <p:cNvSpPr txBox="1">
            <a:spLocks noGrp="1"/>
          </p:cNvSpPr>
          <p:nvPr>
            <p:ph type="body" idx="1"/>
          </p:nvPr>
        </p:nvSpPr>
        <p:spPr>
          <a:xfrm>
            <a:off x="2242820" y="1036806"/>
            <a:ext cx="7827645" cy="3026470"/>
          </a:xfrm>
          <a:prstGeom prst="rect">
            <a:avLst/>
          </a:prstGeom>
        </p:spPr>
        <p:txBody>
          <a:bodyPr vert="horz" wrap="square" lIns="0" tIns="144780" rIns="0" bIns="0" rtlCol="0">
            <a:spAutoFit/>
          </a:bodyPr>
          <a:lstStyle/>
          <a:p>
            <a:pPr marL="12700">
              <a:spcBef>
                <a:spcPts val="1140"/>
              </a:spcBef>
            </a:pPr>
            <a:r>
              <a:rPr dirty="0"/>
              <a:t>1.2.</a:t>
            </a:r>
            <a:r>
              <a:rPr spc="-15" dirty="0"/>
              <a:t> </a:t>
            </a:r>
            <a:r>
              <a:rPr dirty="0"/>
              <a:t>MVC</a:t>
            </a:r>
            <a:r>
              <a:rPr spc="-105" dirty="0"/>
              <a:t> </a:t>
            </a:r>
            <a:r>
              <a:rPr dirty="0"/>
              <a:t>làm</a:t>
            </a:r>
            <a:r>
              <a:rPr spc="-5" dirty="0"/>
              <a:t> </a:t>
            </a:r>
            <a:r>
              <a:rPr/>
              <a:t>việc</a:t>
            </a:r>
            <a:r>
              <a:rPr spc="-25"/>
              <a:t> </a:t>
            </a:r>
            <a:r>
              <a:rPr smtClean="0"/>
              <a:t>nh</a:t>
            </a:r>
            <a:r>
              <a:rPr lang="vi-VN" smtClean="0"/>
              <a:t>ư</a:t>
            </a:r>
            <a:r>
              <a:rPr spc="-35"/>
              <a:t> </a:t>
            </a:r>
            <a:r>
              <a:rPr dirty="0"/>
              <a:t>thế</a:t>
            </a:r>
            <a:r>
              <a:rPr spc="-30" dirty="0"/>
              <a:t> </a:t>
            </a:r>
            <a:r>
              <a:rPr spc="-20" dirty="0"/>
              <a:t>nào?</a:t>
            </a:r>
          </a:p>
          <a:p>
            <a:pPr marL="447675" marR="5080" indent="-343535">
              <a:spcBef>
                <a:spcPts val="1050"/>
              </a:spcBef>
              <a:buFont typeface="Wingdings"/>
              <a:buChar char=""/>
              <a:tabLst>
                <a:tab pos="447675" algn="l"/>
              </a:tabLst>
            </a:pPr>
            <a:r>
              <a:rPr b="0" dirty="0">
                <a:solidFill>
                  <a:srgbClr val="000000"/>
                </a:solidFill>
                <a:latin typeface="Microsoft Sans Serif"/>
                <a:cs typeface="Microsoft Sans Serif"/>
              </a:rPr>
              <a:t>User</a:t>
            </a:r>
            <a:r>
              <a:rPr b="0" spc="200" dirty="0">
                <a:solidFill>
                  <a:srgbClr val="000000"/>
                </a:solidFill>
                <a:latin typeface="Microsoft Sans Serif"/>
                <a:cs typeface="Microsoft Sans Serif"/>
              </a:rPr>
              <a:t> </a:t>
            </a:r>
            <a:r>
              <a:rPr b="0" spc="95" dirty="0">
                <a:solidFill>
                  <a:srgbClr val="000000"/>
                </a:solidFill>
                <a:latin typeface="Microsoft Sans Serif"/>
                <a:cs typeface="Microsoft Sans Serif"/>
              </a:rPr>
              <a:t>tương</a:t>
            </a:r>
            <a:r>
              <a:rPr b="0" spc="170" dirty="0">
                <a:solidFill>
                  <a:srgbClr val="000000"/>
                </a:solidFill>
                <a:latin typeface="Microsoft Sans Serif"/>
                <a:cs typeface="Microsoft Sans Serif"/>
              </a:rPr>
              <a:t> </a:t>
            </a:r>
            <a:r>
              <a:rPr b="0" dirty="0">
                <a:solidFill>
                  <a:srgbClr val="000000"/>
                </a:solidFill>
                <a:latin typeface="Microsoft Sans Serif"/>
                <a:cs typeface="Microsoft Sans Serif"/>
              </a:rPr>
              <a:t>tác</a:t>
            </a:r>
            <a:r>
              <a:rPr b="0" spc="235" dirty="0">
                <a:solidFill>
                  <a:srgbClr val="000000"/>
                </a:solidFill>
                <a:latin typeface="Microsoft Sans Serif"/>
                <a:cs typeface="Microsoft Sans Serif"/>
              </a:rPr>
              <a:t> </a:t>
            </a:r>
            <a:r>
              <a:rPr b="0" spc="65" dirty="0">
                <a:solidFill>
                  <a:srgbClr val="000000"/>
                </a:solidFill>
                <a:latin typeface="Microsoft Sans Serif"/>
                <a:cs typeface="Microsoft Sans Serif"/>
              </a:rPr>
              <a:t>với</a:t>
            </a:r>
            <a:r>
              <a:rPr b="0" spc="150" dirty="0">
                <a:solidFill>
                  <a:srgbClr val="000000"/>
                </a:solidFill>
                <a:latin typeface="Microsoft Sans Serif"/>
                <a:cs typeface="Microsoft Sans Serif"/>
              </a:rPr>
              <a:t> </a:t>
            </a:r>
            <a:r>
              <a:rPr b="0" dirty="0">
                <a:solidFill>
                  <a:srgbClr val="000000"/>
                </a:solidFill>
                <a:latin typeface="Microsoft Sans Serif"/>
                <a:cs typeface="Microsoft Sans Serif"/>
              </a:rPr>
              <a:t>View,</a:t>
            </a:r>
            <a:r>
              <a:rPr b="0" spc="225" dirty="0">
                <a:solidFill>
                  <a:srgbClr val="000000"/>
                </a:solidFill>
                <a:latin typeface="Microsoft Sans Serif"/>
                <a:cs typeface="Microsoft Sans Serif"/>
              </a:rPr>
              <a:t> </a:t>
            </a:r>
            <a:r>
              <a:rPr b="0">
                <a:solidFill>
                  <a:srgbClr val="000000"/>
                </a:solidFill>
                <a:latin typeface="Microsoft Sans Serif"/>
                <a:cs typeface="Microsoft Sans Serif"/>
              </a:rPr>
              <a:t>bằng</a:t>
            </a:r>
            <a:r>
              <a:rPr b="0" spc="200">
                <a:solidFill>
                  <a:srgbClr val="000000"/>
                </a:solidFill>
                <a:latin typeface="Microsoft Sans Serif"/>
                <a:cs typeface="Microsoft Sans Serif"/>
              </a:rPr>
              <a:t> </a:t>
            </a:r>
            <a:r>
              <a:rPr b="0" smtClean="0">
                <a:solidFill>
                  <a:srgbClr val="000000"/>
                </a:solidFill>
                <a:latin typeface="Microsoft Sans Serif"/>
                <a:cs typeface="Microsoft Sans Serif"/>
              </a:rPr>
              <a:t>cách</a:t>
            </a:r>
            <a:r>
              <a:rPr lang="en-US" b="0" smtClean="0">
                <a:solidFill>
                  <a:srgbClr val="000000"/>
                </a:solidFill>
                <a:latin typeface="Microsoft Sans Serif"/>
                <a:cs typeface="Microsoft Sans Serif"/>
              </a:rPr>
              <a:t> tương tác trên giao diện, chẳng hạn:</a:t>
            </a:r>
            <a:r>
              <a:rPr b="0" spc="170" smtClean="0">
                <a:solidFill>
                  <a:srgbClr val="000000"/>
                </a:solidFill>
                <a:latin typeface="Microsoft Sans Serif"/>
                <a:cs typeface="Microsoft Sans Serif"/>
              </a:rPr>
              <a:t> </a:t>
            </a:r>
            <a:r>
              <a:rPr b="0" dirty="0">
                <a:solidFill>
                  <a:srgbClr val="000000"/>
                </a:solidFill>
                <a:latin typeface="Microsoft Sans Serif"/>
                <a:cs typeface="Microsoft Sans Serif"/>
              </a:rPr>
              <a:t>click</a:t>
            </a:r>
            <a:r>
              <a:rPr b="0" spc="204" dirty="0">
                <a:solidFill>
                  <a:srgbClr val="000000"/>
                </a:solidFill>
                <a:latin typeface="Microsoft Sans Serif"/>
                <a:cs typeface="Microsoft Sans Serif"/>
              </a:rPr>
              <a:t> </a:t>
            </a:r>
            <a:r>
              <a:rPr b="0" dirty="0">
                <a:solidFill>
                  <a:srgbClr val="000000"/>
                </a:solidFill>
                <a:latin typeface="Microsoft Sans Serif"/>
                <a:cs typeface="Microsoft Sans Serif"/>
              </a:rPr>
              <a:t>vào</a:t>
            </a:r>
            <a:r>
              <a:rPr b="0" spc="200" dirty="0">
                <a:solidFill>
                  <a:srgbClr val="000000"/>
                </a:solidFill>
                <a:latin typeface="Microsoft Sans Serif"/>
                <a:cs typeface="Microsoft Sans Serif"/>
              </a:rPr>
              <a:t> </a:t>
            </a:r>
            <a:r>
              <a:rPr b="0" spc="-10" dirty="0">
                <a:solidFill>
                  <a:srgbClr val="000000"/>
                </a:solidFill>
                <a:latin typeface="Microsoft Sans Serif"/>
                <a:cs typeface="Microsoft Sans Serif"/>
              </a:rPr>
              <a:t>button, </a:t>
            </a:r>
            <a:r>
              <a:rPr b="0" spc="80" dirty="0">
                <a:solidFill>
                  <a:srgbClr val="000000"/>
                </a:solidFill>
                <a:latin typeface="Microsoft Sans Serif"/>
                <a:cs typeface="Microsoft Sans Serif"/>
              </a:rPr>
              <a:t>gửi</a:t>
            </a:r>
            <a:r>
              <a:rPr b="0" spc="5" dirty="0">
                <a:solidFill>
                  <a:srgbClr val="000000"/>
                </a:solidFill>
                <a:latin typeface="Microsoft Sans Serif"/>
                <a:cs typeface="Microsoft Sans Serif"/>
              </a:rPr>
              <a:t> </a:t>
            </a:r>
            <a:r>
              <a:rPr b="0" dirty="0">
                <a:solidFill>
                  <a:srgbClr val="000000"/>
                </a:solidFill>
                <a:latin typeface="Microsoft Sans Serif"/>
                <a:cs typeface="Microsoft Sans Serif"/>
              </a:rPr>
              <a:t>yêu</a:t>
            </a:r>
            <a:r>
              <a:rPr b="0" spc="25" dirty="0">
                <a:solidFill>
                  <a:srgbClr val="000000"/>
                </a:solidFill>
                <a:latin typeface="Microsoft Sans Serif"/>
                <a:cs typeface="Microsoft Sans Serif"/>
              </a:rPr>
              <a:t> </a:t>
            </a:r>
            <a:r>
              <a:rPr b="0" dirty="0">
                <a:solidFill>
                  <a:srgbClr val="000000"/>
                </a:solidFill>
                <a:latin typeface="Microsoft Sans Serif"/>
                <a:cs typeface="Microsoft Sans Serif"/>
              </a:rPr>
              <a:t>cầu</a:t>
            </a:r>
            <a:r>
              <a:rPr b="0" spc="-10" dirty="0">
                <a:solidFill>
                  <a:srgbClr val="000000"/>
                </a:solidFill>
                <a:latin typeface="Microsoft Sans Serif"/>
                <a:cs typeface="Microsoft Sans Serif"/>
              </a:rPr>
              <a:t> </a:t>
            </a:r>
            <a:r>
              <a:rPr b="0" spc="-25" dirty="0">
                <a:solidFill>
                  <a:srgbClr val="000000"/>
                </a:solidFill>
                <a:latin typeface="Microsoft Sans Serif"/>
                <a:cs typeface="Microsoft Sans Serif"/>
              </a:rPr>
              <a:t>đi.</a:t>
            </a:r>
          </a:p>
          <a:p>
            <a:pPr marL="447675" marR="5715" indent="-343535">
              <a:spcBef>
                <a:spcPts val="615"/>
              </a:spcBef>
              <a:buFont typeface="Wingdings"/>
              <a:buChar char=""/>
              <a:tabLst>
                <a:tab pos="447675" algn="l"/>
              </a:tabLst>
            </a:pPr>
            <a:r>
              <a:rPr b="0" dirty="0">
                <a:solidFill>
                  <a:srgbClr val="000000"/>
                </a:solidFill>
                <a:latin typeface="Microsoft Sans Serif"/>
                <a:cs typeface="Microsoft Sans Serif"/>
              </a:rPr>
              <a:t>Controller nhận</a:t>
            </a:r>
            <a:r>
              <a:rPr b="0" spc="10" dirty="0">
                <a:solidFill>
                  <a:srgbClr val="000000"/>
                </a:solidFill>
                <a:latin typeface="Microsoft Sans Serif"/>
                <a:cs typeface="Microsoft Sans Serif"/>
              </a:rPr>
              <a:t> </a:t>
            </a:r>
            <a:r>
              <a:rPr b="0" dirty="0">
                <a:solidFill>
                  <a:srgbClr val="000000"/>
                </a:solidFill>
                <a:latin typeface="Microsoft Sans Serif"/>
                <a:cs typeface="Microsoft Sans Serif"/>
              </a:rPr>
              <a:t>và</a:t>
            </a:r>
            <a:r>
              <a:rPr b="0" spc="20" dirty="0">
                <a:solidFill>
                  <a:srgbClr val="000000"/>
                </a:solidFill>
                <a:latin typeface="Microsoft Sans Serif"/>
                <a:cs typeface="Microsoft Sans Serif"/>
              </a:rPr>
              <a:t> </a:t>
            </a:r>
            <a:r>
              <a:rPr b="0" dirty="0">
                <a:solidFill>
                  <a:srgbClr val="000000"/>
                </a:solidFill>
                <a:latin typeface="Microsoft Sans Serif"/>
                <a:cs typeface="Microsoft Sans Serif"/>
              </a:rPr>
              <a:t>điều</a:t>
            </a:r>
            <a:r>
              <a:rPr b="0" spc="15" dirty="0">
                <a:solidFill>
                  <a:srgbClr val="000000"/>
                </a:solidFill>
                <a:latin typeface="Microsoft Sans Serif"/>
                <a:cs typeface="Microsoft Sans Serif"/>
              </a:rPr>
              <a:t> </a:t>
            </a:r>
            <a:r>
              <a:rPr b="0" spc="85" dirty="0">
                <a:solidFill>
                  <a:srgbClr val="000000"/>
                </a:solidFill>
                <a:latin typeface="Microsoft Sans Serif"/>
                <a:cs typeface="Microsoft Sans Serif"/>
              </a:rPr>
              <a:t>hướng</a:t>
            </a:r>
            <a:r>
              <a:rPr b="0" spc="15" dirty="0">
                <a:solidFill>
                  <a:srgbClr val="000000"/>
                </a:solidFill>
                <a:latin typeface="Microsoft Sans Serif"/>
                <a:cs typeface="Microsoft Sans Serif"/>
              </a:rPr>
              <a:t> </a:t>
            </a:r>
            <a:r>
              <a:rPr b="0" dirty="0">
                <a:solidFill>
                  <a:srgbClr val="000000"/>
                </a:solidFill>
                <a:latin typeface="Microsoft Sans Serif"/>
                <a:cs typeface="Microsoft Sans Serif"/>
              </a:rPr>
              <a:t>đến</a:t>
            </a:r>
            <a:r>
              <a:rPr b="0" spc="10" dirty="0">
                <a:solidFill>
                  <a:srgbClr val="000000"/>
                </a:solidFill>
                <a:latin typeface="Microsoft Sans Serif"/>
                <a:cs typeface="Microsoft Sans Serif"/>
              </a:rPr>
              <a:t> </a:t>
            </a:r>
            <a:r>
              <a:rPr b="0" spc="80" dirty="0">
                <a:solidFill>
                  <a:srgbClr val="000000"/>
                </a:solidFill>
                <a:latin typeface="Microsoft Sans Serif"/>
                <a:cs typeface="Microsoft Sans Serif"/>
              </a:rPr>
              <a:t>phương</a:t>
            </a:r>
            <a:r>
              <a:rPr b="0" spc="10" dirty="0">
                <a:solidFill>
                  <a:srgbClr val="000000"/>
                </a:solidFill>
                <a:latin typeface="Microsoft Sans Serif"/>
                <a:cs typeface="Microsoft Sans Serif"/>
              </a:rPr>
              <a:t> </a:t>
            </a:r>
            <a:r>
              <a:rPr b="0" spc="60" dirty="0">
                <a:solidFill>
                  <a:srgbClr val="000000"/>
                </a:solidFill>
                <a:latin typeface="Microsoft Sans Serif"/>
                <a:cs typeface="Microsoft Sans Serif"/>
              </a:rPr>
              <a:t>thức</a:t>
            </a:r>
            <a:r>
              <a:rPr b="0" spc="10" dirty="0">
                <a:solidFill>
                  <a:srgbClr val="000000"/>
                </a:solidFill>
                <a:latin typeface="Microsoft Sans Serif"/>
                <a:cs typeface="Microsoft Sans Serif"/>
              </a:rPr>
              <a:t> </a:t>
            </a:r>
            <a:r>
              <a:rPr b="0" spc="110" dirty="0">
                <a:solidFill>
                  <a:srgbClr val="000000"/>
                </a:solidFill>
                <a:latin typeface="Microsoft Sans Serif"/>
                <a:cs typeface="Microsoft Sans Serif"/>
              </a:rPr>
              <a:t>xử</a:t>
            </a:r>
            <a:r>
              <a:rPr b="0" spc="30" dirty="0">
                <a:solidFill>
                  <a:srgbClr val="000000"/>
                </a:solidFill>
                <a:latin typeface="Microsoft Sans Serif"/>
                <a:cs typeface="Microsoft Sans Serif"/>
              </a:rPr>
              <a:t> </a:t>
            </a:r>
            <a:r>
              <a:rPr b="0" spc="-25" dirty="0">
                <a:solidFill>
                  <a:srgbClr val="000000"/>
                </a:solidFill>
                <a:latin typeface="Microsoft Sans Serif"/>
                <a:cs typeface="Microsoft Sans Serif"/>
              </a:rPr>
              <a:t>lý </a:t>
            </a:r>
            <a:r>
              <a:rPr b="0" spc="240" dirty="0">
                <a:solidFill>
                  <a:srgbClr val="000000"/>
                </a:solidFill>
                <a:latin typeface="Microsoft Sans Serif"/>
                <a:cs typeface="Microsoft Sans Serif"/>
              </a:rPr>
              <a:t>ở</a:t>
            </a:r>
            <a:r>
              <a:rPr b="0" spc="10" dirty="0">
                <a:solidFill>
                  <a:srgbClr val="000000"/>
                </a:solidFill>
                <a:latin typeface="Microsoft Sans Serif"/>
                <a:cs typeface="Microsoft Sans Serif"/>
              </a:rPr>
              <a:t> </a:t>
            </a:r>
            <a:r>
              <a:rPr b="0" spc="-10" dirty="0">
                <a:solidFill>
                  <a:srgbClr val="000000"/>
                </a:solidFill>
                <a:latin typeface="Microsoft Sans Serif"/>
                <a:cs typeface="Microsoft Sans Serif"/>
              </a:rPr>
              <a:t>Model.</a:t>
            </a:r>
          </a:p>
          <a:p>
            <a:pPr marL="447675" marR="5080" indent="-343535">
              <a:spcBef>
                <a:spcPts val="580"/>
              </a:spcBef>
              <a:buFont typeface="Wingdings"/>
              <a:buChar char=""/>
              <a:tabLst>
                <a:tab pos="447675" algn="l"/>
              </a:tabLst>
            </a:pPr>
            <a:r>
              <a:rPr b="0" dirty="0">
                <a:solidFill>
                  <a:srgbClr val="000000"/>
                </a:solidFill>
                <a:latin typeface="Microsoft Sans Serif"/>
                <a:cs typeface="Microsoft Sans Serif"/>
              </a:rPr>
              <a:t>Model</a:t>
            </a:r>
            <a:r>
              <a:rPr b="0" spc="45" dirty="0">
                <a:solidFill>
                  <a:srgbClr val="000000"/>
                </a:solidFill>
                <a:latin typeface="Microsoft Sans Serif"/>
                <a:cs typeface="Microsoft Sans Serif"/>
              </a:rPr>
              <a:t> </a:t>
            </a:r>
            <a:r>
              <a:rPr b="0" dirty="0">
                <a:solidFill>
                  <a:srgbClr val="000000"/>
                </a:solidFill>
                <a:latin typeface="Microsoft Sans Serif"/>
                <a:cs typeface="Microsoft Sans Serif"/>
              </a:rPr>
              <a:t>nhận</a:t>
            </a:r>
            <a:r>
              <a:rPr b="0" spc="35" dirty="0">
                <a:solidFill>
                  <a:srgbClr val="000000"/>
                </a:solidFill>
                <a:latin typeface="Microsoft Sans Serif"/>
                <a:cs typeface="Microsoft Sans Serif"/>
              </a:rPr>
              <a:t> </a:t>
            </a:r>
            <a:r>
              <a:rPr b="0" dirty="0">
                <a:solidFill>
                  <a:srgbClr val="000000"/>
                </a:solidFill>
                <a:latin typeface="Microsoft Sans Serif"/>
                <a:cs typeface="Microsoft Sans Serif"/>
              </a:rPr>
              <a:t>thông</a:t>
            </a:r>
            <a:r>
              <a:rPr b="0" spc="35" dirty="0">
                <a:solidFill>
                  <a:srgbClr val="000000"/>
                </a:solidFill>
                <a:latin typeface="Microsoft Sans Serif"/>
                <a:cs typeface="Microsoft Sans Serif"/>
              </a:rPr>
              <a:t> </a:t>
            </a:r>
            <a:r>
              <a:rPr b="0" dirty="0">
                <a:solidFill>
                  <a:srgbClr val="000000"/>
                </a:solidFill>
                <a:latin typeface="Microsoft Sans Serif"/>
                <a:cs typeface="Microsoft Sans Serif"/>
              </a:rPr>
              <a:t>tin</a:t>
            </a:r>
            <a:r>
              <a:rPr b="0" spc="45" dirty="0">
                <a:solidFill>
                  <a:srgbClr val="000000"/>
                </a:solidFill>
                <a:latin typeface="Microsoft Sans Serif"/>
                <a:cs typeface="Microsoft Sans Serif"/>
              </a:rPr>
              <a:t> </a:t>
            </a:r>
            <a:r>
              <a:rPr b="0" dirty="0">
                <a:solidFill>
                  <a:srgbClr val="000000"/>
                </a:solidFill>
                <a:latin typeface="Microsoft Sans Serif"/>
                <a:cs typeface="Microsoft Sans Serif"/>
              </a:rPr>
              <a:t>và</a:t>
            </a:r>
            <a:r>
              <a:rPr b="0" spc="35" dirty="0">
                <a:solidFill>
                  <a:srgbClr val="000000"/>
                </a:solidFill>
                <a:latin typeface="Microsoft Sans Serif"/>
                <a:cs typeface="Microsoft Sans Serif"/>
              </a:rPr>
              <a:t> </a:t>
            </a:r>
            <a:r>
              <a:rPr b="0" spc="60" dirty="0">
                <a:solidFill>
                  <a:srgbClr val="000000"/>
                </a:solidFill>
                <a:latin typeface="Microsoft Sans Serif"/>
                <a:cs typeface="Microsoft Sans Serif"/>
              </a:rPr>
              <a:t>thực</a:t>
            </a:r>
            <a:r>
              <a:rPr b="0" spc="30" dirty="0">
                <a:solidFill>
                  <a:srgbClr val="000000"/>
                </a:solidFill>
                <a:latin typeface="Microsoft Sans Serif"/>
                <a:cs typeface="Microsoft Sans Serif"/>
              </a:rPr>
              <a:t> </a:t>
            </a:r>
            <a:r>
              <a:rPr b="0" dirty="0">
                <a:solidFill>
                  <a:srgbClr val="000000"/>
                </a:solidFill>
                <a:latin typeface="Microsoft Sans Serif"/>
                <a:cs typeface="Microsoft Sans Serif"/>
              </a:rPr>
              <a:t>thi</a:t>
            </a:r>
            <a:r>
              <a:rPr b="0" spc="15" dirty="0">
                <a:solidFill>
                  <a:srgbClr val="000000"/>
                </a:solidFill>
                <a:latin typeface="Microsoft Sans Serif"/>
                <a:cs typeface="Microsoft Sans Serif"/>
              </a:rPr>
              <a:t> </a:t>
            </a:r>
            <a:r>
              <a:rPr b="0" dirty="0">
                <a:solidFill>
                  <a:srgbClr val="000000"/>
                </a:solidFill>
                <a:latin typeface="Microsoft Sans Serif"/>
                <a:cs typeface="Microsoft Sans Serif"/>
              </a:rPr>
              <a:t>các</a:t>
            </a:r>
            <a:r>
              <a:rPr b="0" spc="65" dirty="0">
                <a:solidFill>
                  <a:srgbClr val="000000"/>
                </a:solidFill>
                <a:latin typeface="Microsoft Sans Serif"/>
                <a:cs typeface="Microsoft Sans Serif"/>
              </a:rPr>
              <a:t> </a:t>
            </a:r>
            <a:r>
              <a:rPr b="0" dirty="0">
                <a:solidFill>
                  <a:srgbClr val="000000"/>
                </a:solidFill>
                <a:latin typeface="Microsoft Sans Serif"/>
                <a:cs typeface="Microsoft Sans Serif"/>
              </a:rPr>
              <a:t>yêu</a:t>
            </a:r>
            <a:r>
              <a:rPr b="0" spc="35" dirty="0">
                <a:solidFill>
                  <a:srgbClr val="000000"/>
                </a:solidFill>
                <a:latin typeface="Microsoft Sans Serif"/>
                <a:cs typeface="Microsoft Sans Serif"/>
              </a:rPr>
              <a:t> </a:t>
            </a:r>
            <a:r>
              <a:rPr b="0" dirty="0">
                <a:solidFill>
                  <a:srgbClr val="000000"/>
                </a:solidFill>
                <a:latin typeface="Microsoft Sans Serif"/>
                <a:cs typeface="Microsoft Sans Serif"/>
              </a:rPr>
              <a:t>cầu,</a:t>
            </a:r>
            <a:r>
              <a:rPr b="0" spc="30" dirty="0">
                <a:solidFill>
                  <a:srgbClr val="000000"/>
                </a:solidFill>
                <a:latin typeface="Microsoft Sans Serif"/>
                <a:cs typeface="Microsoft Sans Serif"/>
              </a:rPr>
              <a:t> </a:t>
            </a:r>
            <a:r>
              <a:rPr b="0" dirty="0">
                <a:solidFill>
                  <a:srgbClr val="000000"/>
                </a:solidFill>
                <a:latin typeface="Microsoft Sans Serif"/>
                <a:cs typeface="Microsoft Sans Serif"/>
              </a:rPr>
              <a:t>View</a:t>
            </a:r>
            <a:r>
              <a:rPr b="0" spc="-5" dirty="0">
                <a:solidFill>
                  <a:srgbClr val="000000"/>
                </a:solidFill>
                <a:latin typeface="Microsoft Sans Serif"/>
                <a:cs typeface="Microsoft Sans Serif"/>
              </a:rPr>
              <a:t> </a:t>
            </a:r>
            <a:r>
              <a:rPr b="0" spc="-25" dirty="0">
                <a:solidFill>
                  <a:srgbClr val="000000"/>
                </a:solidFill>
                <a:latin typeface="Microsoft Sans Serif"/>
                <a:cs typeface="Microsoft Sans Serif"/>
              </a:rPr>
              <a:t>sẽ </a:t>
            </a:r>
            <a:r>
              <a:rPr b="0" dirty="0">
                <a:solidFill>
                  <a:srgbClr val="000000"/>
                </a:solidFill>
                <a:latin typeface="Microsoft Sans Serif"/>
                <a:cs typeface="Microsoft Sans Serif"/>
              </a:rPr>
              <a:t>nhận</a:t>
            </a:r>
            <a:r>
              <a:rPr b="0" spc="5" dirty="0">
                <a:solidFill>
                  <a:srgbClr val="000000"/>
                </a:solidFill>
                <a:latin typeface="Microsoft Sans Serif"/>
                <a:cs typeface="Microsoft Sans Serif"/>
              </a:rPr>
              <a:t> </a:t>
            </a:r>
            <a:r>
              <a:rPr b="0" dirty="0">
                <a:solidFill>
                  <a:srgbClr val="000000"/>
                </a:solidFill>
                <a:latin typeface="Microsoft Sans Serif"/>
                <a:cs typeface="Microsoft Sans Serif"/>
              </a:rPr>
              <a:t>kết</a:t>
            </a:r>
            <a:r>
              <a:rPr b="0" spc="-35" dirty="0">
                <a:solidFill>
                  <a:srgbClr val="000000"/>
                </a:solidFill>
                <a:latin typeface="Microsoft Sans Serif"/>
                <a:cs typeface="Microsoft Sans Serif"/>
              </a:rPr>
              <a:t> </a:t>
            </a:r>
            <a:r>
              <a:rPr b="0" dirty="0">
                <a:solidFill>
                  <a:srgbClr val="000000"/>
                </a:solidFill>
                <a:latin typeface="Microsoft Sans Serif"/>
                <a:cs typeface="Microsoft Sans Serif"/>
              </a:rPr>
              <a:t>quả</a:t>
            </a:r>
            <a:r>
              <a:rPr b="0" spc="10" dirty="0">
                <a:solidFill>
                  <a:srgbClr val="000000"/>
                </a:solidFill>
                <a:latin typeface="Microsoft Sans Serif"/>
                <a:cs typeface="Microsoft Sans Serif"/>
              </a:rPr>
              <a:t> </a:t>
            </a:r>
            <a:r>
              <a:rPr b="0" spc="145" dirty="0">
                <a:solidFill>
                  <a:srgbClr val="000000"/>
                </a:solidFill>
                <a:latin typeface="Microsoft Sans Serif"/>
                <a:cs typeface="Microsoft Sans Serif"/>
              </a:rPr>
              <a:t>từ</a:t>
            </a:r>
            <a:r>
              <a:rPr b="0" spc="-5" dirty="0">
                <a:solidFill>
                  <a:srgbClr val="000000"/>
                </a:solidFill>
                <a:latin typeface="Microsoft Sans Serif"/>
                <a:cs typeface="Microsoft Sans Serif"/>
              </a:rPr>
              <a:t> </a:t>
            </a:r>
            <a:r>
              <a:rPr b="0" dirty="0">
                <a:solidFill>
                  <a:srgbClr val="000000"/>
                </a:solidFill>
                <a:latin typeface="Microsoft Sans Serif"/>
                <a:cs typeface="Microsoft Sans Serif"/>
              </a:rPr>
              <a:t>Model</a:t>
            </a:r>
            <a:r>
              <a:rPr b="0" spc="20" dirty="0">
                <a:solidFill>
                  <a:srgbClr val="000000"/>
                </a:solidFill>
                <a:latin typeface="Microsoft Sans Serif"/>
                <a:cs typeface="Microsoft Sans Serif"/>
              </a:rPr>
              <a:t> </a:t>
            </a:r>
            <a:r>
              <a:rPr b="0" dirty="0">
                <a:solidFill>
                  <a:srgbClr val="000000"/>
                </a:solidFill>
                <a:latin typeface="Microsoft Sans Serif"/>
                <a:cs typeface="Microsoft Sans Serif"/>
              </a:rPr>
              <a:t>và</a:t>
            </a:r>
            <a:r>
              <a:rPr b="0" spc="15" dirty="0">
                <a:solidFill>
                  <a:srgbClr val="000000"/>
                </a:solidFill>
                <a:latin typeface="Microsoft Sans Serif"/>
                <a:cs typeface="Microsoft Sans Serif"/>
              </a:rPr>
              <a:t> </a:t>
            </a:r>
            <a:r>
              <a:rPr b="0" dirty="0">
                <a:solidFill>
                  <a:srgbClr val="000000"/>
                </a:solidFill>
                <a:latin typeface="Microsoft Sans Serif"/>
                <a:cs typeface="Microsoft Sans Serif"/>
              </a:rPr>
              <a:t>hiển</a:t>
            </a:r>
            <a:r>
              <a:rPr b="0" spc="5" dirty="0">
                <a:solidFill>
                  <a:srgbClr val="000000"/>
                </a:solidFill>
                <a:latin typeface="Microsoft Sans Serif"/>
                <a:cs typeface="Microsoft Sans Serif"/>
              </a:rPr>
              <a:t> </a:t>
            </a:r>
            <a:r>
              <a:rPr b="0" dirty="0">
                <a:solidFill>
                  <a:srgbClr val="000000"/>
                </a:solidFill>
                <a:latin typeface="Microsoft Sans Serif"/>
                <a:cs typeface="Microsoft Sans Serif"/>
              </a:rPr>
              <a:t>thị</a:t>
            </a:r>
            <a:r>
              <a:rPr b="0" spc="-10" dirty="0">
                <a:solidFill>
                  <a:srgbClr val="000000"/>
                </a:solidFill>
                <a:latin typeface="Microsoft Sans Serif"/>
                <a:cs typeface="Microsoft Sans Serif"/>
              </a:rPr>
              <a:t> </a:t>
            </a:r>
            <a:r>
              <a:rPr b="0" dirty="0">
                <a:solidFill>
                  <a:srgbClr val="000000"/>
                </a:solidFill>
                <a:latin typeface="Microsoft Sans Serif"/>
                <a:cs typeface="Microsoft Sans Serif"/>
              </a:rPr>
              <a:t>lại</a:t>
            </a:r>
            <a:r>
              <a:rPr b="0" spc="-15" dirty="0">
                <a:solidFill>
                  <a:srgbClr val="000000"/>
                </a:solidFill>
                <a:latin typeface="Microsoft Sans Serif"/>
                <a:cs typeface="Microsoft Sans Serif"/>
              </a:rPr>
              <a:t> </a:t>
            </a:r>
            <a:r>
              <a:rPr b="0" dirty="0">
                <a:solidFill>
                  <a:srgbClr val="000000"/>
                </a:solidFill>
                <a:latin typeface="Microsoft Sans Serif"/>
                <a:cs typeface="Microsoft Sans Serif"/>
              </a:rPr>
              <a:t>cho</a:t>
            </a:r>
            <a:r>
              <a:rPr b="0" spc="-25" dirty="0">
                <a:solidFill>
                  <a:srgbClr val="000000"/>
                </a:solidFill>
                <a:latin typeface="Microsoft Sans Serif"/>
                <a:cs typeface="Microsoft Sans Serif"/>
              </a:rPr>
              <a:t> </a:t>
            </a:r>
            <a:r>
              <a:rPr b="0" spc="95" dirty="0">
                <a:solidFill>
                  <a:srgbClr val="000000"/>
                </a:solidFill>
                <a:latin typeface="Microsoft Sans Serif"/>
                <a:cs typeface="Microsoft Sans Serif"/>
              </a:rPr>
              <a:t>người</a:t>
            </a:r>
            <a:r>
              <a:rPr b="0" spc="-15" dirty="0">
                <a:solidFill>
                  <a:srgbClr val="000000"/>
                </a:solidFill>
                <a:latin typeface="Microsoft Sans Serif"/>
                <a:cs typeface="Microsoft Sans Serif"/>
              </a:rPr>
              <a:t> </a:t>
            </a:r>
            <a:r>
              <a:rPr b="0" spc="-10" dirty="0">
                <a:solidFill>
                  <a:srgbClr val="000000"/>
                </a:solidFill>
                <a:latin typeface="Microsoft Sans Serif"/>
                <a:cs typeface="Microsoft Sans Serif"/>
              </a:rPr>
              <a:t>dùng.</a:t>
            </a:r>
          </a:p>
        </p:txBody>
      </p:sp>
      <p:pic>
        <p:nvPicPr>
          <p:cNvPr id="4" name="object 4"/>
          <p:cNvPicPr/>
          <p:nvPr/>
        </p:nvPicPr>
        <p:blipFill>
          <a:blip r:embed="rId2" cstate="print"/>
          <a:stretch>
            <a:fillRect/>
          </a:stretch>
        </p:blipFill>
        <p:spPr>
          <a:xfrm>
            <a:off x="2571751" y="4267200"/>
            <a:ext cx="3190875" cy="2438400"/>
          </a:xfrm>
          <a:prstGeom prst="rect">
            <a:avLst/>
          </a:prstGeom>
        </p:spPr>
      </p:pic>
      <p:grpSp>
        <p:nvGrpSpPr>
          <p:cNvPr id="5" name="object 5"/>
          <p:cNvGrpSpPr/>
          <p:nvPr/>
        </p:nvGrpSpPr>
        <p:grpSpPr>
          <a:xfrm>
            <a:off x="6118226" y="189445"/>
            <a:ext cx="4299585" cy="6021070"/>
            <a:chOff x="4594225" y="189445"/>
            <a:chExt cx="4299585" cy="6021070"/>
          </a:xfrm>
        </p:grpSpPr>
        <p:pic>
          <p:nvPicPr>
            <p:cNvPr id="6" name="object 6">
              <a:hlinkClick r:id="rId3"/>
            </p:cNvPr>
            <p:cNvPicPr/>
            <p:nvPr/>
          </p:nvPicPr>
          <p:blipFill>
            <a:blip r:embed="rId4" cstate="print"/>
            <a:stretch>
              <a:fillRect/>
            </a:stretch>
          </p:blipFill>
          <p:spPr>
            <a:xfrm>
              <a:off x="4594225" y="4419600"/>
              <a:ext cx="4195826" cy="1790700"/>
            </a:xfrm>
            <a:prstGeom prst="rect">
              <a:avLst/>
            </a:prstGeom>
          </p:spPr>
        </p:pic>
        <p:pic>
          <p:nvPicPr>
            <p:cNvPr id="7" name="object 7"/>
            <p:cNvPicPr/>
            <p:nvPr/>
          </p:nvPicPr>
          <p:blipFill>
            <a:blip r:embed="rId5" cstate="print"/>
            <a:stretch>
              <a:fillRect/>
            </a:stretch>
          </p:blipFill>
          <p:spPr>
            <a:xfrm>
              <a:off x="7626730" y="189445"/>
              <a:ext cx="1266913" cy="916597"/>
            </a:xfrm>
            <a:prstGeom prst="rect">
              <a:avLst/>
            </a:prstGeom>
          </p:spPr>
        </p:pic>
      </p:gr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solidFill>
                  <a:prstClr val="white"/>
                </a:solidFill>
              </a:rPr>
              <a:pPr marL="38100">
                <a:lnSpc>
                  <a:spcPts val="1664"/>
                </a:lnSpc>
              </a:pPr>
              <a:t>10</a:t>
            </a:fld>
            <a:endParaRPr spc="-25" dirty="0">
              <a:solidFill>
                <a:prstClr val="white"/>
              </a:solidFill>
            </a:endParaRPr>
          </a:p>
        </p:txBody>
      </p:sp>
      <p:sp>
        <p:nvSpPr>
          <p:cNvPr id="10" name="object 10"/>
          <p:cNvSpPr txBox="1">
            <a:spLocks noGrp="1"/>
          </p:cNvSpPr>
          <p:nvPr>
            <p:ph type="ftr" sz="quarter" idx="5"/>
          </p:nvPr>
        </p:nvSpPr>
        <p:spPr>
          <a:xfrm>
            <a:off x="2763418" y="6600176"/>
            <a:ext cx="1243964" cy="155171"/>
          </a:xfrm>
          <a:prstGeom prst="rect">
            <a:avLst/>
          </a:prstGeom>
        </p:spPr>
        <p:txBody>
          <a:bodyPr vert="horz" wrap="square" lIns="0" tIns="1270" rIns="0" bIns="0" rtlCol="0">
            <a:spAutoFit/>
          </a:bodyPr>
          <a:lstStyle/>
          <a:p>
            <a:pPr marL="12700">
              <a:spcBef>
                <a:spcPts val="10"/>
              </a:spcBef>
            </a:pPr>
            <a:endParaRPr spc="-20" dirty="0">
              <a:solidFill>
                <a:prstClr val="white"/>
              </a:solidFill>
            </a:endParaRPr>
          </a:p>
        </p:txBody>
      </p:sp>
    </p:spTree>
    <p:extLst>
      <p:ext uri="{BB962C8B-B14F-4D97-AF65-F5344CB8AC3E}">
        <p14:creationId xmlns:p14="http://schemas.microsoft.com/office/powerpoint/2010/main" val="23276893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91268" y="450927"/>
            <a:ext cx="11057467" cy="444994"/>
          </a:xfrm>
          <a:prstGeom prst="rect">
            <a:avLst/>
          </a:prstGeom>
        </p:spPr>
        <p:txBody>
          <a:bodyPr vert="horz" wrap="square" lIns="0" tIns="13970" rIns="0" bIns="0" rtlCol="0">
            <a:spAutoFit/>
          </a:bodyPr>
          <a:lstStyle/>
          <a:p>
            <a:pPr marL="12700">
              <a:spcBef>
                <a:spcPts val="110"/>
              </a:spcBef>
              <a:tabLst>
                <a:tab pos="8279765" algn="l"/>
              </a:tabLst>
            </a:pPr>
            <a:r>
              <a:rPr dirty="0"/>
              <a:t>1.</a:t>
            </a:r>
            <a:r>
              <a:rPr spc="-65" dirty="0"/>
              <a:t> </a:t>
            </a:r>
            <a:r>
              <a:rPr dirty="0"/>
              <a:t>GIỚI</a:t>
            </a:r>
            <a:r>
              <a:rPr spc="-90" dirty="0"/>
              <a:t> </a:t>
            </a:r>
            <a:r>
              <a:rPr dirty="0"/>
              <a:t>THIỆU</a:t>
            </a:r>
            <a:r>
              <a:rPr spc="-60" dirty="0"/>
              <a:t> </a:t>
            </a:r>
            <a:r>
              <a:rPr dirty="0"/>
              <a:t>VỀ</a:t>
            </a:r>
            <a:r>
              <a:rPr spc="-170" dirty="0"/>
              <a:t> </a:t>
            </a:r>
            <a:r>
              <a:rPr spc="-45" dirty="0"/>
              <a:t>ASP.NET</a:t>
            </a:r>
            <a:r>
              <a:rPr dirty="0"/>
              <a:t> </a:t>
            </a:r>
            <a:r>
              <a:rPr spc="-25" dirty="0"/>
              <a:t>MVC</a:t>
            </a:r>
            <a:r>
              <a:rPr dirty="0"/>
              <a:t>	</a:t>
            </a:r>
          </a:p>
        </p:txBody>
      </p:sp>
      <p:sp>
        <p:nvSpPr>
          <p:cNvPr id="3" name="object 3"/>
          <p:cNvSpPr txBox="1"/>
          <p:nvPr/>
        </p:nvSpPr>
        <p:spPr>
          <a:xfrm>
            <a:off x="2214169" y="1062594"/>
            <a:ext cx="7929245" cy="5115375"/>
          </a:xfrm>
          <a:prstGeom prst="rect">
            <a:avLst/>
          </a:prstGeom>
        </p:spPr>
        <p:txBody>
          <a:bodyPr vert="horz" wrap="square" lIns="0" tIns="12065" rIns="0" bIns="0" rtlCol="0">
            <a:spAutoFit/>
          </a:bodyPr>
          <a:lstStyle/>
          <a:p>
            <a:pPr marL="95250" marR="3277235" indent="-83185">
              <a:lnSpc>
                <a:spcPct val="118900"/>
              </a:lnSpc>
              <a:spcBef>
                <a:spcPts val="95"/>
              </a:spcBef>
            </a:pPr>
            <a:r>
              <a:rPr sz="2400" b="1" kern="0" dirty="0">
                <a:solidFill>
                  <a:srgbClr val="C00000"/>
                </a:solidFill>
                <a:latin typeface="Arial"/>
                <a:cs typeface="Arial"/>
              </a:rPr>
              <a:t>1.3</a:t>
            </a:r>
            <a:r>
              <a:rPr sz="2400" b="1" kern="0">
                <a:solidFill>
                  <a:srgbClr val="C00000"/>
                </a:solidFill>
                <a:latin typeface="Arial"/>
                <a:cs typeface="Arial"/>
              </a:rPr>
              <a:t>.</a:t>
            </a:r>
            <a:r>
              <a:rPr sz="2400" b="1" kern="0" spc="-50">
                <a:solidFill>
                  <a:srgbClr val="C00000"/>
                </a:solidFill>
                <a:latin typeface="Arial"/>
                <a:cs typeface="Arial"/>
              </a:rPr>
              <a:t> </a:t>
            </a:r>
            <a:r>
              <a:rPr lang="vi-VN" sz="2400" b="1" kern="0" spc="-30">
                <a:solidFill>
                  <a:srgbClr val="C00000"/>
                </a:solidFill>
                <a:cs typeface="Arial"/>
              </a:rPr>
              <a:t>Ưu</a:t>
            </a:r>
            <a:r>
              <a:rPr sz="2400" b="1" kern="0" spc="-90">
                <a:solidFill>
                  <a:srgbClr val="C00000"/>
                </a:solidFill>
                <a:latin typeface="Arial"/>
                <a:cs typeface="Arial"/>
              </a:rPr>
              <a:t> </a:t>
            </a:r>
            <a:r>
              <a:rPr sz="2400" b="1" kern="0" dirty="0">
                <a:solidFill>
                  <a:srgbClr val="C00000"/>
                </a:solidFill>
                <a:latin typeface="Arial"/>
                <a:cs typeface="Arial"/>
              </a:rPr>
              <a:t>&amp;</a:t>
            </a:r>
            <a:r>
              <a:rPr sz="2400" b="1" kern="0" spc="-75" dirty="0">
                <a:solidFill>
                  <a:srgbClr val="C00000"/>
                </a:solidFill>
                <a:latin typeface="Arial"/>
                <a:cs typeface="Arial"/>
              </a:rPr>
              <a:t> </a:t>
            </a:r>
            <a:r>
              <a:rPr sz="2400" b="1" kern="0" dirty="0">
                <a:solidFill>
                  <a:srgbClr val="C00000"/>
                </a:solidFill>
                <a:latin typeface="Arial"/>
                <a:cs typeface="Arial"/>
              </a:rPr>
              <a:t>Khuyết</a:t>
            </a:r>
            <a:r>
              <a:rPr sz="2400" b="1" kern="0" spc="55" dirty="0">
                <a:solidFill>
                  <a:srgbClr val="C00000"/>
                </a:solidFill>
                <a:latin typeface="Arial"/>
                <a:cs typeface="Arial"/>
              </a:rPr>
              <a:t> </a:t>
            </a:r>
            <a:r>
              <a:rPr sz="2400" b="1" kern="0" dirty="0">
                <a:solidFill>
                  <a:srgbClr val="C00000"/>
                </a:solidFill>
                <a:latin typeface="Arial"/>
                <a:cs typeface="Arial"/>
              </a:rPr>
              <a:t>điểm</a:t>
            </a:r>
            <a:r>
              <a:rPr sz="2400" b="1" kern="0" spc="-80" dirty="0">
                <a:solidFill>
                  <a:srgbClr val="C00000"/>
                </a:solidFill>
                <a:latin typeface="Arial"/>
                <a:cs typeface="Arial"/>
              </a:rPr>
              <a:t> </a:t>
            </a:r>
            <a:r>
              <a:rPr sz="2400" b="1" kern="0" dirty="0">
                <a:solidFill>
                  <a:srgbClr val="C00000"/>
                </a:solidFill>
                <a:latin typeface="Arial"/>
                <a:cs typeface="Arial"/>
              </a:rPr>
              <a:t>của</a:t>
            </a:r>
            <a:r>
              <a:rPr sz="2400" b="1" kern="0" spc="-70" dirty="0">
                <a:solidFill>
                  <a:srgbClr val="C00000"/>
                </a:solidFill>
                <a:latin typeface="Arial"/>
                <a:cs typeface="Arial"/>
              </a:rPr>
              <a:t> </a:t>
            </a:r>
            <a:r>
              <a:rPr sz="2400" b="1" kern="0" spc="-25">
                <a:solidFill>
                  <a:srgbClr val="C00000"/>
                </a:solidFill>
                <a:latin typeface="Arial"/>
                <a:cs typeface="Arial"/>
              </a:rPr>
              <a:t>MVC </a:t>
            </a:r>
            <a:r>
              <a:rPr lang="vi-VN" sz="2400" b="1" kern="0">
                <a:solidFill>
                  <a:srgbClr val="C00000"/>
                </a:solidFill>
                <a:cs typeface="Arial"/>
              </a:rPr>
              <a:t>Ưu</a:t>
            </a:r>
            <a:r>
              <a:rPr sz="2400" b="1" kern="0" spc="-155">
                <a:solidFill>
                  <a:srgbClr val="C00000"/>
                </a:solidFill>
                <a:latin typeface="Arial"/>
                <a:cs typeface="Arial"/>
              </a:rPr>
              <a:t> </a:t>
            </a:r>
            <a:r>
              <a:rPr sz="2400" b="1" kern="0" spc="-10" dirty="0">
                <a:solidFill>
                  <a:srgbClr val="C00000"/>
                </a:solidFill>
                <a:latin typeface="Arial"/>
                <a:cs typeface="Arial"/>
              </a:rPr>
              <a:t>điểm:</a:t>
            </a:r>
            <a:endParaRPr sz="2400" kern="0">
              <a:solidFill>
                <a:sysClr val="windowText" lastClr="000000"/>
              </a:solidFill>
              <a:latin typeface="Arial"/>
              <a:cs typeface="Arial"/>
            </a:endParaRPr>
          </a:p>
          <a:p>
            <a:pPr marL="516890" indent="-342265">
              <a:spcBef>
                <a:spcPts val="865"/>
              </a:spcBef>
              <a:buFont typeface="Wingdings"/>
              <a:buChar char=""/>
              <a:tabLst>
                <a:tab pos="516890" algn="l"/>
              </a:tabLst>
            </a:pPr>
            <a:r>
              <a:rPr sz="2400" kern="0" dirty="0">
                <a:solidFill>
                  <a:sysClr val="windowText" lastClr="000000"/>
                </a:solidFill>
                <a:latin typeface="Microsoft Sans Serif"/>
                <a:cs typeface="Microsoft Sans Serif"/>
              </a:rPr>
              <a:t>Thể</a:t>
            </a:r>
            <a:r>
              <a:rPr sz="2400" kern="0" spc="-1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hiện</a:t>
            </a:r>
            <a:r>
              <a:rPr sz="2400" kern="0" spc="2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tính</a:t>
            </a:r>
            <a:r>
              <a:rPr sz="2400" kern="0" spc="3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chuyên</a:t>
            </a:r>
            <a:r>
              <a:rPr sz="2400" kern="0" spc="-1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nghiệp</a:t>
            </a:r>
            <a:r>
              <a:rPr sz="2400" kern="0" spc="2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trong</a:t>
            </a:r>
            <a:r>
              <a:rPr sz="2400" kern="0" spc="2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lập</a:t>
            </a:r>
            <a:r>
              <a:rPr sz="2400" kern="0" spc="2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trình</a:t>
            </a:r>
            <a:r>
              <a:rPr sz="2400" kern="0">
                <a:solidFill>
                  <a:sysClr val="windowText" lastClr="000000"/>
                </a:solidFill>
                <a:latin typeface="Microsoft Sans Serif"/>
                <a:cs typeface="Microsoft Sans Serif"/>
              </a:rPr>
              <a:t>,</a:t>
            </a:r>
            <a:r>
              <a:rPr sz="2400" kern="0" spc="15">
                <a:solidFill>
                  <a:sysClr val="windowText" lastClr="000000"/>
                </a:solidFill>
                <a:latin typeface="Microsoft Sans Serif"/>
                <a:cs typeface="Microsoft Sans Serif"/>
              </a:rPr>
              <a:t> </a:t>
            </a:r>
            <a:r>
              <a:rPr lang="en-US" sz="2400" kern="0" spc="-10" smtClean="0">
                <a:solidFill>
                  <a:sysClr val="windowText" lastClr="000000"/>
                </a:solidFill>
                <a:latin typeface="Microsoft Sans Serif"/>
                <a:cs typeface="Microsoft Sans Serif"/>
              </a:rPr>
              <a:t>phân tích thiết kế</a:t>
            </a:r>
            <a:r>
              <a:rPr sz="2400" kern="0" spc="-10" smtClean="0">
                <a:solidFill>
                  <a:sysClr val="windowText" lastClr="000000"/>
                </a:solidFill>
                <a:latin typeface="Microsoft Sans Serif"/>
                <a:cs typeface="Microsoft Sans Serif"/>
              </a:rPr>
              <a:t>.</a:t>
            </a:r>
            <a:endParaRPr sz="2400" kern="0">
              <a:solidFill>
                <a:sysClr val="windowText" lastClr="000000"/>
              </a:solidFill>
              <a:latin typeface="Microsoft Sans Serif"/>
              <a:cs typeface="Microsoft Sans Serif"/>
            </a:endParaRPr>
          </a:p>
          <a:p>
            <a:pPr marL="517525" marR="5080" indent="-342900">
              <a:spcBef>
                <a:spcPts val="1800"/>
              </a:spcBef>
              <a:buFont typeface="Wingdings"/>
              <a:buChar char=""/>
              <a:tabLst>
                <a:tab pos="517525" algn="l"/>
                <a:tab pos="1450975" algn="l"/>
                <a:tab pos="2164080" algn="l"/>
                <a:tab pos="3083560" algn="l"/>
                <a:tab pos="3710304" algn="l"/>
                <a:tab pos="4629785" algn="l"/>
                <a:tab pos="5462270" algn="l"/>
                <a:tab pos="6111875" algn="l"/>
                <a:tab pos="6674484" algn="l"/>
                <a:tab pos="7337425" algn="l"/>
              </a:tabLst>
            </a:pPr>
            <a:r>
              <a:rPr sz="2400" kern="0" spc="100" dirty="0">
                <a:solidFill>
                  <a:sysClr val="windowText" lastClr="000000"/>
                </a:solidFill>
                <a:latin typeface="Microsoft Sans Serif"/>
                <a:cs typeface="Microsoft Sans Serif"/>
              </a:rPr>
              <a:t>Được</a:t>
            </a:r>
            <a:r>
              <a:rPr sz="2400" kern="0" dirty="0">
                <a:solidFill>
                  <a:sysClr val="windowText" lastClr="000000"/>
                </a:solidFill>
                <a:latin typeface="Microsoft Sans Serif"/>
                <a:cs typeface="Microsoft Sans Serif"/>
              </a:rPr>
              <a:t>	</a:t>
            </a:r>
            <a:r>
              <a:rPr sz="2400" kern="0" spc="-20" dirty="0">
                <a:solidFill>
                  <a:sysClr val="windowText" lastClr="000000"/>
                </a:solidFill>
                <a:latin typeface="Microsoft Sans Serif"/>
                <a:cs typeface="Microsoft Sans Serif"/>
              </a:rPr>
              <a:t>chia</a:t>
            </a:r>
            <a:r>
              <a:rPr sz="2400" kern="0" dirty="0">
                <a:solidFill>
                  <a:sysClr val="windowText" lastClr="000000"/>
                </a:solidFill>
                <a:latin typeface="Microsoft Sans Serif"/>
                <a:cs typeface="Microsoft Sans Serif"/>
              </a:rPr>
              <a:t>	</a:t>
            </a:r>
            <a:r>
              <a:rPr sz="2400" kern="0" spc="-10" dirty="0">
                <a:solidFill>
                  <a:sysClr val="windowText" lastClr="000000"/>
                </a:solidFill>
                <a:latin typeface="Microsoft Sans Serif"/>
                <a:cs typeface="Microsoft Sans Serif"/>
              </a:rPr>
              <a:t>thành</a:t>
            </a:r>
            <a:r>
              <a:rPr sz="2400" kern="0" dirty="0">
                <a:solidFill>
                  <a:sysClr val="windowText" lastClr="000000"/>
                </a:solidFill>
                <a:latin typeface="Microsoft Sans Serif"/>
                <a:cs typeface="Microsoft Sans Serif"/>
              </a:rPr>
              <a:t>	</a:t>
            </a:r>
            <a:r>
              <a:rPr sz="2400" kern="0" spc="-25" dirty="0">
                <a:solidFill>
                  <a:sysClr val="windowText" lastClr="000000"/>
                </a:solidFill>
                <a:latin typeface="Microsoft Sans Serif"/>
                <a:cs typeface="Microsoft Sans Serif"/>
              </a:rPr>
              <a:t>các</a:t>
            </a:r>
            <a:r>
              <a:rPr sz="2400" kern="0" dirty="0">
                <a:solidFill>
                  <a:sysClr val="windowText" lastClr="000000"/>
                </a:solidFill>
                <a:latin typeface="Microsoft Sans Serif"/>
                <a:cs typeface="Microsoft Sans Serif"/>
              </a:rPr>
              <a:t>	</a:t>
            </a:r>
            <a:r>
              <a:rPr sz="2400" kern="0" spc="-10" dirty="0">
                <a:solidFill>
                  <a:sysClr val="windowText" lastClr="000000"/>
                </a:solidFill>
                <a:latin typeface="Microsoft Sans Serif"/>
                <a:cs typeface="Microsoft Sans Serif"/>
              </a:rPr>
              <a:t>thành</a:t>
            </a:r>
            <a:r>
              <a:rPr sz="2400" kern="0" dirty="0">
                <a:solidFill>
                  <a:sysClr val="windowText" lastClr="000000"/>
                </a:solidFill>
                <a:latin typeface="Microsoft Sans Serif"/>
                <a:cs typeface="Microsoft Sans Serif"/>
              </a:rPr>
              <a:t>	</a:t>
            </a:r>
            <a:r>
              <a:rPr sz="2400" kern="0" spc="-20" dirty="0">
                <a:solidFill>
                  <a:sysClr val="windowText" lastClr="000000"/>
                </a:solidFill>
                <a:latin typeface="Microsoft Sans Serif"/>
                <a:cs typeface="Microsoft Sans Serif"/>
              </a:rPr>
              <a:t>phần</a:t>
            </a:r>
            <a:r>
              <a:rPr sz="2400" kern="0" dirty="0">
                <a:solidFill>
                  <a:sysClr val="windowText" lastClr="000000"/>
                </a:solidFill>
                <a:latin typeface="Microsoft Sans Serif"/>
                <a:cs typeface="Microsoft Sans Serif"/>
              </a:rPr>
              <a:t>	</a:t>
            </a:r>
            <a:r>
              <a:rPr sz="2400" kern="0" spc="-25" dirty="0">
                <a:solidFill>
                  <a:sysClr val="windowText" lastClr="000000"/>
                </a:solidFill>
                <a:latin typeface="Microsoft Sans Serif"/>
                <a:cs typeface="Microsoft Sans Serif"/>
              </a:rPr>
              <a:t>độc</a:t>
            </a:r>
            <a:r>
              <a:rPr sz="2400" kern="0" dirty="0">
                <a:solidFill>
                  <a:sysClr val="windowText" lastClr="000000"/>
                </a:solidFill>
                <a:latin typeface="Microsoft Sans Serif"/>
                <a:cs typeface="Microsoft Sans Serif"/>
              </a:rPr>
              <a:t>	</a:t>
            </a:r>
            <a:r>
              <a:rPr sz="2400" kern="0" spc="-25" dirty="0">
                <a:solidFill>
                  <a:sysClr val="windowText" lastClr="000000"/>
                </a:solidFill>
                <a:latin typeface="Microsoft Sans Serif"/>
                <a:cs typeface="Microsoft Sans Serif"/>
              </a:rPr>
              <a:t>lập</a:t>
            </a:r>
            <a:r>
              <a:rPr sz="2400" kern="0" dirty="0">
                <a:solidFill>
                  <a:sysClr val="windowText" lastClr="000000"/>
                </a:solidFill>
                <a:latin typeface="Microsoft Sans Serif"/>
                <a:cs typeface="Microsoft Sans Serif"/>
              </a:rPr>
              <a:t>	</a:t>
            </a:r>
            <a:r>
              <a:rPr sz="2400" kern="0" spc="-25" dirty="0">
                <a:solidFill>
                  <a:sysClr val="windowText" lastClr="000000"/>
                </a:solidFill>
                <a:latin typeface="Microsoft Sans Serif"/>
                <a:cs typeface="Microsoft Sans Serif"/>
              </a:rPr>
              <a:t>nên</a:t>
            </a:r>
            <a:r>
              <a:rPr sz="2400" kern="0" dirty="0">
                <a:solidFill>
                  <a:sysClr val="windowText" lastClr="000000"/>
                </a:solidFill>
                <a:latin typeface="Microsoft Sans Serif"/>
                <a:cs typeface="Microsoft Sans Serif"/>
              </a:rPr>
              <a:t>	</a:t>
            </a:r>
            <a:r>
              <a:rPr sz="2400" kern="0" spc="-20" dirty="0">
                <a:solidFill>
                  <a:sysClr val="windowText" lastClr="000000"/>
                </a:solidFill>
                <a:latin typeface="Microsoft Sans Serif"/>
                <a:cs typeface="Microsoft Sans Serif"/>
              </a:rPr>
              <a:t>giúp </a:t>
            </a:r>
            <a:r>
              <a:rPr sz="2400" kern="0" dirty="0">
                <a:solidFill>
                  <a:sysClr val="windowText" lastClr="000000"/>
                </a:solidFill>
                <a:latin typeface="Microsoft Sans Serif"/>
                <a:cs typeface="Microsoft Sans Serif"/>
              </a:rPr>
              <a:t>phát</a:t>
            </a:r>
            <a:r>
              <a:rPr sz="2400" kern="0" spc="-1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triển </a:t>
            </a:r>
            <a:r>
              <a:rPr sz="2400" kern="0" spc="90" dirty="0">
                <a:solidFill>
                  <a:sysClr val="windowText" lastClr="000000"/>
                </a:solidFill>
                <a:latin typeface="Microsoft Sans Serif"/>
                <a:cs typeface="Microsoft Sans Serif"/>
              </a:rPr>
              <a:t>ứng</a:t>
            </a:r>
            <a:r>
              <a:rPr sz="2400" kern="0" spc="-3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dụng</a:t>
            </a:r>
            <a:r>
              <a:rPr sz="2400" kern="0" spc="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nhanh,</a:t>
            </a:r>
            <a:r>
              <a:rPr sz="2400" kern="0" spc="2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dễ</a:t>
            </a:r>
            <a:r>
              <a:rPr sz="2400" kern="0" spc="-3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nâng</a:t>
            </a:r>
            <a:r>
              <a:rPr sz="2400" kern="0" spc="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cấp,</a:t>
            </a:r>
            <a:r>
              <a:rPr sz="2400" kern="0" spc="-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bảo</a:t>
            </a:r>
            <a:r>
              <a:rPr sz="2400" kern="0" spc="5" dirty="0">
                <a:solidFill>
                  <a:sysClr val="windowText" lastClr="000000"/>
                </a:solidFill>
                <a:latin typeface="Microsoft Sans Serif"/>
                <a:cs typeface="Microsoft Sans Serif"/>
              </a:rPr>
              <a:t> </a:t>
            </a:r>
            <a:r>
              <a:rPr sz="2400" kern="0" spc="-10" dirty="0">
                <a:solidFill>
                  <a:sysClr val="windowText" lastClr="000000"/>
                </a:solidFill>
                <a:latin typeface="Microsoft Sans Serif"/>
                <a:cs typeface="Microsoft Sans Serif"/>
              </a:rPr>
              <a:t>trì..</a:t>
            </a:r>
            <a:endParaRPr sz="2400" kern="0">
              <a:solidFill>
                <a:sysClr val="windowText" lastClr="000000"/>
              </a:solidFill>
              <a:latin typeface="Microsoft Sans Serif"/>
              <a:cs typeface="Microsoft Sans Serif"/>
            </a:endParaRPr>
          </a:p>
          <a:p>
            <a:pPr marL="516890" indent="-342265">
              <a:spcBef>
                <a:spcPts val="1805"/>
              </a:spcBef>
              <a:buFont typeface="Wingdings"/>
              <a:buChar char=""/>
              <a:tabLst>
                <a:tab pos="516890" algn="l"/>
              </a:tabLst>
            </a:pPr>
            <a:r>
              <a:rPr sz="2400" kern="0" spc="90" dirty="0">
                <a:solidFill>
                  <a:sysClr val="windowText" lastClr="000000"/>
                </a:solidFill>
                <a:latin typeface="Microsoft Sans Serif"/>
                <a:cs typeface="Microsoft Sans Serif"/>
              </a:rPr>
              <a:t>Ứng</a:t>
            </a:r>
            <a:r>
              <a:rPr sz="2400" kern="0" spc="2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dụng</a:t>
            </a:r>
            <a:r>
              <a:rPr sz="2400" kern="0" spc="2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tạo</a:t>
            </a:r>
            <a:r>
              <a:rPr sz="2400" kern="0" spc="-1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ra</a:t>
            </a:r>
            <a:r>
              <a:rPr sz="2400" kern="0" spc="1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chạy</a:t>
            </a:r>
            <a:r>
              <a:rPr sz="2400" kern="0" spc="-2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ổn</a:t>
            </a:r>
            <a:r>
              <a:rPr sz="2400" kern="0" spc="2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định</a:t>
            </a:r>
            <a:r>
              <a:rPr sz="2400" kern="0" spc="-2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trên</a:t>
            </a:r>
            <a:r>
              <a:rPr sz="2400" kern="0" spc="20" dirty="0">
                <a:solidFill>
                  <a:sysClr val="windowText" lastClr="000000"/>
                </a:solidFill>
                <a:latin typeface="Microsoft Sans Serif"/>
                <a:cs typeface="Microsoft Sans Serif"/>
              </a:rPr>
              <a:t> </a:t>
            </a:r>
            <a:r>
              <a:rPr sz="2400" kern="0" spc="-10" dirty="0">
                <a:solidFill>
                  <a:sysClr val="windowText" lastClr="000000"/>
                </a:solidFill>
                <a:latin typeface="Microsoft Sans Serif"/>
                <a:cs typeface="Microsoft Sans Serif"/>
              </a:rPr>
              <a:t>Windows</a:t>
            </a:r>
            <a:endParaRPr sz="2400" kern="0">
              <a:solidFill>
                <a:sysClr val="windowText" lastClr="000000"/>
              </a:solidFill>
              <a:latin typeface="Microsoft Sans Serif"/>
              <a:cs typeface="Microsoft Sans Serif"/>
            </a:endParaRPr>
          </a:p>
          <a:p>
            <a:pPr marL="516890" indent="-342265">
              <a:spcBef>
                <a:spcPts val="1805"/>
              </a:spcBef>
              <a:buFont typeface="Wingdings"/>
              <a:buChar char=""/>
              <a:tabLst>
                <a:tab pos="516890" algn="l"/>
              </a:tabLst>
            </a:pPr>
            <a:r>
              <a:rPr sz="2400" kern="0" dirty="0">
                <a:solidFill>
                  <a:sysClr val="windowText" lastClr="000000"/>
                </a:solidFill>
                <a:latin typeface="Microsoft Sans Serif"/>
                <a:cs typeface="Microsoft Sans Serif"/>
              </a:rPr>
              <a:t>Đáp </a:t>
            </a:r>
            <a:r>
              <a:rPr sz="2400" kern="0" spc="90" dirty="0">
                <a:solidFill>
                  <a:sysClr val="windowText" lastClr="000000"/>
                </a:solidFill>
                <a:latin typeface="Microsoft Sans Serif"/>
                <a:cs typeface="Microsoft Sans Serif"/>
              </a:rPr>
              <a:t>ứng</a:t>
            </a:r>
            <a:r>
              <a:rPr sz="2400" kern="0" spc="-3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nhiều</a:t>
            </a:r>
            <a:r>
              <a:rPr sz="2400" kern="0" spc="-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loại</a:t>
            </a:r>
            <a:r>
              <a:rPr sz="2400" kern="0" spc="2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thiết</a:t>
            </a:r>
            <a:r>
              <a:rPr sz="2400" kern="0" spc="-5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bị</a:t>
            </a:r>
            <a:r>
              <a:rPr sz="2400" kern="0" spc="1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truy</a:t>
            </a:r>
            <a:r>
              <a:rPr sz="2400" kern="0" spc="-35" dirty="0">
                <a:solidFill>
                  <a:sysClr val="windowText" lastClr="000000"/>
                </a:solidFill>
                <a:latin typeface="Microsoft Sans Serif"/>
                <a:cs typeface="Microsoft Sans Serif"/>
              </a:rPr>
              <a:t> </a:t>
            </a:r>
            <a:r>
              <a:rPr sz="2400" kern="0" spc="-25" dirty="0">
                <a:solidFill>
                  <a:sysClr val="windowText" lastClr="000000"/>
                </a:solidFill>
                <a:latin typeface="Microsoft Sans Serif"/>
                <a:cs typeface="Microsoft Sans Serif"/>
              </a:rPr>
              <a:t>cập</a:t>
            </a:r>
            <a:endParaRPr sz="2400" kern="0">
              <a:solidFill>
                <a:sysClr val="windowText" lastClr="000000"/>
              </a:solidFill>
              <a:latin typeface="Microsoft Sans Serif"/>
              <a:cs typeface="Microsoft Sans Serif"/>
            </a:endParaRPr>
          </a:p>
          <a:p>
            <a:pPr marL="517525" indent="-342900">
              <a:spcBef>
                <a:spcPts val="1805"/>
              </a:spcBef>
              <a:buFont typeface="Wingdings"/>
              <a:buChar char=""/>
              <a:tabLst>
                <a:tab pos="517525" algn="l"/>
              </a:tabLst>
            </a:pPr>
            <a:r>
              <a:rPr sz="2400" kern="0">
                <a:solidFill>
                  <a:sysClr val="windowText" lastClr="000000"/>
                </a:solidFill>
                <a:latin typeface="Microsoft Sans Serif"/>
                <a:cs typeface="Microsoft Sans Serif"/>
              </a:rPr>
              <a:t>An</a:t>
            </a:r>
            <a:r>
              <a:rPr sz="2400" kern="0" spc="25">
                <a:solidFill>
                  <a:sysClr val="windowText" lastClr="000000"/>
                </a:solidFill>
                <a:latin typeface="Microsoft Sans Serif"/>
                <a:cs typeface="Microsoft Sans Serif"/>
              </a:rPr>
              <a:t> </a:t>
            </a:r>
            <a:r>
              <a:rPr sz="2400" kern="0" smtClean="0">
                <a:solidFill>
                  <a:sysClr val="windowText" lastClr="000000"/>
                </a:solidFill>
                <a:latin typeface="Microsoft Sans Serif"/>
                <a:cs typeface="Microsoft Sans Serif"/>
              </a:rPr>
              <a:t>toàn</a:t>
            </a:r>
            <a:endParaRPr lang="en-US" sz="2400" kern="0" smtClean="0">
              <a:solidFill>
                <a:sysClr val="windowText" lastClr="000000"/>
              </a:solidFill>
              <a:latin typeface="Microsoft Sans Serif"/>
              <a:cs typeface="Microsoft Sans Serif"/>
            </a:endParaRPr>
          </a:p>
          <a:p>
            <a:pPr marL="517525" indent="-342900">
              <a:spcBef>
                <a:spcPts val="1805"/>
              </a:spcBef>
              <a:buFont typeface="Wingdings"/>
              <a:buChar char=""/>
              <a:tabLst>
                <a:tab pos="517525" algn="l"/>
              </a:tabLst>
            </a:pPr>
            <a:r>
              <a:rPr sz="2400" kern="0" smtClean="0">
                <a:solidFill>
                  <a:sysClr val="windowText" lastClr="000000"/>
                </a:solidFill>
                <a:latin typeface="Microsoft Sans Serif"/>
                <a:cs typeface="Microsoft Sans Serif"/>
              </a:rPr>
              <a:t>Dễ</a:t>
            </a:r>
            <a:r>
              <a:rPr sz="2400" kern="0" spc="25" smtClean="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tích</a:t>
            </a:r>
            <a:r>
              <a:rPr sz="2400" kern="0" spc="35" dirty="0">
                <a:solidFill>
                  <a:sysClr val="windowText" lastClr="000000"/>
                </a:solidFill>
                <a:latin typeface="Microsoft Sans Serif"/>
                <a:cs typeface="Microsoft Sans Serif"/>
              </a:rPr>
              <a:t> </a:t>
            </a:r>
            <a:r>
              <a:rPr sz="2400" kern="0" spc="45" dirty="0">
                <a:solidFill>
                  <a:sysClr val="windowText" lastClr="000000"/>
                </a:solidFill>
                <a:latin typeface="Microsoft Sans Serif"/>
                <a:cs typeface="Microsoft Sans Serif"/>
              </a:rPr>
              <a:t>hợp</a:t>
            </a:r>
            <a:endParaRPr sz="2400" kern="0">
              <a:solidFill>
                <a:sysClr val="windowText" lastClr="000000"/>
              </a:solidFill>
              <a:latin typeface="Microsoft Sans Serif"/>
              <a:cs typeface="Microsoft Sans Serif"/>
            </a:endParaRPr>
          </a:p>
        </p:txBody>
      </p:sp>
      <p:pic>
        <p:nvPicPr>
          <p:cNvPr id="4" name="object 4"/>
          <p:cNvPicPr/>
          <p:nvPr/>
        </p:nvPicPr>
        <p:blipFill>
          <a:blip r:embed="rId2" cstate="print"/>
          <a:stretch>
            <a:fillRect/>
          </a:stretch>
        </p:blipFill>
        <p:spPr>
          <a:xfrm>
            <a:off x="9150732" y="189446"/>
            <a:ext cx="1266913" cy="916597"/>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solidFill>
                  <a:prstClr val="white"/>
                </a:solidFill>
              </a:rPr>
              <a:pPr marL="38100">
                <a:lnSpc>
                  <a:spcPts val="1664"/>
                </a:lnSpc>
              </a:pPr>
              <a:t>11</a:t>
            </a:fld>
            <a:endParaRPr spc="-25" dirty="0">
              <a:solidFill>
                <a:prstClr val="white"/>
              </a:solidFill>
            </a:endParaRPr>
          </a:p>
        </p:txBody>
      </p:sp>
      <p:sp>
        <p:nvSpPr>
          <p:cNvPr id="7" name="object 7"/>
          <p:cNvSpPr txBox="1">
            <a:spLocks noGrp="1"/>
          </p:cNvSpPr>
          <p:nvPr>
            <p:ph type="ftr" sz="quarter" idx="5"/>
          </p:nvPr>
        </p:nvSpPr>
        <p:spPr>
          <a:xfrm>
            <a:off x="2763418" y="6600176"/>
            <a:ext cx="1243964" cy="155171"/>
          </a:xfrm>
          <a:prstGeom prst="rect">
            <a:avLst/>
          </a:prstGeom>
        </p:spPr>
        <p:txBody>
          <a:bodyPr vert="horz" wrap="square" lIns="0" tIns="1270" rIns="0" bIns="0" rtlCol="0">
            <a:spAutoFit/>
          </a:bodyPr>
          <a:lstStyle/>
          <a:p>
            <a:pPr marL="12700">
              <a:spcBef>
                <a:spcPts val="10"/>
              </a:spcBef>
            </a:pPr>
            <a:endParaRPr spc="-20" dirty="0">
              <a:solidFill>
                <a:prstClr val="white"/>
              </a:solidFill>
            </a:endParaRPr>
          </a:p>
        </p:txBody>
      </p:sp>
    </p:spTree>
    <p:extLst>
      <p:ext uri="{BB962C8B-B14F-4D97-AF65-F5344CB8AC3E}">
        <p14:creationId xmlns:p14="http://schemas.microsoft.com/office/powerpoint/2010/main" val="348749992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91268" y="450927"/>
            <a:ext cx="11057467" cy="444994"/>
          </a:xfrm>
          <a:prstGeom prst="rect">
            <a:avLst/>
          </a:prstGeom>
        </p:spPr>
        <p:txBody>
          <a:bodyPr vert="horz" wrap="square" lIns="0" tIns="13970" rIns="0" bIns="0" rtlCol="0">
            <a:spAutoFit/>
          </a:bodyPr>
          <a:lstStyle/>
          <a:p>
            <a:pPr marL="12700">
              <a:spcBef>
                <a:spcPts val="110"/>
              </a:spcBef>
              <a:tabLst>
                <a:tab pos="8279765" algn="l"/>
              </a:tabLst>
            </a:pPr>
            <a:r>
              <a:rPr dirty="0"/>
              <a:t>1.</a:t>
            </a:r>
            <a:r>
              <a:rPr spc="-65" dirty="0"/>
              <a:t> </a:t>
            </a:r>
            <a:r>
              <a:rPr dirty="0"/>
              <a:t>GIỚI</a:t>
            </a:r>
            <a:r>
              <a:rPr spc="-90" dirty="0"/>
              <a:t> </a:t>
            </a:r>
            <a:r>
              <a:rPr dirty="0"/>
              <a:t>THIỆU</a:t>
            </a:r>
            <a:r>
              <a:rPr spc="-60" dirty="0"/>
              <a:t> </a:t>
            </a:r>
            <a:r>
              <a:rPr dirty="0"/>
              <a:t>VỀ</a:t>
            </a:r>
            <a:r>
              <a:rPr spc="-170" dirty="0"/>
              <a:t> </a:t>
            </a:r>
            <a:r>
              <a:rPr spc="-45" dirty="0"/>
              <a:t>ASP.NET</a:t>
            </a:r>
            <a:r>
              <a:rPr dirty="0"/>
              <a:t> </a:t>
            </a:r>
            <a:r>
              <a:rPr spc="-25" dirty="0"/>
              <a:t>MVC</a:t>
            </a:r>
            <a:r>
              <a:rPr dirty="0"/>
              <a:t>	</a:t>
            </a:r>
          </a:p>
        </p:txBody>
      </p:sp>
      <p:pic>
        <p:nvPicPr>
          <p:cNvPr id="3" name="object 3"/>
          <p:cNvPicPr/>
          <p:nvPr/>
        </p:nvPicPr>
        <p:blipFill>
          <a:blip r:embed="rId2" cstate="print"/>
          <a:stretch>
            <a:fillRect/>
          </a:stretch>
        </p:blipFill>
        <p:spPr>
          <a:xfrm>
            <a:off x="9150732" y="189446"/>
            <a:ext cx="1266913" cy="916597"/>
          </a:xfrm>
          <a:prstGeom prst="rect">
            <a:avLst/>
          </a:prstGeom>
        </p:spPr>
      </p:pic>
      <p:sp>
        <p:nvSpPr>
          <p:cNvPr id="4" name="object 4"/>
          <p:cNvSpPr txBox="1"/>
          <p:nvPr/>
        </p:nvSpPr>
        <p:spPr>
          <a:xfrm>
            <a:off x="2242819" y="1024009"/>
            <a:ext cx="7976870" cy="3650615"/>
          </a:xfrm>
          <a:prstGeom prst="rect">
            <a:avLst/>
          </a:prstGeom>
        </p:spPr>
        <p:txBody>
          <a:bodyPr vert="horz" wrap="square" lIns="0" tIns="12700" rIns="0" bIns="0" rtlCol="0">
            <a:spAutoFit/>
          </a:bodyPr>
          <a:lstStyle/>
          <a:p>
            <a:pPr marL="94615" marR="3325495" indent="-82550">
              <a:lnSpc>
                <a:spcPct val="150100"/>
              </a:lnSpc>
              <a:spcBef>
                <a:spcPts val="100"/>
              </a:spcBef>
            </a:pPr>
            <a:r>
              <a:rPr sz="2400" b="1" kern="0" dirty="0">
                <a:solidFill>
                  <a:srgbClr val="C00000"/>
                </a:solidFill>
                <a:latin typeface="Arial"/>
                <a:cs typeface="Arial"/>
              </a:rPr>
              <a:t>1.3</a:t>
            </a:r>
            <a:r>
              <a:rPr sz="2400" b="1" kern="0">
                <a:solidFill>
                  <a:srgbClr val="C00000"/>
                </a:solidFill>
                <a:latin typeface="Arial"/>
                <a:cs typeface="Arial"/>
              </a:rPr>
              <a:t>.</a:t>
            </a:r>
            <a:r>
              <a:rPr sz="2400" b="1" kern="0" spc="-55">
                <a:solidFill>
                  <a:srgbClr val="C00000"/>
                </a:solidFill>
                <a:latin typeface="Arial"/>
                <a:cs typeface="Arial"/>
              </a:rPr>
              <a:t> </a:t>
            </a:r>
            <a:r>
              <a:rPr lang="vi-VN" sz="2400" b="1" kern="0" spc="-30">
                <a:solidFill>
                  <a:srgbClr val="C00000"/>
                </a:solidFill>
                <a:cs typeface="Arial"/>
              </a:rPr>
              <a:t>Ưu</a:t>
            </a:r>
            <a:r>
              <a:rPr sz="2400" b="1" kern="0" spc="-90">
                <a:solidFill>
                  <a:srgbClr val="C00000"/>
                </a:solidFill>
                <a:latin typeface="Arial"/>
                <a:cs typeface="Arial"/>
              </a:rPr>
              <a:t> </a:t>
            </a:r>
            <a:r>
              <a:rPr sz="2400" b="1" kern="0" dirty="0">
                <a:solidFill>
                  <a:srgbClr val="C00000"/>
                </a:solidFill>
                <a:latin typeface="Arial"/>
                <a:cs typeface="Arial"/>
              </a:rPr>
              <a:t>&amp;</a:t>
            </a:r>
            <a:r>
              <a:rPr sz="2400" b="1" kern="0" spc="-75" dirty="0">
                <a:solidFill>
                  <a:srgbClr val="C00000"/>
                </a:solidFill>
                <a:latin typeface="Arial"/>
                <a:cs typeface="Arial"/>
              </a:rPr>
              <a:t> </a:t>
            </a:r>
            <a:r>
              <a:rPr sz="2400" b="1" kern="0" dirty="0">
                <a:solidFill>
                  <a:srgbClr val="C00000"/>
                </a:solidFill>
                <a:latin typeface="Arial"/>
                <a:cs typeface="Arial"/>
              </a:rPr>
              <a:t>Khuyết</a:t>
            </a:r>
            <a:r>
              <a:rPr sz="2400" b="1" kern="0" spc="65" dirty="0">
                <a:solidFill>
                  <a:srgbClr val="C00000"/>
                </a:solidFill>
                <a:latin typeface="Arial"/>
                <a:cs typeface="Arial"/>
              </a:rPr>
              <a:t> </a:t>
            </a:r>
            <a:r>
              <a:rPr sz="2400" b="1" kern="0" dirty="0">
                <a:solidFill>
                  <a:srgbClr val="C00000"/>
                </a:solidFill>
                <a:latin typeface="Arial"/>
                <a:cs typeface="Arial"/>
              </a:rPr>
              <a:t>điểm</a:t>
            </a:r>
            <a:r>
              <a:rPr sz="2400" b="1" kern="0" spc="-80" dirty="0">
                <a:solidFill>
                  <a:srgbClr val="C00000"/>
                </a:solidFill>
                <a:latin typeface="Arial"/>
                <a:cs typeface="Arial"/>
              </a:rPr>
              <a:t> </a:t>
            </a:r>
            <a:r>
              <a:rPr sz="2400" b="1" kern="0" dirty="0">
                <a:solidFill>
                  <a:srgbClr val="C00000"/>
                </a:solidFill>
                <a:latin typeface="Arial"/>
                <a:cs typeface="Arial"/>
              </a:rPr>
              <a:t>của</a:t>
            </a:r>
            <a:r>
              <a:rPr sz="2400" b="1" kern="0" spc="-70" dirty="0">
                <a:solidFill>
                  <a:srgbClr val="C00000"/>
                </a:solidFill>
                <a:latin typeface="Arial"/>
                <a:cs typeface="Arial"/>
              </a:rPr>
              <a:t> </a:t>
            </a:r>
            <a:r>
              <a:rPr sz="2400" b="1" kern="0" spc="-25" dirty="0">
                <a:solidFill>
                  <a:srgbClr val="C00000"/>
                </a:solidFill>
                <a:latin typeface="Arial"/>
                <a:cs typeface="Arial"/>
              </a:rPr>
              <a:t>MVC </a:t>
            </a:r>
            <a:r>
              <a:rPr sz="2400" b="1" kern="0" dirty="0">
                <a:solidFill>
                  <a:srgbClr val="C00000"/>
                </a:solidFill>
                <a:latin typeface="Arial"/>
                <a:cs typeface="Arial"/>
              </a:rPr>
              <a:t>Khuyết</a:t>
            </a:r>
            <a:r>
              <a:rPr sz="2400" b="1" kern="0" spc="-30" dirty="0">
                <a:solidFill>
                  <a:srgbClr val="C00000"/>
                </a:solidFill>
                <a:latin typeface="Arial"/>
                <a:cs typeface="Arial"/>
              </a:rPr>
              <a:t> </a:t>
            </a:r>
            <a:r>
              <a:rPr sz="2400" b="1" kern="0" spc="-20" dirty="0">
                <a:solidFill>
                  <a:srgbClr val="C00000"/>
                </a:solidFill>
                <a:latin typeface="Arial"/>
                <a:cs typeface="Arial"/>
              </a:rPr>
              <a:t>điểm:</a:t>
            </a:r>
            <a:endParaRPr sz="2400" kern="0">
              <a:solidFill>
                <a:sysClr val="windowText" lastClr="000000"/>
              </a:solidFill>
              <a:latin typeface="Arial"/>
              <a:cs typeface="Arial"/>
            </a:endParaRPr>
          </a:p>
          <a:p>
            <a:pPr marL="570230" marR="5080" indent="-342900">
              <a:lnSpc>
                <a:spcPct val="150100"/>
              </a:lnSpc>
              <a:spcBef>
                <a:spcPts val="1415"/>
              </a:spcBef>
              <a:buFont typeface="Wingdings"/>
              <a:buChar char=""/>
              <a:tabLst>
                <a:tab pos="570230" algn="l"/>
                <a:tab pos="1169670" algn="l"/>
                <a:tab pos="1732280" algn="l"/>
                <a:tab pos="2249170" algn="l"/>
                <a:tab pos="2729865" algn="l"/>
                <a:tab pos="3378835" algn="l"/>
                <a:tab pos="4060825" algn="l"/>
                <a:tab pos="4540885" algn="l"/>
                <a:tab pos="5350510" algn="l"/>
                <a:tab pos="5922645" algn="l"/>
                <a:tab pos="6654165" algn="l"/>
                <a:tab pos="7472680" algn="l"/>
              </a:tabLst>
            </a:pPr>
            <a:r>
              <a:rPr sz="2400" kern="0" spc="-25" dirty="0">
                <a:solidFill>
                  <a:sysClr val="windowText" lastClr="000000"/>
                </a:solidFill>
                <a:latin typeface="Microsoft Sans Serif"/>
                <a:cs typeface="Microsoft Sans Serif"/>
              </a:rPr>
              <a:t>Đối</a:t>
            </a:r>
            <a:r>
              <a:rPr sz="2400" kern="0" dirty="0">
                <a:solidFill>
                  <a:sysClr val="windowText" lastClr="000000"/>
                </a:solidFill>
                <a:latin typeface="Microsoft Sans Serif"/>
                <a:cs typeface="Microsoft Sans Serif"/>
              </a:rPr>
              <a:t>	</a:t>
            </a:r>
            <a:r>
              <a:rPr sz="2400" kern="0" spc="40" dirty="0">
                <a:solidFill>
                  <a:sysClr val="windowText" lastClr="000000"/>
                </a:solidFill>
                <a:latin typeface="Microsoft Sans Serif"/>
                <a:cs typeface="Microsoft Sans Serif"/>
              </a:rPr>
              <a:t>với</a:t>
            </a:r>
            <a:r>
              <a:rPr sz="2400" kern="0" dirty="0">
                <a:solidFill>
                  <a:sysClr val="windowText" lastClr="000000"/>
                </a:solidFill>
                <a:latin typeface="Microsoft Sans Serif"/>
                <a:cs typeface="Microsoft Sans Serif"/>
              </a:rPr>
              <a:t>	</a:t>
            </a:r>
            <a:r>
              <a:rPr sz="2400" kern="0" spc="100" dirty="0">
                <a:solidFill>
                  <a:sysClr val="windowText" lastClr="000000"/>
                </a:solidFill>
                <a:latin typeface="Microsoft Sans Serif"/>
                <a:cs typeface="Microsoft Sans Serif"/>
              </a:rPr>
              <a:t>dự</a:t>
            </a:r>
            <a:r>
              <a:rPr sz="2400" kern="0" dirty="0">
                <a:solidFill>
                  <a:sysClr val="windowText" lastClr="000000"/>
                </a:solidFill>
                <a:latin typeface="Microsoft Sans Serif"/>
                <a:cs typeface="Microsoft Sans Serif"/>
              </a:rPr>
              <a:t>	</a:t>
            </a:r>
            <a:r>
              <a:rPr sz="2400" kern="0" spc="-25" dirty="0">
                <a:solidFill>
                  <a:sysClr val="windowText" lastClr="000000"/>
                </a:solidFill>
                <a:latin typeface="Microsoft Sans Serif"/>
                <a:cs typeface="Microsoft Sans Serif"/>
              </a:rPr>
              <a:t>án</a:t>
            </a:r>
            <a:r>
              <a:rPr sz="2400" kern="0" dirty="0">
                <a:solidFill>
                  <a:sysClr val="windowText" lastClr="000000"/>
                </a:solidFill>
                <a:latin typeface="Microsoft Sans Serif"/>
                <a:cs typeface="Microsoft Sans Serif"/>
              </a:rPr>
              <a:t>	</a:t>
            </a:r>
            <a:r>
              <a:rPr sz="2400" kern="0" spc="-25" dirty="0">
                <a:solidFill>
                  <a:sysClr val="windowText" lastClr="000000"/>
                </a:solidFill>
                <a:latin typeface="Microsoft Sans Serif"/>
                <a:cs typeface="Microsoft Sans Serif"/>
              </a:rPr>
              <a:t>nhỏ</a:t>
            </a:r>
            <a:r>
              <a:rPr sz="2400" kern="0" dirty="0">
                <a:solidFill>
                  <a:sysClr val="windowText" lastClr="000000"/>
                </a:solidFill>
                <a:latin typeface="Microsoft Sans Serif"/>
                <a:cs typeface="Microsoft Sans Serif"/>
              </a:rPr>
              <a:t>	</a:t>
            </a:r>
            <a:r>
              <a:rPr sz="2400" kern="0" spc="-20" dirty="0">
                <a:solidFill>
                  <a:sysClr val="windowText" lastClr="000000"/>
                </a:solidFill>
                <a:latin typeface="Microsoft Sans Serif"/>
                <a:cs typeface="Microsoft Sans Serif"/>
              </a:rPr>
              <a:t>việc</a:t>
            </a:r>
            <a:r>
              <a:rPr sz="2400" kern="0" dirty="0">
                <a:solidFill>
                  <a:sysClr val="windowText" lastClr="000000"/>
                </a:solidFill>
                <a:latin typeface="Microsoft Sans Serif"/>
                <a:cs typeface="Microsoft Sans Serif"/>
              </a:rPr>
              <a:t>	</a:t>
            </a:r>
            <a:r>
              <a:rPr sz="2400" kern="0" spc="-25" dirty="0">
                <a:solidFill>
                  <a:sysClr val="windowText" lastClr="000000"/>
                </a:solidFill>
                <a:latin typeface="Microsoft Sans Serif"/>
                <a:cs typeface="Microsoft Sans Serif"/>
              </a:rPr>
              <a:t>áp</a:t>
            </a:r>
            <a:r>
              <a:rPr sz="2400" kern="0" dirty="0">
                <a:solidFill>
                  <a:sysClr val="windowText" lastClr="000000"/>
                </a:solidFill>
                <a:latin typeface="Microsoft Sans Serif"/>
                <a:cs typeface="Microsoft Sans Serif"/>
              </a:rPr>
              <a:t>	</a:t>
            </a:r>
            <a:r>
              <a:rPr sz="2400" kern="0" spc="-20" dirty="0">
                <a:solidFill>
                  <a:sysClr val="windowText" lastClr="000000"/>
                </a:solidFill>
                <a:latin typeface="Microsoft Sans Serif"/>
                <a:cs typeface="Microsoft Sans Serif"/>
              </a:rPr>
              <a:t>dụng</a:t>
            </a:r>
            <a:r>
              <a:rPr sz="2400" kern="0" dirty="0">
                <a:solidFill>
                  <a:sysClr val="windowText" lastClr="000000"/>
                </a:solidFill>
                <a:latin typeface="Microsoft Sans Serif"/>
                <a:cs typeface="Microsoft Sans Serif"/>
              </a:rPr>
              <a:t>	</a:t>
            </a:r>
            <a:r>
              <a:rPr sz="2400" kern="0" spc="-25" dirty="0">
                <a:solidFill>
                  <a:sysClr val="windowText" lastClr="000000"/>
                </a:solidFill>
                <a:latin typeface="Microsoft Sans Serif"/>
                <a:cs typeface="Microsoft Sans Serif"/>
              </a:rPr>
              <a:t>mô</a:t>
            </a:r>
            <a:r>
              <a:rPr sz="2400" kern="0" dirty="0">
                <a:solidFill>
                  <a:sysClr val="windowText" lastClr="000000"/>
                </a:solidFill>
                <a:latin typeface="Microsoft Sans Serif"/>
                <a:cs typeface="Microsoft Sans Serif"/>
              </a:rPr>
              <a:t>	</a:t>
            </a:r>
            <a:r>
              <a:rPr sz="2400" kern="0" spc="-20" dirty="0">
                <a:solidFill>
                  <a:sysClr val="windowText" lastClr="000000"/>
                </a:solidFill>
                <a:latin typeface="Microsoft Sans Serif"/>
                <a:cs typeface="Microsoft Sans Serif"/>
              </a:rPr>
              <a:t>hình</a:t>
            </a:r>
            <a:r>
              <a:rPr sz="2400" kern="0" dirty="0">
                <a:solidFill>
                  <a:sysClr val="windowText" lastClr="000000"/>
                </a:solidFill>
                <a:latin typeface="Microsoft Sans Serif"/>
                <a:cs typeface="Microsoft Sans Serif"/>
              </a:rPr>
              <a:t>	</a:t>
            </a:r>
            <a:r>
              <a:rPr sz="2400" kern="0" spc="-25" dirty="0">
                <a:solidFill>
                  <a:sysClr val="windowText" lastClr="000000"/>
                </a:solidFill>
                <a:latin typeface="Microsoft Sans Serif"/>
                <a:cs typeface="Microsoft Sans Serif"/>
              </a:rPr>
              <a:t>MVC</a:t>
            </a:r>
            <a:r>
              <a:rPr sz="2400" kern="0" dirty="0">
                <a:solidFill>
                  <a:sysClr val="windowText" lastClr="000000"/>
                </a:solidFill>
                <a:latin typeface="Microsoft Sans Serif"/>
                <a:cs typeface="Microsoft Sans Serif"/>
              </a:rPr>
              <a:t>	</a:t>
            </a:r>
            <a:r>
              <a:rPr sz="2400" kern="0" spc="-25" dirty="0">
                <a:solidFill>
                  <a:sysClr val="windowText" lastClr="000000"/>
                </a:solidFill>
                <a:latin typeface="Microsoft Sans Serif"/>
                <a:cs typeface="Microsoft Sans Serif"/>
              </a:rPr>
              <a:t>gây </a:t>
            </a:r>
            <a:r>
              <a:rPr sz="2400" kern="0" dirty="0">
                <a:solidFill>
                  <a:sysClr val="windowText" lastClr="000000"/>
                </a:solidFill>
                <a:latin typeface="Microsoft Sans Serif"/>
                <a:cs typeface="Microsoft Sans Serif"/>
              </a:rPr>
              <a:t>cồng</a:t>
            </a:r>
            <a:r>
              <a:rPr sz="2400" kern="0" spc="-1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kềnh,</a:t>
            </a:r>
            <a:r>
              <a:rPr sz="2400" kern="0" spc="2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tốn</a:t>
            </a:r>
            <a:r>
              <a:rPr sz="2400" kern="0" spc="-5" dirty="0">
                <a:solidFill>
                  <a:sysClr val="windowText" lastClr="000000"/>
                </a:solidFill>
                <a:latin typeface="Microsoft Sans Serif"/>
                <a:cs typeface="Microsoft Sans Serif"/>
              </a:rPr>
              <a:t> </a:t>
            </a:r>
            <a:r>
              <a:rPr sz="2400" kern="0" spc="55" dirty="0">
                <a:solidFill>
                  <a:sysClr val="windowText" lastClr="000000"/>
                </a:solidFill>
                <a:latin typeface="Microsoft Sans Serif"/>
                <a:cs typeface="Microsoft Sans Serif"/>
              </a:rPr>
              <a:t>thời</a:t>
            </a:r>
            <a:r>
              <a:rPr sz="2400" kern="0" spc="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gian</a:t>
            </a:r>
            <a:r>
              <a:rPr sz="2400" kern="0" spc="-1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trong</a:t>
            </a:r>
            <a:r>
              <a:rPr sz="2400" kern="0" spc="3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quá</a:t>
            </a:r>
            <a:r>
              <a:rPr sz="2400" kern="0" spc="3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trình</a:t>
            </a:r>
            <a:r>
              <a:rPr sz="2400" kern="0" spc="-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phát</a:t>
            </a:r>
            <a:r>
              <a:rPr sz="2400" kern="0" spc="50" dirty="0">
                <a:solidFill>
                  <a:sysClr val="windowText" lastClr="000000"/>
                </a:solidFill>
                <a:latin typeface="Microsoft Sans Serif"/>
                <a:cs typeface="Microsoft Sans Serif"/>
              </a:rPr>
              <a:t> </a:t>
            </a:r>
            <a:r>
              <a:rPr sz="2400" kern="0" spc="-10" dirty="0">
                <a:solidFill>
                  <a:sysClr val="windowText" lastClr="000000"/>
                </a:solidFill>
                <a:latin typeface="Microsoft Sans Serif"/>
                <a:cs typeface="Microsoft Sans Serif"/>
              </a:rPr>
              <a:t>triển.</a:t>
            </a:r>
            <a:endParaRPr sz="2400" kern="0">
              <a:solidFill>
                <a:sysClr val="windowText" lastClr="000000"/>
              </a:solidFill>
              <a:latin typeface="Microsoft Sans Serif"/>
              <a:cs typeface="Microsoft Sans Serif"/>
            </a:endParaRPr>
          </a:p>
          <a:p>
            <a:pPr marL="570230" marR="5080" indent="-342900">
              <a:lnSpc>
                <a:spcPct val="150100"/>
              </a:lnSpc>
              <a:spcBef>
                <a:spcPts val="1190"/>
              </a:spcBef>
              <a:buFont typeface="Wingdings"/>
              <a:buChar char=""/>
              <a:tabLst>
                <a:tab pos="570230" algn="l"/>
                <a:tab pos="1265555" algn="l"/>
                <a:tab pos="1956435" algn="l"/>
                <a:tab pos="2697480" algn="l"/>
                <a:tab pos="3561715" algn="l"/>
                <a:tab pos="4714875" algn="l"/>
                <a:tab pos="5254625" algn="l"/>
                <a:tab pos="5894705" algn="l"/>
                <a:tab pos="6558280" algn="l"/>
                <a:tab pos="7198359" algn="l"/>
              </a:tabLst>
            </a:pPr>
            <a:r>
              <a:rPr sz="2400" kern="0" spc="-25" dirty="0">
                <a:solidFill>
                  <a:sysClr val="windowText" lastClr="000000"/>
                </a:solidFill>
                <a:latin typeface="Microsoft Sans Serif"/>
                <a:cs typeface="Microsoft Sans Serif"/>
              </a:rPr>
              <a:t>Tốn</a:t>
            </a:r>
            <a:r>
              <a:rPr sz="2400" kern="0" dirty="0">
                <a:solidFill>
                  <a:sysClr val="windowText" lastClr="000000"/>
                </a:solidFill>
                <a:latin typeface="Microsoft Sans Serif"/>
                <a:cs typeface="Microsoft Sans Serif"/>
              </a:rPr>
              <a:t>	</a:t>
            </a:r>
            <a:r>
              <a:rPr sz="2400" kern="0" spc="35" dirty="0">
                <a:solidFill>
                  <a:sysClr val="windowText" lastClr="000000"/>
                </a:solidFill>
                <a:latin typeface="Microsoft Sans Serif"/>
                <a:cs typeface="Microsoft Sans Serif"/>
              </a:rPr>
              <a:t>thời</a:t>
            </a:r>
            <a:r>
              <a:rPr sz="2400" kern="0" dirty="0">
                <a:solidFill>
                  <a:sysClr val="windowText" lastClr="000000"/>
                </a:solidFill>
                <a:latin typeface="Microsoft Sans Serif"/>
                <a:cs typeface="Microsoft Sans Serif"/>
              </a:rPr>
              <a:t>	</a:t>
            </a:r>
            <a:r>
              <a:rPr sz="2400" kern="0" spc="-20" dirty="0">
                <a:solidFill>
                  <a:sysClr val="windowText" lastClr="000000"/>
                </a:solidFill>
                <a:latin typeface="Microsoft Sans Serif"/>
                <a:cs typeface="Microsoft Sans Serif"/>
              </a:rPr>
              <a:t>gian</a:t>
            </a:r>
            <a:r>
              <a:rPr sz="2400" kern="0" dirty="0">
                <a:solidFill>
                  <a:sysClr val="windowText" lastClr="000000"/>
                </a:solidFill>
                <a:latin typeface="Microsoft Sans Serif"/>
                <a:cs typeface="Microsoft Sans Serif"/>
              </a:rPr>
              <a:t>	</a:t>
            </a:r>
            <a:r>
              <a:rPr sz="2400" kern="0" spc="-20" dirty="0">
                <a:solidFill>
                  <a:sysClr val="windowText" lastClr="000000"/>
                </a:solidFill>
                <a:latin typeface="Microsoft Sans Serif"/>
                <a:cs typeface="Microsoft Sans Serif"/>
              </a:rPr>
              <a:t>trung</a:t>
            </a:r>
            <a:r>
              <a:rPr sz="2400" kern="0" dirty="0">
                <a:solidFill>
                  <a:sysClr val="windowText" lastClr="000000"/>
                </a:solidFill>
                <a:latin typeface="Microsoft Sans Serif"/>
                <a:cs typeface="Microsoft Sans Serif"/>
              </a:rPr>
              <a:t>	</a:t>
            </a:r>
            <a:r>
              <a:rPr sz="2400" kern="0" spc="-10" dirty="0">
                <a:solidFill>
                  <a:sysClr val="windowText" lastClr="000000"/>
                </a:solidFill>
                <a:latin typeface="Microsoft Sans Serif"/>
                <a:cs typeface="Microsoft Sans Serif"/>
              </a:rPr>
              <a:t>chuyển</a:t>
            </a:r>
            <a:r>
              <a:rPr sz="2400" kern="0" dirty="0">
                <a:solidFill>
                  <a:sysClr val="windowText" lastClr="000000"/>
                </a:solidFill>
                <a:latin typeface="Microsoft Sans Serif"/>
                <a:cs typeface="Microsoft Sans Serif"/>
              </a:rPr>
              <a:t>	</a:t>
            </a:r>
            <a:r>
              <a:rPr sz="2400" kern="0" spc="100" dirty="0">
                <a:solidFill>
                  <a:sysClr val="windowText" lastClr="000000"/>
                </a:solidFill>
                <a:latin typeface="Microsoft Sans Serif"/>
                <a:cs typeface="Microsoft Sans Serif"/>
              </a:rPr>
              <a:t>dữ</a:t>
            </a:r>
            <a:r>
              <a:rPr sz="2400" kern="0" dirty="0">
                <a:solidFill>
                  <a:sysClr val="windowText" lastClr="000000"/>
                </a:solidFill>
                <a:latin typeface="Microsoft Sans Serif"/>
                <a:cs typeface="Microsoft Sans Serif"/>
              </a:rPr>
              <a:t>	</a:t>
            </a:r>
            <a:r>
              <a:rPr sz="2400" kern="0" spc="-20" dirty="0">
                <a:solidFill>
                  <a:sysClr val="windowText" lastClr="000000"/>
                </a:solidFill>
                <a:latin typeface="Microsoft Sans Serif"/>
                <a:cs typeface="Microsoft Sans Serif"/>
              </a:rPr>
              <a:t>liệu</a:t>
            </a:r>
            <a:r>
              <a:rPr sz="2400" kern="0" dirty="0">
                <a:solidFill>
                  <a:sysClr val="windowText" lastClr="000000"/>
                </a:solidFill>
                <a:latin typeface="Microsoft Sans Serif"/>
                <a:cs typeface="Microsoft Sans Serif"/>
              </a:rPr>
              <a:t>	</a:t>
            </a:r>
            <a:r>
              <a:rPr sz="2400" kern="0" spc="-25" dirty="0">
                <a:solidFill>
                  <a:sysClr val="windowText" lastClr="000000"/>
                </a:solidFill>
                <a:latin typeface="Microsoft Sans Serif"/>
                <a:cs typeface="Microsoft Sans Serif"/>
              </a:rPr>
              <a:t>của</a:t>
            </a:r>
            <a:r>
              <a:rPr sz="2400" kern="0" dirty="0">
                <a:solidFill>
                  <a:sysClr val="windowText" lastClr="000000"/>
                </a:solidFill>
                <a:latin typeface="Microsoft Sans Serif"/>
                <a:cs typeface="Microsoft Sans Serif"/>
              </a:rPr>
              <a:t>	</a:t>
            </a:r>
            <a:r>
              <a:rPr sz="2400" kern="0" spc="-25" dirty="0">
                <a:solidFill>
                  <a:sysClr val="windowText" lastClr="000000"/>
                </a:solidFill>
                <a:latin typeface="Microsoft Sans Serif"/>
                <a:cs typeface="Microsoft Sans Serif"/>
              </a:rPr>
              <a:t>các</a:t>
            </a:r>
            <a:r>
              <a:rPr sz="2400" kern="0" dirty="0">
                <a:solidFill>
                  <a:sysClr val="windowText" lastClr="000000"/>
                </a:solidFill>
                <a:latin typeface="Microsoft Sans Serif"/>
                <a:cs typeface="Microsoft Sans Serif"/>
              </a:rPr>
              <a:t>	</a:t>
            </a:r>
            <a:r>
              <a:rPr sz="2400" kern="0" spc="-10" dirty="0">
                <a:solidFill>
                  <a:sysClr val="windowText" lastClr="000000"/>
                </a:solidFill>
                <a:latin typeface="Microsoft Sans Serif"/>
                <a:cs typeface="Microsoft Sans Serif"/>
              </a:rPr>
              <a:t>thành phần.</a:t>
            </a:r>
            <a:endParaRPr sz="2400" kern="0">
              <a:solidFill>
                <a:sysClr val="windowText" lastClr="000000"/>
              </a:solidFill>
              <a:latin typeface="Microsoft Sans Serif"/>
              <a:cs typeface="Microsoft Sans Serif"/>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solidFill>
                  <a:prstClr val="white"/>
                </a:solidFill>
              </a:rPr>
              <a:pPr marL="38100">
                <a:lnSpc>
                  <a:spcPts val="1664"/>
                </a:lnSpc>
              </a:pPr>
              <a:t>12</a:t>
            </a:fld>
            <a:endParaRPr spc="-25" dirty="0">
              <a:solidFill>
                <a:prstClr val="white"/>
              </a:solidFill>
            </a:endParaRPr>
          </a:p>
        </p:txBody>
      </p:sp>
      <p:sp>
        <p:nvSpPr>
          <p:cNvPr id="7" name="object 7"/>
          <p:cNvSpPr txBox="1">
            <a:spLocks noGrp="1"/>
          </p:cNvSpPr>
          <p:nvPr>
            <p:ph type="ftr" sz="quarter" idx="5"/>
          </p:nvPr>
        </p:nvSpPr>
        <p:spPr>
          <a:xfrm>
            <a:off x="2763418" y="6600176"/>
            <a:ext cx="1243964" cy="155171"/>
          </a:xfrm>
          <a:prstGeom prst="rect">
            <a:avLst/>
          </a:prstGeom>
        </p:spPr>
        <p:txBody>
          <a:bodyPr vert="horz" wrap="square" lIns="0" tIns="1270" rIns="0" bIns="0" rtlCol="0">
            <a:spAutoFit/>
          </a:bodyPr>
          <a:lstStyle/>
          <a:p>
            <a:pPr marL="12700">
              <a:spcBef>
                <a:spcPts val="10"/>
              </a:spcBef>
            </a:pPr>
            <a:endParaRPr spc="-20" dirty="0">
              <a:solidFill>
                <a:prstClr val="white"/>
              </a:solidFill>
            </a:endParaRPr>
          </a:p>
        </p:txBody>
      </p:sp>
    </p:spTree>
    <p:extLst>
      <p:ext uri="{BB962C8B-B14F-4D97-AF65-F5344CB8AC3E}">
        <p14:creationId xmlns:p14="http://schemas.microsoft.com/office/powerpoint/2010/main" val="72090864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2091268" y="450927"/>
            <a:ext cx="11057467" cy="444994"/>
          </a:xfrm>
          <a:prstGeom prst="rect">
            <a:avLst/>
          </a:prstGeom>
        </p:spPr>
        <p:txBody>
          <a:bodyPr vert="horz" wrap="square" lIns="0" tIns="13970" rIns="0" bIns="0" rtlCol="0">
            <a:spAutoFit/>
          </a:bodyPr>
          <a:lstStyle/>
          <a:p>
            <a:pPr marL="12700">
              <a:spcBef>
                <a:spcPts val="110"/>
              </a:spcBef>
              <a:tabLst>
                <a:tab pos="8279765" algn="l"/>
              </a:tabLst>
            </a:pPr>
            <a:r>
              <a:rPr dirty="0"/>
              <a:t>1.</a:t>
            </a:r>
            <a:r>
              <a:rPr spc="-65" dirty="0"/>
              <a:t> </a:t>
            </a:r>
            <a:r>
              <a:rPr dirty="0"/>
              <a:t>GIỚI</a:t>
            </a:r>
            <a:r>
              <a:rPr spc="-90" dirty="0"/>
              <a:t> </a:t>
            </a:r>
            <a:r>
              <a:rPr dirty="0"/>
              <a:t>THIỆU</a:t>
            </a:r>
            <a:r>
              <a:rPr spc="-60" dirty="0"/>
              <a:t> </a:t>
            </a:r>
            <a:r>
              <a:rPr dirty="0"/>
              <a:t>VỀ</a:t>
            </a:r>
            <a:r>
              <a:rPr spc="-170" dirty="0"/>
              <a:t> </a:t>
            </a:r>
            <a:r>
              <a:rPr spc="-45" dirty="0"/>
              <a:t>ASP.NET</a:t>
            </a:r>
            <a:r>
              <a:rPr dirty="0"/>
              <a:t> </a:t>
            </a:r>
            <a:r>
              <a:rPr spc="-25" dirty="0"/>
              <a:t>MVC</a:t>
            </a:r>
            <a:r>
              <a:rPr dirty="0"/>
              <a:t>	</a:t>
            </a:r>
          </a:p>
        </p:txBody>
      </p:sp>
      <p:sp>
        <p:nvSpPr>
          <p:cNvPr id="3" name="object 3"/>
          <p:cNvSpPr txBox="1"/>
          <p:nvPr/>
        </p:nvSpPr>
        <p:spPr>
          <a:xfrm>
            <a:off x="2242820" y="1167766"/>
            <a:ext cx="4500245" cy="393065"/>
          </a:xfrm>
          <a:prstGeom prst="rect">
            <a:avLst/>
          </a:prstGeom>
        </p:spPr>
        <p:txBody>
          <a:bodyPr vert="horz" wrap="square" lIns="0" tIns="13970" rIns="0" bIns="0" rtlCol="0">
            <a:spAutoFit/>
          </a:bodyPr>
          <a:lstStyle/>
          <a:p>
            <a:pPr marL="12700">
              <a:spcBef>
                <a:spcPts val="110"/>
              </a:spcBef>
            </a:pPr>
            <a:r>
              <a:rPr sz="2400" b="1" kern="0" dirty="0">
                <a:solidFill>
                  <a:srgbClr val="C00000"/>
                </a:solidFill>
                <a:latin typeface="Arial"/>
                <a:cs typeface="Arial"/>
              </a:rPr>
              <a:t>1.4.</a:t>
            </a:r>
            <a:r>
              <a:rPr sz="2400" b="1" kern="0" spc="-10" dirty="0">
                <a:solidFill>
                  <a:srgbClr val="C00000"/>
                </a:solidFill>
                <a:latin typeface="Arial"/>
                <a:cs typeface="Arial"/>
              </a:rPr>
              <a:t> </a:t>
            </a:r>
            <a:r>
              <a:rPr sz="2400" b="1" kern="0" dirty="0">
                <a:solidFill>
                  <a:srgbClr val="C00000"/>
                </a:solidFill>
                <a:latin typeface="Arial"/>
                <a:cs typeface="Arial"/>
              </a:rPr>
              <a:t>Sự</a:t>
            </a:r>
            <a:r>
              <a:rPr sz="2400" b="1" kern="0" spc="-40" dirty="0">
                <a:solidFill>
                  <a:srgbClr val="C00000"/>
                </a:solidFill>
                <a:latin typeface="Arial"/>
                <a:cs typeface="Arial"/>
              </a:rPr>
              <a:t> </a:t>
            </a:r>
            <a:r>
              <a:rPr sz="2400" b="1" kern="0" dirty="0">
                <a:solidFill>
                  <a:srgbClr val="C00000"/>
                </a:solidFill>
                <a:latin typeface="Arial"/>
                <a:cs typeface="Arial"/>
              </a:rPr>
              <a:t>khác</a:t>
            </a:r>
            <a:r>
              <a:rPr sz="2400" b="1" kern="0" spc="-35" dirty="0">
                <a:solidFill>
                  <a:srgbClr val="C00000"/>
                </a:solidFill>
                <a:latin typeface="Arial"/>
                <a:cs typeface="Arial"/>
              </a:rPr>
              <a:t> </a:t>
            </a:r>
            <a:r>
              <a:rPr sz="2400" b="1" kern="0" dirty="0">
                <a:solidFill>
                  <a:srgbClr val="C00000"/>
                </a:solidFill>
                <a:latin typeface="Arial"/>
                <a:cs typeface="Arial"/>
              </a:rPr>
              <a:t>biệt</a:t>
            </a:r>
            <a:r>
              <a:rPr sz="2400" b="1" kern="0" spc="-30" dirty="0">
                <a:solidFill>
                  <a:srgbClr val="C00000"/>
                </a:solidFill>
                <a:latin typeface="Arial"/>
                <a:cs typeface="Arial"/>
              </a:rPr>
              <a:t> </a:t>
            </a:r>
            <a:r>
              <a:rPr sz="2400" b="1" kern="0" dirty="0">
                <a:solidFill>
                  <a:srgbClr val="C00000"/>
                </a:solidFill>
                <a:latin typeface="Arial"/>
                <a:cs typeface="Arial"/>
              </a:rPr>
              <a:t>với</a:t>
            </a:r>
            <a:r>
              <a:rPr sz="2400" b="1" kern="0" spc="-35" dirty="0">
                <a:solidFill>
                  <a:srgbClr val="C00000"/>
                </a:solidFill>
                <a:latin typeface="Arial"/>
                <a:cs typeface="Arial"/>
              </a:rPr>
              <a:t> </a:t>
            </a:r>
            <a:r>
              <a:rPr sz="2400" b="1" kern="0" spc="-10" dirty="0">
                <a:solidFill>
                  <a:srgbClr val="C00000"/>
                </a:solidFill>
                <a:latin typeface="Arial"/>
                <a:cs typeface="Arial"/>
              </a:rPr>
              <a:t>WebForm</a:t>
            </a:r>
            <a:endParaRPr sz="2400" kern="0">
              <a:solidFill>
                <a:sysClr val="windowText" lastClr="000000"/>
              </a:solidFill>
              <a:latin typeface="Arial"/>
              <a:cs typeface="Arial"/>
            </a:endParaRPr>
          </a:p>
        </p:txBody>
      </p:sp>
      <p:pic>
        <p:nvPicPr>
          <p:cNvPr id="4" name="object 4"/>
          <p:cNvPicPr/>
          <p:nvPr/>
        </p:nvPicPr>
        <p:blipFill>
          <a:blip r:embed="rId2" cstate="print"/>
          <a:stretch>
            <a:fillRect/>
          </a:stretch>
        </p:blipFill>
        <p:spPr>
          <a:xfrm>
            <a:off x="2274584" y="1642037"/>
            <a:ext cx="9341154" cy="4692066"/>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solidFill>
                  <a:prstClr val="white"/>
                </a:solidFill>
              </a:rPr>
              <a:pPr marL="38100">
                <a:lnSpc>
                  <a:spcPts val="1664"/>
                </a:lnSpc>
              </a:pPr>
              <a:t>13</a:t>
            </a:fld>
            <a:endParaRPr spc="-25" dirty="0">
              <a:solidFill>
                <a:prstClr val="white"/>
              </a:solidFill>
            </a:endParaRPr>
          </a:p>
        </p:txBody>
      </p:sp>
      <p:sp>
        <p:nvSpPr>
          <p:cNvPr id="7" name="object 7"/>
          <p:cNvSpPr txBox="1">
            <a:spLocks noGrp="1"/>
          </p:cNvSpPr>
          <p:nvPr>
            <p:ph type="ftr" sz="quarter" idx="5"/>
          </p:nvPr>
        </p:nvSpPr>
        <p:spPr>
          <a:xfrm>
            <a:off x="2763418" y="6600176"/>
            <a:ext cx="1243964" cy="155171"/>
          </a:xfrm>
          <a:prstGeom prst="rect">
            <a:avLst/>
          </a:prstGeom>
        </p:spPr>
        <p:txBody>
          <a:bodyPr vert="horz" wrap="square" lIns="0" tIns="1270" rIns="0" bIns="0" rtlCol="0">
            <a:spAutoFit/>
          </a:bodyPr>
          <a:lstStyle/>
          <a:p>
            <a:pPr marL="12700">
              <a:spcBef>
                <a:spcPts val="10"/>
              </a:spcBef>
            </a:pPr>
            <a:endParaRPr spc="-20" dirty="0">
              <a:solidFill>
                <a:prstClr val="white"/>
              </a:solidFill>
            </a:endParaRPr>
          </a:p>
        </p:txBody>
      </p:sp>
    </p:spTree>
    <p:extLst>
      <p:ext uri="{BB962C8B-B14F-4D97-AF65-F5344CB8AC3E}">
        <p14:creationId xmlns:p14="http://schemas.microsoft.com/office/powerpoint/2010/main" val="307938999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2091268" y="450927"/>
            <a:ext cx="11057467" cy="444994"/>
          </a:xfrm>
          <a:prstGeom prst="rect">
            <a:avLst/>
          </a:prstGeom>
        </p:spPr>
        <p:txBody>
          <a:bodyPr vert="horz" wrap="square" lIns="0" tIns="13970" rIns="0" bIns="0" rtlCol="0">
            <a:spAutoFit/>
          </a:bodyPr>
          <a:lstStyle/>
          <a:p>
            <a:pPr marL="12700">
              <a:spcBef>
                <a:spcPts val="110"/>
              </a:spcBef>
              <a:tabLst>
                <a:tab pos="8279765" algn="l"/>
              </a:tabLst>
            </a:pPr>
            <a:r>
              <a:rPr dirty="0"/>
              <a:t>1.</a:t>
            </a:r>
            <a:r>
              <a:rPr spc="-65" dirty="0"/>
              <a:t> </a:t>
            </a:r>
            <a:r>
              <a:rPr dirty="0"/>
              <a:t>GIỚI</a:t>
            </a:r>
            <a:r>
              <a:rPr spc="-90" dirty="0"/>
              <a:t> </a:t>
            </a:r>
            <a:r>
              <a:rPr dirty="0"/>
              <a:t>THIỆU</a:t>
            </a:r>
            <a:r>
              <a:rPr spc="-60" dirty="0"/>
              <a:t> </a:t>
            </a:r>
            <a:r>
              <a:rPr dirty="0"/>
              <a:t>VỀ</a:t>
            </a:r>
            <a:r>
              <a:rPr spc="-170" dirty="0"/>
              <a:t> </a:t>
            </a:r>
            <a:r>
              <a:rPr spc="-45" dirty="0"/>
              <a:t>ASP.NET</a:t>
            </a:r>
            <a:r>
              <a:rPr dirty="0"/>
              <a:t> </a:t>
            </a:r>
            <a:r>
              <a:rPr spc="-25" dirty="0"/>
              <a:t>MVC</a:t>
            </a:r>
            <a:r>
              <a:rPr dirty="0"/>
              <a:t>	</a:t>
            </a:r>
          </a:p>
        </p:txBody>
      </p:sp>
      <p:sp>
        <p:nvSpPr>
          <p:cNvPr id="3" name="object 3"/>
          <p:cNvSpPr txBox="1"/>
          <p:nvPr/>
        </p:nvSpPr>
        <p:spPr>
          <a:xfrm>
            <a:off x="2242820" y="1167766"/>
            <a:ext cx="4500245" cy="393065"/>
          </a:xfrm>
          <a:prstGeom prst="rect">
            <a:avLst/>
          </a:prstGeom>
        </p:spPr>
        <p:txBody>
          <a:bodyPr vert="horz" wrap="square" lIns="0" tIns="13970" rIns="0" bIns="0" rtlCol="0">
            <a:spAutoFit/>
          </a:bodyPr>
          <a:lstStyle/>
          <a:p>
            <a:pPr marL="12700">
              <a:spcBef>
                <a:spcPts val="110"/>
              </a:spcBef>
            </a:pPr>
            <a:r>
              <a:rPr sz="2400" b="1" kern="0" dirty="0">
                <a:solidFill>
                  <a:srgbClr val="C00000"/>
                </a:solidFill>
                <a:latin typeface="Arial"/>
                <a:cs typeface="Arial"/>
              </a:rPr>
              <a:t>1.4.</a:t>
            </a:r>
            <a:r>
              <a:rPr sz="2400" b="1" kern="0" spc="-10" dirty="0">
                <a:solidFill>
                  <a:srgbClr val="C00000"/>
                </a:solidFill>
                <a:latin typeface="Arial"/>
                <a:cs typeface="Arial"/>
              </a:rPr>
              <a:t> </a:t>
            </a:r>
            <a:r>
              <a:rPr sz="2400" b="1" kern="0" dirty="0">
                <a:solidFill>
                  <a:srgbClr val="C00000"/>
                </a:solidFill>
                <a:latin typeface="Arial"/>
                <a:cs typeface="Arial"/>
              </a:rPr>
              <a:t>Sự</a:t>
            </a:r>
            <a:r>
              <a:rPr sz="2400" b="1" kern="0" spc="-40" dirty="0">
                <a:solidFill>
                  <a:srgbClr val="C00000"/>
                </a:solidFill>
                <a:latin typeface="Arial"/>
                <a:cs typeface="Arial"/>
              </a:rPr>
              <a:t> </a:t>
            </a:r>
            <a:r>
              <a:rPr sz="2400" b="1" kern="0" dirty="0">
                <a:solidFill>
                  <a:srgbClr val="C00000"/>
                </a:solidFill>
                <a:latin typeface="Arial"/>
                <a:cs typeface="Arial"/>
              </a:rPr>
              <a:t>khác</a:t>
            </a:r>
            <a:r>
              <a:rPr sz="2400" b="1" kern="0" spc="-35" dirty="0">
                <a:solidFill>
                  <a:srgbClr val="C00000"/>
                </a:solidFill>
                <a:latin typeface="Arial"/>
                <a:cs typeface="Arial"/>
              </a:rPr>
              <a:t> </a:t>
            </a:r>
            <a:r>
              <a:rPr sz="2400" b="1" kern="0" dirty="0">
                <a:solidFill>
                  <a:srgbClr val="C00000"/>
                </a:solidFill>
                <a:latin typeface="Arial"/>
                <a:cs typeface="Arial"/>
              </a:rPr>
              <a:t>biệt</a:t>
            </a:r>
            <a:r>
              <a:rPr sz="2400" b="1" kern="0" spc="-30" dirty="0">
                <a:solidFill>
                  <a:srgbClr val="C00000"/>
                </a:solidFill>
                <a:latin typeface="Arial"/>
                <a:cs typeface="Arial"/>
              </a:rPr>
              <a:t> </a:t>
            </a:r>
            <a:r>
              <a:rPr sz="2400" b="1" kern="0" dirty="0">
                <a:solidFill>
                  <a:srgbClr val="C00000"/>
                </a:solidFill>
                <a:latin typeface="Arial"/>
                <a:cs typeface="Arial"/>
              </a:rPr>
              <a:t>với</a:t>
            </a:r>
            <a:r>
              <a:rPr sz="2400" b="1" kern="0" spc="-35" dirty="0">
                <a:solidFill>
                  <a:srgbClr val="C00000"/>
                </a:solidFill>
                <a:latin typeface="Arial"/>
                <a:cs typeface="Arial"/>
              </a:rPr>
              <a:t> </a:t>
            </a:r>
            <a:r>
              <a:rPr sz="2400" b="1" kern="0" spc="-10" dirty="0">
                <a:solidFill>
                  <a:srgbClr val="C00000"/>
                </a:solidFill>
                <a:latin typeface="Arial"/>
                <a:cs typeface="Arial"/>
              </a:rPr>
              <a:t>WebForm</a:t>
            </a:r>
            <a:endParaRPr sz="2400" kern="0">
              <a:solidFill>
                <a:sysClr val="windowText" lastClr="000000"/>
              </a:solidFill>
              <a:latin typeface="Arial"/>
              <a:cs typeface="Arial"/>
            </a:endParaRPr>
          </a:p>
        </p:txBody>
      </p:sp>
      <p:grpSp>
        <p:nvGrpSpPr>
          <p:cNvPr id="4" name="object 4"/>
          <p:cNvGrpSpPr/>
          <p:nvPr/>
        </p:nvGrpSpPr>
        <p:grpSpPr>
          <a:xfrm>
            <a:off x="2209799" y="1783563"/>
            <a:ext cx="9434513" cy="4031450"/>
            <a:chOff x="685800" y="1783563"/>
            <a:chExt cx="8052434" cy="2865120"/>
          </a:xfrm>
        </p:grpSpPr>
        <p:pic>
          <p:nvPicPr>
            <p:cNvPr id="5" name="object 5"/>
            <p:cNvPicPr/>
            <p:nvPr/>
          </p:nvPicPr>
          <p:blipFill>
            <a:blip r:embed="rId2" cstate="print"/>
            <a:stretch>
              <a:fillRect/>
            </a:stretch>
          </p:blipFill>
          <p:spPr>
            <a:xfrm>
              <a:off x="750583" y="1783563"/>
              <a:ext cx="7961181" cy="491133"/>
            </a:xfrm>
            <a:prstGeom prst="rect">
              <a:avLst/>
            </a:prstGeom>
          </p:spPr>
        </p:pic>
        <p:pic>
          <p:nvPicPr>
            <p:cNvPr id="6" name="object 6"/>
            <p:cNvPicPr/>
            <p:nvPr/>
          </p:nvPicPr>
          <p:blipFill>
            <a:blip r:embed="rId3" cstate="print"/>
            <a:stretch>
              <a:fillRect/>
            </a:stretch>
          </p:blipFill>
          <p:spPr>
            <a:xfrm>
              <a:off x="685800" y="2198496"/>
              <a:ext cx="8051927" cy="2449703"/>
            </a:xfrm>
            <a:prstGeom prst="rect">
              <a:avLst/>
            </a:prstGeom>
          </p:spPr>
        </p:pic>
      </p:gr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solidFill>
                  <a:prstClr val="white"/>
                </a:solidFill>
              </a:rPr>
              <a:pPr marL="38100">
                <a:lnSpc>
                  <a:spcPts val="1664"/>
                </a:lnSpc>
              </a:pPr>
              <a:t>14</a:t>
            </a:fld>
            <a:endParaRPr spc="-25" dirty="0">
              <a:solidFill>
                <a:prstClr val="white"/>
              </a:solidFill>
            </a:endParaRPr>
          </a:p>
        </p:txBody>
      </p:sp>
      <p:sp>
        <p:nvSpPr>
          <p:cNvPr id="9" name="object 9"/>
          <p:cNvSpPr txBox="1">
            <a:spLocks noGrp="1"/>
          </p:cNvSpPr>
          <p:nvPr>
            <p:ph type="ftr" sz="quarter" idx="5"/>
          </p:nvPr>
        </p:nvSpPr>
        <p:spPr>
          <a:xfrm>
            <a:off x="2763418" y="6600176"/>
            <a:ext cx="1243964" cy="155171"/>
          </a:xfrm>
          <a:prstGeom prst="rect">
            <a:avLst/>
          </a:prstGeom>
        </p:spPr>
        <p:txBody>
          <a:bodyPr vert="horz" wrap="square" lIns="0" tIns="1270" rIns="0" bIns="0" rtlCol="0">
            <a:spAutoFit/>
          </a:bodyPr>
          <a:lstStyle/>
          <a:p>
            <a:pPr marL="12700">
              <a:spcBef>
                <a:spcPts val="10"/>
              </a:spcBef>
            </a:pPr>
            <a:endParaRPr spc="-20" dirty="0">
              <a:solidFill>
                <a:prstClr val="white"/>
              </a:solidFill>
            </a:endParaRPr>
          </a:p>
        </p:txBody>
      </p:sp>
    </p:spTree>
    <p:extLst>
      <p:ext uri="{BB962C8B-B14F-4D97-AF65-F5344CB8AC3E}">
        <p14:creationId xmlns:p14="http://schemas.microsoft.com/office/powerpoint/2010/main" val="78665732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91268" y="450927"/>
            <a:ext cx="11057467" cy="444994"/>
          </a:xfrm>
          <a:prstGeom prst="rect">
            <a:avLst/>
          </a:prstGeom>
        </p:spPr>
        <p:txBody>
          <a:bodyPr vert="horz" wrap="square" lIns="0" tIns="13970" rIns="0" bIns="0" rtlCol="0">
            <a:spAutoFit/>
          </a:bodyPr>
          <a:lstStyle/>
          <a:p>
            <a:pPr marL="12700">
              <a:spcBef>
                <a:spcPts val="110"/>
              </a:spcBef>
              <a:tabLst>
                <a:tab pos="8279765" algn="l"/>
              </a:tabLst>
            </a:pPr>
            <a:r>
              <a:rPr dirty="0"/>
              <a:t>1.</a:t>
            </a:r>
            <a:r>
              <a:rPr spc="-65" dirty="0"/>
              <a:t> </a:t>
            </a:r>
            <a:r>
              <a:rPr dirty="0"/>
              <a:t>GIỚI</a:t>
            </a:r>
            <a:r>
              <a:rPr spc="-90" dirty="0"/>
              <a:t> </a:t>
            </a:r>
            <a:r>
              <a:rPr dirty="0"/>
              <a:t>THIỆU</a:t>
            </a:r>
            <a:r>
              <a:rPr spc="-60" dirty="0"/>
              <a:t> </a:t>
            </a:r>
            <a:r>
              <a:rPr dirty="0"/>
              <a:t>VỀ</a:t>
            </a:r>
            <a:r>
              <a:rPr spc="-170" dirty="0"/>
              <a:t> </a:t>
            </a:r>
            <a:r>
              <a:rPr spc="-45" dirty="0"/>
              <a:t>ASP.NET</a:t>
            </a:r>
            <a:r>
              <a:rPr dirty="0"/>
              <a:t> </a:t>
            </a:r>
            <a:r>
              <a:rPr spc="-25" dirty="0"/>
              <a:t>MVC</a:t>
            </a:r>
            <a:r>
              <a:rPr dirty="0"/>
              <a:t>	</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solidFill>
                  <a:prstClr val="white"/>
                </a:solidFill>
              </a:rPr>
              <a:pPr marL="38100">
                <a:lnSpc>
                  <a:spcPts val="1664"/>
                </a:lnSpc>
              </a:pPr>
              <a:t>15</a:t>
            </a:fld>
            <a:endParaRPr spc="-25" dirty="0">
              <a:solidFill>
                <a:prstClr val="white"/>
              </a:solidFill>
            </a:endParaRPr>
          </a:p>
        </p:txBody>
      </p:sp>
      <p:sp>
        <p:nvSpPr>
          <p:cNvPr id="6" name="object 6"/>
          <p:cNvSpPr txBox="1">
            <a:spLocks noGrp="1"/>
          </p:cNvSpPr>
          <p:nvPr>
            <p:ph type="ftr" sz="quarter" idx="5"/>
          </p:nvPr>
        </p:nvSpPr>
        <p:spPr>
          <a:xfrm>
            <a:off x="2763418" y="6600176"/>
            <a:ext cx="1243964" cy="155171"/>
          </a:xfrm>
          <a:prstGeom prst="rect">
            <a:avLst/>
          </a:prstGeom>
        </p:spPr>
        <p:txBody>
          <a:bodyPr vert="horz" wrap="square" lIns="0" tIns="1270" rIns="0" bIns="0" rtlCol="0">
            <a:spAutoFit/>
          </a:bodyPr>
          <a:lstStyle/>
          <a:p>
            <a:pPr marL="12700">
              <a:spcBef>
                <a:spcPts val="10"/>
              </a:spcBef>
            </a:pPr>
            <a:endParaRPr spc="-20" dirty="0">
              <a:solidFill>
                <a:prstClr val="white"/>
              </a:solidFill>
            </a:endParaRPr>
          </a:p>
        </p:txBody>
      </p:sp>
      <p:sp>
        <p:nvSpPr>
          <p:cNvPr id="3" name="object 3"/>
          <p:cNvSpPr txBox="1"/>
          <p:nvPr/>
        </p:nvSpPr>
        <p:spPr>
          <a:xfrm>
            <a:off x="2242820" y="1073346"/>
            <a:ext cx="9344343" cy="4875053"/>
          </a:xfrm>
          <a:prstGeom prst="rect">
            <a:avLst/>
          </a:prstGeom>
        </p:spPr>
        <p:txBody>
          <a:bodyPr vert="horz" wrap="square" lIns="0" tIns="108585" rIns="0" bIns="0" rtlCol="0">
            <a:spAutoFit/>
          </a:bodyPr>
          <a:lstStyle/>
          <a:p>
            <a:pPr marL="12700">
              <a:spcBef>
                <a:spcPts val="855"/>
              </a:spcBef>
            </a:pPr>
            <a:r>
              <a:rPr sz="2400" b="1" kern="0" dirty="0">
                <a:solidFill>
                  <a:srgbClr val="FF0000"/>
                </a:solidFill>
                <a:latin typeface="Arial"/>
                <a:cs typeface="Arial"/>
              </a:rPr>
              <a:t>1.5.</a:t>
            </a:r>
            <a:r>
              <a:rPr sz="2400" b="1" kern="0" spc="-15" dirty="0">
                <a:solidFill>
                  <a:srgbClr val="FF0000"/>
                </a:solidFill>
                <a:latin typeface="Arial"/>
                <a:cs typeface="Arial"/>
              </a:rPr>
              <a:t> </a:t>
            </a:r>
            <a:r>
              <a:rPr sz="2400" b="1" i="1" kern="0" dirty="0">
                <a:solidFill>
                  <a:srgbClr val="FF0000"/>
                </a:solidFill>
                <a:latin typeface="Arial"/>
                <a:cs typeface="Arial"/>
              </a:rPr>
              <a:t>Lợi</a:t>
            </a:r>
            <a:r>
              <a:rPr sz="2400" b="1" i="1" kern="0" spc="-40" dirty="0">
                <a:solidFill>
                  <a:srgbClr val="FF0000"/>
                </a:solidFill>
                <a:latin typeface="Arial"/>
                <a:cs typeface="Arial"/>
              </a:rPr>
              <a:t> </a:t>
            </a:r>
            <a:r>
              <a:rPr sz="2400" b="1" i="1" kern="0" dirty="0">
                <a:solidFill>
                  <a:srgbClr val="FF0000"/>
                </a:solidFill>
                <a:latin typeface="Arial"/>
                <a:cs typeface="Arial"/>
              </a:rPr>
              <a:t>ích</a:t>
            </a:r>
            <a:r>
              <a:rPr sz="2400" b="1" i="1" kern="0" spc="-50" dirty="0">
                <a:solidFill>
                  <a:srgbClr val="FF0000"/>
                </a:solidFill>
                <a:latin typeface="Arial"/>
                <a:cs typeface="Arial"/>
              </a:rPr>
              <a:t> </a:t>
            </a:r>
            <a:r>
              <a:rPr sz="2400" b="1" i="1" kern="0" dirty="0">
                <a:solidFill>
                  <a:srgbClr val="FF0000"/>
                </a:solidFill>
                <a:latin typeface="Arial"/>
                <a:cs typeface="Arial"/>
              </a:rPr>
              <a:t>web</a:t>
            </a:r>
            <a:r>
              <a:rPr sz="2400" b="1" i="1" kern="0" spc="-15" dirty="0">
                <a:solidFill>
                  <a:srgbClr val="FF0000"/>
                </a:solidFill>
                <a:latin typeface="Arial"/>
                <a:cs typeface="Arial"/>
              </a:rPr>
              <a:t> </a:t>
            </a:r>
            <a:r>
              <a:rPr sz="2400" b="1" i="1" kern="0" dirty="0">
                <a:solidFill>
                  <a:srgbClr val="FF0000"/>
                </a:solidFill>
                <a:latin typeface="Arial"/>
                <a:cs typeface="Arial"/>
              </a:rPr>
              <a:t>dựa</a:t>
            </a:r>
            <a:r>
              <a:rPr sz="2400" b="1" i="1" kern="0" spc="-25" dirty="0">
                <a:solidFill>
                  <a:srgbClr val="FF0000"/>
                </a:solidFill>
                <a:latin typeface="Arial"/>
                <a:cs typeface="Arial"/>
              </a:rPr>
              <a:t> </a:t>
            </a:r>
            <a:r>
              <a:rPr sz="2400" b="1" i="1" kern="0" dirty="0">
                <a:solidFill>
                  <a:srgbClr val="FF0000"/>
                </a:solidFill>
                <a:latin typeface="Arial"/>
                <a:cs typeface="Arial"/>
              </a:rPr>
              <a:t>trên</a:t>
            </a:r>
            <a:r>
              <a:rPr sz="2400" b="1" i="1" kern="0" spc="-15" dirty="0">
                <a:solidFill>
                  <a:srgbClr val="FF0000"/>
                </a:solidFill>
                <a:latin typeface="Arial"/>
                <a:cs typeface="Arial"/>
              </a:rPr>
              <a:t> </a:t>
            </a:r>
            <a:r>
              <a:rPr sz="2400" b="1" i="1" kern="0" dirty="0">
                <a:solidFill>
                  <a:srgbClr val="FF0000"/>
                </a:solidFill>
                <a:latin typeface="Arial"/>
                <a:cs typeface="Arial"/>
              </a:rPr>
              <a:t>mô</a:t>
            </a:r>
            <a:r>
              <a:rPr sz="2400" b="1" i="1" kern="0" spc="-20" dirty="0">
                <a:solidFill>
                  <a:srgbClr val="FF0000"/>
                </a:solidFill>
                <a:latin typeface="Arial"/>
                <a:cs typeface="Arial"/>
              </a:rPr>
              <a:t> </a:t>
            </a:r>
            <a:r>
              <a:rPr sz="2400" b="1" i="1" kern="0" dirty="0">
                <a:solidFill>
                  <a:srgbClr val="FF0000"/>
                </a:solidFill>
                <a:latin typeface="Arial"/>
                <a:cs typeface="Arial"/>
              </a:rPr>
              <a:t>hình</a:t>
            </a:r>
            <a:r>
              <a:rPr sz="2400" b="1" i="1" kern="0" spc="-55" dirty="0">
                <a:solidFill>
                  <a:srgbClr val="FF0000"/>
                </a:solidFill>
                <a:latin typeface="Arial"/>
                <a:cs typeface="Arial"/>
              </a:rPr>
              <a:t> </a:t>
            </a:r>
            <a:r>
              <a:rPr sz="2400" b="1" i="1" kern="0" spc="-20" dirty="0">
                <a:solidFill>
                  <a:srgbClr val="FF0000"/>
                </a:solidFill>
                <a:latin typeface="Arial"/>
                <a:cs typeface="Arial"/>
              </a:rPr>
              <a:t>MVC:</a:t>
            </a:r>
            <a:endParaRPr sz="2400" kern="0">
              <a:solidFill>
                <a:sysClr val="windowText" lastClr="000000"/>
              </a:solidFill>
              <a:latin typeface="Arial"/>
              <a:cs typeface="Arial"/>
            </a:endParaRPr>
          </a:p>
          <a:p>
            <a:pPr marL="498475" marR="12700" indent="-343535" algn="just">
              <a:spcBef>
                <a:spcPts val="760"/>
              </a:spcBef>
              <a:buFont typeface="Wingdings"/>
              <a:buChar char=""/>
              <a:tabLst>
                <a:tab pos="498475" algn="l"/>
              </a:tabLst>
            </a:pPr>
            <a:r>
              <a:rPr sz="2400" kern="0" dirty="0">
                <a:solidFill>
                  <a:sysClr val="windowText" lastClr="000000"/>
                </a:solidFill>
                <a:latin typeface="Microsoft Sans Serif"/>
                <a:cs typeface="Microsoft Sans Serif"/>
              </a:rPr>
              <a:t>Dễ</a:t>
            </a:r>
            <a:r>
              <a:rPr sz="2400" kern="0" spc="409"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dàng</a:t>
            </a:r>
            <a:r>
              <a:rPr sz="2400" kern="0" spc="409"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quản</a:t>
            </a:r>
            <a:r>
              <a:rPr sz="2400" kern="0" spc="41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lý</a:t>
            </a:r>
            <a:r>
              <a:rPr sz="2400" kern="0" spc="330" dirty="0">
                <a:solidFill>
                  <a:sysClr val="windowText" lastClr="000000"/>
                </a:solidFill>
                <a:latin typeface="Microsoft Sans Serif"/>
                <a:cs typeface="Microsoft Sans Serif"/>
              </a:rPr>
              <a:t> </a:t>
            </a:r>
            <a:r>
              <a:rPr sz="2400" kern="0" spc="145" dirty="0">
                <a:solidFill>
                  <a:sysClr val="windowText" lastClr="000000"/>
                </a:solidFill>
                <a:latin typeface="Microsoft Sans Serif"/>
                <a:cs typeface="Microsoft Sans Serif"/>
              </a:rPr>
              <a:t>sự</a:t>
            </a:r>
            <a:r>
              <a:rPr sz="2400" kern="0" spc="395" dirty="0">
                <a:solidFill>
                  <a:sysClr val="windowText" lastClr="000000"/>
                </a:solidFill>
                <a:latin typeface="Microsoft Sans Serif"/>
                <a:cs typeface="Microsoft Sans Serif"/>
              </a:rPr>
              <a:t> </a:t>
            </a:r>
            <a:r>
              <a:rPr sz="2400" kern="0" spc="50" dirty="0">
                <a:solidFill>
                  <a:sysClr val="windowText" lastClr="000000"/>
                </a:solidFill>
                <a:latin typeface="Microsoft Sans Serif"/>
                <a:cs typeface="Microsoft Sans Serif"/>
              </a:rPr>
              <a:t>phức</a:t>
            </a:r>
            <a:r>
              <a:rPr sz="2400" kern="0" spc="40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tạp</a:t>
            </a:r>
            <a:r>
              <a:rPr sz="2400" kern="0" spc="34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của</a:t>
            </a:r>
            <a:r>
              <a:rPr sz="2400" kern="0" spc="409" dirty="0">
                <a:solidFill>
                  <a:sysClr val="windowText" lastClr="000000"/>
                </a:solidFill>
                <a:latin typeface="Microsoft Sans Serif"/>
                <a:cs typeface="Microsoft Sans Serif"/>
              </a:rPr>
              <a:t> </a:t>
            </a:r>
            <a:r>
              <a:rPr sz="2400" kern="0" spc="90" dirty="0">
                <a:solidFill>
                  <a:sysClr val="windowText" lastClr="000000"/>
                </a:solidFill>
                <a:latin typeface="Microsoft Sans Serif"/>
                <a:cs typeface="Microsoft Sans Serif"/>
              </a:rPr>
              <a:t>ứng</a:t>
            </a:r>
            <a:r>
              <a:rPr sz="2400" kern="0" spc="36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dụng</a:t>
            </a:r>
            <a:r>
              <a:rPr sz="2400" kern="0" spc="415" dirty="0">
                <a:solidFill>
                  <a:sysClr val="windowText" lastClr="000000"/>
                </a:solidFill>
                <a:latin typeface="Microsoft Sans Serif"/>
                <a:cs typeface="Microsoft Sans Serif"/>
              </a:rPr>
              <a:t> </a:t>
            </a:r>
            <a:r>
              <a:rPr sz="2400" kern="0" spc="-20" dirty="0">
                <a:solidFill>
                  <a:sysClr val="windowText" lastClr="000000"/>
                </a:solidFill>
                <a:latin typeface="Microsoft Sans Serif"/>
                <a:cs typeface="Microsoft Sans Serif"/>
              </a:rPr>
              <a:t>bằng </a:t>
            </a:r>
            <a:r>
              <a:rPr sz="2400" kern="0" dirty="0">
                <a:solidFill>
                  <a:sysClr val="windowText" lastClr="000000"/>
                </a:solidFill>
                <a:latin typeface="Microsoft Sans Serif"/>
                <a:cs typeface="Microsoft Sans Serif"/>
              </a:rPr>
              <a:t>cách</a:t>
            </a:r>
            <a:r>
              <a:rPr sz="2400" kern="0" spc="-8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chia</a:t>
            </a:r>
            <a:r>
              <a:rPr sz="2400" kern="0" spc="-40" dirty="0">
                <a:solidFill>
                  <a:sysClr val="windowText" lastClr="000000"/>
                </a:solidFill>
                <a:latin typeface="Microsoft Sans Serif"/>
                <a:cs typeface="Microsoft Sans Serif"/>
              </a:rPr>
              <a:t> </a:t>
            </a:r>
            <a:r>
              <a:rPr sz="2400" kern="0" spc="90" dirty="0">
                <a:solidFill>
                  <a:sysClr val="windowText" lastClr="000000"/>
                </a:solidFill>
                <a:latin typeface="Microsoft Sans Serif"/>
                <a:cs typeface="Microsoft Sans Serif"/>
              </a:rPr>
              <a:t>ứng</a:t>
            </a:r>
            <a:r>
              <a:rPr sz="2400" kern="0" spc="-2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dụng</a:t>
            </a:r>
            <a:r>
              <a:rPr sz="2400" kern="0" spc="-1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thành</a:t>
            </a:r>
            <a:r>
              <a:rPr sz="2400" kern="0" spc="-4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Model,</a:t>
            </a:r>
            <a:r>
              <a:rPr sz="2400" kern="0" spc="5" dirty="0">
                <a:solidFill>
                  <a:sysClr val="windowText" lastClr="000000"/>
                </a:solidFill>
                <a:latin typeface="Microsoft Sans Serif"/>
                <a:cs typeface="Microsoft Sans Serif"/>
              </a:rPr>
              <a:t> </a:t>
            </a:r>
            <a:r>
              <a:rPr sz="2400" kern="0" spc="-10" dirty="0">
                <a:solidFill>
                  <a:sysClr val="windowText" lastClr="000000"/>
                </a:solidFill>
                <a:latin typeface="Microsoft Sans Serif"/>
                <a:cs typeface="Microsoft Sans Serif"/>
              </a:rPr>
              <a:t>View,</a:t>
            </a:r>
            <a:r>
              <a:rPr sz="2400" kern="0" spc="5" dirty="0">
                <a:solidFill>
                  <a:sysClr val="windowText" lastClr="000000"/>
                </a:solidFill>
                <a:latin typeface="Microsoft Sans Serif"/>
                <a:cs typeface="Microsoft Sans Serif"/>
              </a:rPr>
              <a:t> </a:t>
            </a:r>
            <a:r>
              <a:rPr sz="2400" kern="0" spc="-10" dirty="0">
                <a:solidFill>
                  <a:sysClr val="windowText" lastClr="000000"/>
                </a:solidFill>
                <a:latin typeface="Microsoft Sans Serif"/>
                <a:cs typeface="Microsoft Sans Serif"/>
              </a:rPr>
              <a:t>Controller</a:t>
            </a:r>
            <a:endParaRPr sz="2400" kern="0">
              <a:solidFill>
                <a:sysClr val="windowText" lastClr="000000"/>
              </a:solidFill>
              <a:latin typeface="Microsoft Sans Serif"/>
              <a:cs typeface="Microsoft Sans Serif"/>
            </a:endParaRPr>
          </a:p>
          <a:p>
            <a:pPr marL="498475" marR="9525" indent="-343535" algn="just">
              <a:spcBef>
                <a:spcPts val="615"/>
              </a:spcBef>
              <a:buFont typeface="Wingdings"/>
              <a:buChar char=""/>
              <a:tabLst>
                <a:tab pos="498475" algn="l"/>
              </a:tabLst>
            </a:pPr>
            <a:r>
              <a:rPr sz="2400" kern="0" dirty="0">
                <a:solidFill>
                  <a:sysClr val="windowText" lastClr="000000"/>
                </a:solidFill>
                <a:latin typeface="Microsoft Sans Serif"/>
                <a:cs typeface="Microsoft Sans Serif"/>
              </a:rPr>
              <a:t>Không</a:t>
            </a:r>
            <a:r>
              <a:rPr sz="2400" kern="0" spc="300" dirty="0">
                <a:solidFill>
                  <a:sysClr val="windowText" lastClr="000000"/>
                </a:solidFill>
                <a:latin typeface="Microsoft Sans Serif"/>
                <a:cs typeface="Microsoft Sans Serif"/>
              </a:rPr>
              <a:t> </a:t>
            </a:r>
            <a:r>
              <a:rPr sz="2400" kern="0" spc="125" dirty="0">
                <a:solidFill>
                  <a:sysClr val="windowText" lastClr="000000"/>
                </a:solidFill>
                <a:latin typeface="Microsoft Sans Serif"/>
                <a:cs typeface="Microsoft Sans Serif"/>
              </a:rPr>
              <a:t>sử</a:t>
            </a:r>
            <a:r>
              <a:rPr sz="2400" kern="0" spc="32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dụng</a:t>
            </a:r>
            <a:r>
              <a:rPr sz="2400" kern="0" spc="29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view</a:t>
            </a:r>
            <a:r>
              <a:rPr sz="2400" kern="0" spc="26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state</a:t>
            </a:r>
            <a:r>
              <a:rPr sz="2400" kern="0" spc="27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hoặc</a:t>
            </a:r>
            <a:r>
              <a:rPr sz="2400" kern="0" spc="260" dirty="0">
                <a:solidFill>
                  <a:sysClr val="windowText" lastClr="000000"/>
                </a:solidFill>
                <a:latin typeface="Microsoft Sans Serif"/>
                <a:cs typeface="Microsoft Sans Serif"/>
              </a:rPr>
              <a:t> </a:t>
            </a:r>
            <a:r>
              <a:rPr sz="2400" kern="0" spc="-10" dirty="0">
                <a:solidFill>
                  <a:sysClr val="windowText" lastClr="000000"/>
                </a:solidFill>
                <a:latin typeface="Microsoft Sans Serif"/>
                <a:cs typeface="Microsoft Sans Serif"/>
              </a:rPr>
              <a:t>server-</a:t>
            </a:r>
            <a:r>
              <a:rPr sz="2400" kern="0" dirty="0">
                <a:solidFill>
                  <a:sysClr val="windowText" lastClr="000000"/>
                </a:solidFill>
                <a:latin typeface="Microsoft Sans Serif"/>
                <a:cs typeface="Microsoft Sans Serif"/>
              </a:rPr>
              <a:t>based</a:t>
            </a:r>
            <a:r>
              <a:rPr sz="2400" kern="0" spc="305" dirty="0">
                <a:solidFill>
                  <a:sysClr val="windowText" lastClr="000000"/>
                </a:solidFill>
                <a:latin typeface="Microsoft Sans Serif"/>
                <a:cs typeface="Microsoft Sans Serif"/>
              </a:rPr>
              <a:t> </a:t>
            </a:r>
            <a:r>
              <a:rPr sz="2400" kern="0" spc="-10" dirty="0">
                <a:solidFill>
                  <a:sysClr val="windowText" lastClr="000000"/>
                </a:solidFill>
                <a:latin typeface="Microsoft Sans Serif"/>
                <a:cs typeface="Microsoft Sans Serif"/>
              </a:rPr>
              <a:t>form. </a:t>
            </a:r>
            <a:r>
              <a:rPr sz="2400" kern="0" dirty="0">
                <a:solidFill>
                  <a:sysClr val="windowText" lastClr="000000"/>
                </a:solidFill>
                <a:latin typeface="Microsoft Sans Serif"/>
                <a:cs typeface="Microsoft Sans Serif"/>
              </a:rPr>
              <a:t>Điều</a:t>
            </a:r>
            <a:r>
              <a:rPr sz="2400" kern="0" spc="204"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này</a:t>
            </a:r>
            <a:r>
              <a:rPr sz="2400" kern="0" spc="20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tốt</a:t>
            </a:r>
            <a:r>
              <a:rPr sz="2400" kern="0" spc="229"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cho</a:t>
            </a:r>
            <a:r>
              <a:rPr sz="2400" kern="0" spc="210" dirty="0">
                <a:solidFill>
                  <a:sysClr val="windowText" lastClr="000000"/>
                </a:solidFill>
                <a:latin typeface="Microsoft Sans Serif"/>
                <a:cs typeface="Microsoft Sans Serif"/>
              </a:rPr>
              <a:t> </a:t>
            </a:r>
            <a:r>
              <a:rPr sz="2400" kern="0" spc="50" dirty="0">
                <a:solidFill>
                  <a:sysClr val="windowText" lastClr="000000"/>
                </a:solidFill>
                <a:latin typeface="Microsoft Sans Serif"/>
                <a:cs typeface="Microsoft Sans Serif"/>
              </a:rPr>
              <a:t>những</a:t>
            </a:r>
            <a:r>
              <a:rPr sz="2400" kern="0" spc="204"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lập</a:t>
            </a:r>
            <a:r>
              <a:rPr sz="2400" kern="0" spc="20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trình</a:t>
            </a:r>
            <a:r>
              <a:rPr sz="2400" kern="0" spc="21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viên</a:t>
            </a:r>
            <a:r>
              <a:rPr sz="2400" kern="0" spc="20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muốn</a:t>
            </a:r>
            <a:r>
              <a:rPr sz="2400" kern="0" spc="21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quản</a:t>
            </a:r>
            <a:r>
              <a:rPr sz="2400" kern="0" spc="204" dirty="0">
                <a:solidFill>
                  <a:sysClr val="windowText" lastClr="000000"/>
                </a:solidFill>
                <a:latin typeface="Microsoft Sans Serif"/>
                <a:cs typeface="Microsoft Sans Serif"/>
              </a:rPr>
              <a:t> </a:t>
            </a:r>
            <a:r>
              <a:rPr sz="2400" kern="0" spc="-25" dirty="0">
                <a:solidFill>
                  <a:sysClr val="windowText" lastClr="000000"/>
                </a:solidFill>
                <a:latin typeface="Microsoft Sans Serif"/>
                <a:cs typeface="Microsoft Sans Serif"/>
              </a:rPr>
              <a:t>lý </a:t>
            </a:r>
            <a:r>
              <a:rPr sz="2400" kern="0" dirty="0">
                <a:solidFill>
                  <a:sysClr val="windowText" lastClr="000000"/>
                </a:solidFill>
                <a:latin typeface="Microsoft Sans Serif"/>
                <a:cs typeface="Microsoft Sans Serif"/>
              </a:rPr>
              <a:t>hết</a:t>
            </a:r>
            <a:r>
              <a:rPr sz="2400" kern="0" spc="3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các</a:t>
            </a:r>
            <a:r>
              <a:rPr sz="2400" kern="0" spc="1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khía</a:t>
            </a:r>
            <a:r>
              <a:rPr sz="2400" kern="0" spc="5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cạnh</a:t>
            </a:r>
            <a:r>
              <a:rPr sz="2400" kern="0" spc="2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của</a:t>
            </a:r>
            <a:r>
              <a:rPr sz="2400" kern="0" spc="2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một </a:t>
            </a:r>
            <a:r>
              <a:rPr sz="2400" kern="0" spc="90" dirty="0">
                <a:solidFill>
                  <a:sysClr val="windowText" lastClr="000000"/>
                </a:solidFill>
                <a:latin typeface="Microsoft Sans Serif"/>
                <a:cs typeface="Microsoft Sans Serif"/>
              </a:rPr>
              <a:t>ứng</a:t>
            </a:r>
            <a:r>
              <a:rPr sz="2400" kern="0" spc="15" dirty="0">
                <a:solidFill>
                  <a:sysClr val="windowText" lastClr="000000"/>
                </a:solidFill>
                <a:latin typeface="Microsoft Sans Serif"/>
                <a:cs typeface="Microsoft Sans Serif"/>
              </a:rPr>
              <a:t> </a:t>
            </a:r>
            <a:r>
              <a:rPr sz="2400" kern="0" spc="-10" dirty="0">
                <a:solidFill>
                  <a:sysClr val="windowText" lastClr="000000"/>
                </a:solidFill>
                <a:latin typeface="Microsoft Sans Serif"/>
                <a:cs typeface="Microsoft Sans Serif"/>
              </a:rPr>
              <a:t>dụng.</a:t>
            </a:r>
            <a:endParaRPr sz="2400" kern="0">
              <a:solidFill>
                <a:sysClr val="windowText" lastClr="000000"/>
              </a:solidFill>
              <a:latin typeface="Microsoft Sans Serif"/>
              <a:cs typeface="Microsoft Sans Serif"/>
            </a:endParaRPr>
          </a:p>
          <a:p>
            <a:pPr marL="498475" marR="5080" indent="-343535" algn="just">
              <a:spcBef>
                <a:spcPts val="585"/>
              </a:spcBef>
              <a:buFont typeface="Wingdings"/>
              <a:buChar char=""/>
              <a:tabLst>
                <a:tab pos="498475" algn="l"/>
              </a:tabLst>
            </a:pPr>
            <a:r>
              <a:rPr sz="2400" kern="0" spc="130" dirty="0">
                <a:solidFill>
                  <a:sysClr val="windowText" lastClr="000000"/>
                </a:solidFill>
                <a:latin typeface="Microsoft Sans Serif"/>
                <a:cs typeface="Microsoft Sans Serif"/>
              </a:rPr>
              <a:t>Sử</a:t>
            </a:r>
            <a:r>
              <a:rPr sz="2400" kern="0" spc="4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dụng</a:t>
            </a:r>
            <a:r>
              <a:rPr sz="2400" kern="0" spc="3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mẫu</a:t>
            </a:r>
            <a:r>
              <a:rPr sz="2400" kern="0" spc="3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Front</a:t>
            </a:r>
            <a:r>
              <a:rPr sz="2400" kern="0" spc="55" dirty="0">
                <a:solidFill>
                  <a:sysClr val="windowText" lastClr="000000"/>
                </a:solidFill>
                <a:latin typeface="Microsoft Sans Serif"/>
                <a:cs typeface="Microsoft Sans Serif"/>
              </a:rPr>
              <a:t> </a:t>
            </a:r>
            <a:r>
              <a:rPr sz="2400" kern="0" spc="-10" dirty="0">
                <a:solidFill>
                  <a:sysClr val="windowText" lastClr="000000"/>
                </a:solidFill>
                <a:latin typeface="Microsoft Sans Serif"/>
                <a:cs typeface="Microsoft Sans Serif"/>
              </a:rPr>
              <a:t>Controller,</a:t>
            </a:r>
            <a:r>
              <a:rPr sz="2400" kern="0" spc="2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mẫu</a:t>
            </a:r>
            <a:r>
              <a:rPr sz="2400" kern="0" spc="7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này</a:t>
            </a:r>
            <a:r>
              <a:rPr sz="2400" kern="0" spc="6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giúp</a:t>
            </a:r>
            <a:r>
              <a:rPr sz="2400" kern="0" spc="2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quản</a:t>
            </a:r>
            <a:r>
              <a:rPr sz="2400" kern="0" spc="65" dirty="0">
                <a:solidFill>
                  <a:sysClr val="windowText" lastClr="000000"/>
                </a:solidFill>
                <a:latin typeface="Microsoft Sans Serif"/>
                <a:cs typeface="Microsoft Sans Serif"/>
              </a:rPr>
              <a:t> </a:t>
            </a:r>
            <a:r>
              <a:rPr sz="2400" kern="0" spc="-25" dirty="0">
                <a:solidFill>
                  <a:sysClr val="windowText" lastClr="000000"/>
                </a:solidFill>
                <a:latin typeface="Microsoft Sans Serif"/>
                <a:cs typeface="Microsoft Sans Serif"/>
              </a:rPr>
              <a:t>lý </a:t>
            </a:r>
            <a:r>
              <a:rPr sz="2400" kern="0">
                <a:solidFill>
                  <a:sysClr val="windowText" lastClr="000000"/>
                </a:solidFill>
                <a:latin typeface="Microsoft Sans Serif"/>
                <a:cs typeface="Microsoft Sans Serif"/>
              </a:rPr>
              <a:t>các</a:t>
            </a:r>
            <a:r>
              <a:rPr sz="2400" kern="0" spc="114">
                <a:solidFill>
                  <a:sysClr val="windowText" lastClr="000000"/>
                </a:solidFill>
                <a:latin typeface="Microsoft Sans Serif"/>
                <a:cs typeface="Microsoft Sans Serif"/>
              </a:rPr>
              <a:t> </a:t>
            </a:r>
            <a:r>
              <a:rPr sz="2400" kern="0" smtClean="0">
                <a:solidFill>
                  <a:sysClr val="windowText" lastClr="000000"/>
                </a:solidFill>
                <a:latin typeface="Microsoft Sans Serif"/>
                <a:cs typeface="Microsoft Sans Serif"/>
              </a:rPr>
              <a:t>yêu</a:t>
            </a:r>
            <a:r>
              <a:rPr sz="2400" kern="0" spc="95" smtClean="0">
                <a:solidFill>
                  <a:sysClr val="windowText" lastClr="000000"/>
                </a:solidFill>
                <a:latin typeface="Microsoft Sans Serif"/>
                <a:cs typeface="Microsoft Sans Serif"/>
              </a:rPr>
              <a:t> </a:t>
            </a:r>
            <a:r>
              <a:rPr sz="2400" kern="0" smtClean="0">
                <a:solidFill>
                  <a:sysClr val="windowText" lastClr="000000"/>
                </a:solidFill>
                <a:latin typeface="Microsoft Sans Serif"/>
                <a:cs typeface="Microsoft Sans Serif"/>
              </a:rPr>
              <a:t>cầu</a:t>
            </a:r>
            <a:r>
              <a:rPr sz="2400" kern="0" spc="85" smtClean="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chỉ</a:t>
            </a:r>
            <a:r>
              <a:rPr sz="2400" kern="0" spc="11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thông</a:t>
            </a:r>
            <a:r>
              <a:rPr sz="2400" kern="0" spc="9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qua</a:t>
            </a:r>
            <a:r>
              <a:rPr sz="2400" kern="0" spc="9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một</a:t>
            </a:r>
            <a:r>
              <a:rPr sz="2400" kern="0" spc="110" dirty="0">
                <a:solidFill>
                  <a:sysClr val="windowText" lastClr="000000"/>
                </a:solidFill>
                <a:latin typeface="Microsoft Sans Serif"/>
                <a:cs typeface="Microsoft Sans Serif"/>
              </a:rPr>
              <a:t> </a:t>
            </a:r>
            <a:r>
              <a:rPr sz="2400" kern="0" spc="-10" dirty="0">
                <a:solidFill>
                  <a:sysClr val="windowText" lastClr="000000"/>
                </a:solidFill>
                <a:latin typeface="Microsoft Sans Serif"/>
                <a:cs typeface="Microsoft Sans Serif"/>
              </a:rPr>
              <a:t>Controller. </a:t>
            </a:r>
            <a:r>
              <a:rPr sz="2400" kern="0" dirty="0">
                <a:solidFill>
                  <a:sysClr val="windowText" lastClr="000000"/>
                </a:solidFill>
                <a:latin typeface="Microsoft Sans Serif"/>
                <a:cs typeface="Microsoft Sans Serif"/>
              </a:rPr>
              <a:t>Hỗ</a:t>
            </a:r>
            <a:r>
              <a:rPr sz="2400" kern="0" spc="-20" dirty="0">
                <a:solidFill>
                  <a:sysClr val="windowText" lastClr="000000"/>
                </a:solidFill>
                <a:latin typeface="Microsoft Sans Serif"/>
                <a:cs typeface="Microsoft Sans Serif"/>
              </a:rPr>
              <a:t>  </a:t>
            </a:r>
            <a:r>
              <a:rPr sz="2400" kern="0" spc="80" dirty="0">
                <a:solidFill>
                  <a:sysClr val="windowText" lastClr="000000"/>
                </a:solidFill>
                <a:latin typeface="Microsoft Sans Serif"/>
                <a:cs typeface="Microsoft Sans Serif"/>
              </a:rPr>
              <a:t>trợ</a:t>
            </a:r>
            <a:r>
              <a:rPr sz="2400" kern="0" spc="-1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tốt  </a:t>
            </a:r>
            <a:r>
              <a:rPr sz="2400" kern="0" spc="75" dirty="0">
                <a:solidFill>
                  <a:sysClr val="windowText" lastClr="000000"/>
                </a:solidFill>
                <a:latin typeface="Microsoft Sans Serif"/>
                <a:cs typeface="Microsoft Sans Serif"/>
              </a:rPr>
              <a:t>hơn</a:t>
            </a:r>
            <a:r>
              <a:rPr sz="2400" kern="0" spc="-1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cho</a:t>
            </a:r>
            <a:r>
              <a:rPr sz="2400" kern="0" spc="57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mô</a:t>
            </a:r>
            <a:r>
              <a:rPr sz="2400" kern="0" spc="-2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hình</a:t>
            </a:r>
            <a:r>
              <a:rPr sz="2400" kern="0" spc="-1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phát</a:t>
            </a:r>
            <a:r>
              <a:rPr sz="2400" kern="0" spc="-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triển</a:t>
            </a:r>
            <a:r>
              <a:rPr sz="2400" kern="0" spc="-20" dirty="0">
                <a:solidFill>
                  <a:sysClr val="windowText" lastClr="000000"/>
                </a:solidFill>
                <a:latin typeface="Microsoft Sans Serif"/>
                <a:cs typeface="Microsoft Sans Serif"/>
              </a:rPr>
              <a:t>  </a:t>
            </a:r>
            <a:r>
              <a:rPr sz="2400" kern="0" spc="90" dirty="0">
                <a:solidFill>
                  <a:sysClr val="windowText" lastClr="000000"/>
                </a:solidFill>
                <a:latin typeface="Microsoft Sans Serif"/>
                <a:cs typeface="Microsoft Sans Serif"/>
              </a:rPr>
              <a:t>ứng</a:t>
            </a:r>
            <a:r>
              <a:rPr sz="2400" kern="0" spc="-20" dirty="0">
                <a:solidFill>
                  <a:sysClr val="windowText" lastClr="000000"/>
                </a:solidFill>
                <a:latin typeface="Microsoft Sans Serif"/>
                <a:cs typeface="Microsoft Sans Serif"/>
              </a:rPr>
              <a:t>  dụng </a:t>
            </a:r>
            <a:r>
              <a:rPr sz="2400" kern="0" spc="95" dirty="0">
                <a:solidFill>
                  <a:sysClr val="windowText" lastClr="000000"/>
                </a:solidFill>
                <a:latin typeface="Microsoft Sans Serif"/>
                <a:cs typeface="Microsoft Sans Serif"/>
              </a:rPr>
              <a:t>hướng</a:t>
            </a:r>
            <a:r>
              <a:rPr sz="2400" kern="0" dirty="0">
                <a:solidFill>
                  <a:sysClr val="windowText" lastClr="000000"/>
                </a:solidFill>
                <a:latin typeface="Microsoft Sans Serif"/>
                <a:cs typeface="Microsoft Sans Serif"/>
              </a:rPr>
              <a:t> </a:t>
            </a:r>
            <a:r>
              <a:rPr sz="2400" kern="0">
                <a:solidFill>
                  <a:sysClr val="windowText" lastClr="000000"/>
                </a:solidFill>
                <a:latin typeface="Microsoft Sans Serif"/>
                <a:cs typeface="Microsoft Sans Serif"/>
              </a:rPr>
              <a:t>kiểm</a:t>
            </a:r>
            <a:r>
              <a:rPr sz="2400" kern="0" spc="15">
                <a:solidFill>
                  <a:sysClr val="windowText" lastClr="000000"/>
                </a:solidFill>
                <a:latin typeface="Microsoft Sans Serif"/>
                <a:cs typeface="Microsoft Sans Serif"/>
              </a:rPr>
              <a:t> </a:t>
            </a:r>
            <a:r>
              <a:rPr sz="2400" kern="0" spc="90" smtClean="0">
                <a:solidFill>
                  <a:sysClr val="windowText" lastClr="000000"/>
                </a:solidFill>
                <a:latin typeface="Microsoft Sans Serif"/>
                <a:cs typeface="Microsoft Sans Serif"/>
              </a:rPr>
              <a:t>thử</a:t>
            </a:r>
            <a:r>
              <a:rPr lang="en-US" sz="2400" kern="0" spc="10">
                <a:solidFill>
                  <a:sysClr val="windowText" lastClr="000000"/>
                </a:solidFill>
                <a:latin typeface="Microsoft Sans Serif"/>
                <a:cs typeface="Microsoft Sans Serif"/>
              </a:rPr>
              <a:t>.</a:t>
            </a:r>
            <a:endParaRPr sz="2400" kern="0">
              <a:solidFill>
                <a:sysClr val="windowText" lastClr="000000"/>
              </a:solidFill>
              <a:latin typeface="Microsoft Sans Serif"/>
              <a:cs typeface="Microsoft Sans Serif"/>
            </a:endParaRPr>
          </a:p>
          <a:p>
            <a:pPr marL="498475" marR="6985" indent="-343535" algn="just">
              <a:spcBef>
                <a:spcPts val="615"/>
              </a:spcBef>
              <a:buFont typeface="Wingdings"/>
              <a:buChar char=""/>
              <a:tabLst>
                <a:tab pos="498475" algn="l"/>
              </a:tabLst>
            </a:pPr>
            <a:r>
              <a:rPr sz="2400" kern="0" dirty="0">
                <a:solidFill>
                  <a:sysClr val="windowText" lastClr="000000"/>
                </a:solidFill>
                <a:latin typeface="Microsoft Sans Serif"/>
                <a:cs typeface="Microsoft Sans Serif"/>
              </a:rPr>
              <a:t>Hỗ</a:t>
            </a:r>
            <a:r>
              <a:rPr sz="2400" kern="0" spc="560" dirty="0">
                <a:solidFill>
                  <a:sysClr val="windowText" lastClr="000000"/>
                </a:solidFill>
                <a:latin typeface="Microsoft Sans Serif"/>
                <a:cs typeface="Microsoft Sans Serif"/>
              </a:rPr>
              <a:t> </a:t>
            </a:r>
            <a:r>
              <a:rPr sz="2400" kern="0" spc="80" dirty="0">
                <a:solidFill>
                  <a:sysClr val="windowText" lastClr="000000"/>
                </a:solidFill>
                <a:latin typeface="Microsoft Sans Serif"/>
                <a:cs typeface="Microsoft Sans Serif"/>
              </a:rPr>
              <a:t>trợ</a:t>
            </a:r>
            <a:r>
              <a:rPr sz="2400" kern="0" spc="50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tốt</a:t>
            </a:r>
            <a:r>
              <a:rPr sz="2400" kern="0" spc="52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cho</a:t>
            </a:r>
            <a:r>
              <a:rPr sz="2400" kern="0" spc="52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các</a:t>
            </a:r>
            <a:r>
              <a:rPr sz="2400" kern="0" spc="560" dirty="0">
                <a:solidFill>
                  <a:sysClr val="windowText" lastClr="000000"/>
                </a:solidFill>
                <a:latin typeface="Microsoft Sans Serif"/>
                <a:cs typeface="Microsoft Sans Serif"/>
              </a:rPr>
              <a:t> </a:t>
            </a:r>
            <a:r>
              <a:rPr sz="2400" kern="0" spc="90" dirty="0">
                <a:solidFill>
                  <a:sysClr val="windowText" lastClr="000000"/>
                </a:solidFill>
                <a:latin typeface="Microsoft Sans Serif"/>
                <a:cs typeface="Microsoft Sans Serif"/>
              </a:rPr>
              <a:t>ứng</a:t>
            </a:r>
            <a:r>
              <a:rPr sz="2400" kern="0" spc="52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dụng</a:t>
            </a:r>
            <a:r>
              <a:rPr sz="2400" kern="0" spc="560" dirty="0">
                <a:solidFill>
                  <a:sysClr val="windowText" lastClr="000000"/>
                </a:solidFill>
                <a:latin typeface="Microsoft Sans Serif"/>
                <a:cs typeface="Microsoft Sans Serif"/>
              </a:rPr>
              <a:t> </a:t>
            </a:r>
            <a:r>
              <a:rPr sz="2400" kern="0" spc="114" dirty="0">
                <a:solidFill>
                  <a:sysClr val="windowText" lastClr="000000"/>
                </a:solidFill>
                <a:latin typeface="Microsoft Sans Serif"/>
                <a:cs typeface="Microsoft Sans Serif"/>
              </a:rPr>
              <a:t>được</a:t>
            </a:r>
            <a:r>
              <a:rPr sz="2400" kern="0" spc="56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xây</a:t>
            </a:r>
            <a:r>
              <a:rPr sz="2400" kern="0" spc="550" dirty="0">
                <a:solidFill>
                  <a:sysClr val="windowText" lastClr="000000"/>
                </a:solidFill>
                <a:latin typeface="Microsoft Sans Serif"/>
                <a:cs typeface="Microsoft Sans Serif"/>
              </a:rPr>
              <a:t> </a:t>
            </a:r>
            <a:r>
              <a:rPr sz="2400" kern="0" spc="65" dirty="0">
                <a:solidFill>
                  <a:sysClr val="windowText" lastClr="000000"/>
                </a:solidFill>
                <a:latin typeface="Microsoft Sans Serif"/>
                <a:cs typeface="Microsoft Sans Serif"/>
              </a:rPr>
              <a:t>dựng</a:t>
            </a:r>
            <a:r>
              <a:rPr sz="2400" kern="0" spc="565" dirty="0">
                <a:solidFill>
                  <a:sysClr val="windowText" lastClr="000000"/>
                </a:solidFill>
                <a:latin typeface="Microsoft Sans Serif"/>
                <a:cs typeface="Microsoft Sans Serif"/>
              </a:rPr>
              <a:t> </a:t>
            </a:r>
            <a:r>
              <a:rPr sz="2400" kern="0" spc="40" dirty="0">
                <a:solidFill>
                  <a:sysClr val="windowText" lastClr="000000"/>
                </a:solidFill>
                <a:latin typeface="Microsoft Sans Serif"/>
                <a:cs typeface="Microsoft Sans Serif"/>
              </a:rPr>
              <a:t>bởi </a:t>
            </a:r>
            <a:r>
              <a:rPr sz="2400" kern="0" spc="50" dirty="0">
                <a:solidFill>
                  <a:sysClr val="windowText" lastClr="000000"/>
                </a:solidFill>
                <a:latin typeface="Microsoft Sans Serif"/>
                <a:cs typeface="Microsoft Sans Serif"/>
              </a:rPr>
              <a:t>những</a:t>
            </a:r>
            <a:r>
              <a:rPr sz="2400" kern="0" spc="13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đội</a:t>
            </a:r>
            <a:r>
              <a:rPr sz="2400" kern="0" spc="15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có</a:t>
            </a:r>
            <a:r>
              <a:rPr sz="2400" kern="0" spc="13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nhiều</a:t>
            </a:r>
            <a:r>
              <a:rPr sz="2400" kern="0" spc="13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lập</a:t>
            </a:r>
            <a:r>
              <a:rPr sz="2400" kern="0" spc="13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trình</a:t>
            </a:r>
            <a:r>
              <a:rPr sz="2400" kern="0" spc="13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viên</a:t>
            </a:r>
            <a:r>
              <a:rPr sz="2400" kern="0" spc="13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và</a:t>
            </a:r>
            <a:r>
              <a:rPr sz="2400" kern="0" spc="13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thiết</a:t>
            </a:r>
            <a:r>
              <a:rPr sz="2400" kern="0" spc="12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kế</a:t>
            </a:r>
            <a:r>
              <a:rPr sz="2400" kern="0" spc="10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mà</a:t>
            </a:r>
            <a:r>
              <a:rPr sz="2400" kern="0" spc="135" dirty="0">
                <a:solidFill>
                  <a:sysClr val="windowText" lastClr="000000"/>
                </a:solidFill>
                <a:latin typeface="Microsoft Sans Serif"/>
                <a:cs typeface="Microsoft Sans Serif"/>
              </a:rPr>
              <a:t> </a:t>
            </a:r>
            <a:r>
              <a:rPr sz="2400" kern="0" spc="-25" dirty="0">
                <a:solidFill>
                  <a:sysClr val="windowText" lastClr="000000"/>
                </a:solidFill>
                <a:latin typeface="Microsoft Sans Serif"/>
                <a:cs typeface="Microsoft Sans Serif"/>
              </a:rPr>
              <a:t>vẫn </a:t>
            </a:r>
            <a:r>
              <a:rPr sz="2400" kern="0" dirty="0">
                <a:solidFill>
                  <a:sysClr val="windowText" lastClr="000000"/>
                </a:solidFill>
                <a:latin typeface="Microsoft Sans Serif"/>
                <a:cs typeface="Microsoft Sans Serif"/>
              </a:rPr>
              <a:t>quản</a:t>
            </a:r>
            <a:r>
              <a:rPr sz="2400" kern="0" spc="3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lý</a:t>
            </a:r>
            <a:r>
              <a:rPr sz="2400" kern="0" spc="25" dirty="0">
                <a:solidFill>
                  <a:sysClr val="windowText" lastClr="000000"/>
                </a:solidFill>
                <a:latin typeface="Microsoft Sans Serif"/>
                <a:cs typeface="Microsoft Sans Serif"/>
              </a:rPr>
              <a:t> </a:t>
            </a:r>
            <a:r>
              <a:rPr sz="2400" kern="0" spc="120" dirty="0">
                <a:solidFill>
                  <a:sysClr val="windowText" lastClr="000000"/>
                </a:solidFill>
                <a:latin typeface="Microsoft Sans Serif"/>
                <a:cs typeface="Microsoft Sans Serif"/>
              </a:rPr>
              <a:t>được</a:t>
            </a:r>
            <a:r>
              <a:rPr sz="2400" kern="0" dirty="0">
                <a:solidFill>
                  <a:sysClr val="windowText" lastClr="000000"/>
                </a:solidFill>
                <a:latin typeface="Microsoft Sans Serif"/>
                <a:cs typeface="Microsoft Sans Serif"/>
              </a:rPr>
              <a:t> tính</a:t>
            </a:r>
            <a:r>
              <a:rPr sz="2400" kern="0" spc="4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năng</a:t>
            </a:r>
            <a:r>
              <a:rPr sz="2400" kern="0" spc="3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của </a:t>
            </a:r>
            <a:r>
              <a:rPr sz="2400" kern="0" spc="90" dirty="0">
                <a:solidFill>
                  <a:sysClr val="windowText" lastClr="000000"/>
                </a:solidFill>
                <a:latin typeface="Microsoft Sans Serif"/>
                <a:cs typeface="Microsoft Sans Serif"/>
              </a:rPr>
              <a:t>ứng</a:t>
            </a:r>
            <a:r>
              <a:rPr sz="2400" kern="0" spc="-5" dirty="0">
                <a:solidFill>
                  <a:sysClr val="windowText" lastClr="000000"/>
                </a:solidFill>
                <a:latin typeface="Microsoft Sans Serif"/>
                <a:cs typeface="Microsoft Sans Serif"/>
              </a:rPr>
              <a:t> </a:t>
            </a:r>
            <a:r>
              <a:rPr sz="2400" kern="0" spc="-20" dirty="0">
                <a:solidFill>
                  <a:sysClr val="windowText" lastClr="000000"/>
                </a:solidFill>
                <a:latin typeface="Microsoft Sans Serif"/>
                <a:cs typeface="Microsoft Sans Serif"/>
              </a:rPr>
              <a:t>dụng</a:t>
            </a:r>
            <a:endParaRPr sz="2400" kern="0">
              <a:solidFill>
                <a:sysClr val="windowText" lastClr="000000"/>
              </a:solidFill>
              <a:latin typeface="Microsoft Sans Serif"/>
              <a:cs typeface="Microsoft Sans Serif"/>
            </a:endParaRPr>
          </a:p>
        </p:txBody>
      </p:sp>
    </p:spTree>
    <p:extLst>
      <p:ext uri="{BB962C8B-B14F-4D97-AF65-F5344CB8AC3E}">
        <p14:creationId xmlns:p14="http://schemas.microsoft.com/office/powerpoint/2010/main" val="225828268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584326" y="66675"/>
            <a:ext cx="9020175" cy="6699250"/>
            <a:chOff x="60325" y="66675"/>
            <a:chExt cx="9020175" cy="6699250"/>
          </a:xfrm>
        </p:grpSpPr>
        <p:sp>
          <p:nvSpPr>
            <p:cNvPr id="3" name="object 3"/>
            <p:cNvSpPr/>
            <p:nvPr/>
          </p:nvSpPr>
          <p:spPr>
            <a:xfrm>
              <a:off x="63500" y="69850"/>
              <a:ext cx="9013825" cy="6692900"/>
            </a:xfrm>
            <a:custGeom>
              <a:avLst/>
              <a:gdLst/>
              <a:ahLst/>
              <a:cxnLst/>
              <a:rect l="l" t="t" r="r" b="b"/>
              <a:pathLst>
                <a:path w="9013825" h="6692900">
                  <a:moveTo>
                    <a:pt x="0" y="329946"/>
                  </a:moveTo>
                  <a:lnTo>
                    <a:pt x="3576" y="281184"/>
                  </a:lnTo>
                  <a:lnTo>
                    <a:pt x="13967" y="234645"/>
                  </a:lnTo>
                  <a:lnTo>
                    <a:pt x="30661" y="190840"/>
                  </a:lnTo>
                  <a:lnTo>
                    <a:pt x="53148" y="150277"/>
                  </a:lnTo>
                  <a:lnTo>
                    <a:pt x="80918" y="113468"/>
                  </a:lnTo>
                  <a:lnTo>
                    <a:pt x="113460" y="80923"/>
                  </a:lnTo>
                  <a:lnTo>
                    <a:pt x="150264" y="53151"/>
                  </a:lnTo>
                  <a:lnTo>
                    <a:pt x="190820" y="30662"/>
                  </a:lnTo>
                  <a:lnTo>
                    <a:pt x="234617" y="13967"/>
                  </a:lnTo>
                  <a:lnTo>
                    <a:pt x="281146" y="3576"/>
                  </a:lnTo>
                  <a:lnTo>
                    <a:pt x="329895" y="0"/>
                  </a:lnTo>
                  <a:lnTo>
                    <a:pt x="8683879" y="0"/>
                  </a:lnTo>
                  <a:lnTo>
                    <a:pt x="8732640" y="3576"/>
                  </a:lnTo>
                  <a:lnTo>
                    <a:pt x="8779179" y="13967"/>
                  </a:lnTo>
                  <a:lnTo>
                    <a:pt x="8822984" y="30662"/>
                  </a:lnTo>
                  <a:lnTo>
                    <a:pt x="8863547" y="53151"/>
                  </a:lnTo>
                  <a:lnTo>
                    <a:pt x="8900356" y="80923"/>
                  </a:lnTo>
                  <a:lnTo>
                    <a:pt x="8932901" y="113468"/>
                  </a:lnTo>
                  <a:lnTo>
                    <a:pt x="8960673" y="150277"/>
                  </a:lnTo>
                  <a:lnTo>
                    <a:pt x="8983162" y="190840"/>
                  </a:lnTo>
                  <a:lnTo>
                    <a:pt x="8999857" y="234645"/>
                  </a:lnTo>
                  <a:lnTo>
                    <a:pt x="9010248" y="281184"/>
                  </a:lnTo>
                  <a:lnTo>
                    <a:pt x="9013825" y="329946"/>
                  </a:lnTo>
                  <a:lnTo>
                    <a:pt x="9013825" y="6363004"/>
                  </a:lnTo>
                  <a:lnTo>
                    <a:pt x="9010248" y="6411753"/>
                  </a:lnTo>
                  <a:lnTo>
                    <a:pt x="8999857" y="6458282"/>
                  </a:lnTo>
                  <a:lnTo>
                    <a:pt x="8983162" y="6502079"/>
                  </a:lnTo>
                  <a:lnTo>
                    <a:pt x="8960673" y="6542635"/>
                  </a:lnTo>
                  <a:lnTo>
                    <a:pt x="8932901" y="6579439"/>
                  </a:lnTo>
                  <a:lnTo>
                    <a:pt x="8900356" y="6611981"/>
                  </a:lnTo>
                  <a:lnTo>
                    <a:pt x="8863547" y="6639751"/>
                  </a:lnTo>
                  <a:lnTo>
                    <a:pt x="8822984" y="6662238"/>
                  </a:lnTo>
                  <a:lnTo>
                    <a:pt x="8779179" y="6678932"/>
                  </a:lnTo>
                  <a:lnTo>
                    <a:pt x="8732640" y="6689323"/>
                  </a:lnTo>
                  <a:lnTo>
                    <a:pt x="8683879" y="6692900"/>
                  </a:lnTo>
                  <a:lnTo>
                    <a:pt x="329895" y="6692900"/>
                  </a:lnTo>
                  <a:lnTo>
                    <a:pt x="281146" y="6689323"/>
                  </a:lnTo>
                  <a:lnTo>
                    <a:pt x="234617" y="6678932"/>
                  </a:lnTo>
                  <a:lnTo>
                    <a:pt x="190820" y="6662238"/>
                  </a:lnTo>
                  <a:lnTo>
                    <a:pt x="150264" y="6639751"/>
                  </a:lnTo>
                  <a:lnTo>
                    <a:pt x="113460" y="6611981"/>
                  </a:lnTo>
                  <a:lnTo>
                    <a:pt x="80918" y="6579439"/>
                  </a:lnTo>
                  <a:lnTo>
                    <a:pt x="53148" y="6542635"/>
                  </a:lnTo>
                  <a:lnTo>
                    <a:pt x="30661" y="6502079"/>
                  </a:lnTo>
                  <a:lnTo>
                    <a:pt x="13967" y="6458282"/>
                  </a:lnTo>
                  <a:lnTo>
                    <a:pt x="3576" y="6411753"/>
                  </a:lnTo>
                  <a:lnTo>
                    <a:pt x="0" y="6363004"/>
                  </a:lnTo>
                  <a:lnTo>
                    <a:pt x="0" y="329946"/>
                  </a:lnTo>
                  <a:close/>
                </a:path>
              </a:pathLst>
            </a:custGeom>
            <a:ln w="6350">
              <a:solidFill>
                <a:srgbClr val="000000"/>
              </a:solidFill>
            </a:ln>
          </p:spPr>
          <p:txBody>
            <a:bodyPr wrap="square" lIns="0" tIns="0" rIns="0" bIns="0" rtlCol="0"/>
            <a:lstStyle/>
            <a:p>
              <a:endParaRPr kern="0">
                <a:solidFill>
                  <a:sysClr val="windowText" lastClr="000000"/>
                </a:solidFill>
              </a:endParaRPr>
            </a:p>
          </p:txBody>
        </p:sp>
        <p:sp>
          <p:nvSpPr>
            <p:cNvPr id="4" name="object 4"/>
            <p:cNvSpPr/>
            <p:nvPr/>
          </p:nvSpPr>
          <p:spPr>
            <a:xfrm>
              <a:off x="146050"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kern="0">
                <a:solidFill>
                  <a:sysClr val="windowText" lastClr="000000"/>
                </a:solidFill>
              </a:endParaRPr>
            </a:p>
          </p:txBody>
        </p:sp>
      </p:grpSp>
      <p:sp>
        <p:nvSpPr>
          <p:cNvPr id="5" name="object 5"/>
          <p:cNvSpPr txBox="1"/>
          <p:nvPr/>
        </p:nvSpPr>
        <p:spPr>
          <a:xfrm>
            <a:off x="1784096" y="6319215"/>
            <a:ext cx="227329" cy="228268"/>
          </a:xfrm>
          <a:prstGeom prst="rect">
            <a:avLst/>
          </a:prstGeom>
        </p:spPr>
        <p:txBody>
          <a:bodyPr vert="horz" wrap="square" lIns="0" tIns="12700" rIns="0" bIns="0" rtlCol="0">
            <a:spAutoFit/>
          </a:bodyPr>
          <a:lstStyle/>
          <a:p>
            <a:pPr marL="12700">
              <a:spcBef>
                <a:spcPts val="100"/>
              </a:spcBef>
            </a:pPr>
            <a:r>
              <a:rPr sz="1400" kern="0" spc="-25" dirty="0">
                <a:solidFill>
                  <a:srgbClr val="FFFFFF"/>
                </a:solidFill>
                <a:latin typeface="Franklin Gothic Medium"/>
                <a:cs typeface="Franklin Gothic Medium"/>
              </a:rPr>
              <a:t>16</a:t>
            </a:r>
            <a:endParaRPr sz="1400" kern="0">
              <a:solidFill>
                <a:sysClr val="windowText" lastClr="000000"/>
              </a:solidFill>
              <a:latin typeface="Franklin Gothic Medium"/>
              <a:cs typeface="Franklin Gothic Medium"/>
            </a:endParaRPr>
          </a:p>
        </p:txBody>
      </p:sp>
      <p:grpSp>
        <p:nvGrpSpPr>
          <p:cNvPr id="6" name="object 6"/>
          <p:cNvGrpSpPr/>
          <p:nvPr/>
        </p:nvGrpSpPr>
        <p:grpSpPr>
          <a:xfrm>
            <a:off x="1949195" y="886967"/>
            <a:ext cx="8338184" cy="5876290"/>
            <a:chOff x="425195" y="886967"/>
            <a:chExt cx="8338184" cy="5876290"/>
          </a:xfrm>
        </p:grpSpPr>
        <p:pic>
          <p:nvPicPr>
            <p:cNvPr id="7" name="object 7"/>
            <p:cNvPicPr/>
            <p:nvPr/>
          </p:nvPicPr>
          <p:blipFill>
            <a:blip r:embed="rId2" cstate="print"/>
            <a:stretch>
              <a:fillRect/>
            </a:stretch>
          </p:blipFill>
          <p:spPr>
            <a:xfrm>
              <a:off x="425195" y="886967"/>
              <a:ext cx="8293608" cy="105156"/>
            </a:xfrm>
            <a:prstGeom prst="rect">
              <a:avLst/>
            </a:prstGeom>
          </p:spPr>
        </p:pic>
        <p:sp>
          <p:nvSpPr>
            <p:cNvPr id="8" name="object 8"/>
            <p:cNvSpPr/>
            <p:nvPr/>
          </p:nvSpPr>
          <p:spPr>
            <a:xfrm>
              <a:off x="447675" y="6567487"/>
              <a:ext cx="8315325" cy="195580"/>
            </a:xfrm>
            <a:custGeom>
              <a:avLst/>
              <a:gdLst/>
              <a:ahLst/>
              <a:cxnLst/>
              <a:rect l="l" t="t" r="r" b="b"/>
              <a:pathLst>
                <a:path w="8315325" h="195579">
                  <a:moveTo>
                    <a:pt x="2741676" y="195262"/>
                  </a:moveTo>
                  <a:lnTo>
                    <a:pt x="2735313" y="144627"/>
                  </a:lnTo>
                  <a:lnTo>
                    <a:pt x="2717393" y="99123"/>
                  </a:lnTo>
                  <a:lnTo>
                    <a:pt x="2689580" y="60566"/>
                  </a:lnTo>
                  <a:lnTo>
                    <a:pt x="2653601" y="30772"/>
                  </a:lnTo>
                  <a:lnTo>
                    <a:pt x="2611132" y="11569"/>
                  </a:lnTo>
                  <a:lnTo>
                    <a:pt x="2563876" y="4762"/>
                  </a:lnTo>
                  <a:lnTo>
                    <a:pt x="177800" y="4762"/>
                  </a:lnTo>
                  <a:lnTo>
                    <a:pt x="130530" y="11569"/>
                  </a:lnTo>
                  <a:lnTo>
                    <a:pt x="88049" y="30772"/>
                  </a:lnTo>
                  <a:lnTo>
                    <a:pt x="52070" y="60566"/>
                  </a:lnTo>
                  <a:lnTo>
                    <a:pt x="24269" y="99123"/>
                  </a:lnTo>
                  <a:lnTo>
                    <a:pt x="6350" y="144627"/>
                  </a:lnTo>
                  <a:lnTo>
                    <a:pt x="0" y="195262"/>
                  </a:lnTo>
                  <a:lnTo>
                    <a:pt x="2741676" y="195262"/>
                  </a:lnTo>
                  <a:close/>
                </a:path>
                <a:path w="8315325" h="195579">
                  <a:moveTo>
                    <a:pt x="8315325" y="190512"/>
                  </a:moveTo>
                  <a:lnTo>
                    <a:pt x="8308962" y="139865"/>
                  </a:lnTo>
                  <a:lnTo>
                    <a:pt x="8291042" y="94361"/>
                  </a:lnTo>
                  <a:lnTo>
                    <a:pt x="8263229" y="55803"/>
                  </a:lnTo>
                  <a:lnTo>
                    <a:pt x="8227250" y="26022"/>
                  </a:lnTo>
                  <a:lnTo>
                    <a:pt x="8184782" y="6807"/>
                  </a:lnTo>
                  <a:lnTo>
                    <a:pt x="8137525" y="0"/>
                  </a:lnTo>
                  <a:lnTo>
                    <a:pt x="5749925" y="0"/>
                  </a:lnTo>
                  <a:lnTo>
                    <a:pt x="5702655" y="6807"/>
                  </a:lnTo>
                  <a:lnTo>
                    <a:pt x="5660187" y="26022"/>
                  </a:lnTo>
                  <a:lnTo>
                    <a:pt x="5624207" y="55803"/>
                  </a:lnTo>
                  <a:lnTo>
                    <a:pt x="5596394" y="94361"/>
                  </a:lnTo>
                  <a:lnTo>
                    <a:pt x="5578475" y="139865"/>
                  </a:lnTo>
                  <a:lnTo>
                    <a:pt x="5572125" y="190512"/>
                  </a:lnTo>
                  <a:lnTo>
                    <a:pt x="8315325" y="190512"/>
                  </a:lnTo>
                  <a:close/>
                </a:path>
              </a:pathLst>
            </a:custGeom>
            <a:solidFill>
              <a:srgbClr val="D24717"/>
            </a:solidFill>
          </p:spPr>
          <p:txBody>
            <a:bodyPr wrap="square" lIns="0" tIns="0" rIns="0" bIns="0" rtlCol="0"/>
            <a:lstStyle/>
            <a:p>
              <a:endParaRPr kern="0">
                <a:solidFill>
                  <a:sysClr val="windowText" lastClr="000000"/>
                </a:solidFill>
              </a:endParaRPr>
            </a:p>
          </p:txBody>
        </p:sp>
      </p:grpSp>
      <p:sp>
        <p:nvSpPr>
          <p:cNvPr id="9" name="object 9"/>
          <p:cNvSpPr txBox="1">
            <a:spLocks noGrp="1"/>
          </p:cNvSpPr>
          <p:nvPr>
            <p:ph type="title"/>
          </p:nvPr>
        </p:nvSpPr>
        <p:spPr>
          <a:xfrm>
            <a:off x="2091268" y="450927"/>
            <a:ext cx="11057467" cy="444994"/>
          </a:xfrm>
          <a:prstGeom prst="rect">
            <a:avLst/>
          </a:prstGeom>
        </p:spPr>
        <p:txBody>
          <a:bodyPr vert="horz" wrap="square" lIns="0" tIns="13970" rIns="0" bIns="0" rtlCol="0">
            <a:spAutoFit/>
          </a:bodyPr>
          <a:lstStyle/>
          <a:p>
            <a:pPr marL="12700">
              <a:spcBef>
                <a:spcPts val="110"/>
              </a:spcBef>
              <a:tabLst>
                <a:tab pos="8279765" algn="l"/>
              </a:tabLst>
            </a:pPr>
            <a:r>
              <a:rPr dirty="0"/>
              <a:t>1.</a:t>
            </a:r>
            <a:r>
              <a:rPr spc="-65" dirty="0"/>
              <a:t> </a:t>
            </a:r>
            <a:r>
              <a:rPr dirty="0"/>
              <a:t>GIỚI</a:t>
            </a:r>
            <a:r>
              <a:rPr spc="-90" dirty="0"/>
              <a:t> </a:t>
            </a:r>
            <a:r>
              <a:rPr dirty="0"/>
              <a:t>THIỆU</a:t>
            </a:r>
            <a:r>
              <a:rPr spc="-60" dirty="0"/>
              <a:t> </a:t>
            </a:r>
            <a:r>
              <a:rPr dirty="0"/>
              <a:t>VỀ</a:t>
            </a:r>
            <a:r>
              <a:rPr spc="-170" dirty="0"/>
              <a:t> </a:t>
            </a:r>
            <a:r>
              <a:rPr spc="-45" dirty="0"/>
              <a:t>ASP.NET</a:t>
            </a:r>
            <a:r>
              <a:rPr dirty="0"/>
              <a:t> </a:t>
            </a:r>
            <a:r>
              <a:rPr spc="-25" dirty="0"/>
              <a:t>MVC</a:t>
            </a:r>
            <a:r>
              <a:rPr dirty="0"/>
              <a:t>	</a:t>
            </a:r>
          </a:p>
        </p:txBody>
      </p:sp>
      <p:sp>
        <p:nvSpPr>
          <p:cNvPr id="10" name="object 10"/>
          <p:cNvSpPr txBox="1"/>
          <p:nvPr/>
        </p:nvSpPr>
        <p:spPr>
          <a:xfrm>
            <a:off x="2242820" y="1167766"/>
            <a:ext cx="5287645" cy="393065"/>
          </a:xfrm>
          <a:prstGeom prst="rect">
            <a:avLst/>
          </a:prstGeom>
        </p:spPr>
        <p:txBody>
          <a:bodyPr vert="horz" wrap="square" lIns="0" tIns="13970" rIns="0" bIns="0" rtlCol="0">
            <a:spAutoFit/>
          </a:bodyPr>
          <a:lstStyle/>
          <a:p>
            <a:pPr marL="12700">
              <a:spcBef>
                <a:spcPts val="110"/>
              </a:spcBef>
            </a:pPr>
            <a:r>
              <a:rPr sz="2400" b="1" kern="0" dirty="0">
                <a:solidFill>
                  <a:srgbClr val="FF0000"/>
                </a:solidFill>
                <a:latin typeface="Arial"/>
                <a:cs typeface="Arial"/>
              </a:rPr>
              <a:t>1.6.</a:t>
            </a:r>
            <a:r>
              <a:rPr sz="2400" b="1" kern="0" spc="-30" dirty="0">
                <a:solidFill>
                  <a:srgbClr val="FF0000"/>
                </a:solidFill>
                <a:latin typeface="Arial"/>
                <a:cs typeface="Arial"/>
              </a:rPr>
              <a:t> </a:t>
            </a:r>
            <a:r>
              <a:rPr sz="2400" b="1" i="1" kern="0" dirty="0">
                <a:solidFill>
                  <a:srgbClr val="FF0000"/>
                </a:solidFill>
                <a:latin typeface="Arial"/>
                <a:cs typeface="Arial"/>
              </a:rPr>
              <a:t>Lịch</a:t>
            </a:r>
            <a:r>
              <a:rPr sz="2400" b="1" i="1" kern="0" spc="-65" dirty="0">
                <a:solidFill>
                  <a:srgbClr val="FF0000"/>
                </a:solidFill>
                <a:latin typeface="Arial"/>
                <a:cs typeface="Arial"/>
              </a:rPr>
              <a:t> </a:t>
            </a:r>
            <a:r>
              <a:rPr sz="2400" b="1" i="1" kern="0" dirty="0">
                <a:solidFill>
                  <a:srgbClr val="FF0000"/>
                </a:solidFill>
                <a:latin typeface="Arial"/>
                <a:cs typeface="Arial"/>
              </a:rPr>
              <a:t>sử</a:t>
            </a:r>
            <a:r>
              <a:rPr sz="2400" b="1" i="1" kern="0" spc="-35" dirty="0">
                <a:solidFill>
                  <a:srgbClr val="FF0000"/>
                </a:solidFill>
                <a:latin typeface="Arial"/>
                <a:cs typeface="Arial"/>
              </a:rPr>
              <a:t> </a:t>
            </a:r>
            <a:r>
              <a:rPr sz="2400" b="1" i="1" kern="0" dirty="0">
                <a:solidFill>
                  <a:srgbClr val="FF0000"/>
                </a:solidFill>
                <a:latin typeface="Arial"/>
                <a:cs typeface="Arial"/>
              </a:rPr>
              <a:t>phát</a:t>
            </a:r>
            <a:r>
              <a:rPr sz="2400" b="1" i="1" kern="0" spc="-50" dirty="0">
                <a:solidFill>
                  <a:srgbClr val="FF0000"/>
                </a:solidFill>
                <a:latin typeface="Arial"/>
                <a:cs typeface="Arial"/>
              </a:rPr>
              <a:t> </a:t>
            </a:r>
            <a:r>
              <a:rPr sz="2400" b="1" i="1" kern="0" dirty="0">
                <a:solidFill>
                  <a:srgbClr val="FF0000"/>
                </a:solidFill>
                <a:latin typeface="Arial"/>
                <a:cs typeface="Arial"/>
              </a:rPr>
              <a:t>triển</a:t>
            </a:r>
            <a:r>
              <a:rPr sz="2400" b="1" i="1" kern="0" spc="-135" dirty="0">
                <a:solidFill>
                  <a:srgbClr val="FF0000"/>
                </a:solidFill>
                <a:latin typeface="Arial"/>
                <a:cs typeface="Arial"/>
              </a:rPr>
              <a:t> </a:t>
            </a:r>
            <a:r>
              <a:rPr sz="2400" b="1" i="1" kern="0" spc="-35" dirty="0">
                <a:solidFill>
                  <a:srgbClr val="FF0000"/>
                </a:solidFill>
                <a:latin typeface="Arial"/>
                <a:cs typeface="Arial"/>
              </a:rPr>
              <a:t>ASP.Net</a:t>
            </a:r>
            <a:r>
              <a:rPr sz="2400" b="1" i="1" kern="0" spc="-50" dirty="0">
                <a:solidFill>
                  <a:srgbClr val="FF0000"/>
                </a:solidFill>
                <a:latin typeface="Arial"/>
                <a:cs typeface="Arial"/>
              </a:rPr>
              <a:t> </a:t>
            </a:r>
            <a:r>
              <a:rPr sz="2400" b="1" i="1" kern="0" spc="-20" dirty="0">
                <a:solidFill>
                  <a:srgbClr val="FF0000"/>
                </a:solidFill>
                <a:latin typeface="Arial"/>
                <a:cs typeface="Arial"/>
              </a:rPr>
              <a:t>MVC:</a:t>
            </a:r>
            <a:endParaRPr sz="2400" kern="0">
              <a:solidFill>
                <a:sysClr val="windowText" lastClr="000000"/>
              </a:solidFill>
              <a:latin typeface="Arial"/>
              <a:cs typeface="Arial"/>
            </a:endParaRPr>
          </a:p>
        </p:txBody>
      </p:sp>
      <p:grpSp>
        <p:nvGrpSpPr>
          <p:cNvPr id="11" name="object 11"/>
          <p:cNvGrpSpPr/>
          <p:nvPr/>
        </p:nvGrpSpPr>
        <p:grpSpPr>
          <a:xfrm>
            <a:off x="2556808" y="1720850"/>
            <a:ext cx="7851353" cy="2265419"/>
            <a:chOff x="1032808" y="2035304"/>
            <a:chExt cx="7851353" cy="2265419"/>
          </a:xfrm>
        </p:grpSpPr>
        <p:sp>
          <p:nvSpPr>
            <p:cNvPr id="12" name="object 12"/>
            <p:cNvSpPr/>
            <p:nvPr/>
          </p:nvSpPr>
          <p:spPr>
            <a:xfrm>
              <a:off x="3085976" y="3004688"/>
              <a:ext cx="5798185" cy="1296035"/>
            </a:xfrm>
            <a:custGeom>
              <a:avLst/>
              <a:gdLst/>
              <a:ahLst/>
              <a:cxnLst/>
              <a:rect l="l" t="t" r="r" b="b"/>
              <a:pathLst>
                <a:path w="5798184" h="1296035">
                  <a:moveTo>
                    <a:pt x="527746" y="426594"/>
                  </a:moveTo>
                  <a:lnTo>
                    <a:pt x="520705" y="404067"/>
                  </a:lnTo>
                  <a:lnTo>
                    <a:pt x="519681" y="381799"/>
                  </a:lnTo>
                  <a:lnTo>
                    <a:pt x="524474" y="359873"/>
                  </a:lnTo>
                  <a:lnTo>
                    <a:pt x="550713" y="317358"/>
                  </a:lnTo>
                  <a:lnTo>
                    <a:pt x="597827" y="277160"/>
                  </a:lnTo>
                  <a:lnTo>
                    <a:pt x="664221" y="239916"/>
                  </a:lnTo>
                  <a:lnTo>
                    <a:pt x="704149" y="222600"/>
                  </a:lnTo>
                  <a:lnTo>
                    <a:pt x="748298" y="206262"/>
                  </a:lnTo>
                  <a:lnTo>
                    <a:pt x="796470" y="190981"/>
                  </a:lnTo>
                  <a:lnTo>
                    <a:pt x="848464" y="176836"/>
                  </a:lnTo>
                  <a:lnTo>
                    <a:pt x="904081" y="163907"/>
                  </a:lnTo>
                  <a:lnTo>
                    <a:pt x="963121" y="152274"/>
                  </a:lnTo>
                  <a:lnTo>
                    <a:pt x="1025387" y="142017"/>
                  </a:lnTo>
                  <a:lnTo>
                    <a:pt x="1090676" y="133214"/>
                  </a:lnTo>
                  <a:lnTo>
                    <a:pt x="1158791" y="125946"/>
                  </a:lnTo>
                  <a:lnTo>
                    <a:pt x="1229532" y="120293"/>
                  </a:lnTo>
                  <a:lnTo>
                    <a:pt x="1302700" y="116333"/>
                  </a:lnTo>
                  <a:lnTo>
                    <a:pt x="1357517" y="114594"/>
                  </a:lnTo>
                  <a:lnTo>
                    <a:pt x="1412351" y="113871"/>
                  </a:lnTo>
                  <a:lnTo>
                    <a:pt x="1467055" y="114157"/>
                  </a:lnTo>
                  <a:lnTo>
                    <a:pt x="1521480" y="115442"/>
                  </a:lnTo>
                  <a:lnTo>
                    <a:pt x="1575482" y="117717"/>
                  </a:lnTo>
                  <a:lnTo>
                    <a:pt x="1628911" y="120972"/>
                  </a:lnTo>
                  <a:lnTo>
                    <a:pt x="1681621" y="125199"/>
                  </a:lnTo>
                  <a:lnTo>
                    <a:pt x="1733465" y="130388"/>
                  </a:lnTo>
                  <a:lnTo>
                    <a:pt x="1784295" y="136531"/>
                  </a:lnTo>
                  <a:lnTo>
                    <a:pt x="1833965" y="143618"/>
                  </a:lnTo>
                  <a:lnTo>
                    <a:pt x="1882328" y="151639"/>
                  </a:lnTo>
                  <a:lnTo>
                    <a:pt x="1911937" y="136193"/>
                  </a:lnTo>
                  <a:lnTo>
                    <a:pt x="1981298" y="108358"/>
                  </a:lnTo>
                  <a:lnTo>
                    <a:pt x="2020552" y="96017"/>
                  </a:lnTo>
                  <a:lnTo>
                    <a:pt x="2062525" y="84758"/>
                  </a:lnTo>
                  <a:lnTo>
                    <a:pt x="2106966" y="74603"/>
                  </a:lnTo>
                  <a:lnTo>
                    <a:pt x="2153627" y="65577"/>
                  </a:lnTo>
                  <a:lnTo>
                    <a:pt x="2202260" y="57702"/>
                  </a:lnTo>
                  <a:lnTo>
                    <a:pt x="2252615" y="51001"/>
                  </a:lnTo>
                  <a:lnTo>
                    <a:pt x="2304444" y="45499"/>
                  </a:lnTo>
                  <a:lnTo>
                    <a:pt x="2357498" y="41217"/>
                  </a:lnTo>
                  <a:lnTo>
                    <a:pt x="2411528" y="38180"/>
                  </a:lnTo>
                  <a:lnTo>
                    <a:pt x="2466285" y="36411"/>
                  </a:lnTo>
                  <a:lnTo>
                    <a:pt x="2521520" y="35932"/>
                  </a:lnTo>
                  <a:lnTo>
                    <a:pt x="2576986" y="36768"/>
                  </a:lnTo>
                  <a:lnTo>
                    <a:pt x="2632432" y="38940"/>
                  </a:lnTo>
                  <a:lnTo>
                    <a:pt x="2687611" y="42474"/>
                  </a:lnTo>
                  <a:lnTo>
                    <a:pt x="2742273" y="47391"/>
                  </a:lnTo>
                  <a:lnTo>
                    <a:pt x="2796169" y="53715"/>
                  </a:lnTo>
                  <a:lnTo>
                    <a:pt x="2849052" y="61469"/>
                  </a:lnTo>
                  <a:lnTo>
                    <a:pt x="2893815" y="69371"/>
                  </a:lnTo>
                  <a:lnTo>
                    <a:pt x="2936555" y="78201"/>
                  </a:lnTo>
                  <a:lnTo>
                    <a:pt x="2977103" y="87937"/>
                  </a:lnTo>
                  <a:lnTo>
                    <a:pt x="3015295" y="98553"/>
                  </a:lnTo>
                  <a:lnTo>
                    <a:pt x="3044685" y="82669"/>
                  </a:lnTo>
                  <a:lnTo>
                    <a:pt x="3116460" y="54734"/>
                  </a:lnTo>
                  <a:lnTo>
                    <a:pt x="3158055" y="42762"/>
                  </a:lnTo>
                  <a:lnTo>
                    <a:pt x="3202928" y="32176"/>
                  </a:lnTo>
                  <a:lnTo>
                    <a:pt x="3250686" y="23015"/>
                  </a:lnTo>
                  <a:lnTo>
                    <a:pt x="3300932" y="15319"/>
                  </a:lnTo>
                  <a:lnTo>
                    <a:pt x="3353273" y="9129"/>
                  </a:lnTo>
                  <a:lnTo>
                    <a:pt x="3407314" y="4486"/>
                  </a:lnTo>
                  <a:lnTo>
                    <a:pt x="3462660" y="1429"/>
                  </a:lnTo>
                  <a:lnTo>
                    <a:pt x="3518915" y="0"/>
                  </a:lnTo>
                  <a:lnTo>
                    <a:pt x="3575686" y="237"/>
                  </a:lnTo>
                  <a:lnTo>
                    <a:pt x="3632578" y="2183"/>
                  </a:lnTo>
                  <a:lnTo>
                    <a:pt x="3689195" y="5877"/>
                  </a:lnTo>
                  <a:lnTo>
                    <a:pt x="3745143" y="11359"/>
                  </a:lnTo>
                  <a:lnTo>
                    <a:pt x="3800028" y="18670"/>
                  </a:lnTo>
                  <a:lnTo>
                    <a:pt x="3858045" y="28796"/>
                  </a:lnTo>
                  <a:lnTo>
                    <a:pt x="3911740" y="40816"/>
                  </a:lnTo>
                  <a:lnTo>
                    <a:pt x="3960601" y="54621"/>
                  </a:lnTo>
                  <a:lnTo>
                    <a:pt x="4004117" y="70105"/>
                  </a:lnTo>
                  <a:lnTo>
                    <a:pt x="4042269" y="57559"/>
                  </a:lnTo>
                  <a:lnTo>
                    <a:pt x="4083109" y="46233"/>
                  </a:lnTo>
                  <a:lnTo>
                    <a:pt x="4126362" y="36134"/>
                  </a:lnTo>
                  <a:lnTo>
                    <a:pt x="4171753" y="27270"/>
                  </a:lnTo>
                  <a:lnTo>
                    <a:pt x="4219005" y="19647"/>
                  </a:lnTo>
                  <a:lnTo>
                    <a:pt x="4267845" y="13273"/>
                  </a:lnTo>
                  <a:lnTo>
                    <a:pt x="4317995" y="8153"/>
                  </a:lnTo>
                  <a:lnTo>
                    <a:pt x="4369181" y="4295"/>
                  </a:lnTo>
                  <a:lnTo>
                    <a:pt x="4421127" y="1707"/>
                  </a:lnTo>
                  <a:lnTo>
                    <a:pt x="4473558" y="393"/>
                  </a:lnTo>
                  <a:lnTo>
                    <a:pt x="4526199" y="363"/>
                  </a:lnTo>
                  <a:lnTo>
                    <a:pt x="4578774" y="1622"/>
                  </a:lnTo>
                  <a:lnTo>
                    <a:pt x="4631007" y="4177"/>
                  </a:lnTo>
                  <a:lnTo>
                    <a:pt x="4682624" y="8036"/>
                  </a:lnTo>
                  <a:lnTo>
                    <a:pt x="4733349" y="13204"/>
                  </a:lnTo>
                  <a:lnTo>
                    <a:pt x="4782906" y="19690"/>
                  </a:lnTo>
                  <a:lnTo>
                    <a:pt x="4831020" y="27500"/>
                  </a:lnTo>
                  <a:lnTo>
                    <a:pt x="4877416" y="36640"/>
                  </a:lnTo>
                  <a:lnTo>
                    <a:pt x="4921819" y="47118"/>
                  </a:lnTo>
                  <a:lnTo>
                    <a:pt x="4986391" y="66186"/>
                  </a:lnTo>
                  <a:lnTo>
                    <a:pt x="5041300" y="87650"/>
                  </a:lnTo>
                  <a:lnTo>
                    <a:pt x="5085908" y="111163"/>
                  </a:lnTo>
                  <a:lnTo>
                    <a:pt x="5119573" y="136376"/>
                  </a:lnTo>
                  <a:lnTo>
                    <a:pt x="5141656" y="162942"/>
                  </a:lnTo>
                  <a:lnTo>
                    <a:pt x="5211219" y="169883"/>
                  </a:lnTo>
                  <a:lnTo>
                    <a:pt x="5276866" y="178759"/>
                  </a:lnTo>
                  <a:lnTo>
                    <a:pt x="5338345" y="189433"/>
                  </a:lnTo>
                  <a:lnTo>
                    <a:pt x="5395404" y="201772"/>
                  </a:lnTo>
                  <a:lnTo>
                    <a:pt x="5447790" y="215642"/>
                  </a:lnTo>
                  <a:lnTo>
                    <a:pt x="5495251" y="230906"/>
                  </a:lnTo>
                  <a:lnTo>
                    <a:pt x="5537536" y="247431"/>
                  </a:lnTo>
                  <a:lnTo>
                    <a:pt x="5574392" y="265082"/>
                  </a:lnTo>
                  <a:lnTo>
                    <a:pt x="5630810" y="303223"/>
                  </a:lnTo>
                  <a:lnTo>
                    <a:pt x="5662489" y="344251"/>
                  </a:lnTo>
                  <a:lnTo>
                    <a:pt x="5668420" y="365510"/>
                  </a:lnTo>
                  <a:lnTo>
                    <a:pt x="5667411" y="387088"/>
                  </a:lnTo>
                  <a:lnTo>
                    <a:pt x="5643560" y="430658"/>
                  </a:lnTo>
                  <a:lnTo>
                    <a:pt x="5610921" y="459233"/>
                  </a:lnTo>
                  <a:lnTo>
                    <a:pt x="5658316" y="479888"/>
                  </a:lnTo>
                  <a:lnTo>
                    <a:pt x="5698728" y="501375"/>
                  </a:lnTo>
                  <a:lnTo>
                    <a:pt x="5732217" y="523558"/>
                  </a:lnTo>
                  <a:lnTo>
                    <a:pt x="5778659" y="569466"/>
                  </a:lnTo>
                  <a:lnTo>
                    <a:pt x="5798115" y="616518"/>
                  </a:lnTo>
                  <a:lnTo>
                    <a:pt x="5797870" y="640133"/>
                  </a:lnTo>
                  <a:lnTo>
                    <a:pt x="5777728" y="686855"/>
                  </a:lnTo>
                  <a:lnTo>
                    <a:pt x="5731778" y="731992"/>
                  </a:lnTo>
                  <a:lnTo>
                    <a:pt x="5699272" y="753624"/>
                  </a:lnTo>
                  <a:lnTo>
                    <a:pt x="5660490" y="774450"/>
                  </a:lnTo>
                  <a:lnTo>
                    <a:pt x="5615492" y="794334"/>
                  </a:lnTo>
                  <a:lnTo>
                    <a:pt x="5564337" y="813138"/>
                  </a:lnTo>
                  <a:lnTo>
                    <a:pt x="5507082" y="830727"/>
                  </a:lnTo>
                  <a:lnTo>
                    <a:pt x="5443789" y="846964"/>
                  </a:lnTo>
                  <a:lnTo>
                    <a:pt x="5396328" y="857337"/>
                  </a:lnTo>
                  <a:lnTo>
                    <a:pt x="5346927" y="866727"/>
                  </a:lnTo>
                  <a:lnTo>
                    <a:pt x="5295752" y="875113"/>
                  </a:lnTo>
                  <a:lnTo>
                    <a:pt x="5242970" y="882477"/>
                  </a:lnTo>
                  <a:lnTo>
                    <a:pt x="5188747" y="888798"/>
                  </a:lnTo>
                  <a:lnTo>
                    <a:pt x="5133250" y="894059"/>
                  </a:lnTo>
                  <a:lnTo>
                    <a:pt x="5076646" y="898240"/>
                  </a:lnTo>
                  <a:lnTo>
                    <a:pt x="5019101" y="901320"/>
                  </a:lnTo>
                  <a:lnTo>
                    <a:pt x="5015367" y="922787"/>
                  </a:lnTo>
                  <a:lnTo>
                    <a:pt x="4989755" y="963972"/>
                  </a:lnTo>
                  <a:lnTo>
                    <a:pt x="4941789" y="1002276"/>
                  </a:lnTo>
                  <a:lnTo>
                    <a:pt x="4873672" y="1037037"/>
                  </a:lnTo>
                  <a:lnTo>
                    <a:pt x="4832747" y="1052883"/>
                  </a:lnTo>
                  <a:lnTo>
                    <a:pt x="4787611" y="1067595"/>
                  </a:lnTo>
                  <a:lnTo>
                    <a:pt x="4738541" y="1081091"/>
                  </a:lnTo>
                  <a:lnTo>
                    <a:pt x="4685812" y="1093289"/>
                  </a:lnTo>
                  <a:lnTo>
                    <a:pt x="4629700" y="1104106"/>
                  </a:lnTo>
                  <a:lnTo>
                    <a:pt x="4570480" y="1113459"/>
                  </a:lnTo>
                  <a:lnTo>
                    <a:pt x="4508428" y="1121267"/>
                  </a:lnTo>
                  <a:lnTo>
                    <a:pt x="4443820" y="1127445"/>
                  </a:lnTo>
                  <a:lnTo>
                    <a:pt x="4376932" y="1131912"/>
                  </a:lnTo>
                  <a:lnTo>
                    <a:pt x="4308038" y="1134585"/>
                  </a:lnTo>
                  <a:lnTo>
                    <a:pt x="4237416" y="1135381"/>
                  </a:lnTo>
                  <a:lnTo>
                    <a:pt x="4183921" y="1134681"/>
                  </a:lnTo>
                  <a:lnTo>
                    <a:pt x="4130904" y="1132875"/>
                  </a:lnTo>
                  <a:lnTo>
                    <a:pt x="4078545" y="1129976"/>
                  </a:lnTo>
                  <a:lnTo>
                    <a:pt x="4027024" y="1125999"/>
                  </a:lnTo>
                  <a:lnTo>
                    <a:pt x="3976521" y="1120956"/>
                  </a:lnTo>
                  <a:lnTo>
                    <a:pt x="3927216" y="1114861"/>
                  </a:lnTo>
                  <a:lnTo>
                    <a:pt x="3879289" y="1107727"/>
                  </a:lnTo>
                  <a:lnTo>
                    <a:pt x="3832921" y="1099567"/>
                  </a:lnTo>
                  <a:lnTo>
                    <a:pt x="3812973" y="1117488"/>
                  </a:lnTo>
                  <a:lnTo>
                    <a:pt x="3762484" y="1151236"/>
                  </a:lnTo>
                  <a:lnTo>
                    <a:pt x="3698990" y="1182008"/>
                  </a:lnTo>
                  <a:lnTo>
                    <a:pt x="3662786" y="1196210"/>
                  </a:lnTo>
                  <a:lnTo>
                    <a:pt x="3623836" y="1209586"/>
                  </a:lnTo>
                  <a:lnTo>
                    <a:pt x="3582307" y="1222108"/>
                  </a:lnTo>
                  <a:lnTo>
                    <a:pt x="3538368" y="1233749"/>
                  </a:lnTo>
                  <a:lnTo>
                    <a:pt x="3492187" y="1244482"/>
                  </a:lnTo>
                  <a:lnTo>
                    <a:pt x="3443932" y="1254278"/>
                  </a:lnTo>
                  <a:lnTo>
                    <a:pt x="3393771" y="1263111"/>
                  </a:lnTo>
                  <a:lnTo>
                    <a:pt x="3341872" y="1270954"/>
                  </a:lnTo>
                  <a:lnTo>
                    <a:pt x="3288404" y="1277778"/>
                  </a:lnTo>
                  <a:lnTo>
                    <a:pt x="3233534" y="1283556"/>
                  </a:lnTo>
                  <a:lnTo>
                    <a:pt x="3177431" y="1288261"/>
                  </a:lnTo>
                  <a:lnTo>
                    <a:pt x="3120264" y="1291865"/>
                  </a:lnTo>
                  <a:lnTo>
                    <a:pt x="3062199" y="1294341"/>
                  </a:lnTo>
                  <a:lnTo>
                    <a:pt x="3003406" y="1295662"/>
                  </a:lnTo>
                  <a:lnTo>
                    <a:pt x="2944053" y="1295800"/>
                  </a:lnTo>
                  <a:lnTo>
                    <a:pt x="2884307" y="1294727"/>
                  </a:lnTo>
                  <a:lnTo>
                    <a:pt x="2824338" y="1292416"/>
                  </a:lnTo>
                  <a:lnTo>
                    <a:pt x="2764312" y="1288840"/>
                  </a:lnTo>
                  <a:lnTo>
                    <a:pt x="2704399" y="1283971"/>
                  </a:lnTo>
                  <a:lnTo>
                    <a:pt x="2645087" y="1277794"/>
                  </a:lnTo>
                  <a:lnTo>
                    <a:pt x="2587591" y="1270417"/>
                  </a:lnTo>
                  <a:lnTo>
                    <a:pt x="2532087" y="1261879"/>
                  </a:lnTo>
                  <a:lnTo>
                    <a:pt x="2478751" y="1252223"/>
                  </a:lnTo>
                  <a:lnTo>
                    <a:pt x="2427761" y="1241490"/>
                  </a:lnTo>
                  <a:lnTo>
                    <a:pt x="2379293" y="1229720"/>
                  </a:lnTo>
                  <a:lnTo>
                    <a:pt x="2333524" y="1216955"/>
                  </a:lnTo>
                  <a:lnTo>
                    <a:pt x="2290631" y="1203236"/>
                  </a:lnTo>
                  <a:lnTo>
                    <a:pt x="2250790" y="1188604"/>
                  </a:lnTo>
                  <a:lnTo>
                    <a:pt x="2214179" y="1173100"/>
                  </a:lnTo>
                  <a:lnTo>
                    <a:pt x="2163005" y="1181910"/>
                  </a:lnTo>
                  <a:lnTo>
                    <a:pt x="2110909" y="1189742"/>
                  </a:lnTo>
                  <a:lnTo>
                    <a:pt x="2058011" y="1196606"/>
                  </a:lnTo>
                  <a:lnTo>
                    <a:pt x="2004430" y="1202510"/>
                  </a:lnTo>
                  <a:lnTo>
                    <a:pt x="1950288" y="1207465"/>
                  </a:lnTo>
                  <a:lnTo>
                    <a:pt x="1895703" y="1211478"/>
                  </a:lnTo>
                  <a:lnTo>
                    <a:pt x="1840796" y="1214559"/>
                  </a:lnTo>
                  <a:lnTo>
                    <a:pt x="1785687" y="1216717"/>
                  </a:lnTo>
                  <a:lnTo>
                    <a:pt x="1730495" y="1217962"/>
                  </a:lnTo>
                  <a:lnTo>
                    <a:pt x="1675341" y="1218302"/>
                  </a:lnTo>
                  <a:lnTo>
                    <a:pt x="1620344" y="1217747"/>
                  </a:lnTo>
                  <a:lnTo>
                    <a:pt x="1565624" y="1216305"/>
                  </a:lnTo>
                  <a:lnTo>
                    <a:pt x="1511302" y="1213986"/>
                  </a:lnTo>
                  <a:lnTo>
                    <a:pt x="1457498" y="1210799"/>
                  </a:lnTo>
                  <a:lnTo>
                    <a:pt x="1404330" y="1206753"/>
                  </a:lnTo>
                  <a:lnTo>
                    <a:pt x="1351920" y="1201857"/>
                  </a:lnTo>
                  <a:lnTo>
                    <a:pt x="1300387" y="1196120"/>
                  </a:lnTo>
                  <a:lnTo>
                    <a:pt x="1249851" y="1189552"/>
                  </a:lnTo>
                  <a:lnTo>
                    <a:pt x="1200432" y="1182161"/>
                  </a:lnTo>
                  <a:lnTo>
                    <a:pt x="1152249" y="1173957"/>
                  </a:lnTo>
                  <a:lnTo>
                    <a:pt x="1105424" y="1164948"/>
                  </a:lnTo>
                  <a:lnTo>
                    <a:pt x="1060076" y="1155145"/>
                  </a:lnTo>
                  <a:lnTo>
                    <a:pt x="1016324" y="1144555"/>
                  </a:lnTo>
                  <a:lnTo>
                    <a:pt x="974290" y="1133189"/>
                  </a:lnTo>
                  <a:lnTo>
                    <a:pt x="934091" y="1121055"/>
                  </a:lnTo>
                  <a:lnTo>
                    <a:pt x="895850" y="1108162"/>
                  </a:lnTo>
                  <a:lnTo>
                    <a:pt x="859685" y="1094520"/>
                  </a:lnTo>
                  <a:lnTo>
                    <a:pt x="794065" y="1065023"/>
                  </a:lnTo>
                  <a:lnTo>
                    <a:pt x="786699" y="1061213"/>
                  </a:lnTo>
                  <a:lnTo>
                    <a:pt x="783016" y="1059308"/>
                  </a:lnTo>
                  <a:lnTo>
                    <a:pt x="714869" y="1060535"/>
                  </a:lnTo>
                  <a:lnTo>
                    <a:pt x="648130" y="1059394"/>
                  </a:lnTo>
                  <a:lnTo>
                    <a:pt x="583287" y="1056004"/>
                  </a:lnTo>
                  <a:lnTo>
                    <a:pt x="520827" y="1050481"/>
                  </a:lnTo>
                  <a:lnTo>
                    <a:pt x="461236" y="1042943"/>
                  </a:lnTo>
                  <a:lnTo>
                    <a:pt x="405003" y="1033506"/>
                  </a:lnTo>
                  <a:lnTo>
                    <a:pt x="352613" y="1022288"/>
                  </a:lnTo>
                  <a:lnTo>
                    <a:pt x="304554" y="1009406"/>
                  </a:lnTo>
                  <a:lnTo>
                    <a:pt x="261313" y="994977"/>
                  </a:lnTo>
                  <a:lnTo>
                    <a:pt x="223377" y="979119"/>
                  </a:lnTo>
                  <a:lnTo>
                    <a:pt x="165369" y="943582"/>
                  </a:lnTo>
                  <a:lnTo>
                    <a:pt x="134427" y="903733"/>
                  </a:lnTo>
                  <a:lnTo>
                    <a:pt x="131426" y="872690"/>
                  </a:lnTo>
                  <a:lnTo>
                    <a:pt x="146025" y="842324"/>
                  </a:lnTo>
                  <a:lnTo>
                    <a:pt x="177504" y="813281"/>
                  </a:lnTo>
                  <a:lnTo>
                    <a:pt x="225143" y="786206"/>
                  </a:lnTo>
                  <a:lnTo>
                    <a:pt x="288224" y="761747"/>
                  </a:lnTo>
                  <a:lnTo>
                    <a:pt x="222701" y="748114"/>
                  </a:lnTo>
                  <a:lnTo>
                    <a:pt x="165110" y="732299"/>
                  </a:lnTo>
                  <a:lnTo>
                    <a:pt x="115698" y="714592"/>
                  </a:lnTo>
                  <a:lnTo>
                    <a:pt x="74713" y="695284"/>
                  </a:lnTo>
                  <a:lnTo>
                    <a:pt x="42403" y="674663"/>
                  </a:lnTo>
                  <a:lnTo>
                    <a:pt x="4798" y="630643"/>
                  </a:lnTo>
                  <a:lnTo>
                    <a:pt x="0" y="607823"/>
                  </a:lnTo>
                  <a:lnTo>
                    <a:pt x="4867" y="584850"/>
                  </a:lnTo>
                  <a:lnTo>
                    <a:pt x="44591" y="539602"/>
                  </a:lnTo>
                  <a:lnTo>
                    <a:pt x="79944" y="517907"/>
                  </a:lnTo>
                  <a:lnTo>
                    <a:pt x="152367" y="487799"/>
                  </a:lnTo>
                  <a:lnTo>
                    <a:pt x="195405" y="474798"/>
                  </a:lnTo>
                  <a:lnTo>
                    <a:pt x="242435" y="463273"/>
                  </a:lnTo>
                  <a:lnTo>
                    <a:pt x="293038" y="453307"/>
                  </a:lnTo>
                  <a:lnTo>
                    <a:pt x="346794" y="444981"/>
                  </a:lnTo>
                  <a:lnTo>
                    <a:pt x="403285" y="438376"/>
                  </a:lnTo>
                  <a:lnTo>
                    <a:pt x="462091" y="433575"/>
                  </a:lnTo>
                  <a:lnTo>
                    <a:pt x="522793" y="430658"/>
                  </a:lnTo>
                  <a:lnTo>
                    <a:pt x="527746" y="426594"/>
                  </a:lnTo>
                  <a:close/>
                </a:path>
                <a:path w="5798184" h="1296035">
                  <a:moveTo>
                    <a:pt x="634045" y="780670"/>
                  </a:moveTo>
                  <a:lnTo>
                    <a:pt x="583309" y="781187"/>
                  </a:lnTo>
                  <a:lnTo>
                    <a:pt x="532851" y="780358"/>
                  </a:lnTo>
                  <a:lnTo>
                    <a:pt x="482949" y="778204"/>
                  </a:lnTo>
                  <a:lnTo>
                    <a:pt x="433879" y="774749"/>
                  </a:lnTo>
                  <a:lnTo>
                    <a:pt x="385921" y="770014"/>
                  </a:lnTo>
                  <a:lnTo>
                    <a:pt x="339351" y="764022"/>
                  </a:lnTo>
                  <a:lnTo>
                    <a:pt x="294447" y="756794"/>
                  </a:lnTo>
                </a:path>
                <a:path w="5798184" h="1296035">
                  <a:moveTo>
                    <a:pt x="933638" y="1042163"/>
                  </a:moveTo>
                  <a:lnTo>
                    <a:pt x="897490" y="1046164"/>
                  </a:lnTo>
                  <a:lnTo>
                    <a:pt x="860581" y="1049402"/>
                  </a:lnTo>
                  <a:lnTo>
                    <a:pt x="823052" y="1051879"/>
                  </a:lnTo>
                  <a:lnTo>
                    <a:pt x="785048" y="1053593"/>
                  </a:lnTo>
                </a:path>
                <a:path w="5798184" h="1296035">
                  <a:moveTo>
                    <a:pt x="2213798" y="1167893"/>
                  </a:moveTo>
                  <a:lnTo>
                    <a:pt x="2188040" y="1155398"/>
                  </a:lnTo>
                  <a:lnTo>
                    <a:pt x="2164522" y="1142509"/>
                  </a:lnTo>
                  <a:lnTo>
                    <a:pt x="2143289" y="1129263"/>
                  </a:lnTo>
                  <a:lnTo>
                    <a:pt x="2124390" y="1115696"/>
                  </a:lnTo>
                </a:path>
                <a:path w="5798184" h="1296035">
                  <a:moveTo>
                    <a:pt x="3869370" y="1037718"/>
                  </a:moveTo>
                  <a:lnTo>
                    <a:pt x="3864131" y="1052240"/>
                  </a:lnTo>
                  <a:lnTo>
                    <a:pt x="3856416" y="1066642"/>
                  </a:lnTo>
                  <a:lnTo>
                    <a:pt x="3846224" y="1080902"/>
                  </a:lnTo>
                  <a:lnTo>
                    <a:pt x="3833556" y="1094995"/>
                  </a:lnTo>
                </a:path>
                <a:path w="5798184" h="1296035">
                  <a:moveTo>
                    <a:pt x="4580062" y="684023"/>
                  </a:moveTo>
                  <a:lnTo>
                    <a:pt x="4650838" y="695917"/>
                  </a:lnTo>
                  <a:lnTo>
                    <a:pt x="4716369" y="709810"/>
                  </a:lnTo>
                  <a:lnTo>
                    <a:pt x="4776324" y="725538"/>
                  </a:lnTo>
                  <a:lnTo>
                    <a:pt x="4830378" y="742940"/>
                  </a:lnTo>
                  <a:lnTo>
                    <a:pt x="4878201" y="761854"/>
                  </a:lnTo>
                  <a:lnTo>
                    <a:pt x="4919465" y="782118"/>
                  </a:lnTo>
                  <a:lnTo>
                    <a:pt x="4953842" y="803571"/>
                  </a:lnTo>
                  <a:lnTo>
                    <a:pt x="5000626" y="849391"/>
                  </a:lnTo>
                  <a:lnTo>
                    <a:pt x="5012375" y="873434"/>
                  </a:lnTo>
                  <a:lnTo>
                    <a:pt x="5015926" y="898018"/>
                  </a:lnTo>
                </a:path>
                <a:path w="5798184" h="1296035">
                  <a:moveTo>
                    <a:pt x="5608127" y="456058"/>
                  </a:moveTo>
                  <a:lnTo>
                    <a:pt x="5571251" y="478601"/>
                  </a:lnTo>
                  <a:lnTo>
                    <a:pt x="5526291" y="499619"/>
                  </a:lnTo>
                  <a:lnTo>
                    <a:pt x="5473735" y="518923"/>
                  </a:lnTo>
                  <a:lnTo>
                    <a:pt x="5414071" y="536322"/>
                  </a:lnTo>
                </a:path>
                <a:path w="5798184" h="1296035">
                  <a:moveTo>
                    <a:pt x="5142418" y="158370"/>
                  </a:moveTo>
                  <a:lnTo>
                    <a:pt x="5147222" y="167822"/>
                  </a:lnTo>
                  <a:lnTo>
                    <a:pt x="5150562" y="177309"/>
                  </a:lnTo>
                  <a:lnTo>
                    <a:pt x="5152401" y="186820"/>
                  </a:lnTo>
                  <a:lnTo>
                    <a:pt x="5152705" y="196343"/>
                  </a:lnTo>
                </a:path>
                <a:path w="5798184" h="1296035">
                  <a:moveTo>
                    <a:pt x="3902898" y="114174"/>
                  </a:moveTo>
                  <a:lnTo>
                    <a:pt x="3923436" y="101276"/>
                  </a:lnTo>
                  <a:lnTo>
                    <a:pt x="3946903" y="88901"/>
                  </a:lnTo>
                  <a:lnTo>
                    <a:pt x="3973228" y="77098"/>
                  </a:lnTo>
                  <a:lnTo>
                    <a:pt x="4002339" y="65914"/>
                  </a:lnTo>
                </a:path>
                <a:path w="5798184" h="1296035">
                  <a:moveTo>
                    <a:pt x="2973004" y="137161"/>
                  </a:moveTo>
                  <a:lnTo>
                    <a:pt x="2981828" y="126455"/>
                  </a:lnTo>
                  <a:lnTo>
                    <a:pt x="2992832" y="115905"/>
                  </a:lnTo>
                  <a:lnTo>
                    <a:pt x="3005954" y="105568"/>
                  </a:lnTo>
                  <a:lnTo>
                    <a:pt x="3021137" y="95505"/>
                  </a:lnTo>
                </a:path>
                <a:path w="5798184" h="1296035">
                  <a:moveTo>
                    <a:pt x="1881693" y="151385"/>
                  </a:moveTo>
                  <a:lnTo>
                    <a:pt x="1928224" y="160285"/>
                  </a:lnTo>
                  <a:lnTo>
                    <a:pt x="1972863" y="170007"/>
                  </a:lnTo>
                  <a:lnTo>
                    <a:pt x="2015477" y="180514"/>
                  </a:lnTo>
                  <a:lnTo>
                    <a:pt x="2055937" y="191771"/>
                  </a:lnTo>
                </a:path>
                <a:path w="5798184" h="1296035">
                  <a:moveTo>
                    <a:pt x="558099" y="469139"/>
                  </a:moveTo>
                  <a:lnTo>
                    <a:pt x="548480" y="458616"/>
                  </a:lnTo>
                  <a:lnTo>
                    <a:pt x="540208" y="448010"/>
                  </a:lnTo>
                  <a:lnTo>
                    <a:pt x="533292" y="437332"/>
                  </a:lnTo>
                  <a:lnTo>
                    <a:pt x="527746" y="426594"/>
                  </a:lnTo>
                </a:path>
              </a:pathLst>
            </a:custGeom>
            <a:ln w="9525">
              <a:solidFill>
                <a:srgbClr val="000000"/>
              </a:solidFill>
            </a:ln>
          </p:spPr>
          <p:txBody>
            <a:bodyPr wrap="square" lIns="0" tIns="0" rIns="0" bIns="0" rtlCol="0"/>
            <a:lstStyle/>
            <a:p>
              <a:endParaRPr kern="0">
                <a:solidFill>
                  <a:sysClr val="windowText" lastClr="000000"/>
                </a:solidFill>
              </a:endParaRPr>
            </a:p>
          </p:txBody>
        </p:sp>
        <p:pic>
          <p:nvPicPr>
            <p:cNvPr id="13" name="object 13"/>
            <p:cNvPicPr/>
            <p:nvPr/>
          </p:nvPicPr>
          <p:blipFill>
            <a:blip r:embed="rId3" cstate="print"/>
            <a:stretch>
              <a:fillRect/>
            </a:stretch>
          </p:blipFill>
          <p:spPr>
            <a:xfrm>
              <a:off x="1032808" y="2035304"/>
              <a:ext cx="7663863" cy="802711"/>
            </a:xfrm>
            <a:prstGeom prst="rect">
              <a:avLst/>
            </a:prstGeom>
          </p:spPr>
        </p:pic>
      </p:grpSp>
      <p:sp>
        <p:nvSpPr>
          <p:cNvPr id="14" name="object 14"/>
          <p:cNvSpPr txBox="1"/>
          <p:nvPr/>
        </p:nvSpPr>
        <p:spPr>
          <a:xfrm>
            <a:off x="4042409" y="2851956"/>
            <a:ext cx="6178261" cy="3132332"/>
          </a:xfrm>
          <a:prstGeom prst="rect">
            <a:avLst/>
          </a:prstGeom>
        </p:spPr>
        <p:txBody>
          <a:bodyPr vert="horz" wrap="square" lIns="0" tIns="12065" rIns="0" bIns="0" rtlCol="0">
            <a:spAutoFit/>
          </a:bodyPr>
          <a:lstStyle/>
          <a:p>
            <a:pPr marL="1636395" marR="361315" indent="-389255">
              <a:lnSpc>
                <a:spcPct val="131400"/>
              </a:lnSpc>
              <a:spcBef>
                <a:spcPts val="95"/>
              </a:spcBef>
            </a:pPr>
            <a:r>
              <a:rPr sz="3200" kern="0" dirty="0">
                <a:solidFill>
                  <a:srgbClr val="C00000"/>
                </a:solidFill>
                <a:latin typeface="Microsoft Sans Serif"/>
                <a:cs typeface="Microsoft Sans Serif"/>
              </a:rPr>
              <a:t>6.0.0</a:t>
            </a:r>
            <a:r>
              <a:rPr sz="3200" kern="0" spc="25" dirty="0">
                <a:solidFill>
                  <a:srgbClr val="C00000"/>
                </a:solidFill>
                <a:latin typeface="Microsoft Sans Serif"/>
                <a:cs typeface="Microsoft Sans Serif"/>
              </a:rPr>
              <a:t> </a:t>
            </a:r>
            <a:r>
              <a:rPr sz="3200" kern="0" dirty="0">
                <a:solidFill>
                  <a:srgbClr val="C00000"/>
                </a:solidFill>
                <a:latin typeface="Microsoft Sans Serif"/>
                <a:cs typeface="Microsoft Sans Serif"/>
              </a:rPr>
              <a:t>rc2 </a:t>
            </a:r>
            <a:r>
              <a:rPr sz="3200" kern="0" spc="-10">
                <a:solidFill>
                  <a:srgbClr val="C00000"/>
                </a:solidFill>
                <a:latin typeface="Microsoft Sans Serif"/>
                <a:cs typeface="Microsoft Sans Serif"/>
              </a:rPr>
              <a:t>Final </a:t>
            </a:r>
            <a:r>
              <a:rPr sz="3200" kern="0" spc="-10">
                <a:solidFill>
                  <a:srgbClr val="001F5F"/>
                </a:solidFill>
                <a:latin typeface="Microsoft Sans Serif"/>
                <a:cs typeface="Microsoft Sans Serif"/>
              </a:rPr>
              <a:t>16/5/2016</a:t>
            </a:r>
            <a:endParaRPr sz="3200" kern="0">
              <a:solidFill>
                <a:sysClr val="windowText" lastClr="000000"/>
              </a:solidFill>
              <a:latin typeface="Microsoft Sans Serif"/>
              <a:cs typeface="Microsoft Sans Serif"/>
            </a:endParaRPr>
          </a:p>
          <a:p>
            <a:pPr marL="355600" indent="-342900">
              <a:spcBef>
                <a:spcPts val="3100"/>
              </a:spcBef>
              <a:buFont typeface="Wingdings"/>
              <a:buChar char=""/>
              <a:tabLst>
                <a:tab pos="355600" algn="l"/>
              </a:tabLst>
            </a:pPr>
            <a:r>
              <a:rPr lang="en-US" sz="2400" kern="0" spc="-40">
                <a:solidFill>
                  <a:sysClr val="windowText" lastClr="000000"/>
                </a:solidFill>
                <a:latin typeface="Microsoft Sans Serif"/>
                <a:cs typeface="Microsoft Sans Serif"/>
              </a:rPr>
              <a:t>Đa nền tảng</a:t>
            </a:r>
            <a:endParaRPr sz="2400" kern="0">
              <a:solidFill>
                <a:sysClr val="windowText" lastClr="000000"/>
              </a:solidFill>
              <a:latin typeface="Microsoft Sans Serif"/>
              <a:cs typeface="Microsoft Sans Serif"/>
            </a:endParaRPr>
          </a:p>
          <a:p>
            <a:pPr marL="355600" indent="-342900">
              <a:spcBef>
                <a:spcPts val="615"/>
              </a:spcBef>
              <a:buFont typeface="Wingdings"/>
              <a:buChar char=""/>
              <a:tabLst>
                <a:tab pos="355600" algn="l"/>
              </a:tabLst>
            </a:pPr>
            <a:r>
              <a:rPr sz="2400" kern="0">
                <a:solidFill>
                  <a:sysClr val="windowText" lastClr="000000"/>
                </a:solidFill>
                <a:latin typeface="Microsoft Sans Serif"/>
                <a:cs typeface="Microsoft Sans Serif"/>
              </a:rPr>
              <a:t>Không</a:t>
            </a:r>
            <a:r>
              <a:rPr sz="2400" kern="0" spc="5">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còn</a:t>
            </a:r>
            <a:r>
              <a:rPr sz="2400" kern="0" spc="10" dirty="0">
                <a:solidFill>
                  <a:sysClr val="windowText" lastClr="000000"/>
                </a:solidFill>
                <a:latin typeface="Microsoft Sans Serif"/>
                <a:cs typeface="Microsoft Sans Serif"/>
              </a:rPr>
              <a:t> </a:t>
            </a:r>
            <a:r>
              <a:rPr sz="2400" kern="0">
                <a:solidFill>
                  <a:sysClr val="windowText" lastClr="000000"/>
                </a:solidFill>
                <a:latin typeface="Microsoft Sans Serif"/>
                <a:cs typeface="Microsoft Sans Serif"/>
              </a:rPr>
              <a:t>Web</a:t>
            </a:r>
            <a:r>
              <a:rPr sz="2400" kern="0" spc="-65">
                <a:solidFill>
                  <a:sysClr val="windowText" lastClr="000000"/>
                </a:solidFill>
                <a:latin typeface="Microsoft Sans Serif"/>
                <a:cs typeface="Microsoft Sans Serif"/>
              </a:rPr>
              <a:t> </a:t>
            </a:r>
            <a:r>
              <a:rPr sz="2400" kern="0" spc="-20">
                <a:solidFill>
                  <a:sysClr val="windowText" lastClr="000000"/>
                </a:solidFill>
                <a:latin typeface="Microsoft Sans Serif"/>
                <a:cs typeface="Microsoft Sans Serif"/>
              </a:rPr>
              <a:t>Forms</a:t>
            </a:r>
            <a:r>
              <a:rPr lang="en-US" sz="2400" kern="0">
                <a:solidFill>
                  <a:sysClr val="windowText" lastClr="000000"/>
                </a:solidFill>
                <a:latin typeface="Microsoft Sans Serif"/>
                <a:cs typeface="Microsoft Sans Serif"/>
              </a:rPr>
              <a:t>, </a:t>
            </a:r>
            <a:r>
              <a:rPr sz="2400" kern="0">
                <a:solidFill>
                  <a:sysClr val="windowText" lastClr="000000"/>
                </a:solidFill>
                <a:latin typeface="Microsoft Sans Serif"/>
                <a:cs typeface="Microsoft Sans Serif"/>
              </a:rPr>
              <a:t>Visual</a:t>
            </a:r>
            <a:r>
              <a:rPr sz="2400" kern="0" spc="-15">
                <a:solidFill>
                  <a:sysClr val="windowText" lastClr="000000"/>
                </a:solidFill>
                <a:latin typeface="Microsoft Sans Serif"/>
                <a:cs typeface="Microsoft Sans Serif"/>
              </a:rPr>
              <a:t> </a:t>
            </a:r>
            <a:r>
              <a:rPr sz="2400" kern="0" spc="-20">
                <a:solidFill>
                  <a:sysClr val="windowText" lastClr="000000"/>
                </a:solidFill>
                <a:latin typeface="Microsoft Sans Serif"/>
                <a:cs typeface="Microsoft Sans Serif"/>
              </a:rPr>
              <a:t>Basic</a:t>
            </a:r>
            <a:endParaRPr lang="en-US" sz="2400" kern="0" spc="-20">
              <a:solidFill>
                <a:sysClr val="windowText" lastClr="000000"/>
              </a:solidFill>
              <a:latin typeface="Microsoft Sans Serif"/>
              <a:cs typeface="Microsoft Sans Serif"/>
            </a:endParaRPr>
          </a:p>
          <a:p>
            <a:pPr marL="355600" indent="-342900">
              <a:spcBef>
                <a:spcPts val="615"/>
              </a:spcBef>
              <a:buFont typeface="Wingdings"/>
              <a:buChar char=""/>
              <a:tabLst>
                <a:tab pos="355600" algn="l"/>
              </a:tabLst>
            </a:pPr>
            <a:r>
              <a:rPr lang="en-US" sz="2400" kern="0" spc="70">
                <a:solidFill>
                  <a:sysClr val="windowText" lastClr="000000"/>
                </a:solidFill>
                <a:latin typeface="Microsoft Sans Serif"/>
                <a:cs typeface="Microsoft Sans Serif"/>
              </a:rPr>
              <a:t>Hợp</a:t>
            </a:r>
            <a:r>
              <a:rPr lang="en-US" sz="2400" kern="0" spc="30">
                <a:solidFill>
                  <a:sysClr val="windowText" lastClr="000000"/>
                </a:solidFill>
                <a:latin typeface="Microsoft Sans Serif"/>
                <a:cs typeface="Microsoft Sans Serif"/>
              </a:rPr>
              <a:t> </a:t>
            </a:r>
            <a:r>
              <a:rPr lang="en-US" sz="2400" kern="0">
                <a:solidFill>
                  <a:sysClr val="windowText" lastClr="000000"/>
                </a:solidFill>
                <a:latin typeface="Microsoft Sans Serif"/>
                <a:cs typeface="Microsoft Sans Serif"/>
              </a:rPr>
              <a:t>nhất</a:t>
            </a:r>
            <a:r>
              <a:rPr lang="en-US" sz="2400" kern="0" spc="20">
                <a:solidFill>
                  <a:sysClr val="windowText" lastClr="000000"/>
                </a:solidFill>
                <a:latin typeface="Microsoft Sans Serif"/>
                <a:cs typeface="Microsoft Sans Serif"/>
              </a:rPr>
              <a:t> </a:t>
            </a:r>
            <a:r>
              <a:rPr lang="en-US" sz="2400" kern="0">
                <a:solidFill>
                  <a:sysClr val="windowText" lastClr="000000"/>
                </a:solidFill>
                <a:latin typeface="Microsoft Sans Serif"/>
                <a:cs typeface="Microsoft Sans Serif"/>
              </a:rPr>
              <a:t>MVC</a:t>
            </a:r>
            <a:r>
              <a:rPr lang="en-US" sz="2400" kern="0" spc="-10">
                <a:solidFill>
                  <a:sysClr val="windowText" lastClr="000000"/>
                </a:solidFill>
                <a:latin typeface="Microsoft Sans Serif"/>
                <a:cs typeface="Microsoft Sans Serif"/>
              </a:rPr>
              <a:t> </a:t>
            </a:r>
            <a:r>
              <a:rPr lang="en-US" sz="2400" kern="0">
                <a:solidFill>
                  <a:sysClr val="windowText" lastClr="000000"/>
                </a:solidFill>
                <a:latin typeface="Microsoft Sans Serif"/>
                <a:cs typeface="Microsoft Sans Serif"/>
              </a:rPr>
              <a:t>và</a:t>
            </a:r>
            <a:r>
              <a:rPr lang="en-US" sz="2400" kern="0" spc="35">
                <a:solidFill>
                  <a:sysClr val="windowText" lastClr="000000"/>
                </a:solidFill>
                <a:latin typeface="Microsoft Sans Serif"/>
                <a:cs typeface="Microsoft Sans Serif"/>
              </a:rPr>
              <a:t> </a:t>
            </a:r>
            <a:r>
              <a:rPr lang="en-US" sz="2400" kern="0">
                <a:solidFill>
                  <a:sysClr val="windowText" lastClr="000000"/>
                </a:solidFill>
                <a:latin typeface="Microsoft Sans Serif"/>
                <a:cs typeface="Microsoft Sans Serif"/>
              </a:rPr>
              <a:t>Web</a:t>
            </a:r>
            <a:r>
              <a:rPr lang="en-US" sz="2400" kern="0" spc="-215">
                <a:solidFill>
                  <a:sysClr val="windowText" lastClr="000000"/>
                </a:solidFill>
                <a:latin typeface="Microsoft Sans Serif"/>
                <a:cs typeface="Microsoft Sans Serif"/>
              </a:rPr>
              <a:t> </a:t>
            </a:r>
            <a:r>
              <a:rPr lang="en-US" sz="2400" kern="0">
                <a:solidFill>
                  <a:sysClr val="windowText" lastClr="000000"/>
                </a:solidFill>
                <a:latin typeface="Microsoft Sans Serif"/>
                <a:cs typeface="Microsoft Sans Serif"/>
              </a:rPr>
              <a:t>API</a:t>
            </a:r>
            <a:r>
              <a:rPr lang="en-US" sz="2400" kern="0" spc="-15">
                <a:solidFill>
                  <a:sysClr val="windowText" lastClr="000000"/>
                </a:solidFill>
                <a:latin typeface="Microsoft Sans Serif"/>
                <a:cs typeface="Microsoft Sans Serif"/>
              </a:rPr>
              <a:t> </a:t>
            </a:r>
            <a:r>
              <a:rPr lang="en-US" sz="2400" kern="0" spc="-10">
                <a:solidFill>
                  <a:sysClr val="windowText" lastClr="000000"/>
                </a:solidFill>
                <a:latin typeface="Microsoft Sans Serif"/>
                <a:cs typeface="Microsoft Sans Serif"/>
              </a:rPr>
              <a:t>Controller</a:t>
            </a:r>
          </a:p>
          <a:p>
            <a:pPr marL="355600" indent="-342900">
              <a:spcBef>
                <a:spcPts val="615"/>
              </a:spcBef>
              <a:buFont typeface="Wingdings"/>
              <a:buChar char=""/>
              <a:tabLst>
                <a:tab pos="355600" algn="l"/>
              </a:tabLst>
            </a:pPr>
            <a:r>
              <a:rPr lang="en-US" sz="2400" kern="0" spc="-10">
                <a:solidFill>
                  <a:sysClr val="windowText" lastClr="000000"/>
                </a:solidFill>
                <a:latin typeface="Microsoft Sans Serif"/>
                <a:cs typeface="Microsoft Sans Serif"/>
              </a:rPr>
              <a:t>Các version ASP.NET Core 2.x → 3.x → 5 → 6 → 7 → 8 (hiện nay)</a:t>
            </a:r>
            <a:endParaRPr lang="en-US" sz="2400" kern="0">
              <a:solidFill>
                <a:sysClr val="windowText" lastClr="000000"/>
              </a:solidFill>
              <a:latin typeface="Microsoft Sans Serif"/>
              <a:cs typeface="Microsoft Sans Serif"/>
            </a:endParaRPr>
          </a:p>
        </p:txBody>
      </p:sp>
      <p:sp>
        <p:nvSpPr>
          <p:cNvPr id="17" name="object 17"/>
          <p:cNvSpPr txBox="1">
            <a:spLocks noGrp="1"/>
          </p:cNvSpPr>
          <p:nvPr>
            <p:ph type="ftr" sz="quarter" idx="5"/>
          </p:nvPr>
        </p:nvSpPr>
        <p:spPr>
          <a:xfrm>
            <a:off x="2763418" y="6600176"/>
            <a:ext cx="1243964" cy="155171"/>
          </a:xfrm>
          <a:prstGeom prst="rect">
            <a:avLst/>
          </a:prstGeom>
        </p:spPr>
        <p:txBody>
          <a:bodyPr vert="horz" wrap="square" lIns="0" tIns="1270" rIns="0" bIns="0" rtlCol="0">
            <a:spAutoFit/>
          </a:bodyPr>
          <a:lstStyle/>
          <a:p>
            <a:pPr marL="12700">
              <a:spcBef>
                <a:spcPts val="10"/>
              </a:spcBef>
            </a:pPr>
            <a:endParaRPr spc="-20" dirty="0">
              <a:solidFill>
                <a:prstClr val="white"/>
              </a:solidFill>
            </a:endParaRPr>
          </a:p>
        </p:txBody>
      </p:sp>
    </p:spTree>
    <p:extLst>
      <p:ext uri="{BB962C8B-B14F-4D97-AF65-F5344CB8AC3E}">
        <p14:creationId xmlns:p14="http://schemas.microsoft.com/office/powerpoint/2010/main" val="340468179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584326" y="66675"/>
            <a:ext cx="9020175" cy="6699250"/>
            <a:chOff x="60325" y="66675"/>
            <a:chExt cx="9020175" cy="6699250"/>
          </a:xfrm>
        </p:grpSpPr>
        <p:sp>
          <p:nvSpPr>
            <p:cNvPr id="3" name="object 3"/>
            <p:cNvSpPr/>
            <p:nvPr/>
          </p:nvSpPr>
          <p:spPr>
            <a:xfrm>
              <a:off x="63500" y="69850"/>
              <a:ext cx="9013825" cy="6692900"/>
            </a:xfrm>
            <a:custGeom>
              <a:avLst/>
              <a:gdLst/>
              <a:ahLst/>
              <a:cxnLst/>
              <a:rect l="l" t="t" r="r" b="b"/>
              <a:pathLst>
                <a:path w="9013825" h="6692900">
                  <a:moveTo>
                    <a:pt x="0" y="329946"/>
                  </a:moveTo>
                  <a:lnTo>
                    <a:pt x="3576" y="281184"/>
                  </a:lnTo>
                  <a:lnTo>
                    <a:pt x="13967" y="234645"/>
                  </a:lnTo>
                  <a:lnTo>
                    <a:pt x="30661" y="190840"/>
                  </a:lnTo>
                  <a:lnTo>
                    <a:pt x="53148" y="150277"/>
                  </a:lnTo>
                  <a:lnTo>
                    <a:pt x="80918" y="113468"/>
                  </a:lnTo>
                  <a:lnTo>
                    <a:pt x="113460" y="80923"/>
                  </a:lnTo>
                  <a:lnTo>
                    <a:pt x="150264" y="53151"/>
                  </a:lnTo>
                  <a:lnTo>
                    <a:pt x="190820" y="30662"/>
                  </a:lnTo>
                  <a:lnTo>
                    <a:pt x="234617" y="13967"/>
                  </a:lnTo>
                  <a:lnTo>
                    <a:pt x="281146" y="3576"/>
                  </a:lnTo>
                  <a:lnTo>
                    <a:pt x="329895" y="0"/>
                  </a:lnTo>
                  <a:lnTo>
                    <a:pt x="8683879" y="0"/>
                  </a:lnTo>
                  <a:lnTo>
                    <a:pt x="8732640" y="3576"/>
                  </a:lnTo>
                  <a:lnTo>
                    <a:pt x="8779179" y="13967"/>
                  </a:lnTo>
                  <a:lnTo>
                    <a:pt x="8822984" y="30662"/>
                  </a:lnTo>
                  <a:lnTo>
                    <a:pt x="8863547" y="53151"/>
                  </a:lnTo>
                  <a:lnTo>
                    <a:pt x="8900356" y="80923"/>
                  </a:lnTo>
                  <a:lnTo>
                    <a:pt x="8932901" y="113468"/>
                  </a:lnTo>
                  <a:lnTo>
                    <a:pt x="8960673" y="150277"/>
                  </a:lnTo>
                  <a:lnTo>
                    <a:pt x="8983162" y="190840"/>
                  </a:lnTo>
                  <a:lnTo>
                    <a:pt x="8999857" y="234645"/>
                  </a:lnTo>
                  <a:lnTo>
                    <a:pt x="9010248" y="281184"/>
                  </a:lnTo>
                  <a:lnTo>
                    <a:pt x="9013825" y="329946"/>
                  </a:lnTo>
                  <a:lnTo>
                    <a:pt x="9013825" y="6363004"/>
                  </a:lnTo>
                  <a:lnTo>
                    <a:pt x="9010248" y="6411753"/>
                  </a:lnTo>
                  <a:lnTo>
                    <a:pt x="8999857" y="6458282"/>
                  </a:lnTo>
                  <a:lnTo>
                    <a:pt x="8983162" y="6502079"/>
                  </a:lnTo>
                  <a:lnTo>
                    <a:pt x="8960673" y="6542635"/>
                  </a:lnTo>
                  <a:lnTo>
                    <a:pt x="8932901" y="6579439"/>
                  </a:lnTo>
                  <a:lnTo>
                    <a:pt x="8900356" y="6611981"/>
                  </a:lnTo>
                  <a:lnTo>
                    <a:pt x="8863547" y="6639751"/>
                  </a:lnTo>
                  <a:lnTo>
                    <a:pt x="8822984" y="6662238"/>
                  </a:lnTo>
                  <a:lnTo>
                    <a:pt x="8779179" y="6678932"/>
                  </a:lnTo>
                  <a:lnTo>
                    <a:pt x="8732640" y="6689323"/>
                  </a:lnTo>
                  <a:lnTo>
                    <a:pt x="8683879" y="6692900"/>
                  </a:lnTo>
                  <a:lnTo>
                    <a:pt x="329895" y="6692900"/>
                  </a:lnTo>
                  <a:lnTo>
                    <a:pt x="281146" y="6689323"/>
                  </a:lnTo>
                  <a:lnTo>
                    <a:pt x="234617" y="6678932"/>
                  </a:lnTo>
                  <a:lnTo>
                    <a:pt x="190820" y="6662238"/>
                  </a:lnTo>
                  <a:lnTo>
                    <a:pt x="150264" y="6639751"/>
                  </a:lnTo>
                  <a:lnTo>
                    <a:pt x="113460" y="6611981"/>
                  </a:lnTo>
                  <a:lnTo>
                    <a:pt x="80918" y="6579439"/>
                  </a:lnTo>
                  <a:lnTo>
                    <a:pt x="53148" y="6542635"/>
                  </a:lnTo>
                  <a:lnTo>
                    <a:pt x="30661" y="6502079"/>
                  </a:lnTo>
                  <a:lnTo>
                    <a:pt x="13967" y="6458282"/>
                  </a:lnTo>
                  <a:lnTo>
                    <a:pt x="3576" y="6411753"/>
                  </a:lnTo>
                  <a:lnTo>
                    <a:pt x="0" y="6363004"/>
                  </a:lnTo>
                  <a:lnTo>
                    <a:pt x="0" y="329946"/>
                  </a:lnTo>
                  <a:close/>
                </a:path>
              </a:pathLst>
            </a:custGeom>
            <a:ln w="6350">
              <a:solidFill>
                <a:srgbClr val="000000"/>
              </a:solidFill>
            </a:ln>
          </p:spPr>
          <p:txBody>
            <a:bodyPr wrap="square" lIns="0" tIns="0" rIns="0" bIns="0" rtlCol="0"/>
            <a:lstStyle/>
            <a:p>
              <a:endParaRPr kern="0">
                <a:solidFill>
                  <a:sysClr val="windowText" lastClr="000000"/>
                </a:solidFill>
              </a:endParaRPr>
            </a:p>
          </p:txBody>
        </p:sp>
        <p:sp>
          <p:nvSpPr>
            <p:cNvPr id="4" name="object 4"/>
            <p:cNvSpPr/>
            <p:nvPr/>
          </p:nvSpPr>
          <p:spPr>
            <a:xfrm>
              <a:off x="146050"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kern="0">
                <a:solidFill>
                  <a:sysClr val="windowText" lastClr="000000"/>
                </a:solidFill>
              </a:endParaRPr>
            </a:p>
          </p:txBody>
        </p:sp>
      </p:grpSp>
      <p:sp>
        <p:nvSpPr>
          <p:cNvPr id="5" name="object 5"/>
          <p:cNvSpPr txBox="1"/>
          <p:nvPr/>
        </p:nvSpPr>
        <p:spPr>
          <a:xfrm>
            <a:off x="1784096" y="6319215"/>
            <a:ext cx="227329" cy="228268"/>
          </a:xfrm>
          <a:prstGeom prst="rect">
            <a:avLst/>
          </a:prstGeom>
        </p:spPr>
        <p:txBody>
          <a:bodyPr vert="horz" wrap="square" lIns="0" tIns="12700" rIns="0" bIns="0" rtlCol="0">
            <a:spAutoFit/>
          </a:bodyPr>
          <a:lstStyle/>
          <a:p>
            <a:pPr marL="12700">
              <a:spcBef>
                <a:spcPts val="100"/>
              </a:spcBef>
            </a:pPr>
            <a:r>
              <a:rPr sz="1400" kern="0" spc="-25" dirty="0">
                <a:solidFill>
                  <a:srgbClr val="FFFFFF"/>
                </a:solidFill>
                <a:latin typeface="Franklin Gothic Medium"/>
                <a:cs typeface="Franklin Gothic Medium"/>
              </a:rPr>
              <a:t>16</a:t>
            </a:r>
            <a:endParaRPr sz="1400" kern="0">
              <a:solidFill>
                <a:sysClr val="windowText" lastClr="000000"/>
              </a:solidFill>
              <a:latin typeface="Franklin Gothic Medium"/>
              <a:cs typeface="Franklin Gothic Medium"/>
            </a:endParaRPr>
          </a:p>
        </p:txBody>
      </p:sp>
      <p:grpSp>
        <p:nvGrpSpPr>
          <p:cNvPr id="6" name="object 6"/>
          <p:cNvGrpSpPr/>
          <p:nvPr/>
        </p:nvGrpSpPr>
        <p:grpSpPr>
          <a:xfrm>
            <a:off x="1949195" y="886967"/>
            <a:ext cx="8338184" cy="5876290"/>
            <a:chOff x="425195" y="886967"/>
            <a:chExt cx="8338184" cy="5876290"/>
          </a:xfrm>
        </p:grpSpPr>
        <p:pic>
          <p:nvPicPr>
            <p:cNvPr id="7" name="object 7"/>
            <p:cNvPicPr/>
            <p:nvPr/>
          </p:nvPicPr>
          <p:blipFill>
            <a:blip r:embed="rId2" cstate="print"/>
            <a:stretch>
              <a:fillRect/>
            </a:stretch>
          </p:blipFill>
          <p:spPr>
            <a:xfrm>
              <a:off x="425195" y="886967"/>
              <a:ext cx="8293608" cy="105156"/>
            </a:xfrm>
            <a:prstGeom prst="rect">
              <a:avLst/>
            </a:prstGeom>
          </p:spPr>
        </p:pic>
        <p:sp>
          <p:nvSpPr>
            <p:cNvPr id="8" name="object 8"/>
            <p:cNvSpPr/>
            <p:nvPr/>
          </p:nvSpPr>
          <p:spPr>
            <a:xfrm>
              <a:off x="447675" y="6567487"/>
              <a:ext cx="8315325" cy="195580"/>
            </a:xfrm>
            <a:custGeom>
              <a:avLst/>
              <a:gdLst/>
              <a:ahLst/>
              <a:cxnLst/>
              <a:rect l="l" t="t" r="r" b="b"/>
              <a:pathLst>
                <a:path w="8315325" h="195579">
                  <a:moveTo>
                    <a:pt x="2741676" y="195262"/>
                  </a:moveTo>
                  <a:lnTo>
                    <a:pt x="2735313" y="144627"/>
                  </a:lnTo>
                  <a:lnTo>
                    <a:pt x="2717393" y="99123"/>
                  </a:lnTo>
                  <a:lnTo>
                    <a:pt x="2689580" y="60566"/>
                  </a:lnTo>
                  <a:lnTo>
                    <a:pt x="2653601" y="30772"/>
                  </a:lnTo>
                  <a:lnTo>
                    <a:pt x="2611132" y="11569"/>
                  </a:lnTo>
                  <a:lnTo>
                    <a:pt x="2563876" y="4762"/>
                  </a:lnTo>
                  <a:lnTo>
                    <a:pt x="177800" y="4762"/>
                  </a:lnTo>
                  <a:lnTo>
                    <a:pt x="130530" y="11569"/>
                  </a:lnTo>
                  <a:lnTo>
                    <a:pt x="88049" y="30772"/>
                  </a:lnTo>
                  <a:lnTo>
                    <a:pt x="52070" y="60566"/>
                  </a:lnTo>
                  <a:lnTo>
                    <a:pt x="24269" y="99123"/>
                  </a:lnTo>
                  <a:lnTo>
                    <a:pt x="6350" y="144627"/>
                  </a:lnTo>
                  <a:lnTo>
                    <a:pt x="0" y="195262"/>
                  </a:lnTo>
                  <a:lnTo>
                    <a:pt x="2741676" y="195262"/>
                  </a:lnTo>
                  <a:close/>
                </a:path>
                <a:path w="8315325" h="195579">
                  <a:moveTo>
                    <a:pt x="8315325" y="190512"/>
                  </a:moveTo>
                  <a:lnTo>
                    <a:pt x="8308962" y="139865"/>
                  </a:lnTo>
                  <a:lnTo>
                    <a:pt x="8291042" y="94361"/>
                  </a:lnTo>
                  <a:lnTo>
                    <a:pt x="8263229" y="55803"/>
                  </a:lnTo>
                  <a:lnTo>
                    <a:pt x="8227250" y="26022"/>
                  </a:lnTo>
                  <a:lnTo>
                    <a:pt x="8184782" y="6807"/>
                  </a:lnTo>
                  <a:lnTo>
                    <a:pt x="8137525" y="0"/>
                  </a:lnTo>
                  <a:lnTo>
                    <a:pt x="5749925" y="0"/>
                  </a:lnTo>
                  <a:lnTo>
                    <a:pt x="5702655" y="6807"/>
                  </a:lnTo>
                  <a:lnTo>
                    <a:pt x="5660187" y="26022"/>
                  </a:lnTo>
                  <a:lnTo>
                    <a:pt x="5624207" y="55803"/>
                  </a:lnTo>
                  <a:lnTo>
                    <a:pt x="5596394" y="94361"/>
                  </a:lnTo>
                  <a:lnTo>
                    <a:pt x="5578475" y="139865"/>
                  </a:lnTo>
                  <a:lnTo>
                    <a:pt x="5572125" y="190512"/>
                  </a:lnTo>
                  <a:lnTo>
                    <a:pt x="8315325" y="190512"/>
                  </a:lnTo>
                  <a:close/>
                </a:path>
              </a:pathLst>
            </a:custGeom>
            <a:solidFill>
              <a:srgbClr val="D24717"/>
            </a:solidFill>
          </p:spPr>
          <p:txBody>
            <a:bodyPr wrap="square" lIns="0" tIns="0" rIns="0" bIns="0" rtlCol="0"/>
            <a:lstStyle/>
            <a:p>
              <a:endParaRPr kern="0">
                <a:solidFill>
                  <a:sysClr val="windowText" lastClr="000000"/>
                </a:solidFill>
              </a:endParaRPr>
            </a:p>
          </p:txBody>
        </p:sp>
      </p:grpSp>
      <p:sp>
        <p:nvSpPr>
          <p:cNvPr id="9" name="object 9"/>
          <p:cNvSpPr txBox="1">
            <a:spLocks noGrp="1"/>
          </p:cNvSpPr>
          <p:nvPr>
            <p:ph type="title"/>
          </p:nvPr>
        </p:nvSpPr>
        <p:spPr>
          <a:xfrm>
            <a:off x="2091268" y="450927"/>
            <a:ext cx="11057467" cy="444994"/>
          </a:xfrm>
          <a:prstGeom prst="rect">
            <a:avLst/>
          </a:prstGeom>
        </p:spPr>
        <p:txBody>
          <a:bodyPr vert="horz" wrap="square" lIns="0" tIns="13970" rIns="0" bIns="0" rtlCol="0">
            <a:spAutoFit/>
          </a:bodyPr>
          <a:lstStyle/>
          <a:p>
            <a:pPr marL="12700">
              <a:spcBef>
                <a:spcPts val="110"/>
              </a:spcBef>
              <a:tabLst>
                <a:tab pos="8279765" algn="l"/>
              </a:tabLst>
            </a:pPr>
            <a:r>
              <a:rPr dirty="0"/>
              <a:t>1.</a:t>
            </a:r>
            <a:r>
              <a:rPr spc="-65" dirty="0"/>
              <a:t> </a:t>
            </a:r>
            <a:r>
              <a:rPr dirty="0"/>
              <a:t>GIỚI</a:t>
            </a:r>
            <a:r>
              <a:rPr spc="-90" dirty="0"/>
              <a:t> </a:t>
            </a:r>
            <a:r>
              <a:rPr dirty="0"/>
              <a:t>THIỆU</a:t>
            </a:r>
            <a:r>
              <a:rPr spc="-60" dirty="0"/>
              <a:t> </a:t>
            </a:r>
            <a:r>
              <a:rPr dirty="0"/>
              <a:t>VỀ</a:t>
            </a:r>
            <a:r>
              <a:rPr spc="-170" dirty="0"/>
              <a:t> </a:t>
            </a:r>
            <a:r>
              <a:rPr spc="-45" dirty="0"/>
              <a:t>ASP.NET</a:t>
            </a:r>
            <a:r>
              <a:rPr dirty="0"/>
              <a:t> </a:t>
            </a:r>
            <a:r>
              <a:rPr spc="-25" dirty="0"/>
              <a:t>MVC</a:t>
            </a:r>
            <a:r>
              <a:rPr dirty="0"/>
              <a:t>	</a:t>
            </a:r>
          </a:p>
        </p:txBody>
      </p:sp>
      <p:sp>
        <p:nvSpPr>
          <p:cNvPr id="17" name="object 17"/>
          <p:cNvSpPr txBox="1">
            <a:spLocks noGrp="1"/>
          </p:cNvSpPr>
          <p:nvPr>
            <p:ph type="ftr" sz="quarter" idx="5"/>
          </p:nvPr>
        </p:nvSpPr>
        <p:spPr>
          <a:xfrm>
            <a:off x="2763418" y="6600176"/>
            <a:ext cx="1243964" cy="155171"/>
          </a:xfrm>
          <a:prstGeom prst="rect">
            <a:avLst/>
          </a:prstGeom>
        </p:spPr>
        <p:txBody>
          <a:bodyPr vert="horz" wrap="square" lIns="0" tIns="1270" rIns="0" bIns="0" rtlCol="0">
            <a:spAutoFit/>
          </a:bodyPr>
          <a:lstStyle/>
          <a:p>
            <a:pPr marL="12700">
              <a:spcBef>
                <a:spcPts val="10"/>
              </a:spcBef>
            </a:pPr>
            <a:endParaRPr spc="-20" dirty="0">
              <a:solidFill>
                <a:prstClr val="white"/>
              </a:solidFill>
            </a:endParaRPr>
          </a:p>
        </p:txBody>
      </p:sp>
      <p:sp>
        <p:nvSpPr>
          <p:cNvPr id="13" name="object 3"/>
          <p:cNvSpPr txBox="1"/>
          <p:nvPr/>
        </p:nvSpPr>
        <p:spPr>
          <a:xfrm>
            <a:off x="2242820" y="1073346"/>
            <a:ext cx="9344343" cy="2838598"/>
          </a:xfrm>
          <a:prstGeom prst="rect">
            <a:avLst/>
          </a:prstGeom>
        </p:spPr>
        <p:txBody>
          <a:bodyPr vert="horz" wrap="square" lIns="0" tIns="108585" rIns="0" bIns="0" rtlCol="0">
            <a:spAutoFit/>
          </a:bodyPr>
          <a:lstStyle/>
          <a:p>
            <a:pPr marL="12700">
              <a:spcBef>
                <a:spcPts val="855"/>
              </a:spcBef>
            </a:pPr>
            <a:r>
              <a:rPr sz="2400" b="1" kern="0" smtClean="0">
                <a:solidFill>
                  <a:srgbClr val="FF0000"/>
                </a:solidFill>
                <a:latin typeface="Arial"/>
                <a:cs typeface="Arial"/>
              </a:rPr>
              <a:t>1.</a:t>
            </a:r>
            <a:r>
              <a:rPr lang="en-US" sz="2400" b="1" kern="0" smtClean="0">
                <a:solidFill>
                  <a:srgbClr val="FF0000"/>
                </a:solidFill>
                <a:latin typeface="Arial"/>
                <a:cs typeface="Arial"/>
              </a:rPr>
              <a:t>7</a:t>
            </a:r>
            <a:r>
              <a:rPr sz="2400" b="1" kern="0" smtClean="0">
                <a:solidFill>
                  <a:srgbClr val="FF0000"/>
                </a:solidFill>
                <a:latin typeface="Arial"/>
                <a:cs typeface="Arial"/>
              </a:rPr>
              <a:t>.</a:t>
            </a:r>
            <a:r>
              <a:rPr sz="2400" b="1" kern="0" spc="-15" smtClean="0">
                <a:solidFill>
                  <a:srgbClr val="FF0000"/>
                </a:solidFill>
                <a:latin typeface="Arial"/>
                <a:cs typeface="Arial"/>
              </a:rPr>
              <a:t> </a:t>
            </a:r>
            <a:r>
              <a:rPr lang="en-US" sz="2400" b="1" i="1" kern="0" smtClean="0">
                <a:solidFill>
                  <a:srgbClr val="FF0000"/>
                </a:solidFill>
                <a:latin typeface="Arial"/>
                <a:cs typeface="Arial"/>
              </a:rPr>
              <a:t>Cài đặt công cụ</a:t>
            </a:r>
            <a:r>
              <a:rPr sz="2400" b="1" i="1" kern="0" spc="-20" smtClean="0">
                <a:solidFill>
                  <a:srgbClr val="FF0000"/>
                </a:solidFill>
                <a:latin typeface="Arial"/>
                <a:cs typeface="Arial"/>
              </a:rPr>
              <a:t>:</a:t>
            </a:r>
            <a:endParaRPr sz="2400" kern="0">
              <a:solidFill>
                <a:sysClr val="windowText" lastClr="000000"/>
              </a:solidFill>
              <a:latin typeface="Arial"/>
              <a:cs typeface="Arial"/>
            </a:endParaRPr>
          </a:p>
          <a:p>
            <a:pPr marL="498475" marR="12700" indent="-343535" algn="just">
              <a:spcBef>
                <a:spcPts val="760"/>
              </a:spcBef>
              <a:buFont typeface="Wingdings"/>
              <a:buChar char=""/>
              <a:tabLst>
                <a:tab pos="498475" algn="l"/>
              </a:tabLst>
            </a:pPr>
            <a:r>
              <a:rPr lang="en-US" sz="2400" kern="0" smtClean="0">
                <a:solidFill>
                  <a:sysClr val="windowText" lastClr="000000"/>
                </a:solidFill>
                <a:latin typeface="Microsoft Sans Serif"/>
                <a:cs typeface="Microsoft Sans Serif"/>
              </a:rPr>
              <a:t>SQL Server 2014 </a:t>
            </a:r>
            <a:r>
              <a:rPr lang="en-US" sz="2400" kern="0" smtClean="0">
                <a:solidFill>
                  <a:sysClr val="windowText" lastClr="000000"/>
                </a:solidFill>
                <a:latin typeface="Microsoft Sans Serif"/>
                <a:cs typeface="Microsoft Sans Serif"/>
                <a:sym typeface="Wingdings" panose="05000000000000000000" pitchFamily="2" charset="2"/>
              </a:rPr>
              <a:t></a:t>
            </a:r>
          </a:p>
          <a:p>
            <a:pPr marL="498475" marR="12700" indent="-343535" algn="just">
              <a:spcBef>
                <a:spcPts val="760"/>
              </a:spcBef>
              <a:buFont typeface="Wingdings"/>
              <a:buChar char=""/>
              <a:tabLst>
                <a:tab pos="498475" algn="l"/>
              </a:tabLst>
            </a:pPr>
            <a:r>
              <a:rPr lang="en-US" sz="2400" kern="0" smtClean="0">
                <a:solidFill>
                  <a:sysClr val="windowText" lastClr="000000"/>
                </a:solidFill>
                <a:latin typeface="Microsoft Sans Serif"/>
                <a:cs typeface="Microsoft Sans Serif"/>
                <a:sym typeface="Wingdings" panose="05000000000000000000" pitchFamily="2" charset="2"/>
              </a:rPr>
              <a:t>Visual Studio 2017 </a:t>
            </a:r>
          </a:p>
          <a:p>
            <a:pPr marL="498475" marR="12700" indent="-343535" algn="just">
              <a:spcBef>
                <a:spcPts val="760"/>
              </a:spcBef>
              <a:buFont typeface="Wingdings"/>
              <a:buChar char=""/>
              <a:tabLst>
                <a:tab pos="498475" algn="l"/>
              </a:tabLst>
            </a:pPr>
            <a:r>
              <a:rPr lang="en-US" sz="2400" kern="0" smtClean="0">
                <a:solidFill>
                  <a:sysClr val="windowText" lastClr="000000"/>
                </a:solidFill>
                <a:latin typeface="Microsoft Sans Serif"/>
                <a:cs typeface="Microsoft Sans Serif"/>
                <a:sym typeface="Wingdings" panose="05000000000000000000" pitchFamily="2" charset="2"/>
              </a:rPr>
              <a:t>Một số website hỗ trợ:</a:t>
            </a:r>
          </a:p>
          <a:p>
            <a:pPr marL="955675" marR="12700" lvl="1" indent="-343535" algn="just">
              <a:spcBef>
                <a:spcPts val="760"/>
              </a:spcBef>
              <a:buFont typeface="Wingdings"/>
              <a:buChar char=""/>
              <a:tabLst>
                <a:tab pos="498475" algn="l"/>
              </a:tabLst>
            </a:pPr>
            <a:r>
              <a:rPr lang="en-US" sz="2400" kern="0">
                <a:solidFill>
                  <a:sysClr val="windowText" lastClr="000000"/>
                </a:solidFill>
                <a:latin typeface="Microsoft Sans Serif"/>
                <a:cs typeface="Microsoft Sans Serif"/>
                <a:hlinkClick r:id="rId3"/>
              </a:rPr>
              <a:t>https://</a:t>
            </a:r>
            <a:r>
              <a:rPr lang="en-US" sz="2400" kern="0">
                <a:solidFill>
                  <a:sysClr val="windowText" lastClr="000000"/>
                </a:solidFill>
                <a:latin typeface="Microsoft Sans Serif"/>
                <a:cs typeface="Microsoft Sans Serif"/>
                <a:hlinkClick r:id="rId3"/>
              </a:rPr>
              <a:t>all-free-download.com</a:t>
            </a:r>
            <a:r>
              <a:rPr lang="en-US" sz="2400" kern="0" smtClean="0">
                <a:solidFill>
                  <a:sysClr val="windowText" lastClr="000000"/>
                </a:solidFill>
                <a:latin typeface="Microsoft Sans Serif"/>
                <a:cs typeface="Microsoft Sans Serif"/>
                <a:hlinkClick r:id="rId3"/>
              </a:rPr>
              <a:t>/</a:t>
            </a:r>
            <a:r>
              <a:rPr lang="en-US" sz="2400" kern="0" smtClean="0">
                <a:solidFill>
                  <a:sysClr val="windowText" lastClr="000000"/>
                </a:solidFill>
                <a:latin typeface="Microsoft Sans Serif"/>
                <a:cs typeface="Microsoft Sans Serif"/>
              </a:rPr>
              <a:t> </a:t>
            </a:r>
          </a:p>
          <a:p>
            <a:pPr marL="955675" marR="12700" lvl="1" indent="-343535" algn="just">
              <a:spcBef>
                <a:spcPts val="760"/>
              </a:spcBef>
              <a:buFont typeface="Wingdings"/>
              <a:buChar char=""/>
              <a:tabLst>
                <a:tab pos="498475" algn="l"/>
              </a:tabLst>
            </a:pPr>
            <a:r>
              <a:rPr lang="en-US" sz="2400" kern="0">
                <a:solidFill>
                  <a:sysClr val="windowText" lastClr="000000"/>
                </a:solidFill>
                <a:latin typeface="Microsoft Sans Serif"/>
                <a:cs typeface="Microsoft Sans Serif"/>
                <a:hlinkClick r:id="rId4"/>
              </a:rPr>
              <a:t>https://</a:t>
            </a:r>
            <a:r>
              <a:rPr lang="en-US" sz="2400" kern="0">
                <a:solidFill>
                  <a:sysClr val="windowText" lastClr="000000"/>
                </a:solidFill>
                <a:latin typeface="Microsoft Sans Serif"/>
                <a:cs typeface="Microsoft Sans Serif"/>
                <a:hlinkClick r:id="rId4"/>
              </a:rPr>
              <a:t>www.w3schools.com</a:t>
            </a:r>
            <a:r>
              <a:rPr lang="en-US" sz="2400" kern="0" smtClean="0">
                <a:solidFill>
                  <a:sysClr val="windowText" lastClr="000000"/>
                </a:solidFill>
                <a:latin typeface="Microsoft Sans Serif"/>
                <a:cs typeface="Microsoft Sans Serif"/>
                <a:hlinkClick r:id="rId4"/>
              </a:rPr>
              <a:t>/</a:t>
            </a:r>
            <a:endParaRPr lang="en-US" sz="2400" kern="0" smtClean="0">
              <a:solidFill>
                <a:sysClr val="windowText" lastClr="000000"/>
              </a:solidFill>
              <a:latin typeface="Microsoft Sans Serif"/>
              <a:cs typeface="Microsoft Sans Serif"/>
            </a:endParaRPr>
          </a:p>
        </p:txBody>
      </p:sp>
    </p:spTree>
    <p:extLst>
      <p:ext uri="{BB962C8B-B14F-4D97-AF65-F5344CB8AC3E}">
        <p14:creationId xmlns:p14="http://schemas.microsoft.com/office/powerpoint/2010/main" val="397479297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584326" y="66675"/>
            <a:ext cx="9020175" cy="6699250"/>
            <a:chOff x="60325" y="66675"/>
            <a:chExt cx="9020175" cy="6699250"/>
          </a:xfrm>
        </p:grpSpPr>
        <p:sp>
          <p:nvSpPr>
            <p:cNvPr id="3" name="object 3"/>
            <p:cNvSpPr/>
            <p:nvPr/>
          </p:nvSpPr>
          <p:spPr>
            <a:xfrm>
              <a:off x="63500" y="69850"/>
              <a:ext cx="9013825" cy="6692900"/>
            </a:xfrm>
            <a:custGeom>
              <a:avLst/>
              <a:gdLst/>
              <a:ahLst/>
              <a:cxnLst/>
              <a:rect l="l" t="t" r="r" b="b"/>
              <a:pathLst>
                <a:path w="9013825" h="6692900">
                  <a:moveTo>
                    <a:pt x="0" y="329946"/>
                  </a:moveTo>
                  <a:lnTo>
                    <a:pt x="3576" y="281184"/>
                  </a:lnTo>
                  <a:lnTo>
                    <a:pt x="13967" y="234645"/>
                  </a:lnTo>
                  <a:lnTo>
                    <a:pt x="30661" y="190840"/>
                  </a:lnTo>
                  <a:lnTo>
                    <a:pt x="53148" y="150277"/>
                  </a:lnTo>
                  <a:lnTo>
                    <a:pt x="80918" y="113468"/>
                  </a:lnTo>
                  <a:lnTo>
                    <a:pt x="113460" y="80923"/>
                  </a:lnTo>
                  <a:lnTo>
                    <a:pt x="150264" y="53151"/>
                  </a:lnTo>
                  <a:lnTo>
                    <a:pt x="190820" y="30662"/>
                  </a:lnTo>
                  <a:lnTo>
                    <a:pt x="234617" y="13967"/>
                  </a:lnTo>
                  <a:lnTo>
                    <a:pt x="281146" y="3576"/>
                  </a:lnTo>
                  <a:lnTo>
                    <a:pt x="329895" y="0"/>
                  </a:lnTo>
                  <a:lnTo>
                    <a:pt x="8683879" y="0"/>
                  </a:lnTo>
                  <a:lnTo>
                    <a:pt x="8732640" y="3576"/>
                  </a:lnTo>
                  <a:lnTo>
                    <a:pt x="8779179" y="13967"/>
                  </a:lnTo>
                  <a:lnTo>
                    <a:pt x="8822984" y="30662"/>
                  </a:lnTo>
                  <a:lnTo>
                    <a:pt x="8863547" y="53151"/>
                  </a:lnTo>
                  <a:lnTo>
                    <a:pt x="8900356" y="80923"/>
                  </a:lnTo>
                  <a:lnTo>
                    <a:pt x="8932901" y="113468"/>
                  </a:lnTo>
                  <a:lnTo>
                    <a:pt x="8960673" y="150277"/>
                  </a:lnTo>
                  <a:lnTo>
                    <a:pt x="8983162" y="190840"/>
                  </a:lnTo>
                  <a:lnTo>
                    <a:pt x="8999857" y="234645"/>
                  </a:lnTo>
                  <a:lnTo>
                    <a:pt x="9010248" y="281184"/>
                  </a:lnTo>
                  <a:lnTo>
                    <a:pt x="9013825" y="329946"/>
                  </a:lnTo>
                  <a:lnTo>
                    <a:pt x="9013825" y="6363004"/>
                  </a:lnTo>
                  <a:lnTo>
                    <a:pt x="9010248" y="6411753"/>
                  </a:lnTo>
                  <a:lnTo>
                    <a:pt x="8999857" y="6458282"/>
                  </a:lnTo>
                  <a:lnTo>
                    <a:pt x="8983162" y="6502079"/>
                  </a:lnTo>
                  <a:lnTo>
                    <a:pt x="8960673" y="6542635"/>
                  </a:lnTo>
                  <a:lnTo>
                    <a:pt x="8932901" y="6579439"/>
                  </a:lnTo>
                  <a:lnTo>
                    <a:pt x="8900356" y="6611981"/>
                  </a:lnTo>
                  <a:lnTo>
                    <a:pt x="8863547" y="6639751"/>
                  </a:lnTo>
                  <a:lnTo>
                    <a:pt x="8822984" y="6662238"/>
                  </a:lnTo>
                  <a:lnTo>
                    <a:pt x="8779179" y="6678932"/>
                  </a:lnTo>
                  <a:lnTo>
                    <a:pt x="8732640" y="6689323"/>
                  </a:lnTo>
                  <a:lnTo>
                    <a:pt x="8683879" y="6692900"/>
                  </a:lnTo>
                  <a:lnTo>
                    <a:pt x="329895" y="6692900"/>
                  </a:lnTo>
                  <a:lnTo>
                    <a:pt x="281146" y="6689323"/>
                  </a:lnTo>
                  <a:lnTo>
                    <a:pt x="234617" y="6678932"/>
                  </a:lnTo>
                  <a:lnTo>
                    <a:pt x="190820" y="6662238"/>
                  </a:lnTo>
                  <a:lnTo>
                    <a:pt x="150264" y="6639751"/>
                  </a:lnTo>
                  <a:lnTo>
                    <a:pt x="113460" y="6611981"/>
                  </a:lnTo>
                  <a:lnTo>
                    <a:pt x="80918" y="6579439"/>
                  </a:lnTo>
                  <a:lnTo>
                    <a:pt x="53148" y="6542635"/>
                  </a:lnTo>
                  <a:lnTo>
                    <a:pt x="30661" y="6502079"/>
                  </a:lnTo>
                  <a:lnTo>
                    <a:pt x="13967" y="6458282"/>
                  </a:lnTo>
                  <a:lnTo>
                    <a:pt x="3576" y="6411753"/>
                  </a:lnTo>
                  <a:lnTo>
                    <a:pt x="0" y="6363004"/>
                  </a:lnTo>
                  <a:lnTo>
                    <a:pt x="0" y="329946"/>
                  </a:lnTo>
                  <a:close/>
                </a:path>
              </a:pathLst>
            </a:custGeom>
            <a:ln w="6350">
              <a:solidFill>
                <a:srgbClr val="000000"/>
              </a:solidFill>
            </a:ln>
          </p:spPr>
          <p:txBody>
            <a:bodyPr wrap="square" lIns="0" tIns="0" rIns="0" bIns="0" rtlCol="0"/>
            <a:lstStyle/>
            <a:p>
              <a:endParaRPr kern="0">
                <a:solidFill>
                  <a:sysClr val="windowText" lastClr="000000"/>
                </a:solidFill>
              </a:endParaRPr>
            </a:p>
          </p:txBody>
        </p:sp>
        <p:sp>
          <p:nvSpPr>
            <p:cNvPr id="4" name="object 4"/>
            <p:cNvSpPr/>
            <p:nvPr/>
          </p:nvSpPr>
          <p:spPr>
            <a:xfrm>
              <a:off x="146050"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kern="0">
                <a:solidFill>
                  <a:sysClr val="windowText" lastClr="000000"/>
                </a:solidFill>
              </a:endParaRPr>
            </a:p>
          </p:txBody>
        </p:sp>
      </p:grpSp>
      <p:sp>
        <p:nvSpPr>
          <p:cNvPr id="5" name="object 5"/>
          <p:cNvSpPr txBox="1"/>
          <p:nvPr/>
        </p:nvSpPr>
        <p:spPr>
          <a:xfrm>
            <a:off x="1784096" y="6319215"/>
            <a:ext cx="227329" cy="228268"/>
          </a:xfrm>
          <a:prstGeom prst="rect">
            <a:avLst/>
          </a:prstGeom>
        </p:spPr>
        <p:txBody>
          <a:bodyPr vert="horz" wrap="square" lIns="0" tIns="12700" rIns="0" bIns="0" rtlCol="0">
            <a:spAutoFit/>
          </a:bodyPr>
          <a:lstStyle/>
          <a:p>
            <a:pPr marL="12700">
              <a:spcBef>
                <a:spcPts val="100"/>
              </a:spcBef>
            </a:pPr>
            <a:r>
              <a:rPr sz="1400" kern="0" spc="-25" dirty="0">
                <a:solidFill>
                  <a:srgbClr val="FFFFFF"/>
                </a:solidFill>
                <a:latin typeface="Franklin Gothic Medium"/>
                <a:cs typeface="Franklin Gothic Medium"/>
              </a:rPr>
              <a:t>16</a:t>
            </a:r>
            <a:endParaRPr sz="1400" kern="0">
              <a:solidFill>
                <a:sysClr val="windowText" lastClr="000000"/>
              </a:solidFill>
              <a:latin typeface="Franklin Gothic Medium"/>
              <a:cs typeface="Franklin Gothic Medium"/>
            </a:endParaRPr>
          </a:p>
        </p:txBody>
      </p:sp>
      <p:grpSp>
        <p:nvGrpSpPr>
          <p:cNvPr id="6" name="object 6"/>
          <p:cNvGrpSpPr/>
          <p:nvPr/>
        </p:nvGrpSpPr>
        <p:grpSpPr>
          <a:xfrm>
            <a:off x="1949195" y="886967"/>
            <a:ext cx="8338184" cy="5876290"/>
            <a:chOff x="425195" y="886967"/>
            <a:chExt cx="8338184" cy="5876290"/>
          </a:xfrm>
        </p:grpSpPr>
        <p:pic>
          <p:nvPicPr>
            <p:cNvPr id="7" name="object 7"/>
            <p:cNvPicPr/>
            <p:nvPr/>
          </p:nvPicPr>
          <p:blipFill>
            <a:blip r:embed="rId2" cstate="print"/>
            <a:stretch>
              <a:fillRect/>
            </a:stretch>
          </p:blipFill>
          <p:spPr>
            <a:xfrm>
              <a:off x="425195" y="886967"/>
              <a:ext cx="8293608" cy="105156"/>
            </a:xfrm>
            <a:prstGeom prst="rect">
              <a:avLst/>
            </a:prstGeom>
          </p:spPr>
        </p:pic>
        <p:sp>
          <p:nvSpPr>
            <p:cNvPr id="8" name="object 8"/>
            <p:cNvSpPr/>
            <p:nvPr/>
          </p:nvSpPr>
          <p:spPr>
            <a:xfrm>
              <a:off x="447675" y="6567487"/>
              <a:ext cx="8315325" cy="195580"/>
            </a:xfrm>
            <a:custGeom>
              <a:avLst/>
              <a:gdLst/>
              <a:ahLst/>
              <a:cxnLst/>
              <a:rect l="l" t="t" r="r" b="b"/>
              <a:pathLst>
                <a:path w="8315325" h="195579">
                  <a:moveTo>
                    <a:pt x="2741676" y="195262"/>
                  </a:moveTo>
                  <a:lnTo>
                    <a:pt x="2735313" y="144627"/>
                  </a:lnTo>
                  <a:lnTo>
                    <a:pt x="2717393" y="99123"/>
                  </a:lnTo>
                  <a:lnTo>
                    <a:pt x="2689580" y="60566"/>
                  </a:lnTo>
                  <a:lnTo>
                    <a:pt x="2653601" y="30772"/>
                  </a:lnTo>
                  <a:lnTo>
                    <a:pt x="2611132" y="11569"/>
                  </a:lnTo>
                  <a:lnTo>
                    <a:pt x="2563876" y="4762"/>
                  </a:lnTo>
                  <a:lnTo>
                    <a:pt x="177800" y="4762"/>
                  </a:lnTo>
                  <a:lnTo>
                    <a:pt x="130530" y="11569"/>
                  </a:lnTo>
                  <a:lnTo>
                    <a:pt x="88049" y="30772"/>
                  </a:lnTo>
                  <a:lnTo>
                    <a:pt x="52070" y="60566"/>
                  </a:lnTo>
                  <a:lnTo>
                    <a:pt x="24269" y="99123"/>
                  </a:lnTo>
                  <a:lnTo>
                    <a:pt x="6350" y="144627"/>
                  </a:lnTo>
                  <a:lnTo>
                    <a:pt x="0" y="195262"/>
                  </a:lnTo>
                  <a:lnTo>
                    <a:pt x="2741676" y="195262"/>
                  </a:lnTo>
                  <a:close/>
                </a:path>
                <a:path w="8315325" h="195579">
                  <a:moveTo>
                    <a:pt x="8315325" y="190512"/>
                  </a:moveTo>
                  <a:lnTo>
                    <a:pt x="8308962" y="139865"/>
                  </a:lnTo>
                  <a:lnTo>
                    <a:pt x="8291042" y="94361"/>
                  </a:lnTo>
                  <a:lnTo>
                    <a:pt x="8263229" y="55803"/>
                  </a:lnTo>
                  <a:lnTo>
                    <a:pt x="8227250" y="26022"/>
                  </a:lnTo>
                  <a:lnTo>
                    <a:pt x="8184782" y="6807"/>
                  </a:lnTo>
                  <a:lnTo>
                    <a:pt x="8137525" y="0"/>
                  </a:lnTo>
                  <a:lnTo>
                    <a:pt x="5749925" y="0"/>
                  </a:lnTo>
                  <a:lnTo>
                    <a:pt x="5702655" y="6807"/>
                  </a:lnTo>
                  <a:lnTo>
                    <a:pt x="5660187" y="26022"/>
                  </a:lnTo>
                  <a:lnTo>
                    <a:pt x="5624207" y="55803"/>
                  </a:lnTo>
                  <a:lnTo>
                    <a:pt x="5596394" y="94361"/>
                  </a:lnTo>
                  <a:lnTo>
                    <a:pt x="5578475" y="139865"/>
                  </a:lnTo>
                  <a:lnTo>
                    <a:pt x="5572125" y="190512"/>
                  </a:lnTo>
                  <a:lnTo>
                    <a:pt x="8315325" y="190512"/>
                  </a:lnTo>
                  <a:close/>
                </a:path>
              </a:pathLst>
            </a:custGeom>
            <a:solidFill>
              <a:srgbClr val="D24717"/>
            </a:solidFill>
          </p:spPr>
          <p:txBody>
            <a:bodyPr wrap="square" lIns="0" tIns="0" rIns="0" bIns="0" rtlCol="0"/>
            <a:lstStyle/>
            <a:p>
              <a:endParaRPr kern="0">
                <a:solidFill>
                  <a:sysClr val="windowText" lastClr="000000"/>
                </a:solidFill>
              </a:endParaRPr>
            </a:p>
          </p:txBody>
        </p:sp>
      </p:grpSp>
      <p:sp>
        <p:nvSpPr>
          <p:cNvPr id="9" name="object 9"/>
          <p:cNvSpPr txBox="1">
            <a:spLocks noGrp="1"/>
          </p:cNvSpPr>
          <p:nvPr>
            <p:ph type="title"/>
          </p:nvPr>
        </p:nvSpPr>
        <p:spPr>
          <a:xfrm>
            <a:off x="2091268" y="450927"/>
            <a:ext cx="11057467" cy="444994"/>
          </a:xfrm>
          <a:prstGeom prst="rect">
            <a:avLst/>
          </a:prstGeom>
        </p:spPr>
        <p:txBody>
          <a:bodyPr vert="horz" wrap="square" lIns="0" tIns="13970" rIns="0" bIns="0" rtlCol="0">
            <a:spAutoFit/>
          </a:bodyPr>
          <a:lstStyle/>
          <a:p>
            <a:pPr marL="12700">
              <a:spcBef>
                <a:spcPts val="110"/>
              </a:spcBef>
              <a:tabLst>
                <a:tab pos="8279765" algn="l"/>
              </a:tabLst>
            </a:pPr>
            <a:r>
              <a:rPr dirty="0"/>
              <a:t>1.</a:t>
            </a:r>
            <a:r>
              <a:rPr spc="-65" dirty="0"/>
              <a:t> </a:t>
            </a:r>
            <a:r>
              <a:rPr dirty="0"/>
              <a:t>GIỚI</a:t>
            </a:r>
            <a:r>
              <a:rPr spc="-90" dirty="0"/>
              <a:t> </a:t>
            </a:r>
            <a:r>
              <a:rPr dirty="0"/>
              <a:t>THIỆU</a:t>
            </a:r>
            <a:r>
              <a:rPr spc="-60" dirty="0"/>
              <a:t> </a:t>
            </a:r>
            <a:r>
              <a:rPr dirty="0"/>
              <a:t>VỀ</a:t>
            </a:r>
            <a:r>
              <a:rPr spc="-170" dirty="0"/>
              <a:t> </a:t>
            </a:r>
            <a:r>
              <a:rPr spc="-45" dirty="0"/>
              <a:t>ASP.NET</a:t>
            </a:r>
            <a:r>
              <a:rPr dirty="0"/>
              <a:t> </a:t>
            </a:r>
            <a:r>
              <a:rPr spc="-25" dirty="0"/>
              <a:t>MVC</a:t>
            </a:r>
            <a:r>
              <a:rPr dirty="0"/>
              <a:t>	</a:t>
            </a:r>
          </a:p>
        </p:txBody>
      </p:sp>
      <p:sp>
        <p:nvSpPr>
          <p:cNvPr id="10" name="object 10"/>
          <p:cNvSpPr txBox="1"/>
          <p:nvPr/>
        </p:nvSpPr>
        <p:spPr>
          <a:xfrm>
            <a:off x="2242820" y="1167766"/>
            <a:ext cx="5287645" cy="393065"/>
          </a:xfrm>
          <a:prstGeom prst="rect">
            <a:avLst/>
          </a:prstGeom>
        </p:spPr>
        <p:txBody>
          <a:bodyPr vert="horz" wrap="square" lIns="0" tIns="13970" rIns="0" bIns="0" rtlCol="0">
            <a:spAutoFit/>
          </a:bodyPr>
          <a:lstStyle/>
          <a:p>
            <a:pPr marL="12700">
              <a:spcBef>
                <a:spcPts val="110"/>
              </a:spcBef>
            </a:pPr>
            <a:r>
              <a:rPr sz="2400" b="1" kern="0" smtClean="0">
                <a:solidFill>
                  <a:srgbClr val="FF0000"/>
                </a:solidFill>
                <a:latin typeface="Arial"/>
                <a:cs typeface="Arial"/>
              </a:rPr>
              <a:t>1.</a:t>
            </a:r>
            <a:r>
              <a:rPr lang="en-US" sz="2400" b="1" kern="0" smtClean="0">
                <a:solidFill>
                  <a:srgbClr val="FF0000"/>
                </a:solidFill>
                <a:latin typeface="Arial"/>
                <a:cs typeface="Arial"/>
              </a:rPr>
              <a:t>7</a:t>
            </a:r>
            <a:r>
              <a:rPr sz="2400" b="1" kern="0" smtClean="0">
                <a:solidFill>
                  <a:srgbClr val="FF0000"/>
                </a:solidFill>
                <a:latin typeface="Arial"/>
                <a:cs typeface="Arial"/>
              </a:rPr>
              <a:t>.</a:t>
            </a:r>
            <a:r>
              <a:rPr sz="2400" b="1" kern="0" spc="-30" smtClean="0">
                <a:solidFill>
                  <a:srgbClr val="FF0000"/>
                </a:solidFill>
                <a:latin typeface="Arial"/>
                <a:cs typeface="Arial"/>
              </a:rPr>
              <a:t> </a:t>
            </a:r>
            <a:r>
              <a:rPr lang="en-US" sz="2400" b="1" i="1" kern="0" smtClean="0">
                <a:solidFill>
                  <a:srgbClr val="FF0000"/>
                </a:solidFill>
                <a:latin typeface="Arial"/>
                <a:cs typeface="Arial"/>
              </a:rPr>
              <a:t>Cài đặt </a:t>
            </a:r>
            <a:r>
              <a:rPr lang="en-US" sz="2400" b="1" i="1" kern="0">
                <a:solidFill>
                  <a:srgbClr val="FF0000"/>
                </a:solidFill>
                <a:latin typeface="Arial"/>
                <a:cs typeface="Arial"/>
              </a:rPr>
              <a:t>Visual </a:t>
            </a:r>
            <a:r>
              <a:rPr lang="en-US" sz="2400" b="1" i="1" kern="0" smtClean="0">
                <a:solidFill>
                  <a:srgbClr val="FF0000"/>
                </a:solidFill>
                <a:latin typeface="Arial"/>
                <a:cs typeface="Arial"/>
              </a:rPr>
              <a:t>Studio</a:t>
            </a:r>
            <a:r>
              <a:rPr sz="2400" b="1" i="1" kern="0" spc="-20" smtClean="0">
                <a:solidFill>
                  <a:srgbClr val="FF0000"/>
                </a:solidFill>
                <a:latin typeface="Arial"/>
                <a:cs typeface="Arial"/>
              </a:rPr>
              <a:t>:</a:t>
            </a:r>
            <a:endParaRPr sz="2400" kern="0">
              <a:solidFill>
                <a:sysClr val="windowText" lastClr="000000"/>
              </a:solidFill>
              <a:latin typeface="Arial"/>
              <a:cs typeface="Arial"/>
            </a:endParaRPr>
          </a:p>
        </p:txBody>
      </p:sp>
      <p:sp>
        <p:nvSpPr>
          <p:cNvPr id="17" name="object 17"/>
          <p:cNvSpPr txBox="1">
            <a:spLocks noGrp="1"/>
          </p:cNvSpPr>
          <p:nvPr>
            <p:ph type="ftr" sz="quarter" idx="5"/>
          </p:nvPr>
        </p:nvSpPr>
        <p:spPr>
          <a:xfrm>
            <a:off x="2763418" y="6600176"/>
            <a:ext cx="1243964" cy="155171"/>
          </a:xfrm>
          <a:prstGeom prst="rect">
            <a:avLst/>
          </a:prstGeom>
        </p:spPr>
        <p:txBody>
          <a:bodyPr vert="horz" wrap="square" lIns="0" tIns="1270" rIns="0" bIns="0" rtlCol="0">
            <a:spAutoFit/>
          </a:bodyPr>
          <a:lstStyle/>
          <a:p>
            <a:pPr marL="12700">
              <a:spcBef>
                <a:spcPts val="10"/>
              </a:spcBef>
            </a:pPr>
            <a:endParaRPr spc="-20" dirty="0">
              <a:solidFill>
                <a:prstClr val="white"/>
              </a:solidFill>
            </a:endParaRPr>
          </a:p>
        </p:txBody>
      </p:sp>
      <p:pic>
        <p:nvPicPr>
          <p:cNvPr id="16" name="Picture 15"/>
          <p:cNvPicPr>
            <a:picLocks noChangeAspect="1"/>
          </p:cNvPicPr>
          <p:nvPr/>
        </p:nvPicPr>
        <p:blipFill>
          <a:blip r:embed="rId3"/>
          <a:stretch>
            <a:fillRect/>
          </a:stretch>
        </p:blipFill>
        <p:spPr>
          <a:xfrm>
            <a:off x="1099839" y="1635377"/>
            <a:ext cx="9989147" cy="4478721"/>
          </a:xfrm>
          <a:prstGeom prst="rect">
            <a:avLst/>
          </a:prstGeom>
        </p:spPr>
      </p:pic>
    </p:spTree>
    <p:extLst>
      <p:ext uri="{BB962C8B-B14F-4D97-AF65-F5344CB8AC3E}">
        <p14:creationId xmlns:p14="http://schemas.microsoft.com/office/powerpoint/2010/main" val="10671091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91268" y="450927"/>
            <a:ext cx="11057467" cy="412292"/>
          </a:xfrm>
          <a:prstGeom prst="rect">
            <a:avLst/>
          </a:prstGeom>
        </p:spPr>
        <p:txBody>
          <a:bodyPr vert="horz" wrap="square" lIns="0" tIns="12065" rIns="0" bIns="0" rtlCol="0">
            <a:spAutoFit/>
          </a:bodyPr>
          <a:lstStyle/>
          <a:p>
            <a:pPr marL="12700">
              <a:spcBef>
                <a:spcPts val="95"/>
              </a:spcBef>
              <a:tabLst>
                <a:tab pos="8279765" algn="l"/>
              </a:tabLst>
            </a:pPr>
            <a:r>
              <a:rPr sz="2600" dirty="0"/>
              <a:t>2.</a:t>
            </a:r>
            <a:r>
              <a:rPr sz="2600" spc="-35" dirty="0"/>
              <a:t> </a:t>
            </a:r>
            <a:r>
              <a:rPr sz="2600" dirty="0"/>
              <a:t>XÂY</a:t>
            </a:r>
            <a:r>
              <a:rPr sz="2600" spc="-100" dirty="0"/>
              <a:t> </a:t>
            </a:r>
            <a:r>
              <a:rPr sz="2600" dirty="0"/>
              <a:t>DỰNG</a:t>
            </a:r>
            <a:r>
              <a:rPr sz="2600" spc="-30" dirty="0"/>
              <a:t> </a:t>
            </a:r>
            <a:r>
              <a:rPr sz="2600" dirty="0"/>
              <a:t>ỨNG</a:t>
            </a:r>
            <a:r>
              <a:rPr sz="2600" spc="-65" dirty="0"/>
              <a:t> </a:t>
            </a:r>
            <a:r>
              <a:rPr sz="2600" dirty="0"/>
              <a:t>DỤNG</a:t>
            </a:r>
            <a:r>
              <a:rPr sz="2600" spc="-20" dirty="0"/>
              <a:t> </a:t>
            </a:r>
            <a:r>
              <a:rPr sz="2600" spc="-25" dirty="0"/>
              <a:t>WEB</a:t>
            </a:r>
            <a:r>
              <a:rPr sz="2600" dirty="0"/>
              <a:t>	</a:t>
            </a:r>
            <a:endParaRPr sz="2600"/>
          </a:p>
        </p:txBody>
      </p:sp>
      <p:sp>
        <p:nvSpPr>
          <p:cNvPr id="3" name="object 3"/>
          <p:cNvSpPr txBox="1"/>
          <p:nvPr/>
        </p:nvSpPr>
        <p:spPr>
          <a:xfrm>
            <a:off x="2242820" y="1114971"/>
            <a:ext cx="6505575" cy="889635"/>
          </a:xfrm>
          <a:prstGeom prst="rect">
            <a:avLst/>
          </a:prstGeom>
        </p:spPr>
        <p:txBody>
          <a:bodyPr vert="horz" wrap="square" lIns="0" tIns="66675" rIns="0" bIns="0" rtlCol="0">
            <a:spAutoFit/>
          </a:bodyPr>
          <a:lstStyle/>
          <a:p>
            <a:pPr marL="12700">
              <a:spcBef>
                <a:spcPts val="525"/>
              </a:spcBef>
            </a:pPr>
            <a:r>
              <a:rPr sz="2400" b="1" kern="0" dirty="0">
                <a:solidFill>
                  <a:srgbClr val="9B2C1F"/>
                </a:solidFill>
                <a:latin typeface="Arial"/>
                <a:cs typeface="Arial"/>
              </a:rPr>
              <a:t>2.1.</a:t>
            </a:r>
            <a:r>
              <a:rPr sz="2400" b="1" kern="0" spc="-15" dirty="0">
                <a:solidFill>
                  <a:srgbClr val="9B2C1F"/>
                </a:solidFill>
                <a:latin typeface="Arial"/>
                <a:cs typeface="Arial"/>
              </a:rPr>
              <a:t> </a:t>
            </a:r>
            <a:r>
              <a:rPr sz="2400" b="1" kern="0" dirty="0">
                <a:solidFill>
                  <a:srgbClr val="9B2C1F"/>
                </a:solidFill>
                <a:latin typeface="Arial"/>
                <a:cs typeface="Arial"/>
              </a:rPr>
              <a:t>Tạo</a:t>
            </a:r>
            <a:r>
              <a:rPr sz="2400" b="1" kern="0" spc="-20" dirty="0">
                <a:solidFill>
                  <a:srgbClr val="9B2C1F"/>
                </a:solidFill>
                <a:latin typeface="Arial"/>
                <a:cs typeface="Arial"/>
              </a:rPr>
              <a:t> </a:t>
            </a:r>
            <a:r>
              <a:rPr sz="2400" b="1" kern="0" dirty="0">
                <a:solidFill>
                  <a:srgbClr val="9B2C1F"/>
                </a:solidFill>
                <a:latin typeface="Arial"/>
                <a:cs typeface="Arial"/>
              </a:rPr>
              <a:t>mới</a:t>
            </a:r>
            <a:r>
              <a:rPr sz="2400" b="1" kern="0" spc="-45" dirty="0">
                <a:solidFill>
                  <a:srgbClr val="9B2C1F"/>
                </a:solidFill>
                <a:latin typeface="Arial"/>
                <a:cs typeface="Arial"/>
              </a:rPr>
              <a:t> </a:t>
            </a:r>
            <a:r>
              <a:rPr sz="2400" b="1" kern="0" spc="-10" dirty="0">
                <a:solidFill>
                  <a:srgbClr val="9B2C1F"/>
                </a:solidFill>
                <a:latin typeface="Arial"/>
                <a:cs typeface="Arial"/>
              </a:rPr>
              <a:t>Project</a:t>
            </a:r>
            <a:endParaRPr sz="2400" kern="0">
              <a:solidFill>
                <a:sysClr val="windowText" lastClr="000000"/>
              </a:solidFill>
              <a:latin typeface="Arial"/>
              <a:cs typeface="Arial"/>
            </a:endParaRPr>
          </a:p>
          <a:p>
            <a:pPr marL="328295">
              <a:spcBef>
                <a:spcPts val="434"/>
              </a:spcBef>
            </a:pPr>
            <a:r>
              <a:rPr sz="2400" kern="0" dirty="0">
                <a:solidFill>
                  <a:sysClr val="windowText" lastClr="000000"/>
                </a:solidFill>
                <a:latin typeface="Microsoft Sans Serif"/>
                <a:cs typeface="Microsoft Sans Serif"/>
              </a:rPr>
              <a:t>Trong</a:t>
            </a:r>
            <a:r>
              <a:rPr sz="2400" kern="0" spc="-65" dirty="0">
                <a:solidFill>
                  <a:sysClr val="windowText" lastClr="000000"/>
                </a:solidFill>
                <a:latin typeface="Microsoft Sans Serif"/>
                <a:cs typeface="Microsoft Sans Serif"/>
              </a:rPr>
              <a:t> </a:t>
            </a:r>
            <a:r>
              <a:rPr sz="2400" kern="0">
                <a:solidFill>
                  <a:sysClr val="windowText" lastClr="000000"/>
                </a:solidFill>
                <a:latin typeface="Microsoft Sans Serif"/>
                <a:cs typeface="Microsoft Sans Serif"/>
              </a:rPr>
              <a:t>Visual</a:t>
            </a:r>
            <a:r>
              <a:rPr sz="2400" kern="0" spc="-80">
                <a:solidFill>
                  <a:sysClr val="windowText" lastClr="000000"/>
                </a:solidFill>
                <a:latin typeface="Microsoft Sans Serif"/>
                <a:cs typeface="Microsoft Sans Serif"/>
              </a:rPr>
              <a:t> </a:t>
            </a:r>
            <a:r>
              <a:rPr sz="2400" kern="0" smtClean="0">
                <a:solidFill>
                  <a:sysClr val="windowText" lastClr="000000"/>
                </a:solidFill>
                <a:latin typeface="Microsoft Sans Serif"/>
                <a:cs typeface="Microsoft Sans Serif"/>
              </a:rPr>
              <a:t>Studio</a:t>
            </a:r>
            <a:r>
              <a:rPr sz="2400" kern="0" spc="-55" smtClean="0">
                <a:solidFill>
                  <a:sysClr val="windowText" lastClr="000000"/>
                </a:solidFill>
                <a:latin typeface="Microsoft Sans Serif"/>
                <a:cs typeface="Microsoft Sans Serif"/>
              </a:rPr>
              <a:t> </a:t>
            </a:r>
            <a:r>
              <a:rPr sz="2400" i="1" kern="0">
                <a:solidFill>
                  <a:srgbClr val="C00000"/>
                </a:solidFill>
                <a:latin typeface="Arial"/>
                <a:cs typeface="Arial"/>
              </a:rPr>
              <a:t>File</a:t>
            </a:r>
            <a:r>
              <a:rPr sz="2400" i="1" kern="0" spc="-90">
                <a:solidFill>
                  <a:srgbClr val="C00000"/>
                </a:solidFill>
                <a:latin typeface="Arial"/>
                <a:cs typeface="Arial"/>
              </a:rPr>
              <a:t> </a:t>
            </a:r>
            <a:r>
              <a:rPr sz="2550" kern="0" dirty="0">
                <a:solidFill>
                  <a:srgbClr val="C00000"/>
                </a:solidFill>
                <a:latin typeface="Wingdings"/>
                <a:cs typeface="Wingdings"/>
              </a:rPr>
              <a:t></a:t>
            </a:r>
            <a:r>
              <a:rPr sz="2550" kern="0" spc="-35" dirty="0">
                <a:solidFill>
                  <a:srgbClr val="C00000"/>
                </a:solidFill>
                <a:latin typeface="Times New Roman"/>
                <a:cs typeface="Times New Roman"/>
              </a:rPr>
              <a:t> </a:t>
            </a:r>
            <a:r>
              <a:rPr sz="2400" i="1" kern="0" dirty="0">
                <a:solidFill>
                  <a:srgbClr val="C00000"/>
                </a:solidFill>
                <a:latin typeface="Arial"/>
                <a:cs typeface="Arial"/>
              </a:rPr>
              <a:t>new</a:t>
            </a:r>
            <a:r>
              <a:rPr sz="2400" i="1" kern="0" spc="-65" dirty="0">
                <a:solidFill>
                  <a:srgbClr val="C00000"/>
                </a:solidFill>
                <a:latin typeface="Arial"/>
                <a:cs typeface="Arial"/>
              </a:rPr>
              <a:t> </a:t>
            </a:r>
            <a:r>
              <a:rPr sz="2400" i="1" kern="0" spc="-10" dirty="0">
                <a:solidFill>
                  <a:srgbClr val="C00000"/>
                </a:solidFill>
                <a:latin typeface="Arial"/>
                <a:cs typeface="Arial"/>
              </a:rPr>
              <a:t>Project</a:t>
            </a:r>
            <a:endParaRPr sz="2400" kern="0">
              <a:solidFill>
                <a:sysClr val="windowText" lastClr="000000"/>
              </a:solidFill>
              <a:latin typeface="Arial"/>
              <a:cs typeface="Arial"/>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7465">
              <a:lnSpc>
                <a:spcPts val="1664"/>
              </a:lnSpc>
            </a:pPr>
            <a:fld id="{81D60167-4931-47E6-BA6A-407CBD079E47}" type="slidenum">
              <a:rPr spc="-25" dirty="0">
                <a:solidFill>
                  <a:prstClr val="white"/>
                </a:solidFill>
              </a:rPr>
              <a:pPr marL="37465">
                <a:lnSpc>
                  <a:spcPts val="1664"/>
                </a:lnSpc>
              </a:pPr>
              <a:t>19</a:t>
            </a:fld>
            <a:endParaRPr spc="-25" dirty="0">
              <a:solidFill>
                <a:prstClr val="white"/>
              </a:solidFill>
            </a:endParaRPr>
          </a:p>
        </p:txBody>
      </p:sp>
      <p:sp>
        <p:nvSpPr>
          <p:cNvPr id="7" name="object 7"/>
          <p:cNvSpPr txBox="1">
            <a:spLocks noGrp="1"/>
          </p:cNvSpPr>
          <p:nvPr>
            <p:ph type="ftr" sz="quarter" idx="5"/>
          </p:nvPr>
        </p:nvSpPr>
        <p:spPr>
          <a:xfrm>
            <a:off x="2763418" y="6600176"/>
            <a:ext cx="1243964" cy="155171"/>
          </a:xfrm>
          <a:prstGeom prst="rect">
            <a:avLst/>
          </a:prstGeom>
        </p:spPr>
        <p:txBody>
          <a:bodyPr vert="horz" wrap="square" lIns="0" tIns="1270" rIns="0" bIns="0" rtlCol="0">
            <a:spAutoFit/>
          </a:bodyPr>
          <a:lstStyle/>
          <a:p>
            <a:pPr marL="12700">
              <a:spcBef>
                <a:spcPts val="10"/>
              </a:spcBef>
            </a:pPr>
            <a:endParaRPr spc="-20" dirty="0">
              <a:solidFill>
                <a:prstClr val="white"/>
              </a:solidFill>
            </a:endParaRPr>
          </a:p>
        </p:txBody>
      </p:sp>
      <p:pic>
        <p:nvPicPr>
          <p:cNvPr id="1026" name="Picture 2" descr="https://cdn.codegym.vn/wp-content/uploads/2019/08/asp-net-mvc5-1-bat-dau-voi-asp-net-mvc-5-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00413" y="2214625"/>
            <a:ext cx="5591175" cy="40074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241547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91268" y="450927"/>
            <a:ext cx="11057467" cy="412292"/>
          </a:xfrm>
          <a:prstGeom prst="rect">
            <a:avLst/>
          </a:prstGeom>
        </p:spPr>
        <p:txBody>
          <a:bodyPr vert="horz" wrap="square" lIns="0" tIns="12065" rIns="0" bIns="0" rtlCol="0">
            <a:spAutoFit/>
          </a:bodyPr>
          <a:lstStyle/>
          <a:p>
            <a:pPr marL="12700">
              <a:spcBef>
                <a:spcPts val="95"/>
              </a:spcBef>
              <a:tabLst>
                <a:tab pos="8279765" algn="l"/>
              </a:tabLst>
            </a:pPr>
            <a:r>
              <a:rPr sz="2600" dirty="0"/>
              <a:t>2.</a:t>
            </a:r>
            <a:r>
              <a:rPr sz="2600" spc="-35" dirty="0"/>
              <a:t> </a:t>
            </a:r>
            <a:r>
              <a:rPr sz="2600" dirty="0"/>
              <a:t>XÂY</a:t>
            </a:r>
            <a:r>
              <a:rPr sz="2600" spc="-100" dirty="0"/>
              <a:t> </a:t>
            </a:r>
            <a:r>
              <a:rPr sz="2600" dirty="0"/>
              <a:t>DỰNG</a:t>
            </a:r>
            <a:r>
              <a:rPr sz="2600" spc="-30" dirty="0"/>
              <a:t> </a:t>
            </a:r>
            <a:r>
              <a:rPr sz="2600" dirty="0"/>
              <a:t>ỨNG</a:t>
            </a:r>
            <a:r>
              <a:rPr sz="2600" spc="-65" dirty="0"/>
              <a:t> </a:t>
            </a:r>
            <a:r>
              <a:rPr sz="2600" dirty="0"/>
              <a:t>DỤNG</a:t>
            </a:r>
            <a:r>
              <a:rPr sz="2600" spc="-20" dirty="0"/>
              <a:t> </a:t>
            </a:r>
            <a:r>
              <a:rPr sz="2600" spc="-25" dirty="0"/>
              <a:t>WEB</a:t>
            </a:r>
            <a:r>
              <a:rPr sz="2600" dirty="0"/>
              <a:t>	</a:t>
            </a:r>
            <a:endParaRPr sz="2600"/>
          </a:p>
        </p:txBody>
      </p:sp>
      <p:sp>
        <p:nvSpPr>
          <p:cNvPr id="3" name="object 3"/>
          <p:cNvSpPr txBox="1"/>
          <p:nvPr/>
        </p:nvSpPr>
        <p:spPr>
          <a:xfrm>
            <a:off x="2242820" y="1114970"/>
            <a:ext cx="7999731" cy="1226618"/>
          </a:xfrm>
          <a:prstGeom prst="rect">
            <a:avLst/>
          </a:prstGeom>
        </p:spPr>
        <p:txBody>
          <a:bodyPr vert="horz" wrap="square" lIns="0" tIns="66675" rIns="0" bIns="0" rtlCol="0">
            <a:spAutoFit/>
          </a:bodyPr>
          <a:lstStyle/>
          <a:p>
            <a:pPr marL="12700">
              <a:spcBef>
                <a:spcPts val="525"/>
              </a:spcBef>
            </a:pPr>
            <a:r>
              <a:rPr sz="2400" b="1" kern="0" dirty="0">
                <a:solidFill>
                  <a:srgbClr val="9B2C1F"/>
                </a:solidFill>
                <a:latin typeface="Arial"/>
                <a:cs typeface="Arial"/>
              </a:rPr>
              <a:t>2.1.</a:t>
            </a:r>
            <a:r>
              <a:rPr sz="2400" b="1" kern="0" spc="-15" dirty="0">
                <a:solidFill>
                  <a:srgbClr val="9B2C1F"/>
                </a:solidFill>
                <a:latin typeface="Arial"/>
                <a:cs typeface="Arial"/>
              </a:rPr>
              <a:t> </a:t>
            </a:r>
            <a:r>
              <a:rPr sz="2400" b="1" kern="0" dirty="0">
                <a:solidFill>
                  <a:srgbClr val="9B2C1F"/>
                </a:solidFill>
                <a:latin typeface="Arial"/>
                <a:cs typeface="Arial"/>
              </a:rPr>
              <a:t>Tạo</a:t>
            </a:r>
            <a:r>
              <a:rPr sz="2400" b="1" kern="0" spc="-20" dirty="0">
                <a:solidFill>
                  <a:srgbClr val="9B2C1F"/>
                </a:solidFill>
                <a:latin typeface="Arial"/>
                <a:cs typeface="Arial"/>
              </a:rPr>
              <a:t> </a:t>
            </a:r>
            <a:r>
              <a:rPr sz="2400" b="1" kern="0" dirty="0">
                <a:solidFill>
                  <a:srgbClr val="9B2C1F"/>
                </a:solidFill>
                <a:latin typeface="Arial"/>
                <a:cs typeface="Arial"/>
              </a:rPr>
              <a:t>mới</a:t>
            </a:r>
            <a:r>
              <a:rPr sz="2400" b="1" kern="0" spc="-45" dirty="0">
                <a:solidFill>
                  <a:srgbClr val="9B2C1F"/>
                </a:solidFill>
                <a:latin typeface="Arial"/>
                <a:cs typeface="Arial"/>
              </a:rPr>
              <a:t> </a:t>
            </a:r>
            <a:r>
              <a:rPr sz="2400" b="1" kern="0" spc="-10" dirty="0">
                <a:solidFill>
                  <a:srgbClr val="9B2C1F"/>
                </a:solidFill>
                <a:latin typeface="Arial"/>
                <a:cs typeface="Arial"/>
              </a:rPr>
              <a:t>Project</a:t>
            </a:r>
            <a:endParaRPr sz="2400" kern="0">
              <a:solidFill>
                <a:sysClr val="windowText" lastClr="000000"/>
              </a:solidFill>
              <a:latin typeface="Arial"/>
              <a:cs typeface="Arial"/>
            </a:endParaRPr>
          </a:p>
          <a:p>
            <a:pPr marL="328295">
              <a:spcBef>
                <a:spcPts val="434"/>
              </a:spcBef>
            </a:pPr>
            <a:r>
              <a:rPr lang="en-US" sz="2400" kern="0">
                <a:solidFill>
                  <a:sysClr val="windowText" lastClr="000000"/>
                </a:solidFill>
                <a:latin typeface="Microsoft Sans Serif"/>
                <a:cs typeface="Microsoft Sans Serif"/>
              </a:rPr>
              <a:t>Sau đó chọn “Visual C#” tại danh sách bên trái, chọn “ASP.NET Web Application (.NET Framework)”</a:t>
            </a:r>
            <a:endParaRPr sz="2400" kern="0">
              <a:solidFill>
                <a:sysClr val="windowText" lastClr="000000"/>
              </a:solidFill>
              <a:latin typeface="Arial"/>
              <a:cs typeface="Arial"/>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7465">
              <a:lnSpc>
                <a:spcPts val="1664"/>
              </a:lnSpc>
            </a:pPr>
            <a:fld id="{81D60167-4931-47E6-BA6A-407CBD079E47}" type="slidenum">
              <a:rPr spc="-25" dirty="0">
                <a:solidFill>
                  <a:prstClr val="white"/>
                </a:solidFill>
              </a:rPr>
              <a:pPr marL="37465">
                <a:lnSpc>
                  <a:spcPts val="1664"/>
                </a:lnSpc>
              </a:pPr>
              <a:t>20</a:t>
            </a:fld>
            <a:endParaRPr spc="-25" dirty="0">
              <a:solidFill>
                <a:prstClr val="white"/>
              </a:solidFill>
            </a:endParaRPr>
          </a:p>
        </p:txBody>
      </p:sp>
      <p:sp>
        <p:nvSpPr>
          <p:cNvPr id="7" name="object 7"/>
          <p:cNvSpPr txBox="1">
            <a:spLocks noGrp="1"/>
          </p:cNvSpPr>
          <p:nvPr>
            <p:ph type="ftr" sz="quarter" idx="5"/>
          </p:nvPr>
        </p:nvSpPr>
        <p:spPr>
          <a:xfrm>
            <a:off x="2763418" y="6600176"/>
            <a:ext cx="1243964" cy="155171"/>
          </a:xfrm>
          <a:prstGeom prst="rect">
            <a:avLst/>
          </a:prstGeom>
        </p:spPr>
        <p:txBody>
          <a:bodyPr vert="horz" wrap="square" lIns="0" tIns="1270" rIns="0" bIns="0" rtlCol="0">
            <a:spAutoFit/>
          </a:bodyPr>
          <a:lstStyle/>
          <a:p>
            <a:pPr marL="12700">
              <a:spcBef>
                <a:spcPts val="10"/>
              </a:spcBef>
            </a:pPr>
            <a:endParaRPr spc="-20" dirty="0">
              <a:solidFill>
                <a:prstClr val="white"/>
              </a:solidFill>
            </a:endParaRPr>
          </a:p>
        </p:txBody>
      </p:sp>
      <p:pic>
        <p:nvPicPr>
          <p:cNvPr id="2050" name="Picture 2" descr="https://cdn.codegym.vn/wp-content/uploads/2019/08/asp-net-mvc5-1-bat-dau-voi-asp-net-mvc-5-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8459" y="2551607"/>
            <a:ext cx="6648450" cy="365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225434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06244" y="1237565"/>
            <a:ext cx="8036306" cy="753411"/>
          </a:xfrm>
          <a:prstGeom prst="rect">
            <a:avLst/>
          </a:prstGeom>
        </p:spPr>
        <p:txBody>
          <a:bodyPr vert="horz" wrap="square" lIns="0" tIns="14605" rIns="0" bIns="0" rtlCol="0">
            <a:spAutoFit/>
          </a:bodyPr>
          <a:lstStyle/>
          <a:p>
            <a:pPr marL="12700">
              <a:spcBef>
                <a:spcPts val="115"/>
              </a:spcBef>
            </a:pPr>
            <a:r>
              <a:rPr sz="2400" kern="0">
                <a:solidFill>
                  <a:sysClr val="windowText" lastClr="000000"/>
                </a:solidFill>
                <a:latin typeface="Microsoft Sans Serif"/>
                <a:cs typeface="Microsoft Sans Serif"/>
              </a:rPr>
              <a:t>-</a:t>
            </a:r>
            <a:r>
              <a:rPr sz="2400" kern="0" spc="35">
                <a:solidFill>
                  <a:sysClr val="windowText" lastClr="000000"/>
                </a:solidFill>
                <a:latin typeface="Microsoft Sans Serif"/>
                <a:cs typeface="Microsoft Sans Serif"/>
              </a:rPr>
              <a:t> </a:t>
            </a:r>
            <a:r>
              <a:rPr lang="en-US" sz="2400" kern="0">
                <a:solidFill>
                  <a:sysClr val="windowText" lastClr="000000"/>
                </a:solidFill>
                <a:latin typeface="Microsoft Sans Serif"/>
                <a:cs typeface="Microsoft Sans Serif"/>
              </a:rPr>
              <a:t>Tại màn hình “New ASP.NET Web Application”, chọn “MVC” và nhấn “OK”</a:t>
            </a:r>
            <a:endParaRPr sz="2400" kern="0">
              <a:solidFill>
                <a:sysClr val="windowText" lastClr="000000"/>
              </a:solidFill>
              <a:latin typeface="Microsoft Sans Serif"/>
              <a:cs typeface="Microsoft Sans Serif"/>
            </a:endParaRPr>
          </a:p>
        </p:txBody>
      </p:sp>
      <p:sp>
        <p:nvSpPr>
          <p:cNvPr id="4" name="object 4"/>
          <p:cNvSpPr txBox="1">
            <a:spLocks noGrp="1"/>
          </p:cNvSpPr>
          <p:nvPr>
            <p:ph type="ctrTitle"/>
          </p:nvPr>
        </p:nvSpPr>
        <p:spPr>
          <a:xfrm>
            <a:off x="2091268" y="450927"/>
            <a:ext cx="11057467" cy="412292"/>
          </a:xfrm>
          <a:prstGeom prst="rect">
            <a:avLst/>
          </a:prstGeom>
        </p:spPr>
        <p:txBody>
          <a:bodyPr vert="horz" wrap="square" lIns="0" tIns="12065" rIns="0" bIns="0" rtlCol="0">
            <a:spAutoFit/>
          </a:bodyPr>
          <a:lstStyle/>
          <a:p>
            <a:pPr marL="12700">
              <a:spcBef>
                <a:spcPts val="95"/>
              </a:spcBef>
              <a:tabLst>
                <a:tab pos="8279765" algn="l"/>
              </a:tabLst>
            </a:pPr>
            <a:r>
              <a:rPr sz="2600" dirty="0"/>
              <a:t>2.</a:t>
            </a:r>
            <a:r>
              <a:rPr sz="2600" spc="-35" dirty="0"/>
              <a:t> </a:t>
            </a:r>
            <a:r>
              <a:rPr sz="2600" dirty="0"/>
              <a:t>XÂY</a:t>
            </a:r>
            <a:r>
              <a:rPr sz="2600" spc="-100" dirty="0"/>
              <a:t> </a:t>
            </a:r>
            <a:r>
              <a:rPr sz="2600" dirty="0"/>
              <a:t>DỰNG</a:t>
            </a:r>
            <a:r>
              <a:rPr sz="2600" spc="-30" dirty="0"/>
              <a:t> </a:t>
            </a:r>
            <a:r>
              <a:rPr sz="2600" dirty="0"/>
              <a:t>ỨNG</a:t>
            </a:r>
            <a:r>
              <a:rPr sz="2600" spc="-65" dirty="0"/>
              <a:t> </a:t>
            </a:r>
            <a:r>
              <a:rPr sz="2600" dirty="0"/>
              <a:t>DỤNG</a:t>
            </a:r>
            <a:r>
              <a:rPr sz="2600" spc="-20" dirty="0"/>
              <a:t> </a:t>
            </a:r>
            <a:r>
              <a:rPr sz="2600" spc="-25" dirty="0"/>
              <a:t>WEB</a:t>
            </a:r>
            <a:r>
              <a:rPr sz="2600" dirty="0"/>
              <a:t>	</a:t>
            </a:r>
            <a:endParaRPr sz="2600"/>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7465">
              <a:lnSpc>
                <a:spcPts val="1664"/>
              </a:lnSpc>
            </a:pPr>
            <a:fld id="{81D60167-4931-47E6-BA6A-407CBD079E47}" type="slidenum">
              <a:rPr spc="-25" dirty="0">
                <a:solidFill>
                  <a:prstClr val="white"/>
                </a:solidFill>
              </a:rPr>
              <a:pPr marL="37465">
                <a:lnSpc>
                  <a:spcPts val="1664"/>
                </a:lnSpc>
              </a:pPr>
              <a:t>21</a:t>
            </a:fld>
            <a:endParaRPr spc="-25" dirty="0">
              <a:solidFill>
                <a:prstClr val="white"/>
              </a:solidFill>
            </a:endParaRPr>
          </a:p>
        </p:txBody>
      </p:sp>
      <p:sp>
        <p:nvSpPr>
          <p:cNvPr id="7" name="object 7"/>
          <p:cNvSpPr txBox="1">
            <a:spLocks noGrp="1"/>
          </p:cNvSpPr>
          <p:nvPr>
            <p:ph type="ftr" sz="quarter" idx="5"/>
          </p:nvPr>
        </p:nvSpPr>
        <p:spPr>
          <a:xfrm>
            <a:off x="2763418" y="6600176"/>
            <a:ext cx="1243964" cy="155171"/>
          </a:xfrm>
          <a:prstGeom prst="rect">
            <a:avLst/>
          </a:prstGeom>
        </p:spPr>
        <p:txBody>
          <a:bodyPr vert="horz" wrap="square" lIns="0" tIns="1270" rIns="0" bIns="0" rtlCol="0">
            <a:spAutoFit/>
          </a:bodyPr>
          <a:lstStyle/>
          <a:p>
            <a:pPr marL="12700">
              <a:spcBef>
                <a:spcPts val="10"/>
              </a:spcBef>
            </a:pPr>
            <a:endParaRPr spc="-20" dirty="0">
              <a:solidFill>
                <a:prstClr val="white"/>
              </a:solidFill>
            </a:endParaRPr>
          </a:p>
        </p:txBody>
      </p:sp>
      <p:pic>
        <p:nvPicPr>
          <p:cNvPr id="3074" name="Picture 2" descr="https://cdn.codegym.vn/wp-content/uploads/2019/08/asp-net-mvc5-1-bat-dau-voi-asp-net-mvc-5-7.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410" y="1990976"/>
            <a:ext cx="6657975" cy="4105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648778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06245" y="1237564"/>
            <a:ext cx="4267835" cy="393700"/>
          </a:xfrm>
          <a:prstGeom prst="rect">
            <a:avLst/>
          </a:prstGeom>
        </p:spPr>
        <p:txBody>
          <a:bodyPr vert="horz" wrap="square" lIns="0" tIns="14605" rIns="0" bIns="0" rtlCol="0">
            <a:spAutoFit/>
          </a:bodyPr>
          <a:lstStyle/>
          <a:p>
            <a:pPr marL="12700">
              <a:spcBef>
                <a:spcPts val="115"/>
              </a:spcBef>
            </a:pPr>
            <a:r>
              <a:rPr sz="2400" kern="0" dirty="0">
                <a:solidFill>
                  <a:sysClr val="windowText" lastClr="000000"/>
                </a:solidFill>
                <a:latin typeface="Microsoft Sans Serif"/>
                <a:cs typeface="Microsoft Sans Serif"/>
              </a:rPr>
              <a:t>-</a:t>
            </a:r>
            <a:r>
              <a:rPr sz="2400" kern="0" spc="1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Phân</a:t>
            </a:r>
            <a:r>
              <a:rPr sz="2400" kern="0" spc="-2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biệt</a:t>
            </a:r>
            <a:r>
              <a:rPr sz="2400" kern="0" spc="-2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các</a:t>
            </a:r>
            <a:r>
              <a:rPr sz="2400" kern="0" spc="-2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loại</a:t>
            </a:r>
            <a:r>
              <a:rPr sz="2400" kern="0" spc="30" dirty="0">
                <a:solidFill>
                  <a:sysClr val="windowText" lastClr="000000"/>
                </a:solidFill>
                <a:latin typeface="Microsoft Sans Serif"/>
                <a:cs typeface="Microsoft Sans Serif"/>
              </a:rPr>
              <a:t> </a:t>
            </a:r>
            <a:r>
              <a:rPr sz="2400" kern="0" spc="125" dirty="0">
                <a:solidFill>
                  <a:sysClr val="windowText" lastClr="000000"/>
                </a:solidFill>
                <a:latin typeface="Microsoft Sans Serif"/>
                <a:cs typeface="Microsoft Sans Serif"/>
              </a:rPr>
              <a:t>dự</a:t>
            </a:r>
            <a:r>
              <a:rPr sz="2400" kern="0" spc="-1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án</a:t>
            </a:r>
            <a:r>
              <a:rPr sz="2400" kern="0" spc="20" dirty="0">
                <a:solidFill>
                  <a:sysClr val="windowText" lastClr="000000"/>
                </a:solidFill>
                <a:latin typeface="Microsoft Sans Serif"/>
                <a:cs typeface="Microsoft Sans Serif"/>
              </a:rPr>
              <a:t> </a:t>
            </a:r>
            <a:r>
              <a:rPr sz="2400" kern="0" spc="-25" dirty="0">
                <a:solidFill>
                  <a:sysClr val="windowText" lastClr="000000"/>
                </a:solidFill>
                <a:latin typeface="Microsoft Sans Serif"/>
                <a:cs typeface="Microsoft Sans Serif"/>
              </a:rPr>
              <a:t>MVC</a:t>
            </a:r>
            <a:endParaRPr sz="2400" kern="0">
              <a:solidFill>
                <a:sysClr val="windowText" lastClr="000000"/>
              </a:solidFill>
              <a:latin typeface="Microsoft Sans Serif"/>
              <a:cs typeface="Microsoft Sans Serif"/>
            </a:endParaRPr>
          </a:p>
        </p:txBody>
      </p:sp>
      <p:pic>
        <p:nvPicPr>
          <p:cNvPr id="3" name="object 3"/>
          <p:cNvPicPr/>
          <p:nvPr/>
        </p:nvPicPr>
        <p:blipFill>
          <a:blip r:embed="rId2" cstate="print"/>
          <a:stretch>
            <a:fillRect/>
          </a:stretch>
        </p:blipFill>
        <p:spPr>
          <a:xfrm>
            <a:off x="2469045" y="1741043"/>
            <a:ext cx="7253858" cy="4469257"/>
          </a:xfrm>
          <a:prstGeom prst="rect">
            <a:avLst/>
          </a:prstGeom>
        </p:spPr>
      </p:pic>
      <p:sp>
        <p:nvSpPr>
          <p:cNvPr id="4" name="object 4"/>
          <p:cNvSpPr txBox="1">
            <a:spLocks noGrp="1"/>
          </p:cNvSpPr>
          <p:nvPr>
            <p:ph type="ctrTitle"/>
          </p:nvPr>
        </p:nvSpPr>
        <p:spPr>
          <a:xfrm>
            <a:off x="2091268" y="450927"/>
            <a:ext cx="11057467" cy="412292"/>
          </a:xfrm>
          <a:prstGeom prst="rect">
            <a:avLst/>
          </a:prstGeom>
        </p:spPr>
        <p:txBody>
          <a:bodyPr vert="horz" wrap="square" lIns="0" tIns="12065" rIns="0" bIns="0" rtlCol="0">
            <a:spAutoFit/>
          </a:bodyPr>
          <a:lstStyle/>
          <a:p>
            <a:pPr marL="12700">
              <a:spcBef>
                <a:spcPts val="95"/>
              </a:spcBef>
              <a:tabLst>
                <a:tab pos="8279765" algn="l"/>
              </a:tabLst>
            </a:pPr>
            <a:r>
              <a:rPr sz="2600" dirty="0"/>
              <a:t>2.</a:t>
            </a:r>
            <a:r>
              <a:rPr sz="2600" spc="-35" dirty="0"/>
              <a:t> </a:t>
            </a:r>
            <a:r>
              <a:rPr sz="2600" dirty="0"/>
              <a:t>XÂY</a:t>
            </a:r>
            <a:r>
              <a:rPr sz="2600" spc="-100" dirty="0"/>
              <a:t> </a:t>
            </a:r>
            <a:r>
              <a:rPr sz="2600" dirty="0"/>
              <a:t>DỰNG</a:t>
            </a:r>
            <a:r>
              <a:rPr sz="2600" spc="-30" dirty="0"/>
              <a:t> </a:t>
            </a:r>
            <a:r>
              <a:rPr sz="2600" dirty="0"/>
              <a:t>ỨNG</a:t>
            </a:r>
            <a:r>
              <a:rPr sz="2600" spc="-65" dirty="0"/>
              <a:t> </a:t>
            </a:r>
            <a:r>
              <a:rPr sz="2600" dirty="0"/>
              <a:t>DỤNG</a:t>
            </a:r>
            <a:r>
              <a:rPr sz="2600" spc="-20" dirty="0"/>
              <a:t> </a:t>
            </a:r>
            <a:r>
              <a:rPr sz="2600" spc="-25" dirty="0"/>
              <a:t>WEB</a:t>
            </a:r>
            <a:r>
              <a:rPr sz="2600" dirty="0"/>
              <a:t>	</a:t>
            </a:r>
            <a:endParaRPr sz="2600"/>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7465">
              <a:lnSpc>
                <a:spcPts val="1664"/>
              </a:lnSpc>
            </a:pPr>
            <a:fld id="{81D60167-4931-47E6-BA6A-407CBD079E47}" type="slidenum">
              <a:rPr spc="-25" dirty="0">
                <a:solidFill>
                  <a:prstClr val="white"/>
                </a:solidFill>
              </a:rPr>
              <a:pPr marL="37465">
                <a:lnSpc>
                  <a:spcPts val="1664"/>
                </a:lnSpc>
              </a:pPr>
              <a:t>22</a:t>
            </a:fld>
            <a:endParaRPr spc="-25" dirty="0">
              <a:solidFill>
                <a:prstClr val="white"/>
              </a:solidFill>
            </a:endParaRPr>
          </a:p>
        </p:txBody>
      </p:sp>
      <p:sp>
        <p:nvSpPr>
          <p:cNvPr id="7" name="object 7"/>
          <p:cNvSpPr txBox="1">
            <a:spLocks noGrp="1"/>
          </p:cNvSpPr>
          <p:nvPr>
            <p:ph type="ftr" sz="quarter" idx="5"/>
          </p:nvPr>
        </p:nvSpPr>
        <p:spPr>
          <a:xfrm>
            <a:off x="2763418" y="6600176"/>
            <a:ext cx="1243964" cy="155171"/>
          </a:xfrm>
          <a:prstGeom prst="rect">
            <a:avLst/>
          </a:prstGeom>
        </p:spPr>
        <p:txBody>
          <a:bodyPr vert="horz" wrap="square" lIns="0" tIns="1270" rIns="0" bIns="0" rtlCol="0">
            <a:spAutoFit/>
          </a:bodyPr>
          <a:lstStyle/>
          <a:p>
            <a:pPr marL="12700">
              <a:spcBef>
                <a:spcPts val="10"/>
              </a:spcBef>
            </a:pPr>
            <a:endParaRPr spc="-20" dirty="0">
              <a:solidFill>
                <a:prstClr val="white"/>
              </a:solidFill>
            </a:endParaRPr>
          </a:p>
        </p:txBody>
      </p:sp>
    </p:spTree>
    <p:extLst>
      <p:ext uri="{BB962C8B-B14F-4D97-AF65-F5344CB8AC3E}">
        <p14:creationId xmlns:p14="http://schemas.microsoft.com/office/powerpoint/2010/main" val="128185385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91268" y="450927"/>
            <a:ext cx="11057467" cy="412292"/>
          </a:xfrm>
          <a:prstGeom prst="rect">
            <a:avLst/>
          </a:prstGeom>
        </p:spPr>
        <p:txBody>
          <a:bodyPr vert="horz" wrap="square" lIns="0" tIns="12065" rIns="0" bIns="0" rtlCol="0">
            <a:spAutoFit/>
          </a:bodyPr>
          <a:lstStyle/>
          <a:p>
            <a:pPr marL="12700">
              <a:spcBef>
                <a:spcPts val="95"/>
              </a:spcBef>
              <a:tabLst>
                <a:tab pos="8279765" algn="l"/>
              </a:tabLst>
            </a:pPr>
            <a:r>
              <a:rPr sz="2600" dirty="0"/>
              <a:t>2.</a:t>
            </a:r>
            <a:r>
              <a:rPr sz="2600" spc="-35" dirty="0"/>
              <a:t> </a:t>
            </a:r>
            <a:r>
              <a:rPr sz="2600" dirty="0"/>
              <a:t>XÂY</a:t>
            </a:r>
            <a:r>
              <a:rPr sz="2600" spc="-100" dirty="0"/>
              <a:t> </a:t>
            </a:r>
            <a:r>
              <a:rPr sz="2600" dirty="0"/>
              <a:t>DỰNG</a:t>
            </a:r>
            <a:r>
              <a:rPr sz="2600" spc="-30" dirty="0"/>
              <a:t> </a:t>
            </a:r>
            <a:r>
              <a:rPr sz="2600" dirty="0"/>
              <a:t>ỨNG</a:t>
            </a:r>
            <a:r>
              <a:rPr sz="2600" spc="-65" dirty="0"/>
              <a:t> </a:t>
            </a:r>
            <a:r>
              <a:rPr sz="2600" dirty="0"/>
              <a:t>DỤNG</a:t>
            </a:r>
            <a:r>
              <a:rPr sz="2600" spc="-20" dirty="0"/>
              <a:t> </a:t>
            </a:r>
            <a:r>
              <a:rPr sz="2600" spc="-25" dirty="0"/>
              <a:t>WEB</a:t>
            </a:r>
            <a:r>
              <a:rPr sz="2600" dirty="0"/>
              <a:t>	</a:t>
            </a:r>
            <a:endParaRPr sz="260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7465">
              <a:lnSpc>
                <a:spcPts val="1664"/>
              </a:lnSpc>
            </a:pPr>
            <a:fld id="{81D60167-4931-47E6-BA6A-407CBD079E47}" type="slidenum">
              <a:rPr spc="-25" dirty="0">
                <a:solidFill>
                  <a:prstClr val="white"/>
                </a:solidFill>
              </a:rPr>
              <a:pPr marL="37465">
                <a:lnSpc>
                  <a:spcPts val="1664"/>
                </a:lnSpc>
              </a:pPr>
              <a:t>23</a:t>
            </a:fld>
            <a:endParaRPr spc="-25" dirty="0">
              <a:solidFill>
                <a:prstClr val="white"/>
              </a:solidFill>
            </a:endParaRPr>
          </a:p>
        </p:txBody>
      </p:sp>
      <p:sp>
        <p:nvSpPr>
          <p:cNvPr id="6" name="object 6"/>
          <p:cNvSpPr txBox="1">
            <a:spLocks noGrp="1"/>
          </p:cNvSpPr>
          <p:nvPr>
            <p:ph type="ftr" sz="quarter" idx="5"/>
          </p:nvPr>
        </p:nvSpPr>
        <p:spPr>
          <a:xfrm>
            <a:off x="2763418" y="6600176"/>
            <a:ext cx="1243964" cy="155171"/>
          </a:xfrm>
          <a:prstGeom prst="rect">
            <a:avLst/>
          </a:prstGeom>
        </p:spPr>
        <p:txBody>
          <a:bodyPr vert="horz" wrap="square" lIns="0" tIns="1270" rIns="0" bIns="0" rtlCol="0">
            <a:spAutoFit/>
          </a:bodyPr>
          <a:lstStyle/>
          <a:p>
            <a:pPr marL="12700">
              <a:spcBef>
                <a:spcPts val="10"/>
              </a:spcBef>
            </a:pPr>
            <a:endParaRPr spc="-20" dirty="0">
              <a:solidFill>
                <a:prstClr val="white"/>
              </a:solidFill>
            </a:endParaRPr>
          </a:p>
        </p:txBody>
      </p:sp>
      <p:sp>
        <p:nvSpPr>
          <p:cNvPr id="3" name="object 3"/>
          <p:cNvSpPr txBox="1"/>
          <p:nvPr/>
        </p:nvSpPr>
        <p:spPr>
          <a:xfrm>
            <a:off x="2506472" y="1156539"/>
            <a:ext cx="7537450" cy="4968875"/>
          </a:xfrm>
          <a:prstGeom prst="rect">
            <a:avLst/>
          </a:prstGeom>
        </p:spPr>
        <p:txBody>
          <a:bodyPr vert="horz" wrap="square" lIns="0" tIns="14605" rIns="0" bIns="0" rtlCol="0">
            <a:spAutoFit/>
          </a:bodyPr>
          <a:lstStyle/>
          <a:p>
            <a:pPr marL="355600" marR="6350" indent="-343535" algn="just">
              <a:spcBef>
                <a:spcPts val="115"/>
              </a:spcBef>
              <a:buFont typeface="Wingdings"/>
              <a:buChar char=""/>
              <a:tabLst>
                <a:tab pos="355600" algn="l"/>
              </a:tabLst>
            </a:pPr>
            <a:r>
              <a:rPr sz="2400" kern="0" dirty="0">
                <a:solidFill>
                  <a:srgbClr val="FF0000"/>
                </a:solidFill>
                <a:latin typeface="Microsoft Sans Serif"/>
                <a:cs typeface="Microsoft Sans Serif"/>
              </a:rPr>
              <a:t>Individual</a:t>
            </a:r>
            <a:r>
              <a:rPr sz="2400" kern="0" spc="240" dirty="0">
                <a:solidFill>
                  <a:srgbClr val="FF0000"/>
                </a:solidFill>
                <a:latin typeface="Microsoft Sans Serif"/>
                <a:cs typeface="Microsoft Sans Serif"/>
              </a:rPr>
              <a:t> </a:t>
            </a:r>
            <a:r>
              <a:rPr sz="2400" kern="0" dirty="0">
                <a:solidFill>
                  <a:srgbClr val="FF0000"/>
                </a:solidFill>
                <a:latin typeface="Microsoft Sans Serif"/>
                <a:cs typeface="Microsoft Sans Serif"/>
              </a:rPr>
              <a:t>User</a:t>
            </a:r>
            <a:r>
              <a:rPr sz="2400" kern="0" spc="190" dirty="0">
                <a:solidFill>
                  <a:srgbClr val="FF0000"/>
                </a:solidFill>
                <a:latin typeface="Microsoft Sans Serif"/>
                <a:cs typeface="Microsoft Sans Serif"/>
              </a:rPr>
              <a:t> </a:t>
            </a:r>
            <a:r>
              <a:rPr sz="2400" kern="0" dirty="0">
                <a:solidFill>
                  <a:srgbClr val="FF0000"/>
                </a:solidFill>
                <a:latin typeface="Microsoft Sans Serif"/>
                <a:cs typeface="Microsoft Sans Serif"/>
              </a:rPr>
              <a:t>Accounts:</a:t>
            </a:r>
            <a:r>
              <a:rPr sz="2400" kern="0" spc="215" dirty="0">
                <a:solidFill>
                  <a:srgbClr val="FF0000"/>
                </a:solidFill>
                <a:latin typeface="Microsoft Sans Serif"/>
                <a:cs typeface="Microsoft Sans Serif"/>
              </a:rPr>
              <a:t> </a:t>
            </a:r>
            <a:r>
              <a:rPr sz="2400" kern="0" spc="125" dirty="0">
                <a:solidFill>
                  <a:sysClr val="windowText" lastClr="000000"/>
                </a:solidFill>
                <a:latin typeface="Microsoft Sans Serif"/>
                <a:cs typeface="Microsoft Sans Serif"/>
              </a:rPr>
              <a:t>Dự</a:t>
            </a:r>
            <a:r>
              <a:rPr sz="2400" kern="0" spc="204"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án</a:t>
            </a:r>
            <a:r>
              <a:rPr sz="2400" kern="0" spc="155" dirty="0">
                <a:solidFill>
                  <a:sysClr val="windowText" lastClr="000000"/>
                </a:solidFill>
                <a:latin typeface="Microsoft Sans Serif"/>
                <a:cs typeface="Microsoft Sans Serif"/>
              </a:rPr>
              <a:t> </a:t>
            </a:r>
            <a:r>
              <a:rPr sz="2400" kern="0" spc="120" dirty="0">
                <a:solidFill>
                  <a:sysClr val="windowText" lastClr="000000"/>
                </a:solidFill>
                <a:latin typeface="Microsoft Sans Serif"/>
                <a:cs typeface="Microsoft Sans Serif"/>
              </a:rPr>
              <a:t>được</a:t>
            </a:r>
            <a:r>
              <a:rPr sz="2400" kern="0" spc="18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tạo</a:t>
            </a:r>
            <a:r>
              <a:rPr sz="2400" kern="0" spc="229"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ra</a:t>
            </a:r>
            <a:r>
              <a:rPr sz="2400" kern="0" spc="19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là</a:t>
            </a:r>
            <a:r>
              <a:rPr sz="2400" kern="0" spc="190" dirty="0">
                <a:solidFill>
                  <a:sysClr val="windowText" lastClr="000000"/>
                </a:solidFill>
                <a:latin typeface="Microsoft Sans Serif"/>
                <a:cs typeface="Microsoft Sans Serif"/>
              </a:rPr>
              <a:t> </a:t>
            </a:r>
            <a:r>
              <a:rPr sz="2400" kern="0" spc="-20" dirty="0">
                <a:solidFill>
                  <a:sysClr val="windowText" lastClr="000000"/>
                </a:solidFill>
                <a:latin typeface="Microsoft Sans Serif"/>
                <a:cs typeface="Microsoft Sans Serif"/>
              </a:rPr>
              <a:t>loại </a:t>
            </a:r>
            <a:r>
              <a:rPr sz="2400" kern="0" spc="125" dirty="0">
                <a:solidFill>
                  <a:sysClr val="windowText" lastClr="000000"/>
                </a:solidFill>
                <a:latin typeface="Microsoft Sans Serif"/>
                <a:cs typeface="Microsoft Sans Serif"/>
              </a:rPr>
              <a:t>dự</a:t>
            </a:r>
            <a:r>
              <a:rPr sz="2400" kern="0" spc="-1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án</a:t>
            </a:r>
            <a:r>
              <a:rPr sz="2400" kern="0" spc="2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Internet</a:t>
            </a:r>
            <a:r>
              <a:rPr sz="2400" kern="0" spc="-2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bao</a:t>
            </a:r>
            <a:r>
              <a:rPr sz="2400" kern="0" spc="2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gồm</a:t>
            </a:r>
            <a:r>
              <a:rPr sz="2400" kern="0" spc="3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cả</a:t>
            </a:r>
            <a:r>
              <a:rPr sz="2400" kern="0" spc="-1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phần</a:t>
            </a:r>
            <a:r>
              <a:rPr sz="2400" kern="0" spc="15" dirty="0">
                <a:solidFill>
                  <a:sysClr val="windowText" lastClr="000000"/>
                </a:solidFill>
                <a:latin typeface="Microsoft Sans Serif"/>
                <a:cs typeface="Microsoft Sans Serif"/>
              </a:rPr>
              <a:t> </a:t>
            </a:r>
            <a:r>
              <a:rPr sz="2400" kern="0" spc="-10" dirty="0">
                <a:solidFill>
                  <a:sysClr val="windowText" lastClr="000000"/>
                </a:solidFill>
                <a:latin typeface="Microsoft Sans Serif"/>
                <a:cs typeface="Microsoft Sans Serif"/>
              </a:rPr>
              <a:t>security</a:t>
            </a:r>
            <a:endParaRPr sz="2400" kern="0">
              <a:solidFill>
                <a:sysClr val="windowText" lastClr="000000"/>
              </a:solidFill>
              <a:latin typeface="Microsoft Sans Serif"/>
              <a:cs typeface="Microsoft Sans Serif"/>
            </a:endParaRPr>
          </a:p>
          <a:p>
            <a:pPr marL="355600" marR="5715" indent="-343535" algn="just">
              <a:spcBef>
                <a:spcPts val="1805"/>
              </a:spcBef>
              <a:buFont typeface="Wingdings"/>
              <a:buChar char=""/>
              <a:tabLst>
                <a:tab pos="355600" algn="l"/>
              </a:tabLst>
            </a:pPr>
            <a:r>
              <a:rPr sz="2400" kern="0" dirty="0">
                <a:solidFill>
                  <a:sysClr val="windowText" lastClr="000000"/>
                </a:solidFill>
                <a:latin typeface="Microsoft Sans Serif"/>
                <a:cs typeface="Microsoft Sans Serif"/>
              </a:rPr>
              <a:t>No</a:t>
            </a:r>
            <a:r>
              <a:rPr sz="2400" kern="0" spc="6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Authentication:</a:t>
            </a:r>
            <a:r>
              <a:rPr sz="2400" kern="0" spc="60" dirty="0">
                <a:solidFill>
                  <a:sysClr val="windowText" lastClr="000000"/>
                </a:solidFill>
                <a:latin typeface="Microsoft Sans Serif"/>
                <a:cs typeface="Microsoft Sans Serif"/>
              </a:rPr>
              <a:t>  </a:t>
            </a:r>
            <a:r>
              <a:rPr sz="2400" kern="0" spc="125" dirty="0">
                <a:solidFill>
                  <a:sysClr val="windowText" lastClr="000000"/>
                </a:solidFill>
                <a:latin typeface="Microsoft Sans Serif"/>
                <a:cs typeface="Microsoft Sans Serif"/>
              </a:rPr>
              <a:t>Dự</a:t>
            </a:r>
            <a:r>
              <a:rPr sz="2400" kern="0" spc="5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án</a:t>
            </a:r>
            <a:r>
              <a:rPr sz="2400" kern="0" spc="70" dirty="0">
                <a:solidFill>
                  <a:sysClr val="windowText" lastClr="000000"/>
                </a:solidFill>
                <a:latin typeface="Microsoft Sans Serif"/>
                <a:cs typeface="Microsoft Sans Serif"/>
              </a:rPr>
              <a:t>  </a:t>
            </a:r>
            <a:r>
              <a:rPr sz="2400" kern="0" spc="114" dirty="0">
                <a:solidFill>
                  <a:sysClr val="windowText" lastClr="000000"/>
                </a:solidFill>
                <a:latin typeface="Microsoft Sans Serif"/>
                <a:cs typeface="Microsoft Sans Serif"/>
              </a:rPr>
              <a:t>được</a:t>
            </a:r>
            <a:r>
              <a:rPr sz="2400" kern="0" spc="6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tạo</a:t>
            </a:r>
            <a:r>
              <a:rPr sz="2400" kern="0" spc="5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ra</a:t>
            </a:r>
            <a:r>
              <a:rPr sz="2400" kern="0" spc="6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là</a:t>
            </a:r>
            <a:r>
              <a:rPr sz="2400" kern="0" spc="50" dirty="0">
                <a:solidFill>
                  <a:sysClr val="windowText" lastClr="000000"/>
                </a:solidFill>
                <a:latin typeface="Microsoft Sans Serif"/>
                <a:cs typeface="Microsoft Sans Serif"/>
              </a:rPr>
              <a:t>  </a:t>
            </a:r>
            <a:r>
              <a:rPr sz="2400" kern="0" spc="125" dirty="0">
                <a:solidFill>
                  <a:sysClr val="windowText" lastClr="000000"/>
                </a:solidFill>
                <a:latin typeface="Microsoft Sans Serif"/>
                <a:cs typeface="Microsoft Sans Serif"/>
              </a:rPr>
              <a:t>dự</a:t>
            </a:r>
            <a:r>
              <a:rPr sz="2400" kern="0" spc="55" dirty="0">
                <a:solidFill>
                  <a:sysClr val="windowText" lastClr="000000"/>
                </a:solidFill>
                <a:latin typeface="Microsoft Sans Serif"/>
                <a:cs typeface="Microsoft Sans Serif"/>
              </a:rPr>
              <a:t>  </a:t>
            </a:r>
            <a:r>
              <a:rPr sz="2400" kern="0" spc="-25" dirty="0">
                <a:solidFill>
                  <a:sysClr val="windowText" lastClr="000000"/>
                </a:solidFill>
                <a:latin typeface="Microsoft Sans Serif"/>
                <a:cs typeface="Microsoft Sans Serif"/>
              </a:rPr>
              <a:t>án </a:t>
            </a:r>
            <a:r>
              <a:rPr sz="2400" kern="0" dirty="0">
                <a:solidFill>
                  <a:sysClr val="windowText" lastClr="000000"/>
                </a:solidFill>
                <a:latin typeface="Microsoft Sans Serif"/>
                <a:cs typeface="Microsoft Sans Serif"/>
              </a:rPr>
              <a:t>Internet</a:t>
            </a:r>
            <a:r>
              <a:rPr sz="2400" kern="0" spc="-4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không</a:t>
            </a:r>
            <a:r>
              <a:rPr sz="2400" kern="0" spc="1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bao</a:t>
            </a:r>
            <a:r>
              <a:rPr sz="2400" kern="0" spc="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gồm</a:t>
            </a:r>
            <a:r>
              <a:rPr sz="2400" kern="0" spc="-1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phần</a:t>
            </a:r>
            <a:r>
              <a:rPr sz="2400" kern="0" spc="5" dirty="0">
                <a:solidFill>
                  <a:sysClr val="windowText" lastClr="000000"/>
                </a:solidFill>
                <a:latin typeface="Microsoft Sans Serif"/>
                <a:cs typeface="Microsoft Sans Serif"/>
              </a:rPr>
              <a:t> </a:t>
            </a:r>
            <a:r>
              <a:rPr sz="2400" kern="0" spc="-10" dirty="0">
                <a:solidFill>
                  <a:sysClr val="windowText" lastClr="000000"/>
                </a:solidFill>
                <a:latin typeface="Microsoft Sans Serif"/>
                <a:cs typeface="Microsoft Sans Serif"/>
              </a:rPr>
              <a:t>security.</a:t>
            </a:r>
            <a:endParaRPr sz="2400" kern="0">
              <a:solidFill>
                <a:sysClr val="windowText" lastClr="000000"/>
              </a:solidFill>
              <a:latin typeface="Microsoft Sans Serif"/>
              <a:cs typeface="Microsoft Sans Serif"/>
            </a:endParaRPr>
          </a:p>
          <a:p>
            <a:pPr marL="355600" marR="6350" indent="-343535" algn="just">
              <a:spcBef>
                <a:spcPts val="1800"/>
              </a:spcBef>
              <a:buFont typeface="Wingdings"/>
              <a:buChar char=""/>
              <a:tabLst>
                <a:tab pos="355600" algn="l"/>
              </a:tabLst>
            </a:pPr>
            <a:r>
              <a:rPr sz="2400" kern="0" dirty="0">
                <a:solidFill>
                  <a:sysClr val="windowText" lastClr="000000"/>
                </a:solidFill>
                <a:latin typeface="Microsoft Sans Serif"/>
                <a:cs typeface="Microsoft Sans Serif"/>
              </a:rPr>
              <a:t>Windows</a:t>
            </a:r>
            <a:r>
              <a:rPr sz="2400" kern="0" spc="35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Authentication:</a:t>
            </a:r>
            <a:r>
              <a:rPr sz="2400" kern="0" spc="315" dirty="0">
                <a:solidFill>
                  <a:sysClr val="windowText" lastClr="000000"/>
                </a:solidFill>
                <a:latin typeface="Microsoft Sans Serif"/>
                <a:cs typeface="Microsoft Sans Serif"/>
              </a:rPr>
              <a:t> </a:t>
            </a:r>
            <a:r>
              <a:rPr sz="2400" kern="0" spc="125" dirty="0">
                <a:solidFill>
                  <a:sysClr val="windowText" lastClr="000000"/>
                </a:solidFill>
                <a:latin typeface="Microsoft Sans Serif"/>
                <a:cs typeface="Microsoft Sans Serif"/>
              </a:rPr>
              <a:t>Dự</a:t>
            </a:r>
            <a:r>
              <a:rPr sz="2400" kern="0" spc="30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án</a:t>
            </a:r>
            <a:r>
              <a:rPr sz="2400" kern="0" spc="295" dirty="0">
                <a:solidFill>
                  <a:sysClr val="windowText" lastClr="000000"/>
                </a:solidFill>
                <a:latin typeface="Microsoft Sans Serif"/>
                <a:cs typeface="Microsoft Sans Serif"/>
              </a:rPr>
              <a:t> </a:t>
            </a:r>
            <a:r>
              <a:rPr sz="2400" kern="0" spc="120" dirty="0">
                <a:solidFill>
                  <a:sysClr val="windowText" lastClr="000000"/>
                </a:solidFill>
                <a:latin typeface="Microsoft Sans Serif"/>
                <a:cs typeface="Microsoft Sans Serif"/>
              </a:rPr>
              <a:t>được</a:t>
            </a:r>
            <a:r>
              <a:rPr sz="2400" kern="0" spc="33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tạo</a:t>
            </a:r>
            <a:r>
              <a:rPr sz="2400" kern="0" spc="33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ra</a:t>
            </a:r>
            <a:r>
              <a:rPr sz="2400" kern="0" spc="29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là</a:t>
            </a:r>
            <a:r>
              <a:rPr sz="2400" kern="0" spc="325" dirty="0">
                <a:solidFill>
                  <a:sysClr val="windowText" lastClr="000000"/>
                </a:solidFill>
                <a:latin typeface="Microsoft Sans Serif"/>
                <a:cs typeface="Microsoft Sans Serif"/>
              </a:rPr>
              <a:t> </a:t>
            </a:r>
            <a:r>
              <a:rPr sz="2400" kern="0" spc="-20" dirty="0">
                <a:solidFill>
                  <a:sysClr val="windowText" lastClr="000000"/>
                </a:solidFill>
                <a:latin typeface="Microsoft Sans Serif"/>
                <a:cs typeface="Microsoft Sans Serif"/>
              </a:rPr>
              <a:t>loại </a:t>
            </a:r>
            <a:r>
              <a:rPr sz="2400" kern="0" spc="125" dirty="0">
                <a:solidFill>
                  <a:sysClr val="windowText" lastClr="000000"/>
                </a:solidFill>
                <a:latin typeface="Microsoft Sans Serif"/>
                <a:cs typeface="Microsoft Sans Serif"/>
              </a:rPr>
              <a:t>dự</a:t>
            </a:r>
            <a:r>
              <a:rPr sz="2400" kern="0" spc="27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án</a:t>
            </a:r>
            <a:r>
              <a:rPr sz="2400" kern="0" spc="26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Intranet</a:t>
            </a:r>
            <a:r>
              <a:rPr sz="2400" kern="0" spc="29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bao</a:t>
            </a:r>
            <a:r>
              <a:rPr sz="2400" kern="0" spc="26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gồm</a:t>
            </a:r>
            <a:r>
              <a:rPr sz="2400" kern="0" spc="27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cả</a:t>
            </a:r>
            <a:r>
              <a:rPr sz="2400" kern="0" spc="229"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phần</a:t>
            </a:r>
            <a:r>
              <a:rPr sz="2400" kern="0" spc="26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security</a:t>
            </a:r>
            <a:r>
              <a:rPr sz="2400" kern="0" spc="225" dirty="0">
                <a:solidFill>
                  <a:sysClr val="windowText" lastClr="000000"/>
                </a:solidFill>
                <a:latin typeface="Microsoft Sans Serif"/>
                <a:cs typeface="Microsoft Sans Serif"/>
              </a:rPr>
              <a:t> </a:t>
            </a:r>
            <a:r>
              <a:rPr sz="2400" kern="0" spc="50" dirty="0">
                <a:solidFill>
                  <a:sysClr val="windowText" lastClr="000000"/>
                </a:solidFill>
                <a:latin typeface="Microsoft Sans Serif"/>
                <a:cs typeface="Microsoft Sans Serif"/>
              </a:rPr>
              <a:t>nhưng</a:t>
            </a:r>
            <a:r>
              <a:rPr sz="2400" kern="0" spc="260" dirty="0">
                <a:solidFill>
                  <a:sysClr val="windowText" lastClr="000000"/>
                </a:solidFill>
                <a:latin typeface="Microsoft Sans Serif"/>
                <a:cs typeface="Microsoft Sans Serif"/>
              </a:rPr>
              <a:t> </a:t>
            </a:r>
            <a:r>
              <a:rPr sz="2400" kern="0" spc="-25" dirty="0">
                <a:solidFill>
                  <a:sysClr val="windowText" lastClr="000000"/>
                </a:solidFill>
                <a:latin typeface="Microsoft Sans Serif"/>
                <a:cs typeface="Microsoft Sans Serif"/>
              </a:rPr>
              <a:t>tài </a:t>
            </a:r>
            <a:r>
              <a:rPr sz="2400" kern="0" dirty="0">
                <a:solidFill>
                  <a:sysClr val="windowText" lastClr="000000"/>
                </a:solidFill>
                <a:latin typeface="Microsoft Sans Serif"/>
                <a:cs typeface="Microsoft Sans Serif"/>
              </a:rPr>
              <a:t>khoản</a:t>
            </a:r>
            <a:r>
              <a:rPr sz="2400" kern="0" spc="-20" dirty="0">
                <a:solidFill>
                  <a:sysClr val="windowText" lastClr="000000"/>
                </a:solidFill>
                <a:latin typeface="Microsoft Sans Serif"/>
                <a:cs typeface="Microsoft Sans Serif"/>
              </a:rPr>
              <a:t> </a:t>
            </a:r>
            <a:r>
              <a:rPr sz="2400" kern="0" spc="120" dirty="0">
                <a:solidFill>
                  <a:sysClr val="windowText" lastClr="000000"/>
                </a:solidFill>
                <a:latin typeface="Microsoft Sans Serif"/>
                <a:cs typeface="Microsoft Sans Serif"/>
              </a:rPr>
              <a:t>được</a:t>
            </a:r>
            <a:r>
              <a:rPr sz="2400" kern="0" spc="1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quản</a:t>
            </a:r>
            <a:r>
              <a:rPr sz="2400" kern="0" spc="2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lý</a:t>
            </a:r>
            <a:r>
              <a:rPr sz="2400" kern="0" spc="-2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trên</a:t>
            </a:r>
            <a:r>
              <a:rPr sz="2400" kern="0" spc="2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mạng</a:t>
            </a:r>
            <a:r>
              <a:rPr sz="2400" kern="0" spc="-5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nội</a:t>
            </a:r>
            <a:r>
              <a:rPr sz="2400" kern="0" spc="35" dirty="0">
                <a:solidFill>
                  <a:sysClr val="windowText" lastClr="000000"/>
                </a:solidFill>
                <a:latin typeface="Microsoft Sans Serif"/>
                <a:cs typeface="Microsoft Sans Serif"/>
              </a:rPr>
              <a:t> </a:t>
            </a:r>
            <a:r>
              <a:rPr sz="2400" kern="0" spc="-25" dirty="0">
                <a:solidFill>
                  <a:sysClr val="windowText" lastClr="000000"/>
                </a:solidFill>
                <a:latin typeface="Microsoft Sans Serif"/>
                <a:cs typeface="Microsoft Sans Serif"/>
              </a:rPr>
              <a:t>bộ.</a:t>
            </a:r>
            <a:endParaRPr sz="2400" kern="0">
              <a:solidFill>
                <a:sysClr val="windowText" lastClr="000000"/>
              </a:solidFill>
              <a:latin typeface="Microsoft Sans Serif"/>
              <a:cs typeface="Microsoft Sans Serif"/>
            </a:endParaRPr>
          </a:p>
          <a:p>
            <a:pPr marL="355600" marR="6350" indent="-343535" algn="just">
              <a:spcBef>
                <a:spcPts val="1810"/>
              </a:spcBef>
              <a:buFont typeface="Wingdings"/>
              <a:buChar char=""/>
              <a:tabLst>
                <a:tab pos="355600" algn="l"/>
              </a:tabLst>
            </a:pPr>
            <a:r>
              <a:rPr sz="2400" kern="0" dirty="0">
                <a:solidFill>
                  <a:sysClr val="windowText" lastClr="000000"/>
                </a:solidFill>
                <a:latin typeface="Microsoft Sans Serif"/>
                <a:cs typeface="Microsoft Sans Serif"/>
              </a:rPr>
              <a:t>Organizational</a:t>
            </a:r>
            <a:r>
              <a:rPr sz="2400" kern="0" spc="30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Accounts:</a:t>
            </a:r>
            <a:r>
              <a:rPr sz="2400" kern="0" spc="280" dirty="0">
                <a:solidFill>
                  <a:sysClr val="windowText" lastClr="000000"/>
                </a:solidFill>
                <a:latin typeface="Microsoft Sans Serif"/>
                <a:cs typeface="Microsoft Sans Serif"/>
              </a:rPr>
              <a:t> </a:t>
            </a:r>
            <a:r>
              <a:rPr sz="2400" kern="0" spc="125" dirty="0">
                <a:solidFill>
                  <a:sysClr val="windowText" lastClr="000000"/>
                </a:solidFill>
                <a:latin typeface="Microsoft Sans Serif"/>
                <a:cs typeface="Microsoft Sans Serif"/>
              </a:rPr>
              <a:t>Dự</a:t>
            </a:r>
            <a:r>
              <a:rPr sz="2400" kern="0" spc="27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án</a:t>
            </a:r>
            <a:r>
              <a:rPr sz="2400" kern="0" spc="254" dirty="0">
                <a:solidFill>
                  <a:sysClr val="windowText" lastClr="000000"/>
                </a:solidFill>
                <a:latin typeface="Microsoft Sans Serif"/>
                <a:cs typeface="Microsoft Sans Serif"/>
              </a:rPr>
              <a:t> </a:t>
            </a:r>
            <a:r>
              <a:rPr sz="2400" kern="0" spc="120" dirty="0">
                <a:solidFill>
                  <a:sysClr val="windowText" lastClr="000000"/>
                </a:solidFill>
                <a:latin typeface="Microsoft Sans Serif"/>
                <a:cs typeface="Microsoft Sans Serif"/>
              </a:rPr>
              <a:t>được</a:t>
            </a:r>
            <a:r>
              <a:rPr sz="2400" kern="0" spc="254"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tạo</a:t>
            </a:r>
            <a:r>
              <a:rPr sz="2400" kern="0" spc="29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ra</a:t>
            </a:r>
            <a:r>
              <a:rPr sz="2400" kern="0" spc="26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là</a:t>
            </a:r>
            <a:r>
              <a:rPr sz="2400" kern="0" spc="254" dirty="0">
                <a:solidFill>
                  <a:sysClr val="windowText" lastClr="000000"/>
                </a:solidFill>
                <a:latin typeface="Microsoft Sans Serif"/>
                <a:cs typeface="Microsoft Sans Serif"/>
              </a:rPr>
              <a:t> </a:t>
            </a:r>
            <a:r>
              <a:rPr sz="2400" kern="0" spc="-20" dirty="0">
                <a:solidFill>
                  <a:sysClr val="windowText" lastClr="000000"/>
                </a:solidFill>
                <a:latin typeface="Microsoft Sans Serif"/>
                <a:cs typeface="Microsoft Sans Serif"/>
              </a:rPr>
              <a:t>loại </a:t>
            </a:r>
            <a:r>
              <a:rPr sz="2400" kern="0" spc="125" dirty="0">
                <a:solidFill>
                  <a:sysClr val="windowText" lastClr="000000"/>
                </a:solidFill>
                <a:latin typeface="Microsoft Sans Serif"/>
                <a:cs typeface="Microsoft Sans Serif"/>
              </a:rPr>
              <a:t>dự</a:t>
            </a:r>
            <a:r>
              <a:rPr sz="2400" kern="0" spc="-1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án</a:t>
            </a:r>
            <a:r>
              <a:rPr sz="2400" kern="0" spc="20" dirty="0">
                <a:solidFill>
                  <a:sysClr val="windowText" lastClr="000000"/>
                </a:solidFill>
                <a:latin typeface="Microsoft Sans Serif"/>
                <a:cs typeface="Microsoft Sans Serif"/>
              </a:rPr>
              <a:t> </a:t>
            </a:r>
            <a:r>
              <a:rPr sz="2400" kern="0" spc="145" dirty="0">
                <a:solidFill>
                  <a:sysClr val="windowText" lastClr="000000"/>
                </a:solidFill>
                <a:latin typeface="Microsoft Sans Serif"/>
                <a:cs typeface="Microsoft Sans Serif"/>
              </a:rPr>
              <a:t>sử</a:t>
            </a:r>
            <a:r>
              <a:rPr sz="2400" kern="0" spc="-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dụng</a:t>
            </a:r>
            <a:r>
              <a:rPr sz="2400" kern="0" spc="2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tài</a:t>
            </a:r>
            <a:r>
              <a:rPr sz="2400" kern="0" spc="-3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khoản</a:t>
            </a:r>
            <a:r>
              <a:rPr sz="2400" kern="0" spc="15" dirty="0">
                <a:solidFill>
                  <a:sysClr val="windowText" lastClr="000000"/>
                </a:solidFill>
                <a:latin typeface="Microsoft Sans Serif"/>
                <a:cs typeface="Microsoft Sans Serif"/>
              </a:rPr>
              <a:t> </a:t>
            </a:r>
            <a:r>
              <a:rPr sz="2400" kern="0" spc="145" dirty="0">
                <a:solidFill>
                  <a:sysClr val="windowText" lastClr="000000"/>
                </a:solidFill>
                <a:latin typeface="Microsoft Sans Serif"/>
                <a:cs typeface="Microsoft Sans Serif"/>
              </a:rPr>
              <a:t>từ</a:t>
            </a:r>
            <a:r>
              <a:rPr sz="2400" kern="0" spc="-3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cloud</a:t>
            </a:r>
            <a:r>
              <a:rPr sz="2400" kern="0" spc="20" dirty="0">
                <a:solidFill>
                  <a:sysClr val="windowText" lastClr="000000"/>
                </a:solidFill>
                <a:latin typeface="Microsoft Sans Serif"/>
                <a:cs typeface="Microsoft Sans Serif"/>
              </a:rPr>
              <a:t> </a:t>
            </a:r>
            <a:r>
              <a:rPr sz="2400" kern="0" spc="-10" dirty="0">
                <a:solidFill>
                  <a:sysClr val="windowText" lastClr="000000"/>
                </a:solidFill>
                <a:latin typeface="Microsoft Sans Serif"/>
                <a:cs typeface="Microsoft Sans Serif"/>
              </a:rPr>
              <a:t>computing.</a:t>
            </a:r>
            <a:endParaRPr sz="2400" kern="0">
              <a:solidFill>
                <a:sysClr val="windowText" lastClr="000000"/>
              </a:solidFill>
              <a:latin typeface="Microsoft Sans Serif"/>
              <a:cs typeface="Microsoft Sans Serif"/>
            </a:endParaRPr>
          </a:p>
          <a:p>
            <a:pPr marL="355600" marR="5080" indent="-343535" algn="just">
              <a:spcBef>
                <a:spcPts val="1805"/>
              </a:spcBef>
              <a:buFont typeface="Wingdings"/>
              <a:buChar char=""/>
              <a:tabLst>
                <a:tab pos="355600" algn="l"/>
              </a:tabLst>
            </a:pPr>
            <a:r>
              <a:rPr sz="2400" kern="0" dirty="0">
                <a:solidFill>
                  <a:sysClr val="windowText" lastClr="000000"/>
                </a:solidFill>
                <a:latin typeface="Microsoft Sans Serif"/>
                <a:cs typeface="Microsoft Sans Serif"/>
              </a:rPr>
              <a:t>Ngoài</a:t>
            </a:r>
            <a:r>
              <a:rPr sz="2400" kern="0" spc="17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ra:</a:t>
            </a:r>
            <a:r>
              <a:rPr sz="2400" kern="0" spc="18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bạn</a:t>
            </a:r>
            <a:r>
              <a:rPr sz="2400" kern="0" spc="16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có</a:t>
            </a:r>
            <a:r>
              <a:rPr sz="2400" kern="0" spc="17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thể</a:t>
            </a:r>
            <a:r>
              <a:rPr sz="2400" kern="0" spc="13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chọn</a:t>
            </a:r>
            <a:r>
              <a:rPr sz="2400" kern="0" spc="10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Web</a:t>
            </a:r>
            <a:r>
              <a:rPr sz="2400" kern="0" spc="13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API</a:t>
            </a:r>
            <a:r>
              <a:rPr sz="2400" kern="0" spc="19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để</a:t>
            </a:r>
            <a:r>
              <a:rPr sz="2400" kern="0" spc="16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bổ</a:t>
            </a:r>
            <a:r>
              <a:rPr sz="2400" kern="0" spc="13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sung</a:t>
            </a:r>
            <a:r>
              <a:rPr sz="2400" kern="0" spc="165" dirty="0">
                <a:solidFill>
                  <a:sysClr val="windowText" lastClr="000000"/>
                </a:solidFill>
                <a:latin typeface="Microsoft Sans Serif"/>
                <a:cs typeface="Microsoft Sans Serif"/>
              </a:rPr>
              <a:t> </a:t>
            </a:r>
            <a:r>
              <a:rPr sz="2400" kern="0" spc="-25" dirty="0">
                <a:solidFill>
                  <a:sysClr val="windowText" lastClr="000000"/>
                </a:solidFill>
                <a:latin typeface="Microsoft Sans Serif"/>
                <a:cs typeface="Microsoft Sans Serif"/>
              </a:rPr>
              <a:t>khả </a:t>
            </a:r>
            <a:r>
              <a:rPr sz="2400" kern="0" dirty="0">
                <a:solidFill>
                  <a:sysClr val="windowText" lastClr="000000"/>
                </a:solidFill>
                <a:latin typeface="Microsoft Sans Serif"/>
                <a:cs typeface="Microsoft Sans Serif"/>
              </a:rPr>
              <a:t>năng</a:t>
            </a:r>
            <a:r>
              <a:rPr sz="2400" kern="0" spc="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hỗ</a:t>
            </a:r>
            <a:r>
              <a:rPr sz="2400" kern="0" spc="10" dirty="0">
                <a:solidFill>
                  <a:sysClr val="windowText" lastClr="000000"/>
                </a:solidFill>
                <a:latin typeface="Microsoft Sans Serif"/>
                <a:cs typeface="Microsoft Sans Serif"/>
              </a:rPr>
              <a:t> </a:t>
            </a:r>
            <a:r>
              <a:rPr sz="2400" kern="0" spc="80" dirty="0">
                <a:solidFill>
                  <a:sysClr val="windowText" lastClr="000000"/>
                </a:solidFill>
                <a:latin typeface="Microsoft Sans Serif"/>
                <a:cs typeface="Microsoft Sans Serif"/>
              </a:rPr>
              <a:t>trợ</a:t>
            </a:r>
            <a:r>
              <a:rPr sz="2400" kern="0" spc="-5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xây</a:t>
            </a:r>
            <a:r>
              <a:rPr sz="2400" kern="0" spc="70" dirty="0">
                <a:solidFill>
                  <a:sysClr val="windowText" lastClr="000000"/>
                </a:solidFill>
                <a:latin typeface="Microsoft Sans Serif"/>
                <a:cs typeface="Microsoft Sans Serif"/>
              </a:rPr>
              <a:t> </a:t>
            </a:r>
            <a:r>
              <a:rPr sz="2400" kern="0" spc="65" dirty="0">
                <a:solidFill>
                  <a:sysClr val="windowText" lastClr="000000"/>
                </a:solidFill>
                <a:latin typeface="Microsoft Sans Serif"/>
                <a:cs typeface="Microsoft Sans Serif"/>
              </a:rPr>
              <a:t>dựng</a:t>
            </a:r>
            <a:r>
              <a:rPr sz="2400" kern="0" spc="-30" dirty="0">
                <a:solidFill>
                  <a:sysClr val="windowText" lastClr="000000"/>
                </a:solidFill>
                <a:latin typeface="Microsoft Sans Serif"/>
                <a:cs typeface="Microsoft Sans Serif"/>
              </a:rPr>
              <a:t> </a:t>
            </a:r>
            <a:r>
              <a:rPr sz="2400" kern="0" spc="90" dirty="0">
                <a:solidFill>
                  <a:sysClr val="windowText" lastClr="000000"/>
                </a:solidFill>
                <a:latin typeface="Microsoft Sans Serif"/>
                <a:cs typeface="Microsoft Sans Serif"/>
              </a:rPr>
              <a:t>thư</a:t>
            </a:r>
            <a:r>
              <a:rPr sz="2400" kern="0" spc="-1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viện</a:t>
            </a:r>
            <a:r>
              <a:rPr sz="2400" kern="0" spc="5" dirty="0">
                <a:solidFill>
                  <a:sysClr val="windowText" lastClr="000000"/>
                </a:solidFill>
                <a:latin typeface="Microsoft Sans Serif"/>
                <a:cs typeface="Microsoft Sans Serif"/>
              </a:rPr>
              <a:t> </a:t>
            </a:r>
            <a:r>
              <a:rPr sz="2400" kern="0" spc="-25" dirty="0">
                <a:solidFill>
                  <a:sysClr val="windowText" lastClr="000000"/>
                </a:solidFill>
                <a:latin typeface="Microsoft Sans Serif"/>
                <a:cs typeface="Microsoft Sans Serif"/>
              </a:rPr>
              <a:t>web</a:t>
            </a:r>
            <a:endParaRPr sz="2400" kern="0">
              <a:solidFill>
                <a:sysClr val="windowText" lastClr="000000"/>
              </a:solidFill>
              <a:latin typeface="Microsoft Sans Serif"/>
              <a:cs typeface="Microsoft Sans Serif"/>
            </a:endParaRPr>
          </a:p>
        </p:txBody>
      </p:sp>
    </p:spTree>
    <p:extLst>
      <p:ext uri="{BB962C8B-B14F-4D97-AF65-F5344CB8AC3E}">
        <p14:creationId xmlns:p14="http://schemas.microsoft.com/office/powerpoint/2010/main" val="152023409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06245" y="1237564"/>
            <a:ext cx="3091815" cy="393700"/>
          </a:xfrm>
          <a:prstGeom prst="rect">
            <a:avLst/>
          </a:prstGeom>
        </p:spPr>
        <p:txBody>
          <a:bodyPr vert="horz" wrap="square" lIns="0" tIns="14605" rIns="0" bIns="0" rtlCol="0">
            <a:spAutoFit/>
          </a:bodyPr>
          <a:lstStyle/>
          <a:p>
            <a:pPr marL="12700">
              <a:spcBef>
                <a:spcPts val="115"/>
              </a:spcBef>
            </a:pPr>
            <a:r>
              <a:rPr sz="2400" b="1" kern="0" dirty="0">
                <a:solidFill>
                  <a:srgbClr val="FF0000"/>
                </a:solidFill>
                <a:latin typeface="Arial"/>
                <a:cs typeface="Arial"/>
              </a:rPr>
              <a:t>-</a:t>
            </a:r>
            <a:r>
              <a:rPr sz="2400" b="1" kern="0" spc="-20" dirty="0">
                <a:solidFill>
                  <a:srgbClr val="FF0000"/>
                </a:solidFill>
                <a:latin typeface="Arial"/>
                <a:cs typeface="Arial"/>
              </a:rPr>
              <a:t> </a:t>
            </a:r>
            <a:r>
              <a:rPr sz="2400" b="1" kern="0" dirty="0">
                <a:solidFill>
                  <a:srgbClr val="FF0000"/>
                </a:solidFill>
                <a:latin typeface="Arial"/>
                <a:cs typeface="Arial"/>
              </a:rPr>
              <a:t>Cấu</a:t>
            </a:r>
            <a:r>
              <a:rPr sz="2400" b="1" kern="0" spc="-40" dirty="0">
                <a:solidFill>
                  <a:srgbClr val="FF0000"/>
                </a:solidFill>
                <a:latin typeface="Arial"/>
                <a:cs typeface="Arial"/>
              </a:rPr>
              <a:t> </a:t>
            </a:r>
            <a:r>
              <a:rPr sz="2400" b="1" kern="0" dirty="0">
                <a:solidFill>
                  <a:srgbClr val="FF0000"/>
                </a:solidFill>
                <a:latin typeface="Arial"/>
                <a:cs typeface="Arial"/>
              </a:rPr>
              <a:t>trúc</a:t>
            </a:r>
            <a:r>
              <a:rPr sz="2400" b="1" kern="0" spc="-5" dirty="0">
                <a:solidFill>
                  <a:srgbClr val="FF0000"/>
                </a:solidFill>
                <a:latin typeface="Arial"/>
                <a:cs typeface="Arial"/>
              </a:rPr>
              <a:t> </a:t>
            </a:r>
            <a:r>
              <a:rPr sz="2400" b="1" kern="0" dirty="0">
                <a:solidFill>
                  <a:srgbClr val="FF0000"/>
                </a:solidFill>
                <a:latin typeface="Arial"/>
                <a:cs typeface="Arial"/>
              </a:rPr>
              <a:t>của</a:t>
            </a:r>
            <a:r>
              <a:rPr sz="2400" b="1" kern="0" spc="-45" dirty="0">
                <a:solidFill>
                  <a:srgbClr val="FF0000"/>
                </a:solidFill>
                <a:latin typeface="Arial"/>
                <a:cs typeface="Arial"/>
              </a:rPr>
              <a:t> </a:t>
            </a:r>
            <a:r>
              <a:rPr sz="2400" b="1" kern="0" dirty="0">
                <a:solidFill>
                  <a:srgbClr val="FF0000"/>
                </a:solidFill>
                <a:latin typeface="Arial"/>
                <a:cs typeface="Arial"/>
              </a:rPr>
              <a:t>dự</a:t>
            </a:r>
            <a:r>
              <a:rPr sz="2400" b="1" kern="0" spc="-50" dirty="0">
                <a:solidFill>
                  <a:srgbClr val="FF0000"/>
                </a:solidFill>
                <a:latin typeface="Arial"/>
                <a:cs typeface="Arial"/>
              </a:rPr>
              <a:t> </a:t>
            </a:r>
            <a:r>
              <a:rPr sz="2400" b="1" kern="0" spc="-25" dirty="0">
                <a:solidFill>
                  <a:srgbClr val="FF0000"/>
                </a:solidFill>
                <a:latin typeface="Arial"/>
                <a:cs typeface="Arial"/>
              </a:rPr>
              <a:t>án:</a:t>
            </a:r>
            <a:endParaRPr sz="2400" kern="0">
              <a:solidFill>
                <a:sysClr val="windowText" lastClr="000000"/>
              </a:solidFill>
              <a:latin typeface="Arial"/>
              <a:cs typeface="Arial"/>
            </a:endParaRPr>
          </a:p>
        </p:txBody>
      </p:sp>
      <p:pic>
        <p:nvPicPr>
          <p:cNvPr id="3" name="object 3"/>
          <p:cNvPicPr/>
          <p:nvPr/>
        </p:nvPicPr>
        <p:blipFill>
          <a:blip r:embed="rId2" cstate="print"/>
          <a:stretch>
            <a:fillRect/>
          </a:stretch>
        </p:blipFill>
        <p:spPr>
          <a:xfrm>
            <a:off x="2437575" y="1663700"/>
            <a:ext cx="7269897" cy="4546600"/>
          </a:xfrm>
          <a:prstGeom prst="rect">
            <a:avLst/>
          </a:prstGeom>
        </p:spPr>
      </p:pic>
      <p:sp>
        <p:nvSpPr>
          <p:cNvPr id="4" name="object 4"/>
          <p:cNvSpPr txBox="1">
            <a:spLocks noGrp="1"/>
          </p:cNvSpPr>
          <p:nvPr>
            <p:ph type="ctrTitle"/>
          </p:nvPr>
        </p:nvSpPr>
        <p:spPr>
          <a:xfrm>
            <a:off x="2091268" y="450927"/>
            <a:ext cx="11057467" cy="412292"/>
          </a:xfrm>
          <a:prstGeom prst="rect">
            <a:avLst/>
          </a:prstGeom>
        </p:spPr>
        <p:txBody>
          <a:bodyPr vert="horz" wrap="square" lIns="0" tIns="12065" rIns="0" bIns="0" rtlCol="0">
            <a:spAutoFit/>
          </a:bodyPr>
          <a:lstStyle/>
          <a:p>
            <a:pPr marL="12700">
              <a:spcBef>
                <a:spcPts val="95"/>
              </a:spcBef>
              <a:tabLst>
                <a:tab pos="8279765" algn="l"/>
              </a:tabLst>
            </a:pPr>
            <a:r>
              <a:rPr sz="2600" dirty="0"/>
              <a:t>2.</a:t>
            </a:r>
            <a:r>
              <a:rPr sz="2600" spc="-35" dirty="0"/>
              <a:t> </a:t>
            </a:r>
            <a:r>
              <a:rPr sz="2600" dirty="0"/>
              <a:t>XÂY</a:t>
            </a:r>
            <a:r>
              <a:rPr sz="2600" spc="-100" dirty="0"/>
              <a:t> </a:t>
            </a:r>
            <a:r>
              <a:rPr sz="2600" dirty="0"/>
              <a:t>DỰNG</a:t>
            </a:r>
            <a:r>
              <a:rPr sz="2600" spc="-30" dirty="0"/>
              <a:t> </a:t>
            </a:r>
            <a:r>
              <a:rPr sz="2600" dirty="0"/>
              <a:t>ỨNG</a:t>
            </a:r>
            <a:r>
              <a:rPr sz="2600" spc="-65" dirty="0"/>
              <a:t> </a:t>
            </a:r>
            <a:r>
              <a:rPr sz="2600" dirty="0"/>
              <a:t>DỤNG</a:t>
            </a:r>
            <a:r>
              <a:rPr sz="2600" spc="-20" dirty="0"/>
              <a:t> </a:t>
            </a:r>
            <a:r>
              <a:rPr sz="2600" spc="-25" dirty="0"/>
              <a:t>WEB</a:t>
            </a:r>
            <a:r>
              <a:rPr sz="2600" dirty="0"/>
              <a:t>	</a:t>
            </a:r>
            <a:endParaRPr sz="2600"/>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7465">
              <a:lnSpc>
                <a:spcPts val="1664"/>
              </a:lnSpc>
            </a:pPr>
            <a:fld id="{81D60167-4931-47E6-BA6A-407CBD079E47}" type="slidenum">
              <a:rPr spc="-25" dirty="0">
                <a:solidFill>
                  <a:prstClr val="white"/>
                </a:solidFill>
              </a:rPr>
              <a:pPr marL="37465">
                <a:lnSpc>
                  <a:spcPts val="1664"/>
                </a:lnSpc>
              </a:pPr>
              <a:t>24</a:t>
            </a:fld>
            <a:endParaRPr spc="-25" dirty="0">
              <a:solidFill>
                <a:prstClr val="white"/>
              </a:solidFill>
            </a:endParaRPr>
          </a:p>
        </p:txBody>
      </p:sp>
      <p:sp>
        <p:nvSpPr>
          <p:cNvPr id="7" name="object 7"/>
          <p:cNvSpPr txBox="1">
            <a:spLocks noGrp="1"/>
          </p:cNvSpPr>
          <p:nvPr>
            <p:ph type="ftr" sz="quarter" idx="5"/>
          </p:nvPr>
        </p:nvSpPr>
        <p:spPr>
          <a:xfrm>
            <a:off x="2763418" y="6600176"/>
            <a:ext cx="1243964" cy="155171"/>
          </a:xfrm>
          <a:prstGeom prst="rect">
            <a:avLst/>
          </a:prstGeom>
        </p:spPr>
        <p:txBody>
          <a:bodyPr vert="horz" wrap="square" lIns="0" tIns="1270" rIns="0" bIns="0" rtlCol="0">
            <a:spAutoFit/>
          </a:bodyPr>
          <a:lstStyle/>
          <a:p>
            <a:pPr marL="12700">
              <a:spcBef>
                <a:spcPts val="10"/>
              </a:spcBef>
            </a:pPr>
            <a:endParaRPr spc="-20" dirty="0">
              <a:solidFill>
                <a:prstClr val="white"/>
              </a:solidFill>
            </a:endParaRPr>
          </a:p>
        </p:txBody>
      </p:sp>
    </p:spTree>
    <p:extLst>
      <p:ext uri="{BB962C8B-B14F-4D97-AF65-F5344CB8AC3E}">
        <p14:creationId xmlns:p14="http://schemas.microsoft.com/office/powerpoint/2010/main" val="371466113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91268" y="450927"/>
            <a:ext cx="11057467" cy="412292"/>
          </a:xfrm>
          <a:prstGeom prst="rect">
            <a:avLst/>
          </a:prstGeom>
        </p:spPr>
        <p:txBody>
          <a:bodyPr vert="horz" wrap="square" lIns="0" tIns="12065" rIns="0" bIns="0" rtlCol="0">
            <a:spAutoFit/>
          </a:bodyPr>
          <a:lstStyle/>
          <a:p>
            <a:pPr marL="12700">
              <a:spcBef>
                <a:spcPts val="95"/>
              </a:spcBef>
              <a:tabLst>
                <a:tab pos="8279765" algn="l"/>
              </a:tabLst>
            </a:pPr>
            <a:r>
              <a:rPr sz="2600" dirty="0"/>
              <a:t>2.</a:t>
            </a:r>
            <a:r>
              <a:rPr sz="2600" spc="-35" dirty="0"/>
              <a:t> </a:t>
            </a:r>
            <a:r>
              <a:rPr sz="2600" dirty="0"/>
              <a:t>XÂY</a:t>
            </a:r>
            <a:r>
              <a:rPr sz="2600" spc="-100" dirty="0"/>
              <a:t> </a:t>
            </a:r>
            <a:r>
              <a:rPr sz="2600" dirty="0"/>
              <a:t>DỰNG</a:t>
            </a:r>
            <a:r>
              <a:rPr sz="2600" spc="-30" dirty="0"/>
              <a:t> </a:t>
            </a:r>
            <a:r>
              <a:rPr sz="2600" dirty="0"/>
              <a:t>ỨNG</a:t>
            </a:r>
            <a:r>
              <a:rPr sz="2600" spc="-65" dirty="0"/>
              <a:t> </a:t>
            </a:r>
            <a:r>
              <a:rPr sz="2600" dirty="0"/>
              <a:t>DỤNG</a:t>
            </a:r>
            <a:r>
              <a:rPr sz="2600" spc="-20" dirty="0"/>
              <a:t> </a:t>
            </a:r>
            <a:r>
              <a:rPr sz="2600" spc="-25" dirty="0"/>
              <a:t>WEB</a:t>
            </a:r>
            <a:r>
              <a:rPr sz="2600" dirty="0"/>
              <a:t>	</a:t>
            </a:r>
            <a:endParaRPr sz="260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7465">
              <a:lnSpc>
                <a:spcPts val="1664"/>
              </a:lnSpc>
            </a:pPr>
            <a:fld id="{81D60167-4931-47E6-BA6A-407CBD079E47}" type="slidenum">
              <a:rPr spc="-25" dirty="0">
                <a:solidFill>
                  <a:prstClr val="white"/>
                </a:solidFill>
              </a:rPr>
              <a:pPr marL="37465">
                <a:lnSpc>
                  <a:spcPts val="1664"/>
                </a:lnSpc>
              </a:pPr>
              <a:t>25</a:t>
            </a:fld>
            <a:endParaRPr spc="-25" dirty="0">
              <a:solidFill>
                <a:prstClr val="white"/>
              </a:solidFill>
            </a:endParaRPr>
          </a:p>
        </p:txBody>
      </p:sp>
      <p:sp>
        <p:nvSpPr>
          <p:cNvPr id="6" name="object 6"/>
          <p:cNvSpPr txBox="1">
            <a:spLocks noGrp="1"/>
          </p:cNvSpPr>
          <p:nvPr>
            <p:ph type="ftr" sz="quarter" idx="5"/>
          </p:nvPr>
        </p:nvSpPr>
        <p:spPr>
          <a:xfrm>
            <a:off x="2763418" y="6600176"/>
            <a:ext cx="1243964" cy="155171"/>
          </a:xfrm>
          <a:prstGeom prst="rect">
            <a:avLst/>
          </a:prstGeom>
        </p:spPr>
        <p:txBody>
          <a:bodyPr vert="horz" wrap="square" lIns="0" tIns="1270" rIns="0" bIns="0" rtlCol="0">
            <a:spAutoFit/>
          </a:bodyPr>
          <a:lstStyle/>
          <a:p>
            <a:pPr marL="12700">
              <a:spcBef>
                <a:spcPts val="10"/>
              </a:spcBef>
            </a:pPr>
            <a:endParaRPr spc="-20" dirty="0">
              <a:solidFill>
                <a:prstClr val="white"/>
              </a:solidFill>
            </a:endParaRPr>
          </a:p>
        </p:txBody>
      </p:sp>
      <p:sp>
        <p:nvSpPr>
          <p:cNvPr id="3" name="object 3"/>
          <p:cNvSpPr txBox="1"/>
          <p:nvPr/>
        </p:nvSpPr>
        <p:spPr>
          <a:xfrm>
            <a:off x="2206245" y="1143348"/>
            <a:ext cx="8011795" cy="3818254"/>
          </a:xfrm>
          <a:prstGeom prst="rect">
            <a:avLst/>
          </a:prstGeom>
        </p:spPr>
        <p:txBody>
          <a:bodyPr vert="horz" wrap="square" lIns="0" tIns="108585" rIns="0" bIns="0" rtlCol="0">
            <a:spAutoFit/>
          </a:bodyPr>
          <a:lstStyle/>
          <a:p>
            <a:pPr marL="199390" indent="-186690">
              <a:spcBef>
                <a:spcPts val="855"/>
              </a:spcBef>
              <a:buFontTx/>
              <a:buChar char="-"/>
              <a:tabLst>
                <a:tab pos="199390" algn="l"/>
              </a:tabLst>
            </a:pPr>
            <a:r>
              <a:rPr sz="2400" b="1" kern="0" dirty="0">
                <a:solidFill>
                  <a:srgbClr val="FF0000"/>
                </a:solidFill>
                <a:latin typeface="Arial"/>
                <a:cs typeface="Arial"/>
              </a:rPr>
              <a:t>Cấu</a:t>
            </a:r>
            <a:r>
              <a:rPr sz="2400" b="1" kern="0" spc="-45" dirty="0">
                <a:solidFill>
                  <a:srgbClr val="FF0000"/>
                </a:solidFill>
                <a:latin typeface="Arial"/>
                <a:cs typeface="Arial"/>
              </a:rPr>
              <a:t> </a:t>
            </a:r>
            <a:r>
              <a:rPr sz="2400" b="1" kern="0" dirty="0">
                <a:solidFill>
                  <a:srgbClr val="FF0000"/>
                </a:solidFill>
                <a:latin typeface="Arial"/>
                <a:cs typeface="Arial"/>
              </a:rPr>
              <a:t>trúc</a:t>
            </a:r>
            <a:r>
              <a:rPr sz="2400" b="1" kern="0" spc="-10" dirty="0">
                <a:solidFill>
                  <a:srgbClr val="FF0000"/>
                </a:solidFill>
                <a:latin typeface="Arial"/>
                <a:cs typeface="Arial"/>
              </a:rPr>
              <a:t> </a:t>
            </a:r>
            <a:r>
              <a:rPr sz="2400" b="1" kern="0" dirty="0">
                <a:solidFill>
                  <a:srgbClr val="FF0000"/>
                </a:solidFill>
                <a:latin typeface="Arial"/>
                <a:cs typeface="Arial"/>
              </a:rPr>
              <a:t>của</a:t>
            </a:r>
            <a:r>
              <a:rPr sz="2400" b="1" kern="0" spc="-45" dirty="0">
                <a:solidFill>
                  <a:srgbClr val="FF0000"/>
                </a:solidFill>
                <a:latin typeface="Arial"/>
                <a:cs typeface="Arial"/>
              </a:rPr>
              <a:t> </a:t>
            </a:r>
            <a:r>
              <a:rPr sz="2400" b="1" kern="0" dirty="0">
                <a:solidFill>
                  <a:srgbClr val="FF0000"/>
                </a:solidFill>
                <a:latin typeface="Arial"/>
                <a:cs typeface="Arial"/>
              </a:rPr>
              <a:t>dự</a:t>
            </a:r>
            <a:r>
              <a:rPr sz="2400" b="1" kern="0" spc="-55" dirty="0">
                <a:solidFill>
                  <a:srgbClr val="FF0000"/>
                </a:solidFill>
                <a:latin typeface="Arial"/>
                <a:cs typeface="Arial"/>
              </a:rPr>
              <a:t> </a:t>
            </a:r>
            <a:r>
              <a:rPr sz="2400" b="1" kern="0" spc="-25" dirty="0">
                <a:solidFill>
                  <a:srgbClr val="FF0000"/>
                </a:solidFill>
                <a:latin typeface="Arial"/>
                <a:cs typeface="Arial"/>
              </a:rPr>
              <a:t>án:</a:t>
            </a:r>
            <a:endParaRPr sz="2400" kern="0">
              <a:solidFill>
                <a:sysClr val="windowText" lastClr="000000"/>
              </a:solidFill>
              <a:latin typeface="Arial"/>
              <a:cs typeface="Arial"/>
            </a:endParaRPr>
          </a:p>
          <a:p>
            <a:pPr marL="1086485" marR="5080" lvl="1" indent="-457834" algn="just">
              <a:spcBef>
                <a:spcPts val="755"/>
              </a:spcBef>
              <a:buFont typeface="Wingdings"/>
              <a:buChar char=""/>
              <a:tabLst>
                <a:tab pos="1086485" algn="l"/>
              </a:tabLst>
            </a:pPr>
            <a:r>
              <a:rPr sz="2400" kern="0" dirty="0">
                <a:solidFill>
                  <a:srgbClr val="FF0000"/>
                </a:solidFill>
                <a:latin typeface="Microsoft Sans Serif"/>
                <a:cs typeface="Microsoft Sans Serif"/>
              </a:rPr>
              <a:t>Controllers:</a:t>
            </a:r>
            <a:r>
              <a:rPr sz="2400" kern="0" spc="585" dirty="0">
                <a:solidFill>
                  <a:srgbClr val="FF0000"/>
                </a:solidFill>
                <a:latin typeface="Microsoft Sans Serif"/>
                <a:cs typeface="Microsoft Sans Serif"/>
              </a:rPr>
              <a:t> </a:t>
            </a:r>
            <a:r>
              <a:rPr sz="2400" kern="0" spc="90" dirty="0">
                <a:solidFill>
                  <a:sysClr val="windowText" lastClr="000000"/>
                </a:solidFill>
                <a:latin typeface="Microsoft Sans Serif"/>
                <a:cs typeface="Microsoft Sans Serif"/>
              </a:rPr>
              <a:t>Thư</a:t>
            </a:r>
            <a:r>
              <a:rPr sz="2400" kern="0" spc="58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mục</a:t>
            </a:r>
            <a:r>
              <a:rPr sz="2400" kern="0" spc="59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này</a:t>
            </a:r>
            <a:r>
              <a:rPr sz="2400" kern="0" spc="560" dirty="0">
                <a:solidFill>
                  <a:sysClr val="windowText" lastClr="000000"/>
                </a:solidFill>
                <a:latin typeface="Microsoft Sans Serif"/>
                <a:cs typeface="Microsoft Sans Serif"/>
              </a:rPr>
              <a:t> </a:t>
            </a:r>
            <a:r>
              <a:rPr sz="2400" kern="0" spc="65" dirty="0">
                <a:solidFill>
                  <a:sysClr val="windowText" lastClr="000000"/>
                </a:solidFill>
                <a:latin typeface="Microsoft Sans Serif"/>
                <a:cs typeface="Microsoft Sans Serif"/>
              </a:rPr>
              <a:t>chứa</a:t>
            </a:r>
            <a:r>
              <a:rPr sz="2400" kern="0" spc="57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tất</a:t>
            </a:r>
            <a:r>
              <a:rPr sz="2400" kern="0" spc="59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cả</a:t>
            </a:r>
            <a:r>
              <a:rPr sz="2400" kern="0" spc="570" dirty="0">
                <a:solidFill>
                  <a:sysClr val="windowText" lastClr="000000"/>
                </a:solidFill>
                <a:latin typeface="Microsoft Sans Serif"/>
                <a:cs typeface="Microsoft Sans Serif"/>
              </a:rPr>
              <a:t> </a:t>
            </a:r>
            <a:r>
              <a:rPr sz="2400" kern="0" spc="-10" dirty="0">
                <a:solidFill>
                  <a:sysClr val="windowText" lastClr="000000"/>
                </a:solidFill>
                <a:latin typeface="Microsoft Sans Serif"/>
                <a:cs typeface="Microsoft Sans Serif"/>
              </a:rPr>
              <a:t>controller </a:t>
            </a:r>
            <a:r>
              <a:rPr sz="2400" kern="0" dirty="0">
                <a:solidFill>
                  <a:sysClr val="windowText" lastClr="000000"/>
                </a:solidFill>
                <a:latin typeface="Microsoft Sans Serif"/>
                <a:cs typeface="Microsoft Sans Serif"/>
              </a:rPr>
              <a:t>trong</a:t>
            </a:r>
            <a:r>
              <a:rPr sz="2400" kern="0" spc="320" dirty="0">
                <a:solidFill>
                  <a:sysClr val="windowText" lastClr="000000"/>
                </a:solidFill>
                <a:latin typeface="Microsoft Sans Serif"/>
                <a:cs typeface="Microsoft Sans Serif"/>
              </a:rPr>
              <a:t> </a:t>
            </a:r>
            <a:r>
              <a:rPr sz="2400" kern="0" spc="90" dirty="0">
                <a:solidFill>
                  <a:sysClr val="windowText" lastClr="000000"/>
                </a:solidFill>
                <a:latin typeface="Microsoft Sans Serif"/>
                <a:cs typeface="Microsoft Sans Serif"/>
              </a:rPr>
              <a:t>ứng</a:t>
            </a:r>
            <a:r>
              <a:rPr sz="2400" kern="0" spc="31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dụng.</a:t>
            </a:r>
            <a:r>
              <a:rPr sz="2400" kern="0" spc="31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Các</a:t>
            </a:r>
            <a:r>
              <a:rPr sz="2400" kern="0" spc="35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Controller</a:t>
            </a:r>
            <a:r>
              <a:rPr sz="2400" kern="0" spc="29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đáp</a:t>
            </a:r>
            <a:r>
              <a:rPr sz="2400" kern="0" spc="320" dirty="0">
                <a:solidFill>
                  <a:sysClr val="windowText" lastClr="000000"/>
                </a:solidFill>
                <a:latin typeface="Microsoft Sans Serif"/>
                <a:cs typeface="Microsoft Sans Serif"/>
              </a:rPr>
              <a:t> </a:t>
            </a:r>
            <a:r>
              <a:rPr sz="2400" kern="0" spc="90" dirty="0">
                <a:solidFill>
                  <a:sysClr val="windowText" lastClr="000000"/>
                </a:solidFill>
                <a:latin typeface="Microsoft Sans Serif"/>
                <a:cs typeface="Microsoft Sans Serif"/>
              </a:rPr>
              <a:t>ứng</a:t>
            </a:r>
            <a:r>
              <a:rPr sz="2400" kern="0" spc="31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yêu</a:t>
            </a:r>
            <a:r>
              <a:rPr sz="2400" kern="0" spc="285" dirty="0">
                <a:solidFill>
                  <a:sysClr val="windowText" lastClr="000000"/>
                </a:solidFill>
                <a:latin typeface="Microsoft Sans Serif"/>
                <a:cs typeface="Microsoft Sans Serif"/>
              </a:rPr>
              <a:t> </a:t>
            </a:r>
            <a:r>
              <a:rPr sz="2400" kern="0" spc="-25" dirty="0">
                <a:solidFill>
                  <a:sysClr val="windowText" lastClr="000000"/>
                </a:solidFill>
                <a:latin typeface="Microsoft Sans Serif"/>
                <a:cs typeface="Microsoft Sans Serif"/>
              </a:rPr>
              <a:t>cầu </a:t>
            </a:r>
            <a:r>
              <a:rPr sz="2400" kern="0" dirty="0">
                <a:solidFill>
                  <a:sysClr val="windowText" lastClr="000000"/>
                </a:solidFill>
                <a:latin typeface="Microsoft Sans Serif"/>
                <a:cs typeface="Microsoft Sans Serif"/>
              </a:rPr>
              <a:t>đến</a:t>
            </a:r>
            <a:r>
              <a:rPr sz="2400" kern="0" spc="155" dirty="0">
                <a:solidFill>
                  <a:sysClr val="windowText" lastClr="000000"/>
                </a:solidFill>
                <a:latin typeface="Microsoft Sans Serif"/>
                <a:cs typeface="Microsoft Sans Serif"/>
              </a:rPr>
              <a:t> </a:t>
            </a:r>
            <a:r>
              <a:rPr sz="2400" kern="0" spc="145" dirty="0">
                <a:solidFill>
                  <a:sysClr val="windowText" lastClr="000000"/>
                </a:solidFill>
                <a:latin typeface="Microsoft Sans Serif"/>
                <a:cs typeface="Microsoft Sans Serif"/>
              </a:rPr>
              <a:t>từ</a:t>
            </a:r>
            <a:r>
              <a:rPr sz="2400" kern="0" spc="10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trình</a:t>
            </a:r>
            <a:r>
              <a:rPr sz="2400" kern="0" spc="16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duyệt,</a:t>
            </a:r>
            <a:r>
              <a:rPr sz="2400" kern="0" spc="14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quyết</a:t>
            </a:r>
            <a:r>
              <a:rPr sz="2400" kern="0" spc="18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định</a:t>
            </a:r>
            <a:r>
              <a:rPr sz="2400" kern="0" spc="12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phải</a:t>
            </a:r>
            <a:r>
              <a:rPr sz="2400" kern="0" spc="17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làm</a:t>
            </a:r>
            <a:r>
              <a:rPr sz="2400" kern="0" spc="175" dirty="0">
                <a:solidFill>
                  <a:sysClr val="windowText" lastClr="000000"/>
                </a:solidFill>
                <a:latin typeface="Microsoft Sans Serif"/>
                <a:cs typeface="Microsoft Sans Serif"/>
              </a:rPr>
              <a:t> </a:t>
            </a:r>
            <a:r>
              <a:rPr sz="2400" kern="0" spc="50" dirty="0">
                <a:solidFill>
                  <a:sysClr val="windowText" lastClr="000000"/>
                </a:solidFill>
                <a:latin typeface="Microsoft Sans Serif"/>
                <a:cs typeface="Microsoft Sans Serif"/>
              </a:rPr>
              <a:t>gì</a:t>
            </a:r>
            <a:r>
              <a:rPr sz="2400" kern="0" spc="14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và</a:t>
            </a:r>
            <a:r>
              <a:rPr sz="2400" kern="0" spc="160" dirty="0">
                <a:solidFill>
                  <a:sysClr val="windowText" lastClr="000000"/>
                </a:solidFill>
                <a:latin typeface="Microsoft Sans Serif"/>
                <a:cs typeface="Microsoft Sans Serif"/>
              </a:rPr>
              <a:t> </a:t>
            </a:r>
            <a:r>
              <a:rPr sz="2400" kern="0" spc="-20" dirty="0">
                <a:solidFill>
                  <a:sysClr val="windowText" lastClr="000000"/>
                </a:solidFill>
                <a:latin typeface="Microsoft Sans Serif"/>
                <a:cs typeface="Microsoft Sans Serif"/>
              </a:rPr>
              <a:t>phản </a:t>
            </a:r>
            <a:r>
              <a:rPr sz="2400" kern="0" dirty="0">
                <a:solidFill>
                  <a:sysClr val="windowText" lastClr="000000"/>
                </a:solidFill>
                <a:latin typeface="Microsoft Sans Serif"/>
                <a:cs typeface="Microsoft Sans Serif"/>
              </a:rPr>
              <a:t>hồi</a:t>
            </a:r>
            <a:r>
              <a:rPr sz="2400" kern="0" spc="2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kết</a:t>
            </a:r>
            <a:r>
              <a:rPr sz="2400" kern="0" spc="-45" dirty="0">
                <a:solidFill>
                  <a:sysClr val="windowText" lastClr="000000"/>
                </a:solidFill>
                <a:latin typeface="Microsoft Sans Serif"/>
                <a:cs typeface="Microsoft Sans Serif"/>
              </a:rPr>
              <a:t> </a:t>
            </a:r>
            <a:r>
              <a:rPr sz="2400" kern="0" spc="-20" dirty="0">
                <a:solidFill>
                  <a:sysClr val="windowText" lastClr="000000"/>
                </a:solidFill>
                <a:latin typeface="Microsoft Sans Serif"/>
                <a:cs typeface="Microsoft Sans Serif"/>
              </a:rPr>
              <a:t>quả.</a:t>
            </a:r>
            <a:endParaRPr sz="2400" kern="0">
              <a:solidFill>
                <a:sysClr val="windowText" lastClr="000000"/>
              </a:solidFill>
              <a:latin typeface="Microsoft Sans Serif"/>
              <a:cs typeface="Microsoft Sans Serif"/>
            </a:endParaRPr>
          </a:p>
          <a:p>
            <a:pPr marL="1086485" marR="5715" lvl="1" indent="-457834" algn="just">
              <a:spcBef>
                <a:spcPts val="1200"/>
              </a:spcBef>
              <a:buFont typeface="Wingdings"/>
              <a:buChar char=""/>
              <a:tabLst>
                <a:tab pos="1086485" algn="l"/>
              </a:tabLst>
            </a:pPr>
            <a:r>
              <a:rPr sz="2400" kern="0" dirty="0">
                <a:solidFill>
                  <a:srgbClr val="FF0000"/>
                </a:solidFill>
                <a:latin typeface="Microsoft Sans Serif"/>
                <a:cs typeface="Microsoft Sans Serif"/>
              </a:rPr>
              <a:t>Models:</a:t>
            </a:r>
            <a:r>
              <a:rPr sz="2400" kern="0" spc="165" dirty="0">
                <a:solidFill>
                  <a:srgbClr val="FF0000"/>
                </a:solidFill>
                <a:latin typeface="Microsoft Sans Serif"/>
                <a:cs typeface="Microsoft Sans Serif"/>
              </a:rPr>
              <a:t> </a:t>
            </a:r>
            <a:r>
              <a:rPr sz="2400" kern="0" dirty="0">
                <a:solidFill>
                  <a:sysClr val="windowText" lastClr="000000"/>
                </a:solidFill>
                <a:latin typeface="Microsoft Sans Serif"/>
                <a:cs typeface="Microsoft Sans Serif"/>
              </a:rPr>
              <a:t>Các</a:t>
            </a:r>
            <a:r>
              <a:rPr sz="2400" kern="0" spc="140" dirty="0">
                <a:solidFill>
                  <a:sysClr val="windowText" lastClr="000000"/>
                </a:solidFill>
                <a:latin typeface="Microsoft Sans Serif"/>
                <a:cs typeface="Microsoft Sans Serif"/>
              </a:rPr>
              <a:t> </a:t>
            </a:r>
            <a:r>
              <a:rPr sz="2400" kern="0" spc="70" dirty="0">
                <a:solidFill>
                  <a:sysClr val="windowText" lastClr="000000"/>
                </a:solidFill>
                <a:latin typeface="Microsoft Sans Serif"/>
                <a:cs typeface="Microsoft Sans Serif"/>
              </a:rPr>
              <a:t>lớp</a:t>
            </a:r>
            <a:r>
              <a:rPr sz="2400" kern="0" spc="114"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mô</a:t>
            </a:r>
            <a:r>
              <a:rPr sz="2400" kern="0" spc="11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hình</a:t>
            </a:r>
            <a:r>
              <a:rPr sz="2400" kern="0" spc="145" dirty="0">
                <a:solidFill>
                  <a:sysClr val="windowText" lastClr="000000"/>
                </a:solidFill>
                <a:latin typeface="Microsoft Sans Serif"/>
                <a:cs typeface="Microsoft Sans Serif"/>
              </a:rPr>
              <a:t> </a:t>
            </a:r>
            <a:r>
              <a:rPr sz="2400" kern="0" spc="125" dirty="0">
                <a:solidFill>
                  <a:sysClr val="windowText" lastClr="000000"/>
                </a:solidFill>
                <a:latin typeface="Microsoft Sans Serif"/>
                <a:cs typeface="Microsoft Sans Serif"/>
              </a:rPr>
              <a:t>dữ</a:t>
            </a:r>
            <a:r>
              <a:rPr sz="2400" kern="0" spc="16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liệu</a:t>
            </a:r>
            <a:r>
              <a:rPr sz="2400" kern="0" spc="110" dirty="0">
                <a:solidFill>
                  <a:sysClr val="windowText" lastClr="000000"/>
                </a:solidFill>
                <a:latin typeface="Microsoft Sans Serif"/>
                <a:cs typeface="Microsoft Sans Serif"/>
              </a:rPr>
              <a:t> </a:t>
            </a:r>
            <a:r>
              <a:rPr sz="2400" kern="0" spc="120" dirty="0">
                <a:solidFill>
                  <a:sysClr val="windowText" lastClr="000000"/>
                </a:solidFill>
                <a:latin typeface="Microsoft Sans Serif"/>
                <a:cs typeface="Microsoft Sans Serif"/>
              </a:rPr>
              <a:t>được</a:t>
            </a:r>
            <a:r>
              <a:rPr sz="2400" kern="0" spc="14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tổ</a:t>
            </a:r>
            <a:r>
              <a:rPr sz="2400" kern="0" spc="105" dirty="0">
                <a:solidFill>
                  <a:sysClr val="windowText" lastClr="000000"/>
                </a:solidFill>
                <a:latin typeface="Microsoft Sans Serif"/>
                <a:cs typeface="Microsoft Sans Serif"/>
              </a:rPr>
              <a:t> </a:t>
            </a:r>
            <a:r>
              <a:rPr sz="2400" kern="0" spc="55" dirty="0">
                <a:solidFill>
                  <a:sysClr val="windowText" lastClr="000000"/>
                </a:solidFill>
                <a:latin typeface="Microsoft Sans Serif"/>
                <a:cs typeface="Microsoft Sans Serif"/>
              </a:rPr>
              <a:t>chức</a:t>
            </a:r>
            <a:r>
              <a:rPr sz="2400" kern="0" spc="180" dirty="0">
                <a:solidFill>
                  <a:sysClr val="windowText" lastClr="000000"/>
                </a:solidFill>
                <a:latin typeface="Microsoft Sans Serif"/>
                <a:cs typeface="Microsoft Sans Serif"/>
              </a:rPr>
              <a:t> </a:t>
            </a:r>
            <a:r>
              <a:rPr sz="2400" kern="0" spc="-25" dirty="0">
                <a:solidFill>
                  <a:sysClr val="windowText" lastClr="000000"/>
                </a:solidFill>
                <a:latin typeface="Microsoft Sans Serif"/>
                <a:cs typeface="Microsoft Sans Serif"/>
              </a:rPr>
              <a:t>để </a:t>
            </a:r>
            <a:r>
              <a:rPr sz="2400" kern="0" dirty="0">
                <a:solidFill>
                  <a:sysClr val="windowText" lastClr="000000"/>
                </a:solidFill>
                <a:latin typeface="Microsoft Sans Serif"/>
                <a:cs typeface="Microsoft Sans Serif"/>
              </a:rPr>
              <a:t>nắm</a:t>
            </a:r>
            <a:r>
              <a:rPr sz="2400" kern="0" spc="10" dirty="0">
                <a:solidFill>
                  <a:sysClr val="windowText" lastClr="000000"/>
                </a:solidFill>
                <a:latin typeface="Microsoft Sans Serif"/>
                <a:cs typeface="Microsoft Sans Serif"/>
              </a:rPr>
              <a:t> </a:t>
            </a:r>
            <a:r>
              <a:rPr sz="2400" kern="0" spc="75" dirty="0">
                <a:solidFill>
                  <a:sysClr val="windowText" lastClr="000000"/>
                </a:solidFill>
                <a:latin typeface="Microsoft Sans Serif"/>
                <a:cs typeface="Microsoft Sans Serif"/>
              </a:rPr>
              <a:t>giữ</a:t>
            </a:r>
            <a:r>
              <a:rPr sz="2400" kern="0" spc="5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và</a:t>
            </a:r>
            <a:r>
              <a:rPr sz="2400" kern="0" spc="-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thao</a:t>
            </a:r>
            <a:r>
              <a:rPr sz="2400" kern="0" spc="3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tác</a:t>
            </a:r>
            <a:r>
              <a:rPr sz="2400" kern="0" spc="-15" dirty="0">
                <a:solidFill>
                  <a:sysClr val="windowText" lastClr="000000"/>
                </a:solidFill>
                <a:latin typeface="Microsoft Sans Serif"/>
                <a:cs typeface="Microsoft Sans Serif"/>
              </a:rPr>
              <a:t> </a:t>
            </a:r>
            <a:r>
              <a:rPr sz="2400" kern="0" spc="125" dirty="0">
                <a:solidFill>
                  <a:sysClr val="windowText" lastClr="000000"/>
                </a:solidFill>
                <a:latin typeface="Microsoft Sans Serif"/>
                <a:cs typeface="Microsoft Sans Serif"/>
              </a:rPr>
              <a:t>dữ</a:t>
            </a:r>
            <a:r>
              <a:rPr sz="2400" kern="0" spc="10" dirty="0">
                <a:solidFill>
                  <a:sysClr val="windowText" lastClr="000000"/>
                </a:solidFill>
                <a:latin typeface="Microsoft Sans Serif"/>
                <a:cs typeface="Microsoft Sans Serif"/>
              </a:rPr>
              <a:t> </a:t>
            </a:r>
            <a:r>
              <a:rPr sz="2400" kern="0" spc="-20" dirty="0">
                <a:solidFill>
                  <a:sysClr val="windowText" lastClr="000000"/>
                </a:solidFill>
                <a:latin typeface="Microsoft Sans Serif"/>
                <a:cs typeface="Microsoft Sans Serif"/>
              </a:rPr>
              <a:t>liệu</a:t>
            </a:r>
            <a:endParaRPr sz="2400" kern="0">
              <a:solidFill>
                <a:sysClr val="windowText" lastClr="000000"/>
              </a:solidFill>
              <a:latin typeface="Microsoft Sans Serif"/>
              <a:cs typeface="Microsoft Sans Serif"/>
            </a:endParaRPr>
          </a:p>
          <a:p>
            <a:pPr marL="1086485" marR="10795" lvl="1" indent="-457834" algn="just">
              <a:spcBef>
                <a:spcPts val="1230"/>
              </a:spcBef>
              <a:buFont typeface="Wingdings"/>
              <a:buChar char=""/>
              <a:tabLst>
                <a:tab pos="1086485" algn="l"/>
              </a:tabLst>
            </a:pPr>
            <a:r>
              <a:rPr sz="2400" kern="0" dirty="0">
                <a:solidFill>
                  <a:srgbClr val="FF0000"/>
                </a:solidFill>
                <a:latin typeface="Microsoft Sans Serif"/>
                <a:cs typeface="Microsoft Sans Serif"/>
              </a:rPr>
              <a:t>Views:</a:t>
            </a:r>
            <a:r>
              <a:rPr sz="2400" kern="0" spc="235" dirty="0">
                <a:solidFill>
                  <a:srgbClr val="FF0000"/>
                </a:solidFill>
                <a:latin typeface="Microsoft Sans Serif"/>
                <a:cs typeface="Microsoft Sans Serif"/>
              </a:rPr>
              <a:t> </a:t>
            </a:r>
            <a:r>
              <a:rPr sz="2400" kern="0" dirty="0">
                <a:solidFill>
                  <a:sysClr val="windowText" lastClr="000000"/>
                </a:solidFill>
                <a:latin typeface="Microsoft Sans Serif"/>
                <a:cs typeface="Microsoft Sans Serif"/>
              </a:rPr>
              <a:t>View</a:t>
            </a:r>
            <a:r>
              <a:rPr sz="2400" kern="0" spc="215" dirty="0">
                <a:solidFill>
                  <a:sysClr val="windowText" lastClr="000000"/>
                </a:solidFill>
                <a:latin typeface="Microsoft Sans Serif"/>
                <a:cs typeface="Microsoft Sans Serif"/>
              </a:rPr>
              <a:t> </a:t>
            </a:r>
            <a:r>
              <a:rPr sz="2400" kern="0" spc="65" dirty="0">
                <a:solidFill>
                  <a:sysClr val="windowText" lastClr="000000"/>
                </a:solidFill>
                <a:latin typeface="Microsoft Sans Serif"/>
                <a:cs typeface="Microsoft Sans Serif"/>
              </a:rPr>
              <a:t>chứa</a:t>
            </a:r>
            <a:r>
              <a:rPr sz="2400" kern="0" spc="26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các</a:t>
            </a:r>
            <a:r>
              <a:rPr sz="2400" kern="0" spc="25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mẫu</a:t>
            </a:r>
            <a:r>
              <a:rPr sz="2400" kern="0" spc="22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giao</a:t>
            </a:r>
            <a:r>
              <a:rPr sz="2400" kern="0" spc="25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diện</a:t>
            </a:r>
            <a:r>
              <a:rPr sz="2400" kern="0" spc="250" dirty="0">
                <a:solidFill>
                  <a:sysClr val="windowText" lastClr="000000"/>
                </a:solidFill>
                <a:latin typeface="Microsoft Sans Serif"/>
                <a:cs typeface="Microsoft Sans Serif"/>
              </a:rPr>
              <a:t> </a:t>
            </a:r>
            <a:r>
              <a:rPr sz="2400" kern="0" spc="95" dirty="0">
                <a:solidFill>
                  <a:sysClr val="windowText" lastClr="000000"/>
                </a:solidFill>
                <a:latin typeface="Microsoft Sans Serif"/>
                <a:cs typeface="Microsoft Sans Serif"/>
              </a:rPr>
              <a:t>người</a:t>
            </a:r>
            <a:r>
              <a:rPr sz="2400" kern="0" spc="270" dirty="0">
                <a:solidFill>
                  <a:sysClr val="windowText" lastClr="000000"/>
                </a:solidFill>
                <a:latin typeface="Microsoft Sans Serif"/>
                <a:cs typeface="Microsoft Sans Serif"/>
              </a:rPr>
              <a:t> </a:t>
            </a:r>
            <a:r>
              <a:rPr sz="2400" kern="0" spc="-20" dirty="0">
                <a:solidFill>
                  <a:sysClr val="windowText" lastClr="000000"/>
                </a:solidFill>
                <a:latin typeface="Microsoft Sans Serif"/>
                <a:cs typeface="Microsoft Sans Serif"/>
              </a:rPr>
              <a:t>dùng </a:t>
            </a:r>
            <a:r>
              <a:rPr sz="2400" kern="0" dirty="0">
                <a:solidFill>
                  <a:sysClr val="windowText" lastClr="000000"/>
                </a:solidFill>
                <a:latin typeface="Microsoft Sans Serif"/>
                <a:cs typeface="Microsoft Sans Serif"/>
              </a:rPr>
              <a:t>của</a:t>
            </a:r>
            <a:r>
              <a:rPr sz="2400" kern="0" spc="5" dirty="0">
                <a:solidFill>
                  <a:sysClr val="windowText" lastClr="000000"/>
                </a:solidFill>
                <a:latin typeface="Microsoft Sans Serif"/>
                <a:cs typeface="Microsoft Sans Serif"/>
              </a:rPr>
              <a:t> </a:t>
            </a:r>
            <a:r>
              <a:rPr sz="2400" kern="0" spc="90" dirty="0">
                <a:solidFill>
                  <a:sysClr val="windowText" lastClr="000000"/>
                </a:solidFill>
                <a:latin typeface="Microsoft Sans Serif"/>
                <a:cs typeface="Microsoft Sans Serif"/>
              </a:rPr>
              <a:t>ứng</a:t>
            </a:r>
            <a:r>
              <a:rPr sz="2400" kern="0" spc="35" dirty="0">
                <a:solidFill>
                  <a:sysClr val="windowText" lastClr="000000"/>
                </a:solidFill>
                <a:latin typeface="Microsoft Sans Serif"/>
                <a:cs typeface="Microsoft Sans Serif"/>
              </a:rPr>
              <a:t> </a:t>
            </a:r>
            <a:r>
              <a:rPr sz="2400" kern="0" spc="-20" dirty="0">
                <a:solidFill>
                  <a:sysClr val="windowText" lastClr="000000"/>
                </a:solidFill>
                <a:latin typeface="Microsoft Sans Serif"/>
                <a:cs typeface="Microsoft Sans Serif"/>
              </a:rPr>
              <a:t>dụng</a:t>
            </a:r>
            <a:endParaRPr sz="2400" kern="0">
              <a:solidFill>
                <a:sysClr val="windowText" lastClr="000000"/>
              </a:solidFill>
              <a:latin typeface="Microsoft Sans Serif"/>
              <a:cs typeface="Microsoft Sans Serif"/>
            </a:endParaRPr>
          </a:p>
        </p:txBody>
      </p:sp>
    </p:spTree>
    <p:extLst>
      <p:ext uri="{BB962C8B-B14F-4D97-AF65-F5344CB8AC3E}">
        <p14:creationId xmlns:p14="http://schemas.microsoft.com/office/powerpoint/2010/main" val="327700363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91268" y="450927"/>
            <a:ext cx="11057467" cy="412292"/>
          </a:xfrm>
          <a:prstGeom prst="rect">
            <a:avLst/>
          </a:prstGeom>
        </p:spPr>
        <p:txBody>
          <a:bodyPr vert="horz" wrap="square" lIns="0" tIns="12065" rIns="0" bIns="0" rtlCol="0">
            <a:spAutoFit/>
          </a:bodyPr>
          <a:lstStyle/>
          <a:p>
            <a:pPr marL="12700">
              <a:spcBef>
                <a:spcPts val="95"/>
              </a:spcBef>
              <a:tabLst>
                <a:tab pos="8279765" algn="l"/>
              </a:tabLst>
            </a:pPr>
            <a:r>
              <a:rPr sz="2600" dirty="0"/>
              <a:t>2.</a:t>
            </a:r>
            <a:r>
              <a:rPr sz="2600" spc="-35" dirty="0"/>
              <a:t> </a:t>
            </a:r>
            <a:r>
              <a:rPr sz="2600" dirty="0"/>
              <a:t>XÂY</a:t>
            </a:r>
            <a:r>
              <a:rPr sz="2600" spc="-100" dirty="0"/>
              <a:t> </a:t>
            </a:r>
            <a:r>
              <a:rPr sz="2600" dirty="0"/>
              <a:t>DỰNG</a:t>
            </a:r>
            <a:r>
              <a:rPr sz="2600" spc="-30" dirty="0"/>
              <a:t> </a:t>
            </a:r>
            <a:r>
              <a:rPr sz="2600" dirty="0"/>
              <a:t>ỨNG</a:t>
            </a:r>
            <a:r>
              <a:rPr sz="2600" spc="-65" dirty="0"/>
              <a:t> </a:t>
            </a:r>
            <a:r>
              <a:rPr sz="2600" dirty="0"/>
              <a:t>DỤNG</a:t>
            </a:r>
            <a:r>
              <a:rPr sz="2600" spc="-20" dirty="0"/>
              <a:t> </a:t>
            </a:r>
            <a:r>
              <a:rPr sz="2600" spc="-25" dirty="0"/>
              <a:t>WEB</a:t>
            </a:r>
            <a:r>
              <a:rPr sz="2600" dirty="0"/>
              <a:t>	</a:t>
            </a:r>
            <a:endParaRPr sz="2600"/>
          </a:p>
        </p:txBody>
      </p:sp>
      <p:sp>
        <p:nvSpPr>
          <p:cNvPr id="4" name="object 4"/>
          <p:cNvSpPr txBox="1"/>
          <p:nvPr/>
        </p:nvSpPr>
        <p:spPr>
          <a:xfrm>
            <a:off x="2763419" y="6152580"/>
            <a:ext cx="2492375" cy="616585"/>
          </a:xfrm>
          <a:prstGeom prst="rect">
            <a:avLst/>
          </a:prstGeom>
        </p:spPr>
        <p:txBody>
          <a:bodyPr vert="horz" wrap="square" lIns="0" tIns="0" rIns="0" bIns="0" rtlCol="0">
            <a:spAutoFit/>
          </a:bodyPr>
          <a:lstStyle/>
          <a:p>
            <a:pPr marL="528955">
              <a:lnSpc>
                <a:spcPts val="2765"/>
              </a:lnSpc>
            </a:pPr>
            <a:r>
              <a:rPr sz="2400" kern="0" spc="90" dirty="0">
                <a:solidFill>
                  <a:sysClr val="windowText" lastClr="000000"/>
                </a:solidFill>
                <a:latin typeface="Microsoft Sans Serif"/>
                <a:cs typeface="Microsoft Sans Serif"/>
              </a:rPr>
              <a:t>ứng</a:t>
            </a:r>
            <a:r>
              <a:rPr sz="2400" kern="0" spc="-3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dụng</a:t>
            </a:r>
            <a:r>
              <a:rPr sz="2400" kern="0" spc="50" dirty="0">
                <a:solidFill>
                  <a:sysClr val="windowText" lastClr="000000"/>
                </a:solidFill>
                <a:latin typeface="Microsoft Sans Serif"/>
                <a:cs typeface="Microsoft Sans Serif"/>
              </a:rPr>
              <a:t> </a:t>
            </a:r>
            <a:r>
              <a:rPr sz="2400" kern="0" spc="-25" dirty="0">
                <a:solidFill>
                  <a:sysClr val="windowText" lastClr="000000"/>
                </a:solidFill>
                <a:latin typeface="Microsoft Sans Serif"/>
                <a:cs typeface="Microsoft Sans Serif"/>
              </a:rPr>
              <a:t>web</a:t>
            </a:r>
            <a:endParaRPr sz="2400" kern="0">
              <a:solidFill>
                <a:sysClr val="windowText" lastClr="000000"/>
              </a:solidFill>
              <a:latin typeface="Microsoft Sans Serif"/>
              <a:cs typeface="Microsoft Sans Serif"/>
            </a:endParaRPr>
          </a:p>
          <a:p>
            <a:pPr marL="12700">
              <a:spcBef>
                <a:spcPts val="770"/>
              </a:spcBef>
            </a:pPr>
            <a:endParaRPr sz="1000" kern="0">
              <a:solidFill>
                <a:sysClr val="windowText" lastClr="000000"/>
              </a:solidFill>
              <a:latin typeface="Microsoft Sans Serif"/>
              <a:cs typeface="Microsoft Sans Serif"/>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solidFill>
                  <a:prstClr val="white"/>
                </a:solidFill>
              </a:rPr>
              <a:pPr marL="38100">
                <a:lnSpc>
                  <a:spcPts val="1664"/>
                </a:lnSpc>
              </a:pPr>
              <a:t>26</a:t>
            </a:fld>
            <a:endParaRPr spc="-25" dirty="0">
              <a:solidFill>
                <a:prstClr val="white"/>
              </a:solidFill>
            </a:endParaRPr>
          </a:p>
        </p:txBody>
      </p:sp>
      <p:sp>
        <p:nvSpPr>
          <p:cNvPr id="3" name="object 3"/>
          <p:cNvSpPr txBox="1"/>
          <p:nvPr/>
        </p:nvSpPr>
        <p:spPr>
          <a:xfrm>
            <a:off x="2206245" y="1143348"/>
            <a:ext cx="8013065" cy="5044330"/>
          </a:xfrm>
          <a:prstGeom prst="rect">
            <a:avLst/>
          </a:prstGeom>
        </p:spPr>
        <p:txBody>
          <a:bodyPr vert="horz" wrap="square" lIns="0" tIns="108585" rIns="0" bIns="0" rtlCol="0">
            <a:spAutoFit/>
          </a:bodyPr>
          <a:lstStyle/>
          <a:p>
            <a:pPr marL="199390" indent="-186690">
              <a:spcBef>
                <a:spcPts val="855"/>
              </a:spcBef>
              <a:buFontTx/>
              <a:buChar char="-"/>
              <a:tabLst>
                <a:tab pos="199390" algn="l"/>
              </a:tabLst>
            </a:pPr>
            <a:r>
              <a:rPr sz="2400" b="1" kern="0" dirty="0">
                <a:solidFill>
                  <a:srgbClr val="FF0000"/>
                </a:solidFill>
                <a:latin typeface="Arial"/>
                <a:cs typeface="Arial"/>
              </a:rPr>
              <a:t>Cấu</a:t>
            </a:r>
            <a:r>
              <a:rPr sz="2400" b="1" kern="0" spc="-45" dirty="0">
                <a:solidFill>
                  <a:srgbClr val="FF0000"/>
                </a:solidFill>
                <a:latin typeface="Arial"/>
                <a:cs typeface="Arial"/>
              </a:rPr>
              <a:t> </a:t>
            </a:r>
            <a:r>
              <a:rPr sz="2400" b="1" kern="0" dirty="0">
                <a:solidFill>
                  <a:srgbClr val="FF0000"/>
                </a:solidFill>
                <a:latin typeface="Arial"/>
                <a:cs typeface="Arial"/>
              </a:rPr>
              <a:t>trúc</a:t>
            </a:r>
            <a:r>
              <a:rPr sz="2400" b="1" kern="0" spc="-10" dirty="0">
                <a:solidFill>
                  <a:srgbClr val="FF0000"/>
                </a:solidFill>
                <a:latin typeface="Arial"/>
                <a:cs typeface="Arial"/>
              </a:rPr>
              <a:t> </a:t>
            </a:r>
            <a:r>
              <a:rPr sz="2400" b="1" kern="0" dirty="0">
                <a:solidFill>
                  <a:srgbClr val="FF0000"/>
                </a:solidFill>
                <a:latin typeface="Arial"/>
                <a:cs typeface="Arial"/>
              </a:rPr>
              <a:t>của</a:t>
            </a:r>
            <a:r>
              <a:rPr sz="2400" b="1" kern="0" spc="-45" dirty="0">
                <a:solidFill>
                  <a:srgbClr val="FF0000"/>
                </a:solidFill>
                <a:latin typeface="Arial"/>
                <a:cs typeface="Arial"/>
              </a:rPr>
              <a:t> </a:t>
            </a:r>
            <a:r>
              <a:rPr sz="2400" b="1" kern="0" dirty="0">
                <a:solidFill>
                  <a:srgbClr val="FF0000"/>
                </a:solidFill>
                <a:latin typeface="Arial"/>
                <a:cs typeface="Arial"/>
              </a:rPr>
              <a:t>dự</a:t>
            </a:r>
            <a:r>
              <a:rPr sz="2400" b="1" kern="0" spc="-55" dirty="0">
                <a:solidFill>
                  <a:srgbClr val="FF0000"/>
                </a:solidFill>
                <a:latin typeface="Arial"/>
                <a:cs typeface="Arial"/>
              </a:rPr>
              <a:t> </a:t>
            </a:r>
            <a:r>
              <a:rPr sz="2400" b="1" kern="0" spc="-25" dirty="0">
                <a:solidFill>
                  <a:srgbClr val="FF0000"/>
                </a:solidFill>
                <a:latin typeface="Arial"/>
                <a:cs typeface="Arial"/>
              </a:rPr>
              <a:t>án:</a:t>
            </a:r>
            <a:endParaRPr sz="2400" kern="0">
              <a:solidFill>
                <a:sysClr val="windowText" lastClr="000000"/>
              </a:solidFill>
              <a:latin typeface="Arial"/>
              <a:cs typeface="Arial"/>
            </a:endParaRPr>
          </a:p>
          <a:p>
            <a:pPr marL="1085850" lvl="1" indent="-457200">
              <a:spcBef>
                <a:spcPts val="755"/>
              </a:spcBef>
              <a:buFont typeface="Wingdings"/>
              <a:buChar char=""/>
              <a:tabLst>
                <a:tab pos="1085850" algn="l"/>
              </a:tabLst>
            </a:pPr>
            <a:r>
              <a:rPr sz="2400" kern="0" dirty="0">
                <a:solidFill>
                  <a:srgbClr val="FF0000"/>
                </a:solidFill>
                <a:latin typeface="Microsoft Sans Serif"/>
                <a:cs typeface="Microsoft Sans Serif"/>
              </a:rPr>
              <a:t>App_Data</a:t>
            </a:r>
            <a:r>
              <a:rPr sz="2400" kern="0">
                <a:solidFill>
                  <a:sysClr val="windowText" lastClr="000000"/>
                </a:solidFill>
                <a:latin typeface="Microsoft Sans Serif"/>
                <a:cs typeface="Microsoft Sans Serif"/>
              </a:rPr>
              <a:t>:</a:t>
            </a:r>
            <a:r>
              <a:rPr sz="2400" kern="0" spc="10">
                <a:solidFill>
                  <a:sysClr val="windowText" lastClr="000000"/>
                </a:solidFill>
                <a:latin typeface="Microsoft Sans Serif"/>
                <a:cs typeface="Microsoft Sans Serif"/>
              </a:rPr>
              <a:t> </a:t>
            </a:r>
            <a:r>
              <a:rPr lang="en-US" sz="2400" kern="0" spc="10">
                <a:solidFill>
                  <a:sysClr val="windowText" lastClr="000000"/>
                </a:solidFill>
                <a:latin typeface="Microsoft Sans Serif"/>
                <a:cs typeface="Microsoft Sans Serif"/>
              </a:rPr>
              <a:t>C</a:t>
            </a:r>
            <a:r>
              <a:rPr sz="2400" kern="0" spc="80">
                <a:solidFill>
                  <a:sysClr val="windowText" lastClr="000000"/>
                </a:solidFill>
                <a:latin typeface="Microsoft Sans Serif"/>
                <a:cs typeface="Microsoft Sans Serif"/>
              </a:rPr>
              <a:t>hứa</a:t>
            </a:r>
            <a:r>
              <a:rPr sz="2400" kern="0" spc="-5">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các</a:t>
            </a:r>
            <a:r>
              <a:rPr sz="2400" kern="0" spc="-1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file</a:t>
            </a:r>
            <a:r>
              <a:rPr sz="2400" kern="0" spc="-5" dirty="0">
                <a:solidFill>
                  <a:sysClr val="windowText" lastClr="000000"/>
                </a:solidFill>
                <a:latin typeface="Microsoft Sans Serif"/>
                <a:cs typeface="Microsoft Sans Serif"/>
              </a:rPr>
              <a:t> </a:t>
            </a:r>
            <a:r>
              <a:rPr sz="2400" kern="0" spc="125" dirty="0">
                <a:solidFill>
                  <a:sysClr val="windowText" lastClr="000000"/>
                </a:solidFill>
                <a:latin typeface="Microsoft Sans Serif"/>
                <a:cs typeface="Microsoft Sans Serif"/>
              </a:rPr>
              <a:t>dữ</a:t>
            </a:r>
            <a:r>
              <a:rPr sz="2400" kern="0" spc="45" dirty="0">
                <a:solidFill>
                  <a:sysClr val="windowText" lastClr="000000"/>
                </a:solidFill>
                <a:latin typeface="Microsoft Sans Serif"/>
                <a:cs typeface="Microsoft Sans Serif"/>
              </a:rPr>
              <a:t> </a:t>
            </a:r>
            <a:r>
              <a:rPr sz="2400" kern="0" spc="120" dirty="0">
                <a:solidFill>
                  <a:sysClr val="windowText" lastClr="000000"/>
                </a:solidFill>
                <a:latin typeface="Microsoft Sans Serif"/>
                <a:cs typeface="Microsoft Sans Serif"/>
              </a:rPr>
              <a:t>cơ</a:t>
            </a:r>
            <a:r>
              <a:rPr sz="2400" kern="0" spc="-35" dirty="0">
                <a:solidFill>
                  <a:sysClr val="windowText" lastClr="000000"/>
                </a:solidFill>
                <a:latin typeface="Microsoft Sans Serif"/>
                <a:cs typeface="Microsoft Sans Serif"/>
              </a:rPr>
              <a:t> </a:t>
            </a:r>
            <a:r>
              <a:rPr sz="2400" kern="0" spc="120" dirty="0">
                <a:solidFill>
                  <a:sysClr val="windowText" lastClr="000000"/>
                </a:solidFill>
                <a:latin typeface="Microsoft Sans Serif"/>
                <a:cs typeface="Microsoft Sans Serif"/>
              </a:rPr>
              <a:t>sở</a:t>
            </a:r>
            <a:r>
              <a:rPr sz="2400" kern="0" dirty="0">
                <a:solidFill>
                  <a:sysClr val="windowText" lastClr="000000"/>
                </a:solidFill>
                <a:latin typeface="Microsoft Sans Serif"/>
                <a:cs typeface="Microsoft Sans Serif"/>
              </a:rPr>
              <a:t> liệu</a:t>
            </a:r>
            <a:r>
              <a:rPr sz="2400" kern="0" spc="-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(nếu</a:t>
            </a:r>
            <a:r>
              <a:rPr sz="2400" kern="0" spc="30" dirty="0">
                <a:solidFill>
                  <a:sysClr val="windowText" lastClr="000000"/>
                </a:solidFill>
                <a:latin typeface="Microsoft Sans Serif"/>
                <a:cs typeface="Microsoft Sans Serif"/>
              </a:rPr>
              <a:t> </a:t>
            </a:r>
            <a:r>
              <a:rPr sz="2400" kern="0" spc="-25" dirty="0">
                <a:solidFill>
                  <a:sysClr val="windowText" lastClr="000000"/>
                </a:solidFill>
                <a:latin typeface="Microsoft Sans Serif"/>
                <a:cs typeface="Microsoft Sans Serif"/>
              </a:rPr>
              <a:t>có)</a:t>
            </a:r>
            <a:endParaRPr sz="2400" kern="0">
              <a:solidFill>
                <a:sysClr val="windowText" lastClr="000000"/>
              </a:solidFill>
              <a:latin typeface="Microsoft Sans Serif"/>
              <a:cs typeface="Microsoft Sans Serif"/>
            </a:endParaRPr>
          </a:p>
          <a:p>
            <a:pPr marL="1086485" marR="5080" lvl="1" indent="-457834">
              <a:spcBef>
                <a:spcPts val="1190"/>
              </a:spcBef>
              <a:buFont typeface="Wingdings"/>
              <a:buChar char=""/>
              <a:tabLst>
                <a:tab pos="1086485" algn="l"/>
                <a:tab pos="2659380" algn="l"/>
                <a:tab pos="3556000" algn="l"/>
                <a:tab pos="4123690" algn="l"/>
                <a:tab pos="4979035" algn="l"/>
                <a:tab pos="6391910" algn="l"/>
                <a:tab pos="7453630" algn="l"/>
              </a:tabLst>
            </a:pPr>
            <a:r>
              <a:rPr sz="2400" kern="0" spc="-10" dirty="0">
                <a:solidFill>
                  <a:srgbClr val="FF0000"/>
                </a:solidFill>
                <a:latin typeface="Microsoft Sans Serif"/>
                <a:cs typeface="Microsoft Sans Serif"/>
              </a:rPr>
              <a:t>App_Start</a:t>
            </a:r>
            <a:r>
              <a:rPr sz="2400" kern="0" spc="-10" dirty="0">
                <a:solidFill>
                  <a:sysClr val="windowText" lastClr="000000"/>
                </a:solidFill>
                <a:latin typeface="Microsoft Sans Serif"/>
                <a:cs typeface="Microsoft Sans Serif"/>
              </a:rPr>
              <a:t>:</a:t>
            </a:r>
            <a:r>
              <a:rPr sz="2400" kern="0" dirty="0">
                <a:solidFill>
                  <a:sysClr val="windowText" lastClr="000000"/>
                </a:solidFill>
                <a:latin typeface="Microsoft Sans Serif"/>
                <a:cs typeface="Microsoft Sans Serif"/>
              </a:rPr>
              <a:t>	</a:t>
            </a:r>
            <a:r>
              <a:rPr sz="2400" kern="0" spc="35" dirty="0">
                <a:solidFill>
                  <a:sysClr val="windowText" lastClr="000000"/>
                </a:solidFill>
                <a:latin typeface="Microsoft Sans Serif"/>
                <a:cs typeface="Microsoft Sans Serif"/>
              </a:rPr>
              <a:t>Chứa</a:t>
            </a:r>
            <a:r>
              <a:rPr sz="2400" kern="0" dirty="0">
                <a:solidFill>
                  <a:sysClr val="windowText" lastClr="000000"/>
                </a:solidFill>
                <a:latin typeface="Microsoft Sans Serif"/>
                <a:cs typeface="Microsoft Sans Serif"/>
              </a:rPr>
              <a:t>	</a:t>
            </a:r>
            <a:r>
              <a:rPr sz="2400" kern="0" spc="45" dirty="0">
                <a:solidFill>
                  <a:sysClr val="windowText" lastClr="000000"/>
                </a:solidFill>
                <a:latin typeface="Microsoft Sans Serif"/>
                <a:cs typeface="Microsoft Sans Serif"/>
              </a:rPr>
              <a:t>lớp</a:t>
            </a:r>
            <a:r>
              <a:rPr sz="2400" kern="0" dirty="0">
                <a:solidFill>
                  <a:sysClr val="windowText" lastClr="000000"/>
                </a:solidFill>
                <a:latin typeface="Microsoft Sans Serif"/>
                <a:cs typeface="Microsoft Sans Serif"/>
              </a:rPr>
              <a:t>	</a:t>
            </a:r>
            <a:r>
              <a:rPr sz="2400" kern="0" spc="95" dirty="0">
                <a:solidFill>
                  <a:sysClr val="windowText" lastClr="000000"/>
                </a:solidFill>
                <a:latin typeface="Microsoft Sans Serif"/>
                <a:cs typeface="Microsoft Sans Serif"/>
              </a:rPr>
              <a:t>được</a:t>
            </a:r>
            <a:r>
              <a:rPr sz="2400" kern="0" dirty="0">
                <a:solidFill>
                  <a:sysClr val="windowText" lastClr="000000"/>
                </a:solidFill>
                <a:latin typeface="Microsoft Sans Serif"/>
                <a:cs typeface="Microsoft Sans Serif"/>
              </a:rPr>
              <a:t>	chạy</a:t>
            </a:r>
            <a:r>
              <a:rPr sz="2400" kern="0" spc="345" dirty="0">
                <a:solidFill>
                  <a:sysClr val="windowText" lastClr="000000"/>
                </a:solidFill>
                <a:latin typeface="Microsoft Sans Serif"/>
                <a:cs typeface="Microsoft Sans Serif"/>
              </a:rPr>
              <a:t> </a:t>
            </a:r>
            <a:r>
              <a:rPr sz="2400" kern="0" spc="-25" dirty="0">
                <a:solidFill>
                  <a:sysClr val="windowText" lastClr="000000"/>
                </a:solidFill>
                <a:latin typeface="Microsoft Sans Serif"/>
                <a:cs typeface="Microsoft Sans Serif"/>
              </a:rPr>
              <a:t>một</a:t>
            </a:r>
            <a:r>
              <a:rPr sz="2400" kern="0" dirty="0">
                <a:solidFill>
                  <a:sysClr val="windowText" lastClr="000000"/>
                </a:solidFill>
                <a:latin typeface="Microsoft Sans Serif"/>
                <a:cs typeface="Microsoft Sans Serif"/>
              </a:rPr>
              <a:t>	lần</a:t>
            </a:r>
            <a:r>
              <a:rPr sz="2400" kern="0" spc="310" dirty="0">
                <a:solidFill>
                  <a:sysClr val="windowText" lastClr="000000"/>
                </a:solidFill>
                <a:latin typeface="Microsoft Sans Serif"/>
                <a:cs typeface="Microsoft Sans Serif"/>
              </a:rPr>
              <a:t> </a:t>
            </a:r>
            <a:r>
              <a:rPr sz="2400" kern="0" spc="-25" dirty="0">
                <a:solidFill>
                  <a:sysClr val="windowText" lastClr="000000"/>
                </a:solidFill>
                <a:latin typeface="Microsoft Sans Serif"/>
                <a:cs typeface="Microsoft Sans Serif"/>
              </a:rPr>
              <a:t>khi</a:t>
            </a:r>
            <a:r>
              <a:rPr sz="2400" kern="0" dirty="0">
                <a:solidFill>
                  <a:sysClr val="windowText" lastClr="000000"/>
                </a:solidFill>
                <a:latin typeface="Microsoft Sans Serif"/>
                <a:cs typeface="Microsoft Sans Serif"/>
              </a:rPr>
              <a:t>	</a:t>
            </a:r>
            <a:r>
              <a:rPr sz="2400" kern="0" spc="60" dirty="0">
                <a:solidFill>
                  <a:sysClr val="windowText" lastClr="000000"/>
                </a:solidFill>
                <a:latin typeface="Microsoft Sans Serif"/>
                <a:cs typeface="Microsoft Sans Serif"/>
              </a:rPr>
              <a:t>ứng </a:t>
            </a:r>
            <a:r>
              <a:rPr sz="2400" kern="0" dirty="0">
                <a:solidFill>
                  <a:sysClr val="windowText" lastClr="000000"/>
                </a:solidFill>
                <a:latin typeface="Microsoft Sans Serif"/>
                <a:cs typeface="Microsoft Sans Serif"/>
              </a:rPr>
              <a:t>dụng bắt</a:t>
            </a:r>
            <a:r>
              <a:rPr sz="2400" kern="0" spc="-10" dirty="0">
                <a:solidFill>
                  <a:sysClr val="windowText" lastClr="000000"/>
                </a:solidFill>
                <a:latin typeface="Microsoft Sans Serif"/>
                <a:cs typeface="Microsoft Sans Serif"/>
              </a:rPr>
              <a:t> </a:t>
            </a:r>
            <a:r>
              <a:rPr sz="2400" kern="0" spc="-20" dirty="0">
                <a:solidFill>
                  <a:sysClr val="windowText" lastClr="000000"/>
                </a:solidFill>
                <a:latin typeface="Microsoft Sans Serif"/>
                <a:cs typeface="Microsoft Sans Serif"/>
              </a:rPr>
              <a:t>đầu.</a:t>
            </a:r>
            <a:endParaRPr sz="2400" kern="0">
              <a:solidFill>
                <a:sysClr val="windowText" lastClr="000000"/>
              </a:solidFill>
              <a:latin typeface="Microsoft Sans Serif"/>
              <a:cs typeface="Microsoft Sans Serif"/>
            </a:endParaRPr>
          </a:p>
          <a:p>
            <a:pPr marL="1086485" marR="9525" lvl="1" indent="-457834">
              <a:spcBef>
                <a:spcPts val="1230"/>
              </a:spcBef>
              <a:buFont typeface="Wingdings"/>
              <a:buChar char=""/>
              <a:tabLst>
                <a:tab pos="1086485" algn="l"/>
                <a:tab pos="2444750" algn="l"/>
                <a:tab pos="3414395" algn="l"/>
                <a:tab pos="3940175" algn="l"/>
                <a:tab pos="5143500" algn="l"/>
                <a:tab pos="5857240" algn="l"/>
                <a:tab pos="6607175" algn="l"/>
                <a:tab pos="7402830" algn="l"/>
              </a:tabLst>
            </a:pPr>
            <a:r>
              <a:rPr sz="2400" kern="0" spc="-10" dirty="0">
                <a:solidFill>
                  <a:srgbClr val="FF0000"/>
                </a:solidFill>
                <a:latin typeface="Microsoft Sans Serif"/>
                <a:cs typeface="Microsoft Sans Serif"/>
              </a:rPr>
              <a:t>Content:</a:t>
            </a:r>
            <a:r>
              <a:rPr sz="2400" kern="0" dirty="0">
                <a:solidFill>
                  <a:srgbClr val="FF0000"/>
                </a:solidFill>
                <a:latin typeface="Microsoft Sans Serif"/>
                <a:cs typeface="Microsoft Sans Serif"/>
              </a:rPr>
              <a:t>	</a:t>
            </a:r>
            <a:r>
              <a:rPr sz="2400" kern="0" spc="35" dirty="0">
                <a:solidFill>
                  <a:sysClr val="windowText" lastClr="000000"/>
                </a:solidFill>
                <a:latin typeface="Microsoft Sans Serif"/>
                <a:cs typeface="Microsoft Sans Serif"/>
              </a:rPr>
              <a:t>Chứa</a:t>
            </a:r>
            <a:r>
              <a:rPr sz="2400" kern="0" dirty="0">
                <a:solidFill>
                  <a:sysClr val="windowText" lastClr="000000"/>
                </a:solidFill>
                <a:latin typeface="Microsoft Sans Serif"/>
                <a:cs typeface="Microsoft Sans Serif"/>
              </a:rPr>
              <a:t>	</a:t>
            </a:r>
            <a:r>
              <a:rPr sz="2400" kern="0" spc="-25" dirty="0">
                <a:solidFill>
                  <a:sysClr val="windowText" lastClr="000000"/>
                </a:solidFill>
                <a:latin typeface="Microsoft Sans Serif"/>
                <a:cs typeface="Microsoft Sans Serif"/>
              </a:rPr>
              <a:t>tài</a:t>
            </a:r>
            <a:r>
              <a:rPr sz="2400" kern="0" dirty="0">
                <a:solidFill>
                  <a:sysClr val="windowText" lastClr="000000"/>
                </a:solidFill>
                <a:latin typeface="Microsoft Sans Serif"/>
                <a:cs typeface="Microsoft Sans Serif"/>
              </a:rPr>
              <a:t>	</a:t>
            </a:r>
            <a:r>
              <a:rPr sz="2400" kern="0" spc="-10" dirty="0">
                <a:solidFill>
                  <a:sysClr val="windowText" lastClr="000000"/>
                </a:solidFill>
                <a:latin typeface="Microsoft Sans Serif"/>
                <a:cs typeface="Microsoft Sans Serif"/>
              </a:rPr>
              <a:t>nguyên</a:t>
            </a:r>
            <a:r>
              <a:rPr sz="2400" kern="0" dirty="0">
                <a:solidFill>
                  <a:sysClr val="windowText" lastClr="000000"/>
                </a:solidFill>
                <a:latin typeface="Microsoft Sans Serif"/>
                <a:cs typeface="Microsoft Sans Serif"/>
              </a:rPr>
              <a:t>	</a:t>
            </a:r>
            <a:r>
              <a:rPr sz="2400" kern="0" spc="-20" dirty="0">
                <a:solidFill>
                  <a:sysClr val="windowText" lastClr="000000"/>
                </a:solidFill>
                <a:latin typeface="Microsoft Sans Serif"/>
                <a:cs typeface="Microsoft Sans Serif"/>
              </a:rPr>
              <a:t>tĩnh</a:t>
            </a:r>
            <a:r>
              <a:rPr sz="2400" kern="0" dirty="0">
                <a:solidFill>
                  <a:sysClr val="windowText" lastClr="000000"/>
                </a:solidFill>
                <a:latin typeface="Microsoft Sans Serif"/>
                <a:cs typeface="Microsoft Sans Serif"/>
              </a:rPr>
              <a:t>	</a:t>
            </a:r>
            <a:r>
              <a:rPr sz="2400" kern="0" spc="55" dirty="0">
                <a:solidFill>
                  <a:sysClr val="windowText" lastClr="000000"/>
                </a:solidFill>
                <a:latin typeface="Microsoft Sans Serif"/>
                <a:cs typeface="Microsoft Sans Serif"/>
              </a:rPr>
              <a:t>như</a:t>
            </a:r>
            <a:r>
              <a:rPr sz="2400" kern="0" dirty="0">
                <a:solidFill>
                  <a:sysClr val="windowText" lastClr="000000"/>
                </a:solidFill>
                <a:latin typeface="Microsoft Sans Serif"/>
                <a:cs typeface="Microsoft Sans Serif"/>
              </a:rPr>
              <a:t>	</a:t>
            </a:r>
            <a:r>
              <a:rPr sz="2400" kern="0" spc="-20" dirty="0">
                <a:solidFill>
                  <a:sysClr val="windowText" lastClr="000000"/>
                </a:solidFill>
                <a:latin typeface="Microsoft Sans Serif"/>
                <a:cs typeface="Microsoft Sans Serif"/>
              </a:rPr>
              <a:t>hình</a:t>
            </a:r>
            <a:r>
              <a:rPr sz="2400" kern="0" dirty="0">
                <a:solidFill>
                  <a:sysClr val="windowText" lastClr="000000"/>
                </a:solidFill>
                <a:latin typeface="Microsoft Sans Serif"/>
                <a:cs typeface="Microsoft Sans Serif"/>
              </a:rPr>
              <a:t>	</a:t>
            </a:r>
            <a:r>
              <a:rPr sz="2400" kern="0" spc="-20" dirty="0">
                <a:solidFill>
                  <a:sysClr val="windowText" lastClr="000000"/>
                </a:solidFill>
                <a:latin typeface="Microsoft Sans Serif"/>
                <a:cs typeface="Microsoft Sans Serif"/>
              </a:rPr>
              <a:t>ảnh, </a:t>
            </a:r>
            <a:r>
              <a:rPr sz="2400" kern="0" spc="240" dirty="0">
                <a:solidFill>
                  <a:sysClr val="windowText" lastClr="000000"/>
                </a:solidFill>
                <a:latin typeface="Microsoft Sans Serif"/>
                <a:cs typeface="Microsoft Sans Serif"/>
              </a:rPr>
              <a:t>CSS…</a:t>
            </a:r>
            <a:endParaRPr sz="2400" kern="0">
              <a:solidFill>
                <a:sysClr val="windowText" lastClr="000000"/>
              </a:solidFill>
              <a:latin typeface="Microsoft Sans Serif"/>
              <a:cs typeface="Microsoft Sans Serif"/>
            </a:endParaRPr>
          </a:p>
          <a:p>
            <a:pPr marL="1085850" lvl="1" indent="-457200" algn="just">
              <a:spcBef>
                <a:spcPts val="1195"/>
              </a:spcBef>
              <a:buFont typeface="Wingdings"/>
              <a:buChar char=""/>
              <a:tabLst>
                <a:tab pos="1085850" algn="l"/>
              </a:tabLst>
            </a:pPr>
            <a:r>
              <a:rPr sz="2400" kern="0" dirty="0">
                <a:solidFill>
                  <a:srgbClr val="FF0000"/>
                </a:solidFill>
                <a:latin typeface="Microsoft Sans Serif"/>
                <a:cs typeface="Microsoft Sans Serif"/>
              </a:rPr>
              <a:t>Scripts:</a:t>
            </a:r>
            <a:r>
              <a:rPr sz="2400" kern="0" spc="-55" dirty="0">
                <a:solidFill>
                  <a:srgbClr val="FF0000"/>
                </a:solidFill>
                <a:latin typeface="Microsoft Sans Serif"/>
                <a:cs typeface="Microsoft Sans Serif"/>
              </a:rPr>
              <a:t> </a:t>
            </a:r>
            <a:r>
              <a:rPr sz="2400" kern="0" spc="55" dirty="0">
                <a:solidFill>
                  <a:sysClr val="windowText" lastClr="000000"/>
                </a:solidFill>
                <a:latin typeface="Microsoft Sans Serif"/>
                <a:cs typeface="Microsoft Sans Serif"/>
              </a:rPr>
              <a:t>Chứa</a:t>
            </a:r>
            <a:r>
              <a:rPr sz="2400" kern="0" dirty="0">
                <a:solidFill>
                  <a:sysClr val="windowText" lastClr="000000"/>
                </a:solidFill>
                <a:latin typeface="Microsoft Sans Serif"/>
                <a:cs typeface="Microsoft Sans Serif"/>
              </a:rPr>
              <a:t> JavaScript</a:t>
            </a:r>
            <a:r>
              <a:rPr sz="2400" kern="0" spc="-2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cần thiết</a:t>
            </a:r>
            <a:r>
              <a:rPr sz="2400" kern="0" spc="1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của</a:t>
            </a:r>
            <a:r>
              <a:rPr sz="2400" kern="0" spc="-5" dirty="0">
                <a:solidFill>
                  <a:sysClr val="windowText" lastClr="000000"/>
                </a:solidFill>
                <a:latin typeface="Microsoft Sans Serif"/>
                <a:cs typeface="Microsoft Sans Serif"/>
              </a:rPr>
              <a:t> </a:t>
            </a:r>
            <a:r>
              <a:rPr sz="2400" kern="0" spc="90" dirty="0">
                <a:solidFill>
                  <a:sysClr val="windowText" lastClr="000000"/>
                </a:solidFill>
                <a:latin typeface="Microsoft Sans Serif"/>
                <a:cs typeface="Microsoft Sans Serif"/>
              </a:rPr>
              <a:t>ứng</a:t>
            </a:r>
            <a:r>
              <a:rPr sz="2400" kern="0" spc="-5" dirty="0">
                <a:solidFill>
                  <a:sysClr val="windowText" lastClr="000000"/>
                </a:solidFill>
                <a:latin typeface="Microsoft Sans Serif"/>
                <a:cs typeface="Microsoft Sans Serif"/>
              </a:rPr>
              <a:t> </a:t>
            </a:r>
            <a:r>
              <a:rPr sz="2400" kern="0" spc="-20" dirty="0">
                <a:solidFill>
                  <a:sysClr val="windowText" lastClr="000000"/>
                </a:solidFill>
                <a:latin typeface="Microsoft Sans Serif"/>
                <a:cs typeface="Microsoft Sans Serif"/>
              </a:rPr>
              <a:t>dụng</a:t>
            </a:r>
            <a:endParaRPr sz="2400" kern="0">
              <a:solidFill>
                <a:sysClr val="windowText" lastClr="000000"/>
              </a:solidFill>
              <a:latin typeface="Microsoft Sans Serif"/>
              <a:cs typeface="Microsoft Sans Serif"/>
            </a:endParaRPr>
          </a:p>
          <a:p>
            <a:pPr marL="1086485" marR="5080" lvl="1" indent="-457834" algn="just">
              <a:spcBef>
                <a:spcPts val="1190"/>
              </a:spcBef>
              <a:buFont typeface="Wingdings"/>
              <a:buChar char=""/>
              <a:tabLst>
                <a:tab pos="1086485" algn="l"/>
              </a:tabLst>
            </a:pPr>
            <a:r>
              <a:rPr sz="2400" kern="0" dirty="0">
                <a:solidFill>
                  <a:srgbClr val="FF0000"/>
                </a:solidFill>
                <a:latin typeface="Microsoft Sans Serif"/>
                <a:cs typeface="Microsoft Sans Serif"/>
              </a:rPr>
              <a:t>Global.asax</a:t>
            </a:r>
            <a:r>
              <a:rPr sz="2400" kern="0">
                <a:solidFill>
                  <a:srgbClr val="FF0000"/>
                </a:solidFill>
                <a:latin typeface="Microsoft Sans Serif"/>
                <a:cs typeface="Microsoft Sans Serif"/>
              </a:rPr>
              <a:t>:</a:t>
            </a:r>
            <a:r>
              <a:rPr sz="2400" kern="0" spc="315">
                <a:solidFill>
                  <a:srgbClr val="FF0000"/>
                </a:solidFill>
                <a:latin typeface="Microsoft Sans Serif"/>
                <a:cs typeface="Microsoft Sans Serif"/>
              </a:rPr>
              <a:t> </a:t>
            </a:r>
            <a:r>
              <a:rPr lang="en-US" sz="2400" kern="0">
                <a:solidFill>
                  <a:sysClr val="windowText" lastClr="000000"/>
                </a:solidFill>
                <a:latin typeface="Microsoft Sans Serif"/>
                <a:cs typeface="Microsoft Sans Serif"/>
              </a:rPr>
              <a:t>file</a:t>
            </a:r>
            <a:r>
              <a:rPr sz="2400" kern="0" spc="229">
                <a:solidFill>
                  <a:sysClr val="windowText" lastClr="000000"/>
                </a:solidFill>
                <a:latin typeface="Microsoft Sans Serif"/>
                <a:cs typeface="Microsoft Sans Serif"/>
              </a:rPr>
              <a:t> </a:t>
            </a:r>
            <a:r>
              <a:rPr sz="2400" kern="0" spc="145" dirty="0">
                <a:solidFill>
                  <a:sysClr val="windowText" lastClr="000000"/>
                </a:solidFill>
                <a:latin typeface="Microsoft Sans Serif"/>
                <a:cs typeface="Microsoft Sans Serif"/>
              </a:rPr>
              <a:t>sự</a:t>
            </a:r>
            <a:r>
              <a:rPr sz="2400" kern="0" spc="27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kiện</a:t>
            </a:r>
            <a:r>
              <a:rPr sz="2400" kern="0" spc="254" dirty="0">
                <a:solidFill>
                  <a:sysClr val="windowText" lastClr="000000"/>
                </a:solidFill>
                <a:latin typeface="Microsoft Sans Serif"/>
                <a:cs typeface="Microsoft Sans Serif"/>
              </a:rPr>
              <a:t> </a:t>
            </a:r>
            <a:r>
              <a:rPr sz="2400" kern="0" spc="55" dirty="0">
                <a:solidFill>
                  <a:sysClr val="windowText" lastClr="000000"/>
                </a:solidFill>
                <a:latin typeface="Microsoft Sans Serif"/>
                <a:cs typeface="Microsoft Sans Serif"/>
              </a:rPr>
              <a:t>chứa</a:t>
            </a:r>
            <a:r>
              <a:rPr sz="2400" kern="0" spc="29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các</a:t>
            </a:r>
            <a:r>
              <a:rPr sz="2400" kern="0" spc="32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điều</a:t>
            </a:r>
            <a:r>
              <a:rPr sz="2400" kern="0" spc="254" dirty="0">
                <a:solidFill>
                  <a:sysClr val="windowText" lastClr="000000"/>
                </a:solidFill>
                <a:latin typeface="Microsoft Sans Serif"/>
                <a:cs typeface="Microsoft Sans Serif"/>
              </a:rPr>
              <a:t> </a:t>
            </a:r>
            <a:r>
              <a:rPr sz="2400" kern="0" spc="-10" dirty="0">
                <a:solidFill>
                  <a:sysClr val="windowText" lastClr="000000"/>
                </a:solidFill>
                <a:latin typeface="Microsoft Sans Serif"/>
                <a:cs typeface="Microsoft Sans Serif"/>
              </a:rPr>
              <a:t>khiển </a:t>
            </a:r>
            <a:r>
              <a:rPr sz="2400" kern="0" spc="145" dirty="0">
                <a:solidFill>
                  <a:sysClr val="windowText" lastClr="000000"/>
                </a:solidFill>
                <a:latin typeface="Microsoft Sans Serif"/>
                <a:cs typeface="Microsoft Sans Serif"/>
              </a:rPr>
              <a:t>sự</a:t>
            </a:r>
            <a:r>
              <a:rPr sz="2400" kern="0" spc="49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kiện</a:t>
            </a:r>
            <a:r>
              <a:rPr sz="2400" kern="0" spc="509"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nhằm</a:t>
            </a:r>
            <a:r>
              <a:rPr sz="2400" kern="0" spc="49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kiểm</a:t>
            </a:r>
            <a:r>
              <a:rPr sz="2400" kern="0" spc="53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soát</a:t>
            </a:r>
            <a:r>
              <a:rPr sz="2400" kern="0" spc="50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vòng</a:t>
            </a:r>
            <a:r>
              <a:rPr sz="2400" kern="0" spc="509" dirty="0">
                <a:solidFill>
                  <a:sysClr val="windowText" lastClr="000000"/>
                </a:solidFill>
                <a:latin typeface="Microsoft Sans Serif"/>
                <a:cs typeface="Microsoft Sans Serif"/>
              </a:rPr>
              <a:t> </a:t>
            </a:r>
            <a:r>
              <a:rPr sz="2400" kern="0" spc="55" dirty="0">
                <a:solidFill>
                  <a:sysClr val="windowText" lastClr="000000"/>
                </a:solidFill>
                <a:latin typeface="Microsoft Sans Serif"/>
                <a:cs typeface="Microsoft Sans Serif"/>
              </a:rPr>
              <a:t>đời</a:t>
            </a:r>
            <a:r>
              <a:rPr sz="2400" kern="0" spc="49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của</a:t>
            </a:r>
            <a:r>
              <a:rPr sz="2400" kern="0" spc="515" dirty="0">
                <a:solidFill>
                  <a:sysClr val="windowText" lastClr="000000"/>
                </a:solidFill>
                <a:latin typeface="Microsoft Sans Serif"/>
                <a:cs typeface="Microsoft Sans Serif"/>
              </a:rPr>
              <a:t> </a:t>
            </a:r>
            <a:r>
              <a:rPr sz="2400" kern="0" spc="-10" dirty="0">
                <a:solidFill>
                  <a:sysClr val="windowText" lastClr="000000"/>
                </a:solidFill>
                <a:latin typeface="Microsoft Sans Serif"/>
                <a:cs typeface="Microsoft Sans Serif"/>
              </a:rPr>
              <a:t>Request, Session,</a:t>
            </a:r>
            <a:r>
              <a:rPr sz="2400" kern="0" spc="-114" dirty="0">
                <a:solidFill>
                  <a:sysClr val="windowText" lastClr="000000"/>
                </a:solidFill>
                <a:latin typeface="Microsoft Sans Serif"/>
                <a:cs typeface="Microsoft Sans Serif"/>
              </a:rPr>
              <a:t> </a:t>
            </a:r>
            <a:r>
              <a:rPr sz="2400" kern="0" spc="70" dirty="0">
                <a:solidFill>
                  <a:sysClr val="windowText" lastClr="000000"/>
                </a:solidFill>
                <a:latin typeface="Microsoft Sans Serif"/>
                <a:cs typeface="Microsoft Sans Serif"/>
              </a:rPr>
              <a:t>Application…</a:t>
            </a:r>
            <a:endParaRPr sz="2400" kern="0">
              <a:solidFill>
                <a:sysClr val="windowText" lastClr="000000"/>
              </a:solidFill>
              <a:latin typeface="Microsoft Sans Serif"/>
              <a:cs typeface="Microsoft Sans Serif"/>
            </a:endParaRPr>
          </a:p>
          <a:p>
            <a:pPr marL="1085850" lvl="1" indent="-457200" algn="just">
              <a:spcBef>
                <a:spcPts val="1230"/>
              </a:spcBef>
              <a:buFont typeface="Wingdings"/>
              <a:buChar char=""/>
              <a:tabLst>
                <a:tab pos="1085850" algn="l"/>
              </a:tabLst>
            </a:pPr>
            <a:r>
              <a:rPr sz="2400" kern="0">
                <a:solidFill>
                  <a:srgbClr val="FF0000"/>
                </a:solidFill>
                <a:latin typeface="Microsoft Sans Serif"/>
                <a:cs typeface="Microsoft Sans Serif"/>
              </a:rPr>
              <a:t>Web.config:</a:t>
            </a:r>
            <a:r>
              <a:rPr lang="en-US" sz="2400" kern="0">
                <a:solidFill>
                  <a:srgbClr val="FF0000"/>
                </a:solidFill>
                <a:latin typeface="Microsoft Sans Serif"/>
                <a:cs typeface="Microsoft Sans Serif"/>
              </a:rPr>
              <a:t> </a:t>
            </a:r>
            <a:r>
              <a:rPr lang="en-US" sz="2400" kern="0">
                <a:solidFill>
                  <a:sysClr val="windowText" lastClr="000000"/>
                </a:solidFill>
                <a:latin typeface="Microsoft Sans Serif"/>
                <a:cs typeface="Microsoft Sans Serif"/>
              </a:rPr>
              <a:t>file</a:t>
            </a:r>
            <a:r>
              <a:rPr lang="en-US" sz="2400" kern="0" spc="65">
                <a:solidFill>
                  <a:sysClr val="windowText" lastClr="000000"/>
                </a:solidFill>
                <a:latin typeface="Microsoft Sans Serif"/>
                <a:cs typeface="Microsoft Sans Serif"/>
              </a:rPr>
              <a:t> </a:t>
            </a:r>
            <a:r>
              <a:rPr sz="2400" kern="0">
                <a:solidFill>
                  <a:sysClr val="windowText" lastClr="000000"/>
                </a:solidFill>
                <a:latin typeface="Microsoft Sans Serif"/>
                <a:cs typeface="Microsoft Sans Serif"/>
              </a:rPr>
              <a:t>xml</a:t>
            </a:r>
            <a:r>
              <a:rPr sz="2400" kern="0" spc="40">
                <a:solidFill>
                  <a:sysClr val="windowText" lastClr="000000"/>
                </a:solidFill>
                <a:latin typeface="Microsoft Sans Serif"/>
                <a:cs typeface="Microsoft Sans Serif"/>
              </a:rPr>
              <a:t> </a:t>
            </a:r>
            <a:r>
              <a:rPr sz="2400" kern="0" spc="65" dirty="0">
                <a:solidFill>
                  <a:sysClr val="windowText" lastClr="000000"/>
                </a:solidFill>
                <a:latin typeface="Microsoft Sans Serif"/>
                <a:cs typeface="Microsoft Sans Serif"/>
              </a:rPr>
              <a:t>chứa</a:t>
            </a:r>
            <a:r>
              <a:rPr sz="2400" kern="0" spc="2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thông</a:t>
            </a:r>
            <a:r>
              <a:rPr sz="2400" kern="0" spc="2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tin</a:t>
            </a:r>
            <a:r>
              <a:rPr sz="2400" kern="0" spc="3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cấu</a:t>
            </a:r>
            <a:r>
              <a:rPr sz="2400" kern="0" spc="6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hình</a:t>
            </a:r>
            <a:r>
              <a:rPr sz="2400" kern="0" spc="20" dirty="0">
                <a:solidFill>
                  <a:sysClr val="windowText" lastClr="000000"/>
                </a:solidFill>
                <a:latin typeface="Microsoft Sans Serif"/>
                <a:cs typeface="Microsoft Sans Serif"/>
              </a:rPr>
              <a:t> </a:t>
            </a:r>
            <a:r>
              <a:rPr sz="2400" kern="0" spc="-25" dirty="0">
                <a:solidFill>
                  <a:sysClr val="windowText" lastClr="000000"/>
                </a:solidFill>
                <a:latin typeface="Microsoft Sans Serif"/>
                <a:cs typeface="Microsoft Sans Serif"/>
              </a:rPr>
              <a:t>của</a:t>
            </a:r>
            <a:endParaRPr sz="2400" kern="0">
              <a:solidFill>
                <a:sysClr val="windowText" lastClr="000000"/>
              </a:solidFill>
              <a:latin typeface="Microsoft Sans Serif"/>
              <a:cs typeface="Microsoft Sans Serif"/>
            </a:endParaRPr>
          </a:p>
        </p:txBody>
      </p:sp>
    </p:spTree>
    <p:extLst>
      <p:ext uri="{BB962C8B-B14F-4D97-AF65-F5344CB8AC3E}">
        <p14:creationId xmlns:p14="http://schemas.microsoft.com/office/powerpoint/2010/main" val="351558455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06244" y="1167766"/>
            <a:ext cx="3959860" cy="393065"/>
          </a:xfrm>
          <a:prstGeom prst="rect">
            <a:avLst/>
          </a:prstGeom>
        </p:spPr>
        <p:txBody>
          <a:bodyPr vert="horz" wrap="square" lIns="0" tIns="13970" rIns="0" bIns="0" rtlCol="0">
            <a:spAutoFit/>
          </a:bodyPr>
          <a:lstStyle/>
          <a:p>
            <a:pPr marL="12700">
              <a:spcBef>
                <a:spcPts val="110"/>
              </a:spcBef>
              <a:tabLst>
                <a:tab pos="1960880" algn="l"/>
                <a:tab pos="3607435" algn="l"/>
              </a:tabLst>
            </a:pPr>
            <a:r>
              <a:rPr sz="2400" kern="0" dirty="0">
                <a:solidFill>
                  <a:sysClr val="windowText" lastClr="000000"/>
                </a:solidFill>
                <a:latin typeface="Microsoft Sans Serif"/>
                <a:cs typeface="Microsoft Sans Serif"/>
              </a:rPr>
              <a:t>-</a:t>
            </a:r>
            <a:r>
              <a:rPr sz="2400" kern="0" spc="2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Nhấn</a:t>
            </a:r>
            <a:r>
              <a:rPr sz="2400" kern="0" spc="2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F5</a:t>
            </a:r>
            <a:r>
              <a:rPr sz="2400" kern="0" spc="-10" dirty="0">
                <a:solidFill>
                  <a:sysClr val="windowText" lastClr="000000"/>
                </a:solidFill>
                <a:latin typeface="Microsoft Sans Serif"/>
                <a:cs typeface="Microsoft Sans Serif"/>
              </a:rPr>
              <a:t> </a:t>
            </a:r>
            <a:r>
              <a:rPr sz="2400" kern="0" spc="-25" dirty="0">
                <a:solidFill>
                  <a:sysClr val="windowText" lastClr="000000"/>
                </a:solidFill>
                <a:latin typeface="Microsoft Sans Serif"/>
                <a:cs typeface="Microsoft Sans Serif"/>
              </a:rPr>
              <a:t>để</a:t>
            </a:r>
            <a:r>
              <a:rPr sz="2400" kern="0" dirty="0">
                <a:solidFill>
                  <a:sysClr val="windowText" lastClr="000000"/>
                </a:solidFill>
                <a:latin typeface="Microsoft Sans Serif"/>
                <a:cs typeface="Microsoft Sans Serif"/>
              </a:rPr>
              <a:t>	</a:t>
            </a:r>
            <a:r>
              <a:rPr sz="2400" kern="0" spc="70" dirty="0">
                <a:solidFill>
                  <a:sysClr val="windowText" lastClr="000000"/>
                </a:solidFill>
                <a:latin typeface="Microsoft Sans Serif"/>
                <a:cs typeface="Microsoft Sans Serif"/>
              </a:rPr>
              <a:t>thực</a:t>
            </a:r>
            <a:r>
              <a:rPr sz="2400" kern="0" spc="-1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thi</a:t>
            </a:r>
            <a:r>
              <a:rPr sz="2400" kern="0" spc="5" dirty="0">
                <a:solidFill>
                  <a:sysClr val="windowText" lastClr="000000"/>
                </a:solidFill>
                <a:latin typeface="Microsoft Sans Serif"/>
                <a:cs typeface="Microsoft Sans Serif"/>
              </a:rPr>
              <a:t> </a:t>
            </a:r>
            <a:r>
              <a:rPr sz="2400" kern="0" spc="100" dirty="0">
                <a:solidFill>
                  <a:sysClr val="windowText" lastClr="000000"/>
                </a:solidFill>
                <a:latin typeface="Microsoft Sans Serif"/>
                <a:cs typeface="Microsoft Sans Serif"/>
              </a:rPr>
              <a:t>dự</a:t>
            </a:r>
            <a:r>
              <a:rPr sz="2400" kern="0" dirty="0">
                <a:solidFill>
                  <a:sysClr val="windowText" lastClr="000000"/>
                </a:solidFill>
                <a:latin typeface="Microsoft Sans Serif"/>
                <a:cs typeface="Microsoft Sans Serif"/>
              </a:rPr>
              <a:t>	</a:t>
            </a:r>
            <a:r>
              <a:rPr sz="2400" kern="0" spc="-25" dirty="0">
                <a:solidFill>
                  <a:sysClr val="windowText" lastClr="000000"/>
                </a:solidFill>
                <a:latin typeface="Microsoft Sans Serif"/>
                <a:cs typeface="Microsoft Sans Serif"/>
              </a:rPr>
              <a:t>án</a:t>
            </a:r>
            <a:endParaRPr sz="2400" kern="0">
              <a:solidFill>
                <a:sysClr val="windowText" lastClr="000000"/>
              </a:solidFill>
              <a:latin typeface="Microsoft Sans Serif"/>
              <a:cs typeface="Microsoft Sans Serif"/>
            </a:endParaRPr>
          </a:p>
        </p:txBody>
      </p:sp>
      <p:sp>
        <p:nvSpPr>
          <p:cNvPr id="4" name="object 4"/>
          <p:cNvSpPr txBox="1">
            <a:spLocks noGrp="1"/>
          </p:cNvSpPr>
          <p:nvPr>
            <p:ph type="title"/>
          </p:nvPr>
        </p:nvSpPr>
        <p:spPr>
          <a:xfrm>
            <a:off x="2091268" y="450927"/>
            <a:ext cx="11057467" cy="412292"/>
          </a:xfrm>
          <a:prstGeom prst="rect">
            <a:avLst/>
          </a:prstGeom>
        </p:spPr>
        <p:txBody>
          <a:bodyPr vert="horz" wrap="square" lIns="0" tIns="12065" rIns="0" bIns="0" rtlCol="0">
            <a:spAutoFit/>
          </a:bodyPr>
          <a:lstStyle/>
          <a:p>
            <a:pPr marL="12700">
              <a:spcBef>
                <a:spcPts val="95"/>
              </a:spcBef>
              <a:tabLst>
                <a:tab pos="8279765" algn="l"/>
              </a:tabLst>
            </a:pPr>
            <a:r>
              <a:rPr sz="2600" dirty="0"/>
              <a:t>2.</a:t>
            </a:r>
            <a:r>
              <a:rPr sz="2600" spc="-35" dirty="0"/>
              <a:t> </a:t>
            </a:r>
            <a:r>
              <a:rPr sz="2600" dirty="0"/>
              <a:t>XÂY</a:t>
            </a:r>
            <a:r>
              <a:rPr sz="2600" spc="-100" dirty="0"/>
              <a:t> </a:t>
            </a:r>
            <a:r>
              <a:rPr sz="2600" dirty="0"/>
              <a:t>DỰNG</a:t>
            </a:r>
            <a:r>
              <a:rPr sz="2600" spc="-30" dirty="0"/>
              <a:t> </a:t>
            </a:r>
            <a:r>
              <a:rPr sz="2600" dirty="0"/>
              <a:t>ỨNG</a:t>
            </a:r>
            <a:r>
              <a:rPr sz="2600" spc="-65" dirty="0"/>
              <a:t> </a:t>
            </a:r>
            <a:r>
              <a:rPr sz="2600" dirty="0"/>
              <a:t>DỤNG</a:t>
            </a:r>
            <a:r>
              <a:rPr sz="2600" spc="-20" dirty="0"/>
              <a:t> </a:t>
            </a:r>
            <a:r>
              <a:rPr sz="2600" spc="-25" dirty="0"/>
              <a:t>WEB</a:t>
            </a:r>
            <a:r>
              <a:rPr sz="2600" dirty="0"/>
              <a:t>	</a:t>
            </a:r>
            <a:endParaRPr sz="2600"/>
          </a:p>
        </p:txBody>
      </p:sp>
      <p:sp>
        <p:nvSpPr>
          <p:cNvPr id="6" name="object 6"/>
          <p:cNvSpPr txBox="1"/>
          <p:nvPr/>
        </p:nvSpPr>
        <p:spPr>
          <a:xfrm>
            <a:off x="1784400" y="6334103"/>
            <a:ext cx="218440" cy="218008"/>
          </a:xfrm>
          <a:prstGeom prst="rect">
            <a:avLst/>
          </a:prstGeom>
        </p:spPr>
        <p:txBody>
          <a:bodyPr vert="horz" wrap="square" lIns="0" tIns="0" rIns="0" bIns="0" rtlCol="0">
            <a:spAutoFit/>
          </a:bodyPr>
          <a:lstStyle/>
          <a:p>
            <a:pPr marL="12700">
              <a:lnSpc>
                <a:spcPts val="1664"/>
              </a:lnSpc>
            </a:pPr>
            <a:r>
              <a:rPr sz="1400" kern="0" spc="-40" dirty="0">
                <a:solidFill>
                  <a:srgbClr val="FFFFFF"/>
                </a:solidFill>
                <a:latin typeface="Franklin Gothic Medium"/>
                <a:cs typeface="Franklin Gothic Medium"/>
              </a:rPr>
              <a:t>24</a:t>
            </a:r>
            <a:endParaRPr sz="1400" kern="0">
              <a:solidFill>
                <a:sysClr val="windowText" lastClr="000000"/>
              </a:solidFill>
              <a:latin typeface="Franklin Gothic Medium"/>
              <a:cs typeface="Franklin Gothic Medium"/>
            </a:endParaRPr>
          </a:p>
        </p:txBody>
      </p:sp>
      <p:sp>
        <p:nvSpPr>
          <p:cNvPr id="8" name="object 8"/>
          <p:cNvSpPr txBox="1">
            <a:spLocks noGrp="1"/>
          </p:cNvSpPr>
          <p:nvPr>
            <p:ph type="ftr" sz="quarter" idx="5"/>
          </p:nvPr>
        </p:nvSpPr>
        <p:spPr>
          <a:xfrm>
            <a:off x="2763418" y="6600176"/>
            <a:ext cx="1243964" cy="155171"/>
          </a:xfrm>
          <a:prstGeom prst="rect">
            <a:avLst/>
          </a:prstGeom>
        </p:spPr>
        <p:txBody>
          <a:bodyPr vert="horz" wrap="square" lIns="0" tIns="1270" rIns="0" bIns="0" rtlCol="0">
            <a:spAutoFit/>
          </a:bodyPr>
          <a:lstStyle/>
          <a:p>
            <a:pPr marL="12700">
              <a:spcBef>
                <a:spcPts val="10"/>
              </a:spcBef>
            </a:pPr>
            <a:endParaRPr spc="-20" dirty="0">
              <a:solidFill>
                <a:prstClr val="white"/>
              </a:solidFill>
            </a:endParaRPr>
          </a:p>
        </p:txBody>
      </p:sp>
      <p:sp>
        <p:nvSpPr>
          <p:cNvPr id="5" name="object 5"/>
          <p:cNvSpPr txBox="1"/>
          <p:nvPr/>
        </p:nvSpPr>
        <p:spPr>
          <a:xfrm>
            <a:off x="4629405" y="5969001"/>
            <a:ext cx="2966085" cy="393065"/>
          </a:xfrm>
          <a:prstGeom prst="rect">
            <a:avLst/>
          </a:prstGeom>
        </p:spPr>
        <p:txBody>
          <a:bodyPr vert="horz" wrap="square" lIns="0" tIns="13970" rIns="0" bIns="0" rtlCol="0">
            <a:spAutoFit/>
          </a:bodyPr>
          <a:lstStyle/>
          <a:p>
            <a:pPr marL="12700">
              <a:spcBef>
                <a:spcPts val="110"/>
              </a:spcBef>
            </a:pPr>
            <a:r>
              <a:rPr sz="2400" kern="0" spc="65" dirty="0">
                <a:solidFill>
                  <a:sysClr val="windowText" lastClr="000000"/>
                </a:solidFill>
                <a:latin typeface="Microsoft Sans Serif"/>
                <a:cs typeface="Microsoft Sans Serif"/>
              </a:rPr>
              <a:t>Thực</a:t>
            </a:r>
            <a:r>
              <a:rPr sz="2400" kern="0" spc="-1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thi</a:t>
            </a:r>
            <a:r>
              <a:rPr sz="2400" kern="0" spc="1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trên</a:t>
            </a:r>
            <a:r>
              <a:rPr sz="2400" kern="0" spc="35" dirty="0">
                <a:solidFill>
                  <a:sysClr val="windowText" lastClr="000000"/>
                </a:solidFill>
                <a:latin typeface="Microsoft Sans Serif"/>
                <a:cs typeface="Microsoft Sans Serif"/>
              </a:rPr>
              <a:t> </a:t>
            </a:r>
            <a:r>
              <a:rPr sz="2400" kern="0" spc="-10" dirty="0">
                <a:solidFill>
                  <a:sysClr val="windowText" lastClr="000000"/>
                </a:solidFill>
                <a:latin typeface="Microsoft Sans Serif"/>
                <a:cs typeface="Microsoft Sans Serif"/>
              </a:rPr>
              <a:t>Desktop</a:t>
            </a:r>
            <a:endParaRPr sz="2400" kern="0">
              <a:solidFill>
                <a:sysClr val="windowText" lastClr="000000"/>
              </a:solidFill>
              <a:latin typeface="Microsoft Sans Serif"/>
              <a:cs typeface="Microsoft Sans Serif"/>
            </a:endParaRPr>
          </a:p>
        </p:txBody>
      </p:sp>
      <p:pic>
        <p:nvPicPr>
          <p:cNvPr id="4098" name="Picture 2" descr="https://cdn.codegym.vn/wp-content/uploads/2019/08/asp-net-mvc5-1-bat-dau-voi-asp-net-mvc-5-3-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4479" y="1780559"/>
            <a:ext cx="7643043" cy="39687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181090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91268" y="450927"/>
            <a:ext cx="11057467" cy="412292"/>
          </a:xfrm>
          <a:prstGeom prst="rect">
            <a:avLst/>
          </a:prstGeom>
        </p:spPr>
        <p:txBody>
          <a:bodyPr vert="horz" wrap="square" lIns="0" tIns="12065" rIns="0" bIns="0" rtlCol="0">
            <a:spAutoFit/>
          </a:bodyPr>
          <a:lstStyle/>
          <a:p>
            <a:pPr marL="12700">
              <a:spcBef>
                <a:spcPts val="95"/>
              </a:spcBef>
              <a:tabLst>
                <a:tab pos="8279765" algn="l"/>
              </a:tabLst>
            </a:pPr>
            <a:r>
              <a:rPr sz="2600" dirty="0"/>
              <a:t>2.</a:t>
            </a:r>
            <a:r>
              <a:rPr sz="2600" spc="-35" dirty="0"/>
              <a:t> </a:t>
            </a:r>
            <a:r>
              <a:rPr sz="2600" dirty="0"/>
              <a:t>XÂY</a:t>
            </a:r>
            <a:r>
              <a:rPr sz="2600" spc="-100" dirty="0"/>
              <a:t> </a:t>
            </a:r>
            <a:r>
              <a:rPr sz="2600" dirty="0"/>
              <a:t>DỰNG</a:t>
            </a:r>
            <a:r>
              <a:rPr sz="2600" spc="-30" dirty="0"/>
              <a:t> </a:t>
            </a:r>
            <a:r>
              <a:rPr sz="2600" dirty="0"/>
              <a:t>ỨNG</a:t>
            </a:r>
            <a:r>
              <a:rPr sz="2600" spc="-65" dirty="0"/>
              <a:t> </a:t>
            </a:r>
            <a:r>
              <a:rPr sz="2600" dirty="0"/>
              <a:t>DỤNG</a:t>
            </a:r>
            <a:r>
              <a:rPr sz="2600" spc="-20" dirty="0"/>
              <a:t> </a:t>
            </a:r>
            <a:r>
              <a:rPr sz="2600" spc="-25" dirty="0"/>
              <a:t>WEB</a:t>
            </a:r>
            <a:r>
              <a:rPr sz="2600" dirty="0"/>
              <a:t>	</a:t>
            </a:r>
            <a:endParaRPr sz="2600"/>
          </a:p>
        </p:txBody>
      </p:sp>
      <p:sp>
        <p:nvSpPr>
          <p:cNvPr id="3" name="object 3"/>
          <p:cNvSpPr txBox="1"/>
          <p:nvPr/>
        </p:nvSpPr>
        <p:spPr>
          <a:xfrm>
            <a:off x="2286000" y="5969000"/>
            <a:ext cx="7772400" cy="383438"/>
          </a:xfrm>
          <a:prstGeom prst="rect">
            <a:avLst/>
          </a:prstGeom>
        </p:spPr>
        <p:txBody>
          <a:bodyPr vert="horz" wrap="square" lIns="0" tIns="13970" rIns="0" bIns="0" rtlCol="0">
            <a:spAutoFit/>
          </a:bodyPr>
          <a:lstStyle/>
          <a:p>
            <a:pPr marL="12700" algn="ctr">
              <a:spcBef>
                <a:spcPts val="110"/>
              </a:spcBef>
            </a:pPr>
            <a:r>
              <a:rPr lang="en-US" sz="2400" kern="0" spc="65">
                <a:solidFill>
                  <a:sysClr val="windowText" lastClr="000000"/>
                </a:solidFill>
                <a:latin typeface="Microsoft Sans Serif"/>
                <a:cs typeface="Microsoft Sans Serif"/>
              </a:rPr>
              <a:t>Thu nhỏ trình duyệt để thấy sự co giãn tương thích</a:t>
            </a:r>
            <a:endParaRPr sz="2400" kern="0">
              <a:solidFill>
                <a:sysClr val="windowText" lastClr="000000"/>
              </a:solidFill>
              <a:latin typeface="Microsoft Sans Serif"/>
              <a:cs typeface="Microsoft Sans Serif"/>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solidFill>
                  <a:prstClr val="white"/>
                </a:solidFill>
              </a:rPr>
              <a:pPr marL="38100">
                <a:lnSpc>
                  <a:spcPts val="1664"/>
                </a:lnSpc>
              </a:pPr>
              <a:t>28</a:t>
            </a:fld>
            <a:endParaRPr spc="-25" dirty="0">
              <a:solidFill>
                <a:prstClr val="white"/>
              </a:solidFill>
            </a:endParaRPr>
          </a:p>
        </p:txBody>
      </p:sp>
      <p:sp>
        <p:nvSpPr>
          <p:cNvPr id="7" name="object 7"/>
          <p:cNvSpPr txBox="1">
            <a:spLocks noGrp="1"/>
          </p:cNvSpPr>
          <p:nvPr>
            <p:ph type="ftr" sz="quarter" idx="5"/>
          </p:nvPr>
        </p:nvSpPr>
        <p:spPr>
          <a:xfrm>
            <a:off x="2763418" y="6600176"/>
            <a:ext cx="1243964" cy="155171"/>
          </a:xfrm>
          <a:prstGeom prst="rect">
            <a:avLst/>
          </a:prstGeom>
        </p:spPr>
        <p:txBody>
          <a:bodyPr vert="horz" wrap="square" lIns="0" tIns="1270" rIns="0" bIns="0" rtlCol="0">
            <a:spAutoFit/>
          </a:bodyPr>
          <a:lstStyle/>
          <a:p>
            <a:pPr marL="12700">
              <a:spcBef>
                <a:spcPts val="10"/>
              </a:spcBef>
            </a:pPr>
            <a:endParaRPr spc="-20" dirty="0">
              <a:solidFill>
                <a:prstClr val="white"/>
              </a:solidFill>
            </a:endParaRPr>
          </a:p>
        </p:txBody>
      </p:sp>
      <p:pic>
        <p:nvPicPr>
          <p:cNvPr id="5124" name="Picture 4" descr="https://cdn.codegym.vn/wp-content/uploads/2019/08/asp-net-mvc5-1-bat-dau-voi-asp-net-mvc-5-8-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16147" y="1106506"/>
            <a:ext cx="3559707" cy="47085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060024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2091268" y="450927"/>
            <a:ext cx="11057467" cy="412292"/>
          </a:xfrm>
          <a:prstGeom prst="rect">
            <a:avLst/>
          </a:prstGeom>
        </p:spPr>
        <p:txBody>
          <a:bodyPr vert="horz" wrap="square" lIns="0" tIns="12065" rIns="0" bIns="0" rtlCol="0">
            <a:spAutoFit/>
          </a:bodyPr>
          <a:lstStyle/>
          <a:p>
            <a:pPr marL="12700">
              <a:spcBef>
                <a:spcPts val="95"/>
              </a:spcBef>
              <a:tabLst>
                <a:tab pos="8279765" algn="l"/>
              </a:tabLst>
            </a:pPr>
            <a:r>
              <a:rPr sz="2600" dirty="0"/>
              <a:t>3.</a:t>
            </a:r>
            <a:r>
              <a:rPr sz="2600" spc="-35" dirty="0"/>
              <a:t> </a:t>
            </a:r>
            <a:r>
              <a:rPr sz="2600" dirty="0"/>
              <a:t>GIỚI</a:t>
            </a:r>
            <a:r>
              <a:rPr sz="2600" spc="-35" dirty="0"/>
              <a:t> </a:t>
            </a:r>
            <a:r>
              <a:rPr sz="2600" dirty="0"/>
              <a:t>THIỆU</a:t>
            </a:r>
            <a:r>
              <a:rPr sz="2600" spc="-70" dirty="0"/>
              <a:t> </a:t>
            </a:r>
            <a:r>
              <a:rPr sz="2600" dirty="0"/>
              <a:t>VỀ</a:t>
            </a:r>
            <a:r>
              <a:rPr sz="2600" spc="-20" dirty="0"/>
              <a:t> </a:t>
            </a:r>
            <a:r>
              <a:rPr sz="2600" spc="-10" dirty="0"/>
              <a:t>CONTROLLER</a:t>
            </a:r>
            <a:r>
              <a:rPr sz="2600" dirty="0"/>
              <a:t>	</a:t>
            </a:r>
            <a:endParaRPr sz="2600"/>
          </a:p>
        </p:txBody>
      </p:sp>
      <p:sp>
        <p:nvSpPr>
          <p:cNvPr id="3" name="object 3"/>
          <p:cNvSpPr txBox="1"/>
          <p:nvPr/>
        </p:nvSpPr>
        <p:spPr>
          <a:xfrm>
            <a:off x="2242820" y="1167766"/>
            <a:ext cx="2723515" cy="393065"/>
          </a:xfrm>
          <a:prstGeom prst="rect">
            <a:avLst/>
          </a:prstGeom>
        </p:spPr>
        <p:txBody>
          <a:bodyPr vert="horz" wrap="square" lIns="0" tIns="13970" rIns="0" bIns="0" rtlCol="0">
            <a:spAutoFit/>
          </a:bodyPr>
          <a:lstStyle/>
          <a:p>
            <a:pPr marL="12700">
              <a:spcBef>
                <a:spcPts val="110"/>
              </a:spcBef>
            </a:pPr>
            <a:r>
              <a:rPr sz="2400" b="1" kern="0" dirty="0">
                <a:solidFill>
                  <a:srgbClr val="C00000"/>
                </a:solidFill>
                <a:latin typeface="Arial"/>
                <a:cs typeface="Arial"/>
              </a:rPr>
              <a:t>Tạo</a:t>
            </a:r>
            <a:r>
              <a:rPr sz="2400" b="1" kern="0" spc="10" dirty="0">
                <a:solidFill>
                  <a:srgbClr val="C00000"/>
                </a:solidFill>
                <a:latin typeface="Arial"/>
                <a:cs typeface="Arial"/>
              </a:rPr>
              <a:t> </a:t>
            </a:r>
            <a:r>
              <a:rPr sz="2400" b="1" kern="0" dirty="0">
                <a:solidFill>
                  <a:srgbClr val="C00000"/>
                </a:solidFill>
                <a:latin typeface="Arial"/>
                <a:cs typeface="Arial"/>
              </a:rPr>
              <a:t>mới</a:t>
            </a:r>
            <a:r>
              <a:rPr sz="2400" b="1" kern="0" spc="-50" dirty="0">
                <a:solidFill>
                  <a:srgbClr val="C00000"/>
                </a:solidFill>
                <a:latin typeface="Arial"/>
                <a:cs typeface="Arial"/>
              </a:rPr>
              <a:t> </a:t>
            </a:r>
            <a:r>
              <a:rPr sz="2400" b="1" kern="0" spc="-10" dirty="0">
                <a:solidFill>
                  <a:srgbClr val="C00000"/>
                </a:solidFill>
                <a:latin typeface="Arial"/>
                <a:cs typeface="Arial"/>
              </a:rPr>
              <a:t>controller</a:t>
            </a:r>
            <a:endParaRPr sz="2400" kern="0">
              <a:solidFill>
                <a:sysClr val="windowText" lastClr="000000"/>
              </a:solidFill>
              <a:latin typeface="Arial"/>
              <a:cs typeface="Arial"/>
            </a:endParaRPr>
          </a:p>
        </p:txBody>
      </p:sp>
      <p:pic>
        <p:nvPicPr>
          <p:cNvPr id="4" name="object 4"/>
          <p:cNvPicPr/>
          <p:nvPr/>
        </p:nvPicPr>
        <p:blipFill>
          <a:blip r:embed="rId2" cstate="print"/>
          <a:stretch>
            <a:fillRect/>
          </a:stretch>
        </p:blipFill>
        <p:spPr>
          <a:xfrm>
            <a:off x="2367446" y="1663192"/>
            <a:ext cx="7573009" cy="4775708"/>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solidFill>
                  <a:prstClr val="white"/>
                </a:solidFill>
              </a:rPr>
              <a:pPr marL="38100">
                <a:lnSpc>
                  <a:spcPts val="1664"/>
                </a:lnSpc>
              </a:pPr>
              <a:t>29</a:t>
            </a:fld>
            <a:endParaRPr spc="-25" dirty="0">
              <a:solidFill>
                <a:prstClr val="white"/>
              </a:solidFill>
            </a:endParaRPr>
          </a:p>
        </p:txBody>
      </p:sp>
      <p:sp>
        <p:nvSpPr>
          <p:cNvPr id="7" name="object 7"/>
          <p:cNvSpPr txBox="1">
            <a:spLocks noGrp="1"/>
          </p:cNvSpPr>
          <p:nvPr>
            <p:ph type="ftr" sz="quarter" idx="5"/>
          </p:nvPr>
        </p:nvSpPr>
        <p:spPr>
          <a:xfrm>
            <a:off x="2763418" y="6600176"/>
            <a:ext cx="1243964" cy="155171"/>
          </a:xfrm>
          <a:prstGeom prst="rect">
            <a:avLst/>
          </a:prstGeom>
        </p:spPr>
        <p:txBody>
          <a:bodyPr vert="horz" wrap="square" lIns="0" tIns="1270" rIns="0" bIns="0" rtlCol="0">
            <a:spAutoFit/>
          </a:bodyPr>
          <a:lstStyle/>
          <a:p>
            <a:pPr marL="12700">
              <a:spcBef>
                <a:spcPts val="10"/>
              </a:spcBef>
            </a:pPr>
            <a:endParaRPr spc="-20" dirty="0">
              <a:solidFill>
                <a:prstClr val="white"/>
              </a:solidFill>
            </a:endParaRPr>
          </a:p>
        </p:txBody>
      </p:sp>
    </p:spTree>
    <p:extLst>
      <p:ext uri="{BB962C8B-B14F-4D97-AF65-F5344CB8AC3E}">
        <p14:creationId xmlns:p14="http://schemas.microsoft.com/office/powerpoint/2010/main" val="423506875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584326" y="66675"/>
            <a:ext cx="9020175" cy="6699250"/>
            <a:chOff x="60325" y="66675"/>
            <a:chExt cx="9020175" cy="6699250"/>
          </a:xfrm>
        </p:grpSpPr>
        <p:sp>
          <p:nvSpPr>
            <p:cNvPr id="3" name="object 3"/>
            <p:cNvSpPr/>
            <p:nvPr/>
          </p:nvSpPr>
          <p:spPr>
            <a:xfrm>
              <a:off x="63500" y="69850"/>
              <a:ext cx="9013825" cy="6692900"/>
            </a:xfrm>
            <a:custGeom>
              <a:avLst/>
              <a:gdLst/>
              <a:ahLst/>
              <a:cxnLst/>
              <a:rect l="l" t="t" r="r" b="b"/>
              <a:pathLst>
                <a:path w="9013825" h="6692900">
                  <a:moveTo>
                    <a:pt x="0" y="329946"/>
                  </a:moveTo>
                  <a:lnTo>
                    <a:pt x="3576" y="281184"/>
                  </a:lnTo>
                  <a:lnTo>
                    <a:pt x="13967" y="234645"/>
                  </a:lnTo>
                  <a:lnTo>
                    <a:pt x="30661" y="190840"/>
                  </a:lnTo>
                  <a:lnTo>
                    <a:pt x="53148" y="150277"/>
                  </a:lnTo>
                  <a:lnTo>
                    <a:pt x="80918" y="113468"/>
                  </a:lnTo>
                  <a:lnTo>
                    <a:pt x="113460" y="80923"/>
                  </a:lnTo>
                  <a:lnTo>
                    <a:pt x="150264" y="53151"/>
                  </a:lnTo>
                  <a:lnTo>
                    <a:pt x="190820" y="30662"/>
                  </a:lnTo>
                  <a:lnTo>
                    <a:pt x="234617" y="13967"/>
                  </a:lnTo>
                  <a:lnTo>
                    <a:pt x="281146" y="3576"/>
                  </a:lnTo>
                  <a:lnTo>
                    <a:pt x="329895" y="0"/>
                  </a:lnTo>
                  <a:lnTo>
                    <a:pt x="8683879" y="0"/>
                  </a:lnTo>
                  <a:lnTo>
                    <a:pt x="8732640" y="3576"/>
                  </a:lnTo>
                  <a:lnTo>
                    <a:pt x="8779179" y="13967"/>
                  </a:lnTo>
                  <a:lnTo>
                    <a:pt x="8822984" y="30662"/>
                  </a:lnTo>
                  <a:lnTo>
                    <a:pt x="8863547" y="53151"/>
                  </a:lnTo>
                  <a:lnTo>
                    <a:pt x="8900356" y="80923"/>
                  </a:lnTo>
                  <a:lnTo>
                    <a:pt x="8932901" y="113468"/>
                  </a:lnTo>
                  <a:lnTo>
                    <a:pt x="8960673" y="150277"/>
                  </a:lnTo>
                  <a:lnTo>
                    <a:pt x="8983162" y="190840"/>
                  </a:lnTo>
                  <a:lnTo>
                    <a:pt x="8999857" y="234645"/>
                  </a:lnTo>
                  <a:lnTo>
                    <a:pt x="9010248" y="281184"/>
                  </a:lnTo>
                  <a:lnTo>
                    <a:pt x="9013825" y="329946"/>
                  </a:lnTo>
                  <a:lnTo>
                    <a:pt x="9013825" y="6363004"/>
                  </a:lnTo>
                  <a:lnTo>
                    <a:pt x="9010248" y="6411753"/>
                  </a:lnTo>
                  <a:lnTo>
                    <a:pt x="8999857" y="6458282"/>
                  </a:lnTo>
                  <a:lnTo>
                    <a:pt x="8983162" y="6502079"/>
                  </a:lnTo>
                  <a:lnTo>
                    <a:pt x="8960673" y="6542635"/>
                  </a:lnTo>
                  <a:lnTo>
                    <a:pt x="8932901" y="6579439"/>
                  </a:lnTo>
                  <a:lnTo>
                    <a:pt x="8900356" y="6611981"/>
                  </a:lnTo>
                  <a:lnTo>
                    <a:pt x="8863547" y="6639751"/>
                  </a:lnTo>
                  <a:lnTo>
                    <a:pt x="8822984" y="6662238"/>
                  </a:lnTo>
                  <a:lnTo>
                    <a:pt x="8779179" y="6678932"/>
                  </a:lnTo>
                  <a:lnTo>
                    <a:pt x="8732640" y="6689323"/>
                  </a:lnTo>
                  <a:lnTo>
                    <a:pt x="8683879" y="6692900"/>
                  </a:lnTo>
                  <a:lnTo>
                    <a:pt x="329895" y="6692900"/>
                  </a:lnTo>
                  <a:lnTo>
                    <a:pt x="281146" y="6689323"/>
                  </a:lnTo>
                  <a:lnTo>
                    <a:pt x="234617" y="6678932"/>
                  </a:lnTo>
                  <a:lnTo>
                    <a:pt x="190820" y="6662238"/>
                  </a:lnTo>
                  <a:lnTo>
                    <a:pt x="150264" y="6639751"/>
                  </a:lnTo>
                  <a:lnTo>
                    <a:pt x="113460" y="6611981"/>
                  </a:lnTo>
                  <a:lnTo>
                    <a:pt x="80918" y="6579439"/>
                  </a:lnTo>
                  <a:lnTo>
                    <a:pt x="53148" y="6542635"/>
                  </a:lnTo>
                  <a:lnTo>
                    <a:pt x="30661" y="6502079"/>
                  </a:lnTo>
                  <a:lnTo>
                    <a:pt x="13967" y="6458282"/>
                  </a:lnTo>
                  <a:lnTo>
                    <a:pt x="3576" y="6411753"/>
                  </a:lnTo>
                  <a:lnTo>
                    <a:pt x="0" y="6363004"/>
                  </a:lnTo>
                  <a:lnTo>
                    <a:pt x="0" y="329946"/>
                  </a:lnTo>
                  <a:close/>
                </a:path>
              </a:pathLst>
            </a:custGeom>
            <a:ln w="6350">
              <a:solidFill>
                <a:srgbClr val="000000"/>
              </a:solidFill>
            </a:ln>
          </p:spPr>
          <p:txBody>
            <a:bodyPr wrap="square" lIns="0" tIns="0" rIns="0" bIns="0" rtlCol="0"/>
            <a:lstStyle/>
            <a:p>
              <a:endParaRPr kern="0">
                <a:solidFill>
                  <a:sysClr val="windowText" lastClr="000000"/>
                </a:solidFill>
              </a:endParaRPr>
            </a:p>
          </p:txBody>
        </p:sp>
        <p:sp>
          <p:nvSpPr>
            <p:cNvPr id="4" name="object 4"/>
            <p:cNvSpPr/>
            <p:nvPr/>
          </p:nvSpPr>
          <p:spPr>
            <a:xfrm>
              <a:off x="146050"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kern="0">
                <a:solidFill>
                  <a:sysClr val="windowText" lastClr="000000"/>
                </a:solidFill>
              </a:endParaRPr>
            </a:p>
          </p:txBody>
        </p:sp>
      </p:grpSp>
      <p:sp>
        <p:nvSpPr>
          <p:cNvPr id="5" name="object 5"/>
          <p:cNvSpPr txBox="1"/>
          <p:nvPr/>
        </p:nvSpPr>
        <p:spPr>
          <a:xfrm>
            <a:off x="1784095" y="6319215"/>
            <a:ext cx="217804" cy="228268"/>
          </a:xfrm>
          <a:prstGeom prst="rect">
            <a:avLst/>
          </a:prstGeom>
        </p:spPr>
        <p:txBody>
          <a:bodyPr vert="horz" wrap="square" lIns="0" tIns="12700" rIns="0" bIns="0" rtlCol="0">
            <a:spAutoFit/>
          </a:bodyPr>
          <a:lstStyle/>
          <a:p>
            <a:pPr marL="12700">
              <a:spcBef>
                <a:spcPts val="100"/>
              </a:spcBef>
            </a:pPr>
            <a:r>
              <a:rPr sz="1400" kern="0" spc="-50" dirty="0">
                <a:solidFill>
                  <a:srgbClr val="FFFFFF"/>
                </a:solidFill>
                <a:latin typeface="Franklin Gothic Medium"/>
                <a:cs typeface="Franklin Gothic Medium"/>
              </a:rPr>
              <a:t>27</a:t>
            </a:r>
            <a:endParaRPr sz="1400" kern="0">
              <a:solidFill>
                <a:sysClr val="windowText" lastClr="000000"/>
              </a:solidFill>
              <a:latin typeface="Franklin Gothic Medium"/>
              <a:cs typeface="Franklin Gothic Medium"/>
            </a:endParaRPr>
          </a:p>
        </p:txBody>
      </p:sp>
      <p:grpSp>
        <p:nvGrpSpPr>
          <p:cNvPr id="6" name="object 6"/>
          <p:cNvGrpSpPr/>
          <p:nvPr/>
        </p:nvGrpSpPr>
        <p:grpSpPr>
          <a:xfrm>
            <a:off x="1949195" y="886967"/>
            <a:ext cx="8338184" cy="5876290"/>
            <a:chOff x="425195" y="886967"/>
            <a:chExt cx="8338184" cy="5876290"/>
          </a:xfrm>
        </p:grpSpPr>
        <p:pic>
          <p:nvPicPr>
            <p:cNvPr id="7" name="object 7"/>
            <p:cNvPicPr/>
            <p:nvPr/>
          </p:nvPicPr>
          <p:blipFill>
            <a:blip r:embed="rId2" cstate="print"/>
            <a:stretch>
              <a:fillRect/>
            </a:stretch>
          </p:blipFill>
          <p:spPr>
            <a:xfrm>
              <a:off x="425195" y="886967"/>
              <a:ext cx="8293608" cy="105156"/>
            </a:xfrm>
            <a:prstGeom prst="rect">
              <a:avLst/>
            </a:prstGeom>
          </p:spPr>
        </p:pic>
        <p:sp>
          <p:nvSpPr>
            <p:cNvPr id="8" name="object 8"/>
            <p:cNvSpPr/>
            <p:nvPr/>
          </p:nvSpPr>
          <p:spPr>
            <a:xfrm>
              <a:off x="447675" y="6567487"/>
              <a:ext cx="8315325" cy="195580"/>
            </a:xfrm>
            <a:custGeom>
              <a:avLst/>
              <a:gdLst/>
              <a:ahLst/>
              <a:cxnLst/>
              <a:rect l="l" t="t" r="r" b="b"/>
              <a:pathLst>
                <a:path w="8315325" h="195579">
                  <a:moveTo>
                    <a:pt x="2741676" y="195262"/>
                  </a:moveTo>
                  <a:lnTo>
                    <a:pt x="2735313" y="144627"/>
                  </a:lnTo>
                  <a:lnTo>
                    <a:pt x="2717393" y="99123"/>
                  </a:lnTo>
                  <a:lnTo>
                    <a:pt x="2689580" y="60566"/>
                  </a:lnTo>
                  <a:lnTo>
                    <a:pt x="2653601" y="30772"/>
                  </a:lnTo>
                  <a:lnTo>
                    <a:pt x="2611132" y="11569"/>
                  </a:lnTo>
                  <a:lnTo>
                    <a:pt x="2563876" y="4762"/>
                  </a:lnTo>
                  <a:lnTo>
                    <a:pt x="177800" y="4762"/>
                  </a:lnTo>
                  <a:lnTo>
                    <a:pt x="130530" y="11569"/>
                  </a:lnTo>
                  <a:lnTo>
                    <a:pt x="88049" y="30772"/>
                  </a:lnTo>
                  <a:lnTo>
                    <a:pt x="52070" y="60566"/>
                  </a:lnTo>
                  <a:lnTo>
                    <a:pt x="24269" y="99123"/>
                  </a:lnTo>
                  <a:lnTo>
                    <a:pt x="6350" y="144627"/>
                  </a:lnTo>
                  <a:lnTo>
                    <a:pt x="0" y="195262"/>
                  </a:lnTo>
                  <a:lnTo>
                    <a:pt x="2741676" y="195262"/>
                  </a:lnTo>
                  <a:close/>
                </a:path>
                <a:path w="8315325" h="195579">
                  <a:moveTo>
                    <a:pt x="8315325" y="190512"/>
                  </a:moveTo>
                  <a:lnTo>
                    <a:pt x="8308962" y="139865"/>
                  </a:lnTo>
                  <a:lnTo>
                    <a:pt x="8291042" y="94361"/>
                  </a:lnTo>
                  <a:lnTo>
                    <a:pt x="8263229" y="55803"/>
                  </a:lnTo>
                  <a:lnTo>
                    <a:pt x="8227250" y="26022"/>
                  </a:lnTo>
                  <a:lnTo>
                    <a:pt x="8184782" y="6807"/>
                  </a:lnTo>
                  <a:lnTo>
                    <a:pt x="8137525" y="0"/>
                  </a:lnTo>
                  <a:lnTo>
                    <a:pt x="5749925" y="0"/>
                  </a:lnTo>
                  <a:lnTo>
                    <a:pt x="5702655" y="6807"/>
                  </a:lnTo>
                  <a:lnTo>
                    <a:pt x="5660187" y="26022"/>
                  </a:lnTo>
                  <a:lnTo>
                    <a:pt x="5624207" y="55803"/>
                  </a:lnTo>
                  <a:lnTo>
                    <a:pt x="5596394" y="94361"/>
                  </a:lnTo>
                  <a:lnTo>
                    <a:pt x="5578475" y="139865"/>
                  </a:lnTo>
                  <a:lnTo>
                    <a:pt x="5572125" y="190512"/>
                  </a:lnTo>
                  <a:lnTo>
                    <a:pt x="8315325" y="190512"/>
                  </a:lnTo>
                  <a:close/>
                </a:path>
              </a:pathLst>
            </a:custGeom>
            <a:solidFill>
              <a:srgbClr val="D24717"/>
            </a:solidFill>
          </p:spPr>
          <p:txBody>
            <a:bodyPr wrap="square" lIns="0" tIns="0" rIns="0" bIns="0" rtlCol="0"/>
            <a:lstStyle/>
            <a:p>
              <a:endParaRPr kern="0">
                <a:solidFill>
                  <a:sysClr val="windowText" lastClr="000000"/>
                </a:solidFill>
              </a:endParaRPr>
            </a:p>
          </p:txBody>
        </p:sp>
        <p:pic>
          <p:nvPicPr>
            <p:cNvPr id="9" name="object 9"/>
            <p:cNvPicPr/>
            <p:nvPr/>
          </p:nvPicPr>
          <p:blipFill>
            <a:blip r:embed="rId3" cstate="print"/>
            <a:stretch>
              <a:fillRect/>
            </a:stretch>
          </p:blipFill>
          <p:spPr>
            <a:xfrm>
              <a:off x="1014133" y="1604924"/>
              <a:ext cx="7072400" cy="4362958"/>
            </a:xfrm>
            <a:prstGeom prst="rect">
              <a:avLst/>
            </a:prstGeom>
          </p:spPr>
        </p:pic>
      </p:grpSp>
      <p:sp>
        <p:nvSpPr>
          <p:cNvPr id="10" name="object 10"/>
          <p:cNvSpPr txBox="1"/>
          <p:nvPr/>
        </p:nvSpPr>
        <p:spPr>
          <a:xfrm>
            <a:off x="2242820" y="1167766"/>
            <a:ext cx="4031615" cy="393065"/>
          </a:xfrm>
          <a:prstGeom prst="rect">
            <a:avLst/>
          </a:prstGeom>
        </p:spPr>
        <p:txBody>
          <a:bodyPr vert="horz" wrap="square" lIns="0" tIns="13970" rIns="0" bIns="0" rtlCol="0">
            <a:spAutoFit/>
          </a:bodyPr>
          <a:lstStyle/>
          <a:p>
            <a:pPr marL="12700">
              <a:spcBef>
                <a:spcPts val="110"/>
              </a:spcBef>
            </a:pPr>
            <a:r>
              <a:rPr sz="2400" b="1" kern="0" dirty="0">
                <a:solidFill>
                  <a:srgbClr val="C00000"/>
                </a:solidFill>
                <a:latin typeface="Arial"/>
                <a:cs typeface="Arial"/>
              </a:rPr>
              <a:t>Thêm</a:t>
            </a:r>
            <a:r>
              <a:rPr sz="2400" b="1" kern="0" spc="-140" dirty="0">
                <a:solidFill>
                  <a:srgbClr val="C00000"/>
                </a:solidFill>
                <a:latin typeface="Arial"/>
                <a:cs typeface="Arial"/>
              </a:rPr>
              <a:t> </a:t>
            </a:r>
            <a:r>
              <a:rPr sz="2400" b="1" kern="0" dirty="0">
                <a:solidFill>
                  <a:srgbClr val="C00000"/>
                </a:solidFill>
                <a:latin typeface="Arial"/>
                <a:cs typeface="Arial"/>
              </a:rPr>
              <a:t>Action</a:t>
            </a:r>
            <a:r>
              <a:rPr sz="2400" b="1" kern="0" spc="-10" dirty="0">
                <a:solidFill>
                  <a:srgbClr val="C00000"/>
                </a:solidFill>
                <a:latin typeface="Arial"/>
                <a:cs typeface="Arial"/>
              </a:rPr>
              <a:t> </a:t>
            </a:r>
            <a:r>
              <a:rPr sz="2400" b="1" kern="0" dirty="0">
                <a:solidFill>
                  <a:srgbClr val="C00000"/>
                </a:solidFill>
                <a:latin typeface="Arial"/>
                <a:cs typeface="Arial"/>
              </a:rPr>
              <a:t>cho</a:t>
            </a:r>
            <a:r>
              <a:rPr sz="2400" b="1" kern="0" spc="-75" dirty="0">
                <a:solidFill>
                  <a:srgbClr val="C00000"/>
                </a:solidFill>
                <a:latin typeface="Arial"/>
                <a:cs typeface="Arial"/>
              </a:rPr>
              <a:t> </a:t>
            </a:r>
            <a:r>
              <a:rPr sz="2400" b="1" kern="0" spc="-10" dirty="0">
                <a:solidFill>
                  <a:srgbClr val="C00000"/>
                </a:solidFill>
                <a:latin typeface="Arial"/>
                <a:cs typeface="Arial"/>
              </a:rPr>
              <a:t>Controller</a:t>
            </a:r>
            <a:endParaRPr sz="2400" kern="0">
              <a:solidFill>
                <a:sysClr val="windowText" lastClr="000000"/>
              </a:solidFill>
              <a:latin typeface="Arial"/>
              <a:cs typeface="Arial"/>
            </a:endParaRPr>
          </a:p>
        </p:txBody>
      </p:sp>
      <p:sp>
        <p:nvSpPr>
          <p:cNvPr id="14" name="object 14"/>
          <p:cNvSpPr txBox="1">
            <a:spLocks noGrp="1"/>
          </p:cNvSpPr>
          <p:nvPr>
            <p:ph type="ftr" sz="quarter" idx="5"/>
          </p:nvPr>
        </p:nvSpPr>
        <p:spPr>
          <a:xfrm>
            <a:off x="2763418" y="6600176"/>
            <a:ext cx="1243964" cy="155171"/>
          </a:xfrm>
          <a:prstGeom prst="rect">
            <a:avLst/>
          </a:prstGeom>
        </p:spPr>
        <p:txBody>
          <a:bodyPr vert="horz" wrap="square" lIns="0" tIns="1270" rIns="0" bIns="0" rtlCol="0">
            <a:spAutoFit/>
          </a:bodyPr>
          <a:lstStyle/>
          <a:p>
            <a:pPr marL="12700">
              <a:spcBef>
                <a:spcPts val="10"/>
              </a:spcBef>
            </a:pPr>
            <a:endParaRPr spc="-20" dirty="0">
              <a:solidFill>
                <a:prstClr val="white"/>
              </a:solidFill>
            </a:endParaRPr>
          </a:p>
        </p:txBody>
      </p:sp>
      <p:sp>
        <p:nvSpPr>
          <p:cNvPr id="11" name="object 11"/>
          <p:cNvSpPr txBox="1"/>
          <p:nvPr/>
        </p:nvSpPr>
        <p:spPr>
          <a:xfrm>
            <a:off x="2617420" y="6097626"/>
            <a:ext cx="3738245" cy="393065"/>
          </a:xfrm>
          <a:prstGeom prst="rect">
            <a:avLst/>
          </a:prstGeom>
        </p:spPr>
        <p:txBody>
          <a:bodyPr vert="horz" wrap="square" lIns="0" tIns="13970" rIns="0" bIns="0" rtlCol="0">
            <a:spAutoFit/>
          </a:bodyPr>
          <a:lstStyle/>
          <a:p>
            <a:pPr marL="12700">
              <a:spcBef>
                <a:spcPts val="110"/>
              </a:spcBef>
            </a:pPr>
            <a:r>
              <a:rPr sz="2400" kern="0" dirty="0">
                <a:solidFill>
                  <a:sysClr val="windowText" lastClr="000000"/>
                </a:solidFill>
                <a:latin typeface="Microsoft Sans Serif"/>
                <a:cs typeface="Microsoft Sans Serif"/>
              </a:rPr>
              <a:t>Chú</a:t>
            </a:r>
            <a:r>
              <a:rPr sz="2400" kern="0" spc="1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ý:</a:t>
            </a:r>
            <a:r>
              <a:rPr sz="2400" kern="0" spc="5" dirty="0">
                <a:solidFill>
                  <a:sysClr val="windowText" lastClr="000000"/>
                </a:solidFill>
                <a:latin typeface="Microsoft Sans Serif"/>
                <a:cs typeface="Microsoft Sans Serif"/>
              </a:rPr>
              <a:t> </a:t>
            </a:r>
            <a:r>
              <a:rPr sz="2400" kern="0" dirty="0">
                <a:solidFill>
                  <a:srgbClr val="FF0000"/>
                </a:solidFill>
                <a:latin typeface="Microsoft Sans Serif"/>
                <a:cs typeface="Microsoft Sans Serif"/>
              </a:rPr>
              <a:t>return</a:t>
            </a:r>
            <a:r>
              <a:rPr sz="2400" kern="0" spc="10" dirty="0">
                <a:solidFill>
                  <a:srgbClr val="FF0000"/>
                </a:solidFill>
                <a:latin typeface="Microsoft Sans Serif"/>
                <a:cs typeface="Microsoft Sans Serif"/>
              </a:rPr>
              <a:t> </a:t>
            </a:r>
            <a:r>
              <a:rPr sz="2400" kern="0" spc="65" dirty="0">
                <a:solidFill>
                  <a:srgbClr val="FF0000"/>
                </a:solidFill>
                <a:latin typeface="Microsoft Sans Serif"/>
                <a:cs typeface="Microsoft Sans Serif"/>
              </a:rPr>
              <a:t>Content(“….”)</a:t>
            </a:r>
            <a:endParaRPr sz="2400" kern="0">
              <a:solidFill>
                <a:sysClr val="windowText" lastClr="000000"/>
              </a:solidFill>
              <a:latin typeface="Microsoft Sans Serif"/>
              <a:cs typeface="Microsoft Sans Serif"/>
            </a:endParaRPr>
          </a:p>
        </p:txBody>
      </p:sp>
      <p:sp>
        <p:nvSpPr>
          <p:cNvPr id="12" name="object 12"/>
          <p:cNvSpPr txBox="1">
            <a:spLocks noGrp="1"/>
          </p:cNvSpPr>
          <p:nvPr>
            <p:ph type="ctrTitle"/>
          </p:nvPr>
        </p:nvSpPr>
        <p:spPr>
          <a:xfrm>
            <a:off x="2091268" y="450927"/>
            <a:ext cx="11057467" cy="412292"/>
          </a:xfrm>
          <a:prstGeom prst="rect">
            <a:avLst/>
          </a:prstGeom>
        </p:spPr>
        <p:txBody>
          <a:bodyPr vert="horz" wrap="square" lIns="0" tIns="12065" rIns="0" bIns="0" rtlCol="0">
            <a:spAutoFit/>
          </a:bodyPr>
          <a:lstStyle/>
          <a:p>
            <a:pPr marL="12700">
              <a:spcBef>
                <a:spcPts val="95"/>
              </a:spcBef>
              <a:tabLst>
                <a:tab pos="8279765" algn="l"/>
              </a:tabLst>
            </a:pPr>
            <a:r>
              <a:rPr sz="2600" dirty="0"/>
              <a:t>3.</a:t>
            </a:r>
            <a:r>
              <a:rPr sz="2600" spc="-35" dirty="0"/>
              <a:t> </a:t>
            </a:r>
            <a:r>
              <a:rPr sz="2600" dirty="0"/>
              <a:t>GIỚI</a:t>
            </a:r>
            <a:r>
              <a:rPr sz="2600" spc="-35" dirty="0"/>
              <a:t> </a:t>
            </a:r>
            <a:r>
              <a:rPr sz="2600" dirty="0"/>
              <a:t>THIỆU</a:t>
            </a:r>
            <a:r>
              <a:rPr sz="2600" spc="-70" dirty="0"/>
              <a:t> </a:t>
            </a:r>
            <a:r>
              <a:rPr sz="2600" dirty="0"/>
              <a:t>VỀ</a:t>
            </a:r>
            <a:r>
              <a:rPr sz="2600" spc="-20" dirty="0"/>
              <a:t> </a:t>
            </a:r>
            <a:r>
              <a:rPr sz="2600" spc="-10" dirty="0"/>
              <a:t>CONTROLLER</a:t>
            </a:r>
            <a:r>
              <a:rPr sz="2600" dirty="0"/>
              <a:t>	</a:t>
            </a:r>
            <a:endParaRPr sz="2600"/>
          </a:p>
        </p:txBody>
      </p:sp>
    </p:spTree>
    <p:extLst>
      <p:ext uri="{BB962C8B-B14F-4D97-AF65-F5344CB8AC3E}">
        <p14:creationId xmlns:p14="http://schemas.microsoft.com/office/powerpoint/2010/main" val="56690409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42820" y="1167766"/>
            <a:ext cx="3197225" cy="393065"/>
          </a:xfrm>
          <a:prstGeom prst="rect">
            <a:avLst/>
          </a:prstGeom>
        </p:spPr>
        <p:txBody>
          <a:bodyPr vert="horz" wrap="square" lIns="0" tIns="13970" rIns="0" bIns="0" rtlCol="0">
            <a:spAutoFit/>
          </a:bodyPr>
          <a:lstStyle/>
          <a:p>
            <a:pPr marL="12700">
              <a:spcBef>
                <a:spcPts val="110"/>
              </a:spcBef>
            </a:pPr>
            <a:r>
              <a:rPr sz="2400" b="1" kern="0" dirty="0">
                <a:solidFill>
                  <a:srgbClr val="C00000"/>
                </a:solidFill>
                <a:latin typeface="Arial"/>
                <a:cs typeface="Arial"/>
              </a:rPr>
              <a:t>Thực</a:t>
            </a:r>
            <a:r>
              <a:rPr sz="2400" b="1" kern="0" spc="-45" dirty="0">
                <a:solidFill>
                  <a:srgbClr val="C00000"/>
                </a:solidFill>
                <a:latin typeface="Arial"/>
                <a:cs typeface="Arial"/>
              </a:rPr>
              <a:t> </a:t>
            </a:r>
            <a:r>
              <a:rPr sz="2400" b="1" kern="0" dirty="0">
                <a:solidFill>
                  <a:srgbClr val="C00000"/>
                </a:solidFill>
                <a:latin typeface="Arial"/>
                <a:cs typeface="Arial"/>
              </a:rPr>
              <a:t>thi</a:t>
            </a:r>
            <a:r>
              <a:rPr sz="2400" b="1" kern="0" spc="-20" dirty="0">
                <a:solidFill>
                  <a:srgbClr val="C00000"/>
                </a:solidFill>
                <a:latin typeface="Arial"/>
                <a:cs typeface="Arial"/>
              </a:rPr>
              <a:t> </a:t>
            </a:r>
            <a:r>
              <a:rPr sz="2400" b="1" kern="0" dirty="0">
                <a:solidFill>
                  <a:srgbClr val="C00000"/>
                </a:solidFill>
                <a:latin typeface="Arial"/>
                <a:cs typeface="Arial"/>
              </a:rPr>
              <a:t>xem</a:t>
            </a:r>
            <a:r>
              <a:rPr sz="2400" b="1" kern="0" spc="-25" dirty="0">
                <a:solidFill>
                  <a:srgbClr val="C00000"/>
                </a:solidFill>
                <a:latin typeface="Arial"/>
                <a:cs typeface="Arial"/>
              </a:rPr>
              <a:t> </a:t>
            </a:r>
            <a:r>
              <a:rPr sz="2400" b="1" kern="0" dirty="0">
                <a:solidFill>
                  <a:srgbClr val="C00000"/>
                </a:solidFill>
                <a:latin typeface="Arial"/>
                <a:cs typeface="Arial"/>
              </a:rPr>
              <a:t>kết</a:t>
            </a:r>
            <a:r>
              <a:rPr sz="2400" b="1" kern="0" spc="-15" dirty="0">
                <a:solidFill>
                  <a:srgbClr val="C00000"/>
                </a:solidFill>
                <a:latin typeface="Arial"/>
                <a:cs typeface="Arial"/>
              </a:rPr>
              <a:t> </a:t>
            </a:r>
            <a:r>
              <a:rPr sz="2400" b="1" kern="0" spc="-20" dirty="0">
                <a:solidFill>
                  <a:srgbClr val="C00000"/>
                </a:solidFill>
                <a:latin typeface="Arial"/>
                <a:cs typeface="Arial"/>
              </a:rPr>
              <a:t>quả:</a:t>
            </a:r>
            <a:endParaRPr sz="2400" kern="0">
              <a:solidFill>
                <a:sysClr val="windowText" lastClr="000000"/>
              </a:solidFill>
              <a:latin typeface="Arial"/>
              <a:cs typeface="Arial"/>
            </a:endParaRPr>
          </a:p>
        </p:txBody>
      </p:sp>
      <p:pic>
        <p:nvPicPr>
          <p:cNvPr id="3" name="object 3"/>
          <p:cNvPicPr/>
          <p:nvPr/>
        </p:nvPicPr>
        <p:blipFill>
          <a:blip r:embed="rId2" cstate="print"/>
          <a:stretch>
            <a:fillRect/>
          </a:stretch>
        </p:blipFill>
        <p:spPr>
          <a:xfrm>
            <a:off x="2971811" y="1654817"/>
            <a:ext cx="6754224" cy="2734048"/>
          </a:xfrm>
          <a:prstGeom prst="rect">
            <a:avLst/>
          </a:prstGeom>
        </p:spPr>
      </p:pic>
      <p:sp>
        <p:nvSpPr>
          <p:cNvPr id="4" name="object 4"/>
          <p:cNvSpPr txBox="1">
            <a:spLocks noGrp="1"/>
          </p:cNvSpPr>
          <p:nvPr>
            <p:ph type="ctrTitle"/>
          </p:nvPr>
        </p:nvSpPr>
        <p:spPr>
          <a:xfrm>
            <a:off x="2091268" y="450927"/>
            <a:ext cx="11057467" cy="412292"/>
          </a:xfrm>
          <a:prstGeom prst="rect">
            <a:avLst/>
          </a:prstGeom>
        </p:spPr>
        <p:txBody>
          <a:bodyPr vert="horz" wrap="square" lIns="0" tIns="12065" rIns="0" bIns="0" rtlCol="0">
            <a:spAutoFit/>
          </a:bodyPr>
          <a:lstStyle/>
          <a:p>
            <a:pPr marL="12700">
              <a:spcBef>
                <a:spcPts val="95"/>
              </a:spcBef>
              <a:tabLst>
                <a:tab pos="8279765" algn="l"/>
              </a:tabLst>
            </a:pPr>
            <a:r>
              <a:rPr sz="2600" dirty="0"/>
              <a:t>3.</a:t>
            </a:r>
            <a:r>
              <a:rPr sz="2600" spc="-35" dirty="0"/>
              <a:t> </a:t>
            </a:r>
            <a:r>
              <a:rPr sz="2600" dirty="0"/>
              <a:t>GIỚI</a:t>
            </a:r>
            <a:r>
              <a:rPr sz="2600" spc="-35" dirty="0"/>
              <a:t> </a:t>
            </a:r>
            <a:r>
              <a:rPr sz="2600" dirty="0"/>
              <a:t>THIỆU</a:t>
            </a:r>
            <a:r>
              <a:rPr sz="2600" spc="-70" dirty="0"/>
              <a:t> </a:t>
            </a:r>
            <a:r>
              <a:rPr sz="2600" dirty="0"/>
              <a:t>VỀ</a:t>
            </a:r>
            <a:r>
              <a:rPr sz="2600" spc="-20" dirty="0"/>
              <a:t> </a:t>
            </a:r>
            <a:r>
              <a:rPr sz="2600" spc="-10" dirty="0"/>
              <a:t>CONTROLLER</a:t>
            </a:r>
            <a:r>
              <a:rPr sz="2600" dirty="0"/>
              <a:t>	</a:t>
            </a:r>
            <a:endParaRPr sz="2600"/>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solidFill>
                  <a:prstClr val="white"/>
                </a:solidFill>
              </a:rPr>
              <a:pPr marL="38100">
                <a:lnSpc>
                  <a:spcPts val="1664"/>
                </a:lnSpc>
              </a:pPr>
              <a:t>31</a:t>
            </a:fld>
            <a:endParaRPr spc="-25" dirty="0">
              <a:solidFill>
                <a:prstClr val="white"/>
              </a:solidFill>
            </a:endParaRPr>
          </a:p>
        </p:txBody>
      </p:sp>
      <p:sp>
        <p:nvSpPr>
          <p:cNvPr id="7" name="object 7"/>
          <p:cNvSpPr txBox="1">
            <a:spLocks noGrp="1"/>
          </p:cNvSpPr>
          <p:nvPr>
            <p:ph type="ftr" sz="quarter" idx="5"/>
          </p:nvPr>
        </p:nvSpPr>
        <p:spPr>
          <a:xfrm>
            <a:off x="2763418" y="6600176"/>
            <a:ext cx="1243964" cy="155171"/>
          </a:xfrm>
          <a:prstGeom prst="rect">
            <a:avLst/>
          </a:prstGeom>
        </p:spPr>
        <p:txBody>
          <a:bodyPr vert="horz" wrap="square" lIns="0" tIns="1270" rIns="0" bIns="0" rtlCol="0">
            <a:spAutoFit/>
          </a:bodyPr>
          <a:lstStyle/>
          <a:p>
            <a:pPr marL="12700">
              <a:spcBef>
                <a:spcPts val="10"/>
              </a:spcBef>
            </a:pPr>
            <a:endParaRPr spc="-20" dirty="0">
              <a:solidFill>
                <a:prstClr val="white"/>
              </a:solidFill>
            </a:endParaRPr>
          </a:p>
        </p:txBody>
      </p:sp>
    </p:spTree>
    <p:extLst>
      <p:ext uri="{BB962C8B-B14F-4D97-AF65-F5344CB8AC3E}">
        <p14:creationId xmlns:p14="http://schemas.microsoft.com/office/powerpoint/2010/main" val="102041938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42820" y="1167766"/>
            <a:ext cx="2974975" cy="393065"/>
          </a:xfrm>
          <a:prstGeom prst="rect">
            <a:avLst/>
          </a:prstGeom>
        </p:spPr>
        <p:txBody>
          <a:bodyPr vert="horz" wrap="square" lIns="0" tIns="13970" rIns="0" bIns="0" rtlCol="0">
            <a:spAutoFit/>
          </a:bodyPr>
          <a:lstStyle/>
          <a:p>
            <a:pPr marL="12700">
              <a:spcBef>
                <a:spcPts val="110"/>
              </a:spcBef>
            </a:pPr>
            <a:r>
              <a:rPr sz="2400" b="1" kern="0" dirty="0">
                <a:solidFill>
                  <a:srgbClr val="C00000"/>
                </a:solidFill>
                <a:latin typeface="Arial"/>
                <a:cs typeface="Arial"/>
              </a:rPr>
              <a:t>Tạo</a:t>
            </a:r>
            <a:r>
              <a:rPr sz="2400" b="1" kern="0" spc="-10" dirty="0">
                <a:solidFill>
                  <a:srgbClr val="C00000"/>
                </a:solidFill>
                <a:latin typeface="Arial"/>
                <a:cs typeface="Arial"/>
              </a:rPr>
              <a:t> </a:t>
            </a:r>
            <a:r>
              <a:rPr sz="2400" b="1" kern="0" dirty="0">
                <a:solidFill>
                  <a:srgbClr val="C00000"/>
                </a:solidFill>
                <a:latin typeface="Arial"/>
                <a:cs typeface="Arial"/>
              </a:rPr>
              <a:t>View</a:t>
            </a:r>
            <a:r>
              <a:rPr sz="2400" b="1" kern="0" spc="-80" dirty="0">
                <a:solidFill>
                  <a:srgbClr val="C00000"/>
                </a:solidFill>
                <a:latin typeface="Arial"/>
                <a:cs typeface="Arial"/>
              </a:rPr>
              <a:t> </a:t>
            </a:r>
            <a:r>
              <a:rPr sz="2400" b="1" kern="0" dirty="0">
                <a:solidFill>
                  <a:srgbClr val="C00000"/>
                </a:solidFill>
                <a:latin typeface="Arial"/>
                <a:cs typeface="Arial"/>
              </a:rPr>
              <a:t>cho</a:t>
            </a:r>
            <a:r>
              <a:rPr sz="2400" b="1" kern="0" spc="-140" dirty="0">
                <a:solidFill>
                  <a:srgbClr val="C00000"/>
                </a:solidFill>
                <a:latin typeface="Arial"/>
                <a:cs typeface="Arial"/>
              </a:rPr>
              <a:t> </a:t>
            </a:r>
            <a:r>
              <a:rPr sz="2400" b="1" kern="0" spc="-10" dirty="0">
                <a:solidFill>
                  <a:srgbClr val="C00000"/>
                </a:solidFill>
                <a:latin typeface="Arial"/>
                <a:cs typeface="Arial"/>
              </a:rPr>
              <a:t>Action</a:t>
            </a:r>
            <a:endParaRPr sz="2400" kern="0">
              <a:solidFill>
                <a:sysClr val="windowText" lastClr="000000"/>
              </a:solidFill>
              <a:latin typeface="Arial"/>
              <a:cs typeface="Arial"/>
            </a:endParaRPr>
          </a:p>
        </p:txBody>
      </p:sp>
      <p:grpSp>
        <p:nvGrpSpPr>
          <p:cNvPr id="3" name="object 3"/>
          <p:cNvGrpSpPr/>
          <p:nvPr/>
        </p:nvGrpSpPr>
        <p:grpSpPr>
          <a:xfrm>
            <a:off x="2664029" y="1604900"/>
            <a:ext cx="7480300" cy="4834255"/>
            <a:chOff x="1140029" y="1604899"/>
            <a:chExt cx="7480300" cy="4834255"/>
          </a:xfrm>
        </p:grpSpPr>
        <p:pic>
          <p:nvPicPr>
            <p:cNvPr id="4" name="object 4"/>
            <p:cNvPicPr/>
            <p:nvPr/>
          </p:nvPicPr>
          <p:blipFill>
            <a:blip r:embed="rId2" cstate="print"/>
            <a:stretch>
              <a:fillRect/>
            </a:stretch>
          </p:blipFill>
          <p:spPr>
            <a:xfrm>
              <a:off x="1140029" y="1604899"/>
              <a:ext cx="6859014" cy="1657603"/>
            </a:xfrm>
            <a:prstGeom prst="rect">
              <a:avLst/>
            </a:prstGeom>
          </p:spPr>
        </p:pic>
        <p:pic>
          <p:nvPicPr>
            <p:cNvPr id="5" name="object 5"/>
            <p:cNvPicPr/>
            <p:nvPr/>
          </p:nvPicPr>
          <p:blipFill>
            <a:blip r:embed="rId3" cstate="print"/>
            <a:stretch>
              <a:fillRect/>
            </a:stretch>
          </p:blipFill>
          <p:spPr>
            <a:xfrm>
              <a:off x="3959605" y="3331844"/>
              <a:ext cx="4660519" cy="3107054"/>
            </a:xfrm>
            <a:prstGeom prst="rect">
              <a:avLst/>
            </a:prstGeom>
          </p:spPr>
        </p:pic>
      </p:grpSp>
      <p:sp>
        <p:nvSpPr>
          <p:cNvPr id="6" name="object 6"/>
          <p:cNvSpPr txBox="1"/>
          <p:nvPr/>
        </p:nvSpPr>
        <p:spPr>
          <a:xfrm>
            <a:off x="2206245" y="3538221"/>
            <a:ext cx="2731135" cy="393065"/>
          </a:xfrm>
          <a:prstGeom prst="rect">
            <a:avLst/>
          </a:prstGeom>
        </p:spPr>
        <p:txBody>
          <a:bodyPr vert="horz" wrap="square" lIns="0" tIns="13970" rIns="0" bIns="0" rtlCol="0">
            <a:spAutoFit/>
          </a:bodyPr>
          <a:lstStyle/>
          <a:p>
            <a:pPr marL="12700">
              <a:spcBef>
                <a:spcPts val="110"/>
              </a:spcBef>
            </a:pPr>
            <a:r>
              <a:rPr sz="2400" kern="0" dirty="0">
                <a:solidFill>
                  <a:sysClr val="windowText" lastClr="000000"/>
                </a:solidFill>
                <a:latin typeface="Microsoft Sans Serif"/>
                <a:cs typeface="Microsoft Sans Serif"/>
              </a:rPr>
              <a:t>Chú</a:t>
            </a:r>
            <a:r>
              <a:rPr sz="2400" kern="0" spc="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ý: </a:t>
            </a:r>
            <a:r>
              <a:rPr sz="2400" kern="0" dirty="0">
                <a:solidFill>
                  <a:srgbClr val="FF0000"/>
                </a:solidFill>
                <a:latin typeface="Microsoft Sans Serif"/>
                <a:cs typeface="Microsoft Sans Serif"/>
              </a:rPr>
              <a:t>return</a:t>
            </a:r>
            <a:r>
              <a:rPr sz="2400" kern="0" spc="15" dirty="0">
                <a:solidFill>
                  <a:srgbClr val="FF0000"/>
                </a:solidFill>
                <a:latin typeface="Microsoft Sans Serif"/>
                <a:cs typeface="Microsoft Sans Serif"/>
              </a:rPr>
              <a:t> </a:t>
            </a:r>
            <a:r>
              <a:rPr sz="2400" kern="0" spc="-10" dirty="0">
                <a:solidFill>
                  <a:srgbClr val="FF0000"/>
                </a:solidFill>
                <a:latin typeface="Microsoft Sans Serif"/>
                <a:cs typeface="Microsoft Sans Serif"/>
              </a:rPr>
              <a:t>View()</a:t>
            </a:r>
            <a:endParaRPr sz="2400" kern="0">
              <a:solidFill>
                <a:sysClr val="windowText" lastClr="000000"/>
              </a:solidFill>
              <a:latin typeface="Microsoft Sans Serif"/>
              <a:cs typeface="Microsoft Sans Serif"/>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solidFill>
                  <a:prstClr val="white"/>
                </a:solidFill>
              </a:rPr>
              <a:pPr marL="38100">
                <a:lnSpc>
                  <a:spcPts val="1664"/>
                </a:lnSpc>
              </a:pPr>
              <a:t>32</a:t>
            </a:fld>
            <a:endParaRPr spc="-25" dirty="0">
              <a:solidFill>
                <a:prstClr val="white"/>
              </a:solidFill>
            </a:endParaRPr>
          </a:p>
        </p:txBody>
      </p:sp>
      <p:sp>
        <p:nvSpPr>
          <p:cNvPr id="10" name="object 10"/>
          <p:cNvSpPr txBox="1">
            <a:spLocks noGrp="1"/>
          </p:cNvSpPr>
          <p:nvPr>
            <p:ph type="ftr" sz="quarter" idx="5"/>
          </p:nvPr>
        </p:nvSpPr>
        <p:spPr>
          <a:xfrm>
            <a:off x="2763418" y="6600176"/>
            <a:ext cx="1243964" cy="155171"/>
          </a:xfrm>
          <a:prstGeom prst="rect">
            <a:avLst/>
          </a:prstGeom>
        </p:spPr>
        <p:txBody>
          <a:bodyPr vert="horz" wrap="square" lIns="0" tIns="1270" rIns="0" bIns="0" rtlCol="0">
            <a:spAutoFit/>
          </a:bodyPr>
          <a:lstStyle/>
          <a:p>
            <a:pPr marL="12700">
              <a:spcBef>
                <a:spcPts val="10"/>
              </a:spcBef>
            </a:pPr>
            <a:endParaRPr spc="-20" dirty="0">
              <a:solidFill>
                <a:prstClr val="white"/>
              </a:solidFill>
            </a:endParaRPr>
          </a:p>
        </p:txBody>
      </p:sp>
      <p:sp>
        <p:nvSpPr>
          <p:cNvPr id="7" name="object 7"/>
          <p:cNvSpPr txBox="1">
            <a:spLocks noGrp="1"/>
          </p:cNvSpPr>
          <p:nvPr>
            <p:ph type="title"/>
          </p:nvPr>
        </p:nvSpPr>
        <p:spPr>
          <a:xfrm>
            <a:off x="2091268" y="450927"/>
            <a:ext cx="11057467" cy="412292"/>
          </a:xfrm>
          <a:prstGeom prst="rect">
            <a:avLst/>
          </a:prstGeom>
        </p:spPr>
        <p:txBody>
          <a:bodyPr vert="horz" wrap="square" lIns="0" tIns="12065" rIns="0" bIns="0" rtlCol="0">
            <a:spAutoFit/>
          </a:bodyPr>
          <a:lstStyle/>
          <a:p>
            <a:pPr marL="12700">
              <a:spcBef>
                <a:spcPts val="95"/>
              </a:spcBef>
              <a:tabLst>
                <a:tab pos="8279765" algn="l"/>
              </a:tabLst>
            </a:pPr>
            <a:r>
              <a:rPr sz="2600" dirty="0"/>
              <a:t>4.</a:t>
            </a:r>
            <a:r>
              <a:rPr sz="2600" spc="-35" dirty="0"/>
              <a:t> </a:t>
            </a:r>
            <a:r>
              <a:rPr sz="2600" dirty="0"/>
              <a:t>GIỚI</a:t>
            </a:r>
            <a:r>
              <a:rPr sz="2600" spc="-35" dirty="0"/>
              <a:t> </a:t>
            </a:r>
            <a:r>
              <a:rPr sz="2600" dirty="0"/>
              <a:t>THIỆU</a:t>
            </a:r>
            <a:r>
              <a:rPr sz="2600" spc="-70" dirty="0"/>
              <a:t> </a:t>
            </a:r>
            <a:r>
              <a:rPr sz="2600" dirty="0"/>
              <a:t>VỀ</a:t>
            </a:r>
            <a:r>
              <a:rPr sz="2600" spc="-45" dirty="0"/>
              <a:t> </a:t>
            </a:r>
            <a:r>
              <a:rPr sz="2600" spc="-20" dirty="0"/>
              <a:t>VIEW</a:t>
            </a:r>
            <a:r>
              <a:rPr sz="2600" dirty="0"/>
              <a:t>	</a:t>
            </a:r>
            <a:endParaRPr sz="2600"/>
          </a:p>
        </p:txBody>
      </p:sp>
    </p:spTree>
    <p:extLst>
      <p:ext uri="{BB962C8B-B14F-4D97-AF65-F5344CB8AC3E}">
        <p14:creationId xmlns:p14="http://schemas.microsoft.com/office/powerpoint/2010/main" val="47737688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42819" y="1167766"/>
            <a:ext cx="3108960" cy="393065"/>
          </a:xfrm>
          <a:prstGeom prst="rect">
            <a:avLst/>
          </a:prstGeom>
        </p:spPr>
        <p:txBody>
          <a:bodyPr vert="horz" wrap="square" lIns="0" tIns="13970" rIns="0" bIns="0" rtlCol="0">
            <a:spAutoFit/>
          </a:bodyPr>
          <a:lstStyle/>
          <a:p>
            <a:pPr marL="12700">
              <a:spcBef>
                <a:spcPts val="110"/>
              </a:spcBef>
            </a:pPr>
            <a:r>
              <a:rPr sz="2400" b="1" kern="0" dirty="0">
                <a:solidFill>
                  <a:srgbClr val="C00000"/>
                </a:solidFill>
                <a:latin typeface="Arial"/>
                <a:cs typeface="Arial"/>
              </a:rPr>
              <a:t>Code</a:t>
            </a:r>
            <a:r>
              <a:rPr sz="2400" b="1" kern="0" spc="-45" dirty="0">
                <a:solidFill>
                  <a:srgbClr val="C00000"/>
                </a:solidFill>
                <a:latin typeface="Arial"/>
                <a:cs typeface="Arial"/>
              </a:rPr>
              <a:t> </a:t>
            </a:r>
            <a:r>
              <a:rPr sz="2400" b="1" kern="0" dirty="0">
                <a:solidFill>
                  <a:srgbClr val="C00000"/>
                </a:solidFill>
                <a:latin typeface="Arial"/>
                <a:cs typeface="Arial"/>
              </a:rPr>
              <a:t>Razar</a:t>
            </a:r>
            <a:r>
              <a:rPr sz="2400" b="1" kern="0" spc="-30" dirty="0">
                <a:solidFill>
                  <a:srgbClr val="C00000"/>
                </a:solidFill>
                <a:latin typeface="Arial"/>
                <a:cs typeface="Arial"/>
              </a:rPr>
              <a:t> </a:t>
            </a:r>
            <a:r>
              <a:rPr sz="2400" b="1" kern="0" dirty="0">
                <a:solidFill>
                  <a:srgbClr val="C00000"/>
                </a:solidFill>
                <a:latin typeface="Arial"/>
                <a:cs typeface="Arial"/>
              </a:rPr>
              <a:t>cho</a:t>
            </a:r>
            <a:r>
              <a:rPr sz="2400" b="1" kern="0" spc="-30" dirty="0">
                <a:solidFill>
                  <a:srgbClr val="C00000"/>
                </a:solidFill>
                <a:latin typeface="Arial"/>
                <a:cs typeface="Arial"/>
              </a:rPr>
              <a:t> </a:t>
            </a:r>
            <a:r>
              <a:rPr sz="2400" b="1" kern="0" spc="-20" dirty="0">
                <a:solidFill>
                  <a:srgbClr val="C00000"/>
                </a:solidFill>
                <a:latin typeface="Arial"/>
                <a:cs typeface="Arial"/>
              </a:rPr>
              <a:t>View</a:t>
            </a:r>
            <a:endParaRPr sz="2400" kern="0">
              <a:solidFill>
                <a:sysClr val="windowText" lastClr="000000"/>
              </a:solidFill>
              <a:latin typeface="Arial"/>
              <a:cs typeface="Arial"/>
            </a:endParaRPr>
          </a:p>
        </p:txBody>
      </p:sp>
      <p:pic>
        <p:nvPicPr>
          <p:cNvPr id="3" name="object 3"/>
          <p:cNvPicPr/>
          <p:nvPr/>
        </p:nvPicPr>
        <p:blipFill>
          <a:blip r:embed="rId2" cstate="print"/>
          <a:stretch>
            <a:fillRect/>
          </a:stretch>
        </p:blipFill>
        <p:spPr>
          <a:xfrm>
            <a:off x="2819401" y="1719884"/>
            <a:ext cx="6396609" cy="4167886"/>
          </a:xfrm>
          <a:prstGeom prst="rect">
            <a:avLst/>
          </a:prstGeom>
        </p:spPr>
      </p:pic>
      <p:sp>
        <p:nvSpPr>
          <p:cNvPr id="4" name="object 4"/>
          <p:cNvSpPr txBox="1"/>
          <p:nvPr/>
        </p:nvSpPr>
        <p:spPr>
          <a:xfrm>
            <a:off x="3124200" y="4343401"/>
            <a:ext cx="3048000" cy="271869"/>
          </a:xfrm>
          <a:prstGeom prst="rect">
            <a:avLst/>
          </a:prstGeom>
          <a:solidFill>
            <a:srgbClr val="FFFFFF"/>
          </a:solidFill>
        </p:spPr>
        <p:txBody>
          <a:bodyPr vert="horz" wrap="square" lIns="0" tIns="33020" rIns="0" bIns="0" rtlCol="0">
            <a:spAutoFit/>
          </a:bodyPr>
          <a:lstStyle/>
          <a:p>
            <a:pPr marL="92075">
              <a:spcBef>
                <a:spcPts val="260"/>
              </a:spcBef>
            </a:pPr>
            <a:r>
              <a:rPr sz="1550" b="1" kern="0" dirty="0">
                <a:solidFill>
                  <a:srgbClr val="404040"/>
                </a:solidFill>
                <a:latin typeface="Arial"/>
                <a:cs typeface="Arial"/>
              </a:rPr>
              <a:t>Author:</a:t>
            </a:r>
            <a:r>
              <a:rPr sz="1550" b="1" kern="0" spc="135" dirty="0">
                <a:solidFill>
                  <a:srgbClr val="404040"/>
                </a:solidFill>
                <a:latin typeface="Arial"/>
                <a:cs typeface="Arial"/>
              </a:rPr>
              <a:t> </a:t>
            </a:r>
            <a:r>
              <a:rPr sz="1550" b="1" kern="0" dirty="0">
                <a:solidFill>
                  <a:srgbClr val="404040"/>
                </a:solidFill>
                <a:latin typeface="Arial"/>
                <a:cs typeface="Arial"/>
              </a:rPr>
              <a:t>MVC</a:t>
            </a:r>
            <a:r>
              <a:rPr sz="1550" b="1" kern="0" spc="95" dirty="0">
                <a:solidFill>
                  <a:srgbClr val="404040"/>
                </a:solidFill>
                <a:latin typeface="Arial"/>
                <a:cs typeface="Arial"/>
              </a:rPr>
              <a:t> </a:t>
            </a:r>
            <a:r>
              <a:rPr sz="1550" b="1" kern="0" spc="-10" dirty="0">
                <a:solidFill>
                  <a:srgbClr val="404040"/>
                </a:solidFill>
                <a:latin typeface="Arial"/>
                <a:cs typeface="Arial"/>
              </a:rPr>
              <a:t>Programer</a:t>
            </a:r>
            <a:endParaRPr sz="1550" kern="0">
              <a:solidFill>
                <a:sysClr val="windowText" lastClr="000000"/>
              </a:solidFill>
              <a:latin typeface="Arial"/>
              <a:cs typeface="Arial"/>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solidFill>
                  <a:prstClr val="white"/>
                </a:solidFill>
              </a:rPr>
              <a:pPr marL="38100">
                <a:lnSpc>
                  <a:spcPts val="1664"/>
                </a:lnSpc>
              </a:pPr>
              <a:t>33</a:t>
            </a:fld>
            <a:endParaRPr spc="-25" dirty="0">
              <a:solidFill>
                <a:prstClr val="white"/>
              </a:solidFill>
            </a:endParaRPr>
          </a:p>
        </p:txBody>
      </p:sp>
      <p:sp>
        <p:nvSpPr>
          <p:cNvPr id="8" name="object 8"/>
          <p:cNvSpPr txBox="1">
            <a:spLocks noGrp="1"/>
          </p:cNvSpPr>
          <p:nvPr>
            <p:ph type="ftr" sz="quarter" idx="5"/>
          </p:nvPr>
        </p:nvSpPr>
        <p:spPr>
          <a:xfrm>
            <a:off x="2763418" y="6600176"/>
            <a:ext cx="1243964" cy="155171"/>
          </a:xfrm>
          <a:prstGeom prst="rect">
            <a:avLst/>
          </a:prstGeom>
        </p:spPr>
        <p:txBody>
          <a:bodyPr vert="horz" wrap="square" lIns="0" tIns="1270" rIns="0" bIns="0" rtlCol="0">
            <a:spAutoFit/>
          </a:bodyPr>
          <a:lstStyle/>
          <a:p>
            <a:pPr marL="12700">
              <a:spcBef>
                <a:spcPts val="10"/>
              </a:spcBef>
            </a:pPr>
            <a:endParaRPr spc="-20" dirty="0">
              <a:solidFill>
                <a:prstClr val="white"/>
              </a:solidFill>
            </a:endParaRPr>
          </a:p>
        </p:txBody>
      </p:sp>
      <p:sp>
        <p:nvSpPr>
          <p:cNvPr id="5" name="object 5"/>
          <p:cNvSpPr txBox="1">
            <a:spLocks noGrp="1"/>
          </p:cNvSpPr>
          <p:nvPr>
            <p:ph type="title"/>
          </p:nvPr>
        </p:nvSpPr>
        <p:spPr>
          <a:xfrm>
            <a:off x="2091268" y="450927"/>
            <a:ext cx="11057467" cy="412292"/>
          </a:xfrm>
          <a:prstGeom prst="rect">
            <a:avLst/>
          </a:prstGeom>
        </p:spPr>
        <p:txBody>
          <a:bodyPr vert="horz" wrap="square" lIns="0" tIns="12065" rIns="0" bIns="0" rtlCol="0">
            <a:spAutoFit/>
          </a:bodyPr>
          <a:lstStyle/>
          <a:p>
            <a:pPr marL="12700">
              <a:spcBef>
                <a:spcPts val="95"/>
              </a:spcBef>
              <a:tabLst>
                <a:tab pos="8279765" algn="l"/>
              </a:tabLst>
            </a:pPr>
            <a:r>
              <a:rPr sz="2600" dirty="0"/>
              <a:t>4.</a:t>
            </a:r>
            <a:r>
              <a:rPr sz="2600" spc="-35" dirty="0"/>
              <a:t> </a:t>
            </a:r>
            <a:r>
              <a:rPr sz="2600" dirty="0"/>
              <a:t>GIỚI</a:t>
            </a:r>
            <a:r>
              <a:rPr sz="2600" spc="-35" dirty="0"/>
              <a:t> </a:t>
            </a:r>
            <a:r>
              <a:rPr sz="2600" dirty="0"/>
              <a:t>THIỆU</a:t>
            </a:r>
            <a:r>
              <a:rPr sz="2600" spc="-70" dirty="0"/>
              <a:t> </a:t>
            </a:r>
            <a:r>
              <a:rPr sz="2600" dirty="0"/>
              <a:t>VỀ</a:t>
            </a:r>
            <a:r>
              <a:rPr sz="2600" spc="-45" dirty="0"/>
              <a:t> </a:t>
            </a:r>
            <a:r>
              <a:rPr sz="2600" spc="-20" dirty="0"/>
              <a:t>VIEW</a:t>
            </a:r>
            <a:r>
              <a:rPr sz="2600" dirty="0"/>
              <a:t>	</a:t>
            </a:r>
            <a:endParaRPr sz="2600"/>
          </a:p>
        </p:txBody>
      </p:sp>
    </p:spTree>
    <p:extLst>
      <p:ext uri="{BB962C8B-B14F-4D97-AF65-F5344CB8AC3E}">
        <p14:creationId xmlns:p14="http://schemas.microsoft.com/office/powerpoint/2010/main" val="218989854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42819" y="1167766"/>
            <a:ext cx="3373120" cy="393065"/>
          </a:xfrm>
          <a:prstGeom prst="rect">
            <a:avLst/>
          </a:prstGeom>
        </p:spPr>
        <p:txBody>
          <a:bodyPr vert="horz" wrap="square" lIns="0" tIns="13970" rIns="0" bIns="0" rtlCol="0">
            <a:spAutoFit/>
          </a:bodyPr>
          <a:lstStyle/>
          <a:p>
            <a:pPr marL="12700">
              <a:spcBef>
                <a:spcPts val="110"/>
              </a:spcBef>
            </a:pPr>
            <a:r>
              <a:rPr sz="2400" b="1" kern="0" dirty="0">
                <a:solidFill>
                  <a:srgbClr val="C00000"/>
                </a:solidFill>
                <a:latin typeface="Arial"/>
                <a:cs typeface="Arial"/>
              </a:rPr>
              <a:t>Kết</a:t>
            </a:r>
            <a:r>
              <a:rPr sz="2400" b="1" kern="0" spc="-10" dirty="0">
                <a:solidFill>
                  <a:srgbClr val="C00000"/>
                </a:solidFill>
                <a:latin typeface="Arial"/>
                <a:cs typeface="Arial"/>
              </a:rPr>
              <a:t> </a:t>
            </a:r>
            <a:r>
              <a:rPr sz="2400" b="1" kern="0" dirty="0">
                <a:solidFill>
                  <a:srgbClr val="C00000"/>
                </a:solidFill>
                <a:latin typeface="Arial"/>
                <a:cs typeface="Arial"/>
              </a:rPr>
              <a:t>quả</a:t>
            </a:r>
            <a:r>
              <a:rPr sz="2400" b="1" kern="0" spc="-35" dirty="0">
                <a:solidFill>
                  <a:srgbClr val="C00000"/>
                </a:solidFill>
                <a:latin typeface="Arial"/>
                <a:cs typeface="Arial"/>
              </a:rPr>
              <a:t> </a:t>
            </a:r>
            <a:r>
              <a:rPr sz="2400" b="1" kern="0" dirty="0">
                <a:solidFill>
                  <a:srgbClr val="C00000"/>
                </a:solidFill>
                <a:latin typeface="Arial"/>
                <a:cs typeface="Arial"/>
              </a:rPr>
              <a:t>thực</a:t>
            </a:r>
            <a:r>
              <a:rPr sz="2400" b="1" kern="0" spc="-35" dirty="0">
                <a:solidFill>
                  <a:srgbClr val="C00000"/>
                </a:solidFill>
                <a:latin typeface="Arial"/>
                <a:cs typeface="Arial"/>
              </a:rPr>
              <a:t> </a:t>
            </a:r>
            <a:r>
              <a:rPr sz="2400" b="1" kern="0" dirty="0">
                <a:solidFill>
                  <a:srgbClr val="C00000"/>
                </a:solidFill>
                <a:latin typeface="Arial"/>
                <a:cs typeface="Arial"/>
              </a:rPr>
              <a:t>thi</a:t>
            </a:r>
            <a:r>
              <a:rPr sz="2400" b="1" kern="0" spc="-120" dirty="0">
                <a:solidFill>
                  <a:srgbClr val="C00000"/>
                </a:solidFill>
                <a:latin typeface="Arial"/>
                <a:cs typeface="Arial"/>
              </a:rPr>
              <a:t> </a:t>
            </a:r>
            <a:r>
              <a:rPr sz="2400" b="1" kern="0" spc="-10" dirty="0">
                <a:solidFill>
                  <a:srgbClr val="C00000"/>
                </a:solidFill>
                <a:latin typeface="Arial"/>
                <a:cs typeface="Arial"/>
              </a:rPr>
              <a:t>Action</a:t>
            </a:r>
            <a:endParaRPr sz="2400" kern="0">
              <a:solidFill>
                <a:sysClr val="windowText" lastClr="000000"/>
              </a:solidFill>
              <a:latin typeface="Arial"/>
              <a:cs typeface="Arial"/>
            </a:endParaRPr>
          </a:p>
        </p:txBody>
      </p:sp>
      <p:pic>
        <p:nvPicPr>
          <p:cNvPr id="3" name="object 3"/>
          <p:cNvPicPr/>
          <p:nvPr/>
        </p:nvPicPr>
        <p:blipFill>
          <a:blip r:embed="rId2" cstate="print"/>
          <a:stretch>
            <a:fillRect/>
          </a:stretch>
        </p:blipFill>
        <p:spPr>
          <a:xfrm>
            <a:off x="2362201" y="1828800"/>
            <a:ext cx="7088995" cy="3175674"/>
          </a:xfrm>
          <a:prstGeom prst="rect">
            <a:avLst/>
          </a:prstGeom>
        </p:spPr>
      </p:pic>
      <p:sp>
        <p:nvSpPr>
          <p:cNvPr id="4" name="object 4"/>
          <p:cNvSpPr txBox="1"/>
          <p:nvPr/>
        </p:nvSpPr>
        <p:spPr>
          <a:xfrm>
            <a:off x="2667000" y="3886136"/>
            <a:ext cx="3048000" cy="195580"/>
          </a:xfrm>
          <a:prstGeom prst="rect">
            <a:avLst/>
          </a:prstGeom>
          <a:solidFill>
            <a:srgbClr val="FFFFFF"/>
          </a:solidFill>
        </p:spPr>
        <p:txBody>
          <a:bodyPr vert="horz" wrap="square" lIns="0" tIns="0" rIns="0" bIns="0" rtlCol="0">
            <a:spAutoFit/>
          </a:bodyPr>
          <a:lstStyle/>
          <a:p>
            <a:pPr marL="91440">
              <a:lnSpc>
                <a:spcPts val="1540"/>
              </a:lnSpc>
            </a:pPr>
            <a:r>
              <a:rPr sz="1550" kern="0" dirty="0">
                <a:solidFill>
                  <a:srgbClr val="404040"/>
                </a:solidFill>
                <a:latin typeface="Microsoft Sans Serif"/>
                <a:cs typeface="Microsoft Sans Serif"/>
              </a:rPr>
              <a:t>Author:</a:t>
            </a:r>
            <a:r>
              <a:rPr sz="1550" kern="0" spc="190" dirty="0">
                <a:solidFill>
                  <a:srgbClr val="404040"/>
                </a:solidFill>
                <a:latin typeface="Microsoft Sans Serif"/>
                <a:cs typeface="Microsoft Sans Serif"/>
              </a:rPr>
              <a:t> </a:t>
            </a:r>
            <a:r>
              <a:rPr sz="1550" kern="0" dirty="0">
                <a:solidFill>
                  <a:srgbClr val="404040"/>
                </a:solidFill>
                <a:latin typeface="Microsoft Sans Serif"/>
                <a:cs typeface="Microsoft Sans Serif"/>
              </a:rPr>
              <a:t>MVC</a:t>
            </a:r>
            <a:r>
              <a:rPr sz="1550" kern="0" spc="90" dirty="0">
                <a:solidFill>
                  <a:srgbClr val="404040"/>
                </a:solidFill>
                <a:latin typeface="Microsoft Sans Serif"/>
                <a:cs typeface="Microsoft Sans Serif"/>
              </a:rPr>
              <a:t> </a:t>
            </a:r>
            <a:r>
              <a:rPr sz="1550" kern="0" spc="-10" dirty="0">
                <a:solidFill>
                  <a:srgbClr val="404040"/>
                </a:solidFill>
                <a:latin typeface="Microsoft Sans Serif"/>
                <a:cs typeface="Microsoft Sans Serif"/>
              </a:rPr>
              <a:t>Programer</a:t>
            </a:r>
            <a:endParaRPr sz="1550" kern="0">
              <a:solidFill>
                <a:sysClr val="windowText" lastClr="000000"/>
              </a:solidFill>
              <a:latin typeface="Microsoft Sans Serif"/>
              <a:cs typeface="Microsoft Sans Serif"/>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solidFill>
                  <a:prstClr val="white"/>
                </a:solidFill>
              </a:rPr>
              <a:pPr marL="38100">
                <a:lnSpc>
                  <a:spcPts val="1664"/>
                </a:lnSpc>
              </a:pPr>
              <a:t>34</a:t>
            </a:fld>
            <a:endParaRPr spc="-25" dirty="0">
              <a:solidFill>
                <a:prstClr val="white"/>
              </a:solidFill>
            </a:endParaRPr>
          </a:p>
        </p:txBody>
      </p:sp>
      <p:sp>
        <p:nvSpPr>
          <p:cNvPr id="9" name="object 9"/>
          <p:cNvSpPr txBox="1">
            <a:spLocks noGrp="1"/>
          </p:cNvSpPr>
          <p:nvPr>
            <p:ph type="ftr" sz="quarter" idx="5"/>
          </p:nvPr>
        </p:nvSpPr>
        <p:spPr>
          <a:xfrm>
            <a:off x="2763418" y="6600176"/>
            <a:ext cx="1243964" cy="155171"/>
          </a:xfrm>
          <a:prstGeom prst="rect">
            <a:avLst/>
          </a:prstGeom>
        </p:spPr>
        <p:txBody>
          <a:bodyPr vert="horz" wrap="square" lIns="0" tIns="1270" rIns="0" bIns="0" rtlCol="0">
            <a:spAutoFit/>
          </a:bodyPr>
          <a:lstStyle/>
          <a:p>
            <a:pPr marL="12700">
              <a:spcBef>
                <a:spcPts val="10"/>
              </a:spcBef>
            </a:pPr>
            <a:endParaRPr spc="-20" dirty="0">
              <a:solidFill>
                <a:prstClr val="white"/>
              </a:solidFill>
            </a:endParaRPr>
          </a:p>
        </p:txBody>
      </p:sp>
      <p:sp>
        <p:nvSpPr>
          <p:cNvPr id="5" name="object 5"/>
          <p:cNvSpPr txBox="1"/>
          <p:nvPr/>
        </p:nvSpPr>
        <p:spPr>
          <a:xfrm>
            <a:off x="2514600" y="4419663"/>
            <a:ext cx="3048000" cy="185948"/>
          </a:xfrm>
          <a:prstGeom prst="rect">
            <a:avLst/>
          </a:prstGeom>
          <a:solidFill>
            <a:srgbClr val="FFFFFF"/>
          </a:solidFill>
        </p:spPr>
        <p:txBody>
          <a:bodyPr vert="horz" wrap="square" lIns="0" tIns="8890" rIns="0" bIns="0" rtlCol="0">
            <a:spAutoFit/>
          </a:bodyPr>
          <a:lstStyle/>
          <a:p>
            <a:pPr marL="91440">
              <a:spcBef>
                <a:spcPts val="70"/>
              </a:spcBef>
            </a:pPr>
            <a:r>
              <a:rPr sz="1150" b="1" kern="0" dirty="0">
                <a:solidFill>
                  <a:srgbClr val="404040"/>
                </a:solidFill>
                <a:latin typeface="Arial"/>
                <a:cs typeface="Arial"/>
              </a:rPr>
              <a:t>©</a:t>
            </a:r>
            <a:r>
              <a:rPr sz="1150" b="1" kern="0" spc="30" dirty="0">
                <a:solidFill>
                  <a:srgbClr val="404040"/>
                </a:solidFill>
                <a:latin typeface="Arial"/>
                <a:cs typeface="Arial"/>
              </a:rPr>
              <a:t> </a:t>
            </a:r>
            <a:r>
              <a:rPr sz="1150" b="1" kern="0" dirty="0">
                <a:solidFill>
                  <a:srgbClr val="404040"/>
                </a:solidFill>
                <a:latin typeface="Arial"/>
                <a:cs typeface="Arial"/>
              </a:rPr>
              <a:t>2015</a:t>
            </a:r>
            <a:r>
              <a:rPr sz="1150" b="1" kern="0" spc="75" dirty="0">
                <a:solidFill>
                  <a:srgbClr val="404040"/>
                </a:solidFill>
                <a:latin typeface="Arial"/>
                <a:cs typeface="Arial"/>
              </a:rPr>
              <a:t> </a:t>
            </a:r>
            <a:r>
              <a:rPr sz="1150" b="1" kern="0" dirty="0">
                <a:solidFill>
                  <a:srgbClr val="404040"/>
                </a:solidFill>
                <a:latin typeface="Arial"/>
                <a:cs typeface="Arial"/>
              </a:rPr>
              <a:t>–</a:t>
            </a:r>
            <a:r>
              <a:rPr sz="1150" b="1" kern="0" spc="35" dirty="0">
                <a:solidFill>
                  <a:srgbClr val="404040"/>
                </a:solidFill>
                <a:latin typeface="Arial"/>
                <a:cs typeface="Arial"/>
              </a:rPr>
              <a:t> </a:t>
            </a:r>
            <a:r>
              <a:rPr sz="1150" b="1" kern="0" dirty="0">
                <a:solidFill>
                  <a:srgbClr val="404040"/>
                </a:solidFill>
                <a:latin typeface="Arial"/>
                <a:cs typeface="Arial"/>
              </a:rPr>
              <a:t>My</a:t>
            </a:r>
            <a:r>
              <a:rPr sz="1150" b="1" kern="0" spc="-80" dirty="0">
                <a:solidFill>
                  <a:srgbClr val="404040"/>
                </a:solidFill>
                <a:latin typeface="Arial"/>
                <a:cs typeface="Arial"/>
              </a:rPr>
              <a:t> </a:t>
            </a:r>
            <a:r>
              <a:rPr sz="1150" b="1" kern="0" dirty="0">
                <a:solidFill>
                  <a:srgbClr val="404040"/>
                </a:solidFill>
                <a:latin typeface="Arial"/>
                <a:cs typeface="Arial"/>
              </a:rPr>
              <a:t>ASP.NET</a:t>
            </a:r>
            <a:r>
              <a:rPr sz="1150" b="1" kern="0" spc="110" dirty="0">
                <a:solidFill>
                  <a:srgbClr val="404040"/>
                </a:solidFill>
                <a:latin typeface="Arial"/>
                <a:cs typeface="Arial"/>
              </a:rPr>
              <a:t> </a:t>
            </a:r>
            <a:r>
              <a:rPr sz="1150" b="1" kern="0" spc="-10" dirty="0">
                <a:solidFill>
                  <a:srgbClr val="404040"/>
                </a:solidFill>
                <a:latin typeface="Arial"/>
                <a:cs typeface="Arial"/>
              </a:rPr>
              <a:t>Application</a:t>
            </a:r>
            <a:endParaRPr sz="1150" kern="0">
              <a:solidFill>
                <a:sysClr val="windowText" lastClr="000000"/>
              </a:solidFill>
              <a:latin typeface="Arial"/>
              <a:cs typeface="Arial"/>
            </a:endParaRPr>
          </a:p>
        </p:txBody>
      </p:sp>
      <p:sp>
        <p:nvSpPr>
          <p:cNvPr id="6" name="object 6"/>
          <p:cNvSpPr txBox="1">
            <a:spLocks noGrp="1"/>
          </p:cNvSpPr>
          <p:nvPr>
            <p:ph type="title"/>
          </p:nvPr>
        </p:nvSpPr>
        <p:spPr>
          <a:xfrm>
            <a:off x="2091268" y="450927"/>
            <a:ext cx="11057467" cy="412292"/>
          </a:xfrm>
          <a:prstGeom prst="rect">
            <a:avLst/>
          </a:prstGeom>
        </p:spPr>
        <p:txBody>
          <a:bodyPr vert="horz" wrap="square" lIns="0" tIns="12065" rIns="0" bIns="0" rtlCol="0">
            <a:spAutoFit/>
          </a:bodyPr>
          <a:lstStyle/>
          <a:p>
            <a:pPr marL="12700">
              <a:spcBef>
                <a:spcPts val="95"/>
              </a:spcBef>
              <a:tabLst>
                <a:tab pos="8279765" algn="l"/>
              </a:tabLst>
            </a:pPr>
            <a:r>
              <a:rPr sz="2600" dirty="0"/>
              <a:t>4.</a:t>
            </a:r>
            <a:r>
              <a:rPr sz="2600" spc="-35" dirty="0"/>
              <a:t> </a:t>
            </a:r>
            <a:r>
              <a:rPr sz="2600" dirty="0"/>
              <a:t>GIỚI</a:t>
            </a:r>
            <a:r>
              <a:rPr sz="2600" spc="-35" dirty="0"/>
              <a:t> </a:t>
            </a:r>
            <a:r>
              <a:rPr sz="2600" dirty="0"/>
              <a:t>THIỆU</a:t>
            </a:r>
            <a:r>
              <a:rPr sz="2600" spc="-70" dirty="0"/>
              <a:t> </a:t>
            </a:r>
            <a:r>
              <a:rPr sz="2600" dirty="0"/>
              <a:t>VỀ</a:t>
            </a:r>
            <a:r>
              <a:rPr sz="2600" spc="-45" dirty="0"/>
              <a:t> </a:t>
            </a:r>
            <a:r>
              <a:rPr sz="2600" spc="-20" dirty="0"/>
              <a:t>VIEW</a:t>
            </a:r>
            <a:r>
              <a:rPr sz="2600" dirty="0"/>
              <a:t>	</a:t>
            </a:r>
            <a:endParaRPr sz="2600"/>
          </a:p>
        </p:txBody>
      </p:sp>
    </p:spTree>
    <p:extLst>
      <p:ext uri="{BB962C8B-B14F-4D97-AF65-F5344CB8AC3E}">
        <p14:creationId xmlns:p14="http://schemas.microsoft.com/office/powerpoint/2010/main" val="63108357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42819" y="1167766"/>
            <a:ext cx="7028180" cy="393065"/>
          </a:xfrm>
          <a:prstGeom prst="rect">
            <a:avLst/>
          </a:prstGeom>
        </p:spPr>
        <p:txBody>
          <a:bodyPr vert="horz" wrap="square" lIns="0" tIns="13970" rIns="0" bIns="0" rtlCol="0">
            <a:spAutoFit/>
          </a:bodyPr>
          <a:lstStyle/>
          <a:p>
            <a:pPr marL="12700">
              <a:spcBef>
                <a:spcPts val="110"/>
              </a:spcBef>
            </a:pPr>
            <a:r>
              <a:rPr sz="2400" b="1" kern="0" spc="-10" dirty="0">
                <a:solidFill>
                  <a:srgbClr val="C00000"/>
                </a:solidFill>
                <a:latin typeface="Arial"/>
                <a:cs typeface="Arial"/>
              </a:rPr>
              <a:t>Truyền</a:t>
            </a:r>
            <a:r>
              <a:rPr sz="2400" b="1" kern="0" spc="90" dirty="0">
                <a:solidFill>
                  <a:srgbClr val="C00000"/>
                </a:solidFill>
                <a:latin typeface="Arial"/>
                <a:cs typeface="Arial"/>
              </a:rPr>
              <a:t> </a:t>
            </a:r>
            <a:r>
              <a:rPr sz="2400" b="1" kern="0" dirty="0">
                <a:solidFill>
                  <a:srgbClr val="C00000"/>
                </a:solidFill>
                <a:latin typeface="Arial"/>
                <a:cs typeface="Arial"/>
              </a:rPr>
              <a:t>dữ</a:t>
            </a:r>
            <a:r>
              <a:rPr sz="2400" b="1" kern="0" spc="-70" dirty="0">
                <a:solidFill>
                  <a:srgbClr val="C00000"/>
                </a:solidFill>
                <a:latin typeface="Arial"/>
                <a:cs typeface="Arial"/>
              </a:rPr>
              <a:t> </a:t>
            </a:r>
            <a:r>
              <a:rPr sz="2400" b="1" kern="0" dirty="0">
                <a:solidFill>
                  <a:srgbClr val="C00000"/>
                </a:solidFill>
                <a:latin typeface="Arial"/>
                <a:cs typeface="Arial"/>
              </a:rPr>
              <a:t>liệu</a:t>
            </a:r>
            <a:r>
              <a:rPr sz="2400" b="1" kern="0" spc="-85" dirty="0">
                <a:solidFill>
                  <a:srgbClr val="C00000"/>
                </a:solidFill>
                <a:latin typeface="Arial"/>
                <a:cs typeface="Arial"/>
              </a:rPr>
              <a:t> </a:t>
            </a:r>
            <a:r>
              <a:rPr sz="2400" b="1" kern="0" dirty="0">
                <a:solidFill>
                  <a:srgbClr val="C00000"/>
                </a:solidFill>
                <a:latin typeface="Arial"/>
                <a:cs typeface="Arial"/>
              </a:rPr>
              <a:t>từ</a:t>
            </a:r>
            <a:r>
              <a:rPr sz="2400" b="1" kern="0" spc="-45" dirty="0">
                <a:solidFill>
                  <a:srgbClr val="C00000"/>
                </a:solidFill>
                <a:latin typeface="Arial"/>
                <a:cs typeface="Arial"/>
              </a:rPr>
              <a:t> </a:t>
            </a:r>
            <a:r>
              <a:rPr sz="2400" b="1" kern="0" dirty="0">
                <a:solidFill>
                  <a:srgbClr val="C00000"/>
                </a:solidFill>
                <a:latin typeface="Arial"/>
                <a:cs typeface="Arial"/>
              </a:rPr>
              <a:t>Controller</a:t>
            </a:r>
            <a:r>
              <a:rPr sz="2400" b="1" kern="0" spc="-75" dirty="0">
                <a:solidFill>
                  <a:srgbClr val="C00000"/>
                </a:solidFill>
                <a:latin typeface="Arial"/>
                <a:cs typeface="Arial"/>
              </a:rPr>
              <a:t> </a:t>
            </a:r>
            <a:r>
              <a:rPr sz="2400" b="1" kern="0" dirty="0">
                <a:solidFill>
                  <a:srgbClr val="C00000"/>
                </a:solidFill>
                <a:latin typeface="Arial"/>
                <a:cs typeface="Arial"/>
              </a:rPr>
              <a:t>sang</a:t>
            </a:r>
            <a:r>
              <a:rPr sz="2400" b="1" kern="0" spc="-55" dirty="0">
                <a:solidFill>
                  <a:srgbClr val="C00000"/>
                </a:solidFill>
                <a:latin typeface="Arial"/>
                <a:cs typeface="Arial"/>
              </a:rPr>
              <a:t> </a:t>
            </a:r>
            <a:r>
              <a:rPr sz="2400" b="1" kern="0" dirty="0">
                <a:solidFill>
                  <a:srgbClr val="C00000"/>
                </a:solidFill>
                <a:latin typeface="Arial"/>
                <a:cs typeface="Arial"/>
              </a:rPr>
              <a:t>View</a:t>
            </a:r>
            <a:r>
              <a:rPr sz="2400" b="1" kern="0" spc="-85" dirty="0">
                <a:solidFill>
                  <a:srgbClr val="C00000"/>
                </a:solidFill>
                <a:latin typeface="Arial"/>
                <a:cs typeface="Arial"/>
              </a:rPr>
              <a:t> </a:t>
            </a:r>
            <a:r>
              <a:rPr sz="2400" b="1" kern="0" dirty="0">
                <a:solidFill>
                  <a:srgbClr val="C00000"/>
                </a:solidFill>
                <a:latin typeface="Arial"/>
                <a:cs typeface="Arial"/>
              </a:rPr>
              <a:t>đơn</a:t>
            </a:r>
            <a:r>
              <a:rPr sz="2400" b="1" kern="0" spc="-85" dirty="0">
                <a:solidFill>
                  <a:srgbClr val="C00000"/>
                </a:solidFill>
                <a:latin typeface="Arial"/>
                <a:cs typeface="Arial"/>
              </a:rPr>
              <a:t> </a:t>
            </a:r>
            <a:r>
              <a:rPr sz="2400" b="1" kern="0" spc="-20" dirty="0">
                <a:solidFill>
                  <a:srgbClr val="C00000"/>
                </a:solidFill>
                <a:latin typeface="Arial"/>
                <a:cs typeface="Arial"/>
              </a:rPr>
              <a:t>giản</a:t>
            </a:r>
            <a:endParaRPr sz="2400" kern="0">
              <a:solidFill>
                <a:sysClr val="windowText" lastClr="000000"/>
              </a:solidFill>
              <a:latin typeface="Arial"/>
              <a:cs typeface="Arial"/>
            </a:endParaRPr>
          </a:p>
        </p:txBody>
      </p:sp>
      <p:pic>
        <p:nvPicPr>
          <p:cNvPr id="3" name="object 3"/>
          <p:cNvPicPr/>
          <p:nvPr/>
        </p:nvPicPr>
        <p:blipFill>
          <a:blip r:embed="rId2" cstate="print"/>
          <a:stretch>
            <a:fillRect/>
          </a:stretch>
        </p:blipFill>
        <p:spPr>
          <a:xfrm>
            <a:off x="2423808" y="1626756"/>
            <a:ext cx="7344409" cy="4176987"/>
          </a:xfrm>
          <a:prstGeom prst="rect">
            <a:avLst/>
          </a:prstGeom>
        </p:spPr>
      </p:pic>
      <p:sp>
        <p:nvSpPr>
          <p:cNvPr id="4" name="object 4"/>
          <p:cNvSpPr txBox="1"/>
          <p:nvPr/>
        </p:nvSpPr>
        <p:spPr>
          <a:xfrm>
            <a:off x="6553200" y="5595937"/>
            <a:ext cx="3048000" cy="195580"/>
          </a:xfrm>
          <a:prstGeom prst="rect">
            <a:avLst/>
          </a:prstGeom>
          <a:solidFill>
            <a:srgbClr val="FFFFFF"/>
          </a:solidFill>
        </p:spPr>
        <p:txBody>
          <a:bodyPr vert="horz" wrap="square" lIns="0" tIns="0" rIns="0" bIns="0" rtlCol="0">
            <a:spAutoFit/>
          </a:bodyPr>
          <a:lstStyle/>
          <a:p>
            <a:pPr marL="93345">
              <a:lnSpc>
                <a:spcPts val="1540"/>
              </a:lnSpc>
            </a:pPr>
            <a:r>
              <a:rPr sz="1550" kern="0" dirty="0">
                <a:solidFill>
                  <a:srgbClr val="404040"/>
                </a:solidFill>
                <a:latin typeface="Microsoft Sans Serif"/>
                <a:cs typeface="Microsoft Sans Serif"/>
              </a:rPr>
              <a:t>Author:</a:t>
            </a:r>
            <a:r>
              <a:rPr sz="1550" kern="0" spc="190" dirty="0">
                <a:solidFill>
                  <a:srgbClr val="404040"/>
                </a:solidFill>
                <a:latin typeface="Microsoft Sans Serif"/>
                <a:cs typeface="Microsoft Sans Serif"/>
              </a:rPr>
              <a:t> </a:t>
            </a:r>
            <a:r>
              <a:rPr sz="1550" kern="0" dirty="0">
                <a:solidFill>
                  <a:srgbClr val="404040"/>
                </a:solidFill>
                <a:latin typeface="Microsoft Sans Serif"/>
                <a:cs typeface="Microsoft Sans Serif"/>
              </a:rPr>
              <a:t>MVC</a:t>
            </a:r>
            <a:r>
              <a:rPr sz="1550" kern="0" spc="90" dirty="0">
                <a:solidFill>
                  <a:srgbClr val="404040"/>
                </a:solidFill>
                <a:latin typeface="Microsoft Sans Serif"/>
                <a:cs typeface="Microsoft Sans Serif"/>
              </a:rPr>
              <a:t> </a:t>
            </a:r>
            <a:r>
              <a:rPr sz="1550" kern="0" spc="-10" dirty="0">
                <a:solidFill>
                  <a:srgbClr val="404040"/>
                </a:solidFill>
                <a:latin typeface="Microsoft Sans Serif"/>
                <a:cs typeface="Microsoft Sans Serif"/>
              </a:rPr>
              <a:t>Programer</a:t>
            </a:r>
            <a:endParaRPr sz="1550" kern="0">
              <a:solidFill>
                <a:sysClr val="windowText" lastClr="000000"/>
              </a:solidFill>
              <a:latin typeface="Microsoft Sans Serif"/>
              <a:cs typeface="Microsoft Sans Serif"/>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solidFill>
                  <a:prstClr val="white"/>
                </a:solidFill>
              </a:rPr>
              <a:pPr marL="38100">
                <a:lnSpc>
                  <a:spcPts val="1664"/>
                </a:lnSpc>
              </a:pPr>
              <a:t>35</a:t>
            </a:fld>
            <a:endParaRPr spc="-25" dirty="0">
              <a:solidFill>
                <a:prstClr val="white"/>
              </a:solidFill>
            </a:endParaRPr>
          </a:p>
        </p:txBody>
      </p:sp>
      <p:sp>
        <p:nvSpPr>
          <p:cNvPr id="8" name="object 8"/>
          <p:cNvSpPr txBox="1">
            <a:spLocks noGrp="1"/>
          </p:cNvSpPr>
          <p:nvPr>
            <p:ph type="ftr" sz="quarter" idx="5"/>
          </p:nvPr>
        </p:nvSpPr>
        <p:spPr>
          <a:xfrm>
            <a:off x="2763418" y="6600176"/>
            <a:ext cx="1243964" cy="155171"/>
          </a:xfrm>
          <a:prstGeom prst="rect">
            <a:avLst/>
          </a:prstGeom>
        </p:spPr>
        <p:txBody>
          <a:bodyPr vert="horz" wrap="square" lIns="0" tIns="1270" rIns="0" bIns="0" rtlCol="0">
            <a:spAutoFit/>
          </a:bodyPr>
          <a:lstStyle/>
          <a:p>
            <a:pPr marL="12700">
              <a:spcBef>
                <a:spcPts val="10"/>
              </a:spcBef>
            </a:pPr>
            <a:endParaRPr spc="-20" dirty="0">
              <a:solidFill>
                <a:prstClr val="white"/>
              </a:solidFill>
            </a:endParaRPr>
          </a:p>
        </p:txBody>
      </p:sp>
      <p:sp>
        <p:nvSpPr>
          <p:cNvPr id="5" name="object 5"/>
          <p:cNvSpPr txBox="1">
            <a:spLocks noGrp="1"/>
          </p:cNvSpPr>
          <p:nvPr>
            <p:ph type="title"/>
          </p:nvPr>
        </p:nvSpPr>
        <p:spPr>
          <a:xfrm>
            <a:off x="2091268" y="450927"/>
            <a:ext cx="11057467" cy="412292"/>
          </a:xfrm>
          <a:prstGeom prst="rect">
            <a:avLst/>
          </a:prstGeom>
        </p:spPr>
        <p:txBody>
          <a:bodyPr vert="horz" wrap="square" lIns="0" tIns="12065" rIns="0" bIns="0" rtlCol="0">
            <a:spAutoFit/>
          </a:bodyPr>
          <a:lstStyle/>
          <a:p>
            <a:pPr marL="12700">
              <a:spcBef>
                <a:spcPts val="95"/>
              </a:spcBef>
              <a:tabLst>
                <a:tab pos="8279765" algn="l"/>
              </a:tabLst>
            </a:pPr>
            <a:r>
              <a:rPr sz="2600" dirty="0"/>
              <a:t>4.</a:t>
            </a:r>
            <a:r>
              <a:rPr sz="2600" spc="-35" dirty="0"/>
              <a:t> </a:t>
            </a:r>
            <a:r>
              <a:rPr sz="2600" dirty="0"/>
              <a:t>GIỚI</a:t>
            </a:r>
            <a:r>
              <a:rPr sz="2600" spc="-35" dirty="0"/>
              <a:t> </a:t>
            </a:r>
            <a:r>
              <a:rPr sz="2600" dirty="0"/>
              <a:t>THIỆU</a:t>
            </a:r>
            <a:r>
              <a:rPr sz="2600" spc="-70" dirty="0"/>
              <a:t> </a:t>
            </a:r>
            <a:r>
              <a:rPr sz="2600" dirty="0"/>
              <a:t>VỀ</a:t>
            </a:r>
            <a:r>
              <a:rPr sz="2600" spc="-45" dirty="0"/>
              <a:t> </a:t>
            </a:r>
            <a:r>
              <a:rPr sz="2600" spc="-20" dirty="0"/>
              <a:t>VIEW</a:t>
            </a:r>
            <a:r>
              <a:rPr sz="2600" dirty="0"/>
              <a:t>	</a:t>
            </a:r>
            <a:endParaRPr sz="2600"/>
          </a:p>
        </p:txBody>
      </p:sp>
    </p:spTree>
    <p:extLst>
      <p:ext uri="{BB962C8B-B14F-4D97-AF65-F5344CB8AC3E}">
        <p14:creationId xmlns:p14="http://schemas.microsoft.com/office/powerpoint/2010/main" val="152534678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91268" y="450927"/>
            <a:ext cx="11057467" cy="412292"/>
          </a:xfrm>
          <a:prstGeom prst="rect">
            <a:avLst/>
          </a:prstGeom>
        </p:spPr>
        <p:txBody>
          <a:bodyPr vert="horz" wrap="square" lIns="0" tIns="12065" rIns="0" bIns="0" rtlCol="0">
            <a:spAutoFit/>
          </a:bodyPr>
          <a:lstStyle/>
          <a:p>
            <a:pPr marL="12700">
              <a:spcBef>
                <a:spcPts val="95"/>
              </a:spcBef>
              <a:tabLst>
                <a:tab pos="8279765" algn="l"/>
              </a:tabLst>
            </a:pPr>
            <a:r>
              <a:rPr sz="2600" dirty="0"/>
              <a:t>5.</a:t>
            </a:r>
            <a:r>
              <a:rPr sz="2600" spc="-45" dirty="0"/>
              <a:t> </a:t>
            </a:r>
            <a:r>
              <a:rPr sz="2600" dirty="0"/>
              <a:t>GIỚI</a:t>
            </a:r>
            <a:r>
              <a:rPr sz="2600" spc="-45" dirty="0"/>
              <a:t> </a:t>
            </a:r>
            <a:r>
              <a:rPr sz="2600" dirty="0"/>
              <a:t>THIỆU</a:t>
            </a:r>
            <a:r>
              <a:rPr sz="2600" spc="-80" dirty="0"/>
              <a:t> </a:t>
            </a:r>
            <a:r>
              <a:rPr sz="2600" dirty="0"/>
              <a:t>VỀ</a:t>
            </a:r>
            <a:r>
              <a:rPr sz="2600" spc="-50" dirty="0"/>
              <a:t> </a:t>
            </a:r>
            <a:r>
              <a:rPr sz="2600" dirty="0"/>
              <a:t>ĐỊNH</a:t>
            </a:r>
            <a:r>
              <a:rPr sz="2600" spc="-25" dirty="0"/>
              <a:t> </a:t>
            </a:r>
            <a:r>
              <a:rPr sz="2600" dirty="0"/>
              <a:t>TUYẾN</a:t>
            </a:r>
            <a:r>
              <a:rPr sz="2600" spc="-50" dirty="0"/>
              <a:t> </a:t>
            </a:r>
            <a:r>
              <a:rPr sz="2600" spc="-25" dirty="0"/>
              <a:t>URL</a:t>
            </a:r>
            <a:r>
              <a:rPr sz="2600" dirty="0"/>
              <a:t>	</a:t>
            </a:r>
            <a:endParaRPr sz="260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solidFill>
                  <a:prstClr val="white"/>
                </a:solidFill>
              </a:rPr>
              <a:pPr marL="38100">
                <a:lnSpc>
                  <a:spcPts val="1664"/>
                </a:lnSpc>
              </a:pPr>
              <a:t>36</a:t>
            </a:fld>
            <a:endParaRPr spc="-25" dirty="0">
              <a:solidFill>
                <a:prstClr val="white"/>
              </a:solidFill>
            </a:endParaRPr>
          </a:p>
        </p:txBody>
      </p:sp>
      <p:sp>
        <p:nvSpPr>
          <p:cNvPr id="6" name="object 6"/>
          <p:cNvSpPr txBox="1">
            <a:spLocks noGrp="1"/>
          </p:cNvSpPr>
          <p:nvPr>
            <p:ph type="ftr" sz="quarter" idx="5"/>
          </p:nvPr>
        </p:nvSpPr>
        <p:spPr>
          <a:xfrm>
            <a:off x="2763418" y="6600176"/>
            <a:ext cx="1243964" cy="155171"/>
          </a:xfrm>
          <a:prstGeom prst="rect">
            <a:avLst/>
          </a:prstGeom>
        </p:spPr>
        <p:txBody>
          <a:bodyPr vert="horz" wrap="square" lIns="0" tIns="1270" rIns="0" bIns="0" rtlCol="0">
            <a:spAutoFit/>
          </a:bodyPr>
          <a:lstStyle/>
          <a:p>
            <a:pPr marL="12700">
              <a:spcBef>
                <a:spcPts val="10"/>
              </a:spcBef>
            </a:pPr>
            <a:endParaRPr spc="-20" dirty="0">
              <a:solidFill>
                <a:prstClr val="white"/>
              </a:solidFill>
            </a:endParaRPr>
          </a:p>
        </p:txBody>
      </p:sp>
      <p:sp>
        <p:nvSpPr>
          <p:cNvPr id="3" name="object 3"/>
          <p:cNvSpPr txBox="1"/>
          <p:nvPr/>
        </p:nvSpPr>
        <p:spPr>
          <a:xfrm>
            <a:off x="2242820" y="1095549"/>
            <a:ext cx="7831455" cy="3924935"/>
          </a:xfrm>
          <a:prstGeom prst="rect">
            <a:avLst/>
          </a:prstGeom>
        </p:spPr>
        <p:txBody>
          <a:bodyPr vert="horz" wrap="square" lIns="0" tIns="86360" rIns="0" bIns="0" rtlCol="0">
            <a:spAutoFit/>
          </a:bodyPr>
          <a:lstStyle/>
          <a:p>
            <a:pPr marL="605790" lvl="1" indent="-593090">
              <a:spcBef>
                <a:spcPts val="680"/>
              </a:spcBef>
              <a:buFontTx/>
              <a:buAutoNum type="arabicPeriod"/>
              <a:tabLst>
                <a:tab pos="605790" algn="l"/>
              </a:tabLst>
            </a:pPr>
            <a:r>
              <a:rPr sz="2400" b="1" kern="0" dirty="0">
                <a:solidFill>
                  <a:srgbClr val="C00000"/>
                </a:solidFill>
                <a:latin typeface="Arial"/>
                <a:cs typeface="Arial"/>
              </a:rPr>
              <a:t>Định</a:t>
            </a:r>
            <a:r>
              <a:rPr sz="2400" b="1" kern="0" spc="-90" dirty="0">
                <a:solidFill>
                  <a:srgbClr val="C00000"/>
                </a:solidFill>
                <a:latin typeface="Arial"/>
                <a:cs typeface="Arial"/>
              </a:rPr>
              <a:t> </a:t>
            </a:r>
            <a:r>
              <a:rPr sz="2400" b="1" kern="0" dirty="0">
                <a:solidFill>
                  <a:srgbClr val="C00000"/>
                </a:solidFill>
                <a:latin typeface="Arial"/>
                <a:cs typeface="Arial"/>
              </a:rPr>
              <a:t>tuyến</a:t>
            </a:r>
            <a:r>
              <a:rPr sz="2400" b="1" kern="0" spc="50" dirty="0">
                <a:solidFill>
                  <a:srgbClr val="C00000"/>
                </a:solidFill>
                <a:latin typeface="Arial"/>
                <a:cs typeface="Arial"/>
              </a:rPr>
              <a:t> </a:t>
            </a:r>
            <a:r>
              <a:rPr sz="2400" b="1" kern="0" dirty="0">
                <a:solidFill>
                  <a:srgbClr val="C00000"/>
                </a:solidFill>
                <a:latin typeface="Arial"/>
                <a:cs typeface="Arial"/>
              </a:rPr>
              <a:t>là</a:t>
            </a:r>
            <a:r>
              <a:rPr sz="2400" b="1" kern="0" spc="-75" dirty="0">
                <a:solidFill>
                  <a:srgbClr val="C00000"/>
                </a:solidFill>
                <a:latin typeface="Arial"/>
                <a:cs typeface="Arial"/>
              </a:rPr>
              <a:t> </a:t>
            </a:r>
            <a:r>
              <a:rPr sz="2400" b="1" kern="0" spc="-25" dirty="0">
                <a:solidFill>
                  <a:srgbClr val="C00000"/>
                </a:solidFill>
                <a:latin typeface="Arial"/>
                <a:cs typeface="Arial"/>
              </a:rPr>
              <a:t>gì?</a:t>
            </a:r>
            <a:endParaRPr sz="2400" kern="0">
              <a:solidFill>
                <a:sysClr val="windowText" lastClr="000000"/>
              </a:solidFill>
              <a:latin typeface="Arial"/>
              <a:cs typeface="Arial"/>
            </a:endParaRPr>
          </a:p>
          <a:p>
            <a:pPr marL="671830" marR="5080" lvl="2" indent="-343535" algn="just">
              <a:spcBef>
                <a:spcPts val="585"/>
              </a:spcBef>
              <a:buFont typeface="Wingdings"/>
              <a:buChar char=""/>
              <a:tabLst>
                <a:tab pos="671830" algn="l"/>
              </a:tabLst>
            </a:pPr>
            <a:r>
              <a:rPr sz="2400" kern="0" dirty="0">
                <a:solidFill>
                  <a:sysClr val="windowText" lastClr="000000"/>
                </a:solidFill>
                <a:latin typeface="Microsoft Sans Serif"/>
                <a:cs typeface="Microsoft Sans Serif"/>
              </a:rPr>
              <a:t>Browser</a:t>
            </a:r>
            <a:r>
              <a:rPr sz="2400" kern="0" spc="2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yêu</a:t>
            </a:r>
            <a:r>
              <a:rPr sz="2400" kern="0" spc="2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cầu</a:t>
            </a:r>
            <a:r>
              <a:rPr sz="2400" kern="0" spc="1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một</a:t>
            </a:r>
            <a:r>
              <a:rPr sz="2400" kern="0" spc="3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địa</a:t>
            </a:r>
            <a:r>
              <a:rPr sz="2400" kern="0" spc="1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chỉ</a:t>
            </a:r>
            <a:r>
              <a:rPr sz="2400" kern="0" spc="15" dirty="0">
                <a:solidFill>
                  <a:sysClr val="windowText" lastClr="000000"/>
                </a:solidFill>
                <a:latin typeface="Microsoft Sans Serif"/>
                <a:cs typeface="Microsoft Sans Serif"/>
              </a:rPr>
              <a:t>  </a:t>
            </a:r>
            <a:r>
              <a:rPr sz="2400" kern="0" spc="125" dirty="0">
                <a:solidFill>
                  <a:sysClr val="windowText" lastClr="000000"/>
                </a:solidFill>
                <a:latin typeface="Microsoft Sans Serif"/>
                <a:cs typeface="Microsoft Sans Serif"/>
              </a:rPr>
              <a:t>từ</a:t>
            </a:r>
            <a:r>
              <a:rPr sz="2400" kern="0" spc="3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controller</a:t>
            </a:r>
            <a:r>
              <a:rPr sz="2400" kern="0" spc="25" dirty="0">
                <a:solidFill>
                  <a:sysClr val="windowText" lastClr="000000"/>
                </a:solidFill>
                <a:latin typeface="Microsoft Sans Serif"/>
                <a:cs typeface="Microsoft Sans Serif"/>
              </a:rPr>
              <a:t>  </a:t>
            </a:r>
            <a:r>
              <a:rPr sz="2400" kern="0" spc="-10" dirty="0">
                <a:solidFill>
                  <a:sysClr val="windowText" lastClr="000000"/>
                </a:solidFill>
                <a:latin typeface="Microsoft Sans Serif"/>
                <a:cs typeface="Microsoft Sans Serif"/>
              </a:rPr>
              <a:t>action </a:t>
            </a:r>
            <a:r>
              <a:rPr sz="2400" kern="0" spc="120" dirty="0">
                <a:solidFill>
                  <a:sysClr val="windowText" lastClr="000000"/>
                </a:solidFill>
                <a:latin typeface="Microsoft Sans Serif"/>
                <a:cs typeface="Microsoft Sans Serif"/>
              </a:rPr>
              <a:t>được</a:t>
            </a:r>
            <a:r>
              <a:rPr sz="2400" kern="0" spc="-4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gọi</a:t>
            </a:r>
            <a:r>
              <a:rPr sz="2400" kern="0" spc="1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là</a:t>
            </a:r>
            <a:r>
              <a:rPr sz="2400" kern="0" spc="-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định</a:t>
            </a:r>
            <a:r>
              <a:rPr sz="2400" kern="0" spc="-4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tuyến URL(URL</a:t>
            </a:r>
            <a:r>
              <a:rPr sz="2400" kern="0" spc="-70" dirty="0">
                <a:solidFill>
                  <a:sysClr val="windowText" lastClr="000000"/>
                </a:solidFill>
                <a:latin typeface="Microsoft Sans Serif"/>
                <a:cs typeface="Microsoft Sans Serif"/>
              </a:rPr>
              <a:t> </a:t>
            </a:r>
            <a:r>
              <a:rPr sz="2400" kern="0" spc="-10" dirty="0">
                <a:solidFill>
                  <a:sysClr val="windowText" lastClr="000000"/>
                </a:solidFill>
                <a:latin typeface="Microsoft Sans Serif"/>
                <a:cs typeface="Microsoft Sans Serif"/>
              </a:rPr>
              <a:t>routing).</a:t>
            </a:r>
            <a:endParaRPr sz="2400" kern="0">
              <a:solidFill>
                <a:sysClr val="windowText" lastClr="000000"/>
              </a:solidFill>
              <a:latin typeface="Microsoft Sans Serif"/>
              <a:cs typeface="Microsoft Sans Serif"/>
            </a:endParaRPr>
          </a:p>
          <a:p>
            <a:pPr marL="671195" lvl="2" indent="-342900" algn="just">
              <a:spcBef>
                <a:spcPts val="1195"/>
              </a:spcBef>
              <a:buFont typeface="Wingdings"/>
              <a:buChar char=""/>
              <a:tabLst>
                <a:tab pos="671195" algn="l"/>
              </a:tabLst>
            </a:pPr>
            <a:r>
              <a:rPr sz="2400" kern="0">
                <a:solidFill>
                  <a:sysClr val="windowText" lastClr="000000"/>
                </a:solidFill>
                <a:latin typeface="Microsoft Sans Serif"/>
                <a:cs typeface="Microsoft Sans Serif"/>
              </a:rPr>
              <a:t>U</a:t>
            </a:r>
            <a:r>
              <a:rPr lang="en-US" sz="2400" kern="0">
                <a:solidFill>
                  <a:sysClr val="windowText" lastClr="000000"/>
                </a:solidFill>
                <a:latin typeface="Microsoft Sans Serif"/>
                <a:cs typeface="Microsoft Sans Serif"/>
              </a:rPr>
              <a:t>RL</a:t>
            </a:r>
            <a:r>
              <a:rPr sz="2400" kern="0" spc="1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routing</a:t>
            </a:r>
            <a:r>
              <a:rPr sz="2400" kern="0" spc="-3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sẽ</a:t>
            </a:r>
            <a:r>
              <a:rPr sz="2400" kern="0" spc="-3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chỉ</a:t>
            </a:r>
            <a:r>
              <a:rPr sz="2400" kern="0" spc="-1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định request</a:t>
            </a:r>
            <a:r>
              <a:rPr sz="2400" kern="0" spc="-10" dirty="0">
                <a:solidFill>
                  <a:sysClr val="windowText" lastClr="000000"/>
                </a:solidFill>
                <a:latin typeface="Microsoft Sans Serif"/>
                <a:cs typeface="Microsoft Sans Serif"/>
              </a:rPr>
              <a:t> </a:t>
            </a:r>
            <a:r>
              <a:rPr sz="2400" kern="0" spc="75" dirty="0">
                <a:solidFill>
                  <a:sysClr val="windowText" lastClr="000000"/>
                </a:solidFill>
                <a:latin typeface="Microsoft Sans Serif"/>
                <a:cs typeface="Microsoft Sans Serif"/>
              </a:rPr>
              <a:t>tới</a:t>
            </a:r>
            <a:r>
              <a:rPr sz="2400" kern="0" spc="-5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controller</a:t>
            </a:r>
            <a:r>
              <a:rPr sz="2400" kern="0" spc="-25" dirty="0">
                <a:solidFill>
                  <a:sysClr val="windowText" lastClr="000000"/>
                </a:solidFill>
                <a:latin typeface="Microsoft Sans Serif"/>
                <a:cs typeface="Microsoft Sans Serif"/>
              </a:rPr>
              <a:t> </a:t>
            </a:r>
            <a:r>
              <a:rPr sz="2400" kern="0" spc="-10" dirty="0">
                <a:solidFill>
                  <a:sysClr val="windowText" lastClr="000000"/>
                </a:solidFill>
                <a:latin typeface="Microsoft Sans Serif"/>
                <a:cs typeface="Microsoft Sans Serif"/>
              </a:rPr>
              <a:t>action.</a:t>
            </a:r>
            <a:endParaRPr sz="2400" kern="0">
              <a:solidFill>
                <a:sysClr val="windowText" lastClr="000000"/>
              </a:solidFill>
              <a:latin typeface="Microsoft Sans Serif"/>
              <a:cs typeface="Microsoft Sans Serif"/>
            </a:endParaRPr>
          </a:p>
          <a:p>
            <a:pPr marL="671830" marR="8890" lvl="2" indent="-343535" algn="just">
              <a:spcBef>
                <a:spcPts val="1225"/>
              </a:spcBef>
              <a:buFont typeface="Wingdings"/>
              <a:buChar char=""/>
              <a:tabLst>
                <a:tab pos="671830" algn="l"/>
              </a:tabLst>
            </a:pPr>
            <a:r>
              <a:rPr sz="2400" kern="0" dirty="0">
                <a:solidFill>
                  <a:sysClr val="windowText" lastClr="000000"/>
                </a:solidFill>
                <a:latin typeface="Microsoft Sans Serif"/>
                <a:cs typeface="Microsoft Sans Serif"/>
              </a:rPr>
              <a:t>URL</a:t>
            </a:r>
            <a:r>
              <a:rPr sz="2400" kern="0" spc="26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routing</a:t>
            </a:r>
            <a:r>
              <a:rPr sz="2400" kern="0" spc="330" dirty="0">
                <a:solidFill>
                  <a:sysClr val="windowText" lastClr="000000"/>
                </a:solidFill>
                <a:latin typeface="Microsoft Sans Serif"/>
                <a:cs typeface="Microsoft Sans Serif"/>
              </a:rPr>
              <a:t> </a:t>
            </a:r>
            <a:r>
              <a:rPr sz="2400" kern="0" spc="145" dirty="0">
                <a:solidFill>
                  <a:sysClr val="windowText" lastClr="000000"/>
                </a:solidFill>
                <a:latin typeface="Microsoft Sans Serif"/>
                <a:cs typeface="Microsoft Sans Serif"/>
              </a:rPr>
              <a:t>sử</a:t>
            </a:r>
            <a:r>
              <a:rPr sz="2400" kern="0" spc="31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dụng</a:t>
            </a:r>
            <a:r>
              <a:rPr sz="2400" kern="0" spc="29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một</a:t>
            </a:r>
            <a:r>
              <a:rPr sz="2400" kern="0" spc="35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bảng</a:t>
            </a:r>
            <a:r>
              <a:rPr sz="2400" kern="0" spc="29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định</a:t>
            </a:r>
            <a:r>
              <a:rPr sz="2400" kern="0" spc="32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tuyến</a:t>
            </a:r>
            <a:r>
              <a:rPr sz="2400" kern="0" spc="33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để</a:t>
            </a:r>
            <a:r>
              <a:rPr sz="2400" kern="0" spc="325" dirty="0">
                <a:solidFill>
                  <a:sysClr val="windowText" lastClr="000000"/>
                </a:solidFill>
                <a:latin typeface="Microsoft Sans Serif"/>
                <a:cs typeface="Microsoft Sans Serif"/>
              </a:rPr>
              <a:t> </a:t>
            </a:r>
            <a:r>
              <a:rPr sz="2400" kern="0" spc="-20" dirty="0">
                <a:solidFill>
                  <a:sysClr val="windowText" lastClr="000000"/>
                </a:solidFill>
                <a:latin typeface="Microsoft Sans Serif"/>
                <a:cs typeface="Microsoft Sans Serif"/>
              </a:rPr>
              <a:t>điều </a:t>
            </a:r>
            <a:r>
              <a:rPr sz="2400" kern="0" dirty="0">
                <a:solidFill>
                  <a:sysClr val="windowText" lastClr="000000"/>
                </a:solidFill>
                <a:latin typeface="Microsoft Sans Serif"/>
                <a:cs typeface="Microsoft Sans Serif"/>
              </a:rPr>
              <a:t>khiển</a:t>
            </a:r>
            <a:r>
              <a:rPr sz="2400" kern="0" spc="-3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các</a:t>
            </a:r>
            <a:r>
              <a:rPr sz="2400" kern="0" spc="-30" dirty="0">
                <a:solidFill>
                  <a:sysClr val="windowText" lastClr="000000"/>
                </a:solidFill>
                <a:latin typeface="Microsoft Sans Serif"/>
                <a:cs typeface="Microsoft Sans Serif"/>
              </a:rPr>
              <a:t> </a:t>
            </a:r>
            <a:r>
              <a:rPr sz="2400" kern="0" spc="-10" dirty="0">
                <a:solidFill>
                  <a:sysClr val="windowText" lastClr="000000"/>
                </a:solidFill>
                <a:latin typeface="Microsoft Sans Serif"/>
                <a:cs typeface="Microsoft Sans Serif"/>
              </a:rPr>
              <a:t>request.</a:t>
            </a:r>
            <a:endParaRPr sz="2400" kern="0">
              <a:solidFill>
                <a:sysClr val="windowText" lastClr="000000"/>
              </a:solidFill>
              <a:latin typeface="Microsoft Sans Serif"/>
              <a:cs typeface="Microsoft Sans Serif"/>
            </a:endParaRPr>
          </a:p>
          <a:p>
            <a:pPr marL="671830" marR="5715" lvl="2" indent="-343535" algn="just">
              <a:spcBef>
                <a:spcPts val="1190"/>
              </a:spcBef>
              <a:buFont typeface="Wingdings"/>
              <a:buChar char=""/>
              <a:tabLst>
                <a:tab pos="671830" algn="l"/>
              </a:tabLst>
            </a:pPr>
            <a:r>
              <a:rPr sz="2400" kern="0" dirty="0">
                <a:solidFill>
                  <a:sysClr val="windowText" lastClr="000000"/>
                </a:solidFill>
                <a:latin typeface="Microsoft Sans Serif"/>
                <a:cs typeface="Microsoft Sans Serif"/>
              </a:rPr>
              <a:t>Bảng</a:t>
            </a:r>
            <a:r>
              <a:rPr sz="2400" kern="0" spc="59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định</a:t>
            </a:r>
            <a:r>
              <a:rPr sz="2400" kern="0" spc="55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tuyến</a:t>
            </a:r>
            <a:r>
              <a:rPr sz="2400" kern="0" spc="595" dirty="0">
                <a:solidFill>
                  <a:sysClr val="windowText" lastClr="000000"/>
                </a:solidFill>
                <a:latin typeface="Microsoft Sans Serif"/>
                <a:cs typeface="Microsoft Sans Serif"/>
              </a:rPr>
              <a:t> </a:t>
            </a:r>
            <a:r>
              <a:rPr sz="2400" kern="0" spc="110" dirty="0">
                <a:solidFill>
                  <a:sysClr val="windowText" lastClr="000000"/>
                </a:solidFill>
                <a:latin typeface="Microsoft Sans Serif"/>
                <a:cs typeface="Microsoft Sans Serif"/>
              </a:rPr>
              <a:t>được</a:t>
            </a:r>
            <a:r>
              <a:rPr sz="2400" kern="0" spc="55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tạo</a:t>
            </a:r>
            <a:r>
              <a:rPr sz="2400" kern="0" spc="55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khi</a:t>
            </a:r>
            <a:r>
              <a:rPr sz="2400" kern="0" spc="540" dirty="0">
                <a:solidFill>
                  <a:sysClr val="windowText" lastClr="000000"/>
                </a:solidFill>
                <a:latin typeface="Microsoft Sans Serif"/>
                <a:cs typeface="Microsoft Sans Serif"/>
              </a:rPr>
              <a:t> </a:t>
            </a:r>
            <a:r>
              <a:rPr sz="2400" kern="0" spc="90" dirty="0">
                <a:solidFill>
                  <a:sysClr val="windowText" lastClr="000000"/>
                </a:solidFill>
                <a:latin typeface="Microsoft Sans Serif"/>
                <a:cs typeface="Microsoft Sans Serif"/>
              </a:rPr>
              <a:t>ứng</a:t>
            </a:r>
            <a:r>
              <a:rPr sz="2400" kern="0" spc="58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dụng</a:t>
            </a:r>
            <a:r>
              <a:rPr sz="2400" kern="0" spc="59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bắt</a:t>
            </a:r>
            <a:r>
              <a:rPr sz="2400" kern="0" spc="580" dirty="0">
                <a:solidFill>
                  <a:sysClr val="windowText" lastClr="000000"/>
                </a:solidFill>
                <a:latin typeface="Microsoft Sans Serif"/>
                <a:cs typeface="Microsoft Sans Serif"/>
              </a:rPr>
              <a:t> </a:t>
            </a:r>
            <a:r>
              <a:rPr sz="2400" kern="0" spc="-25" dirty="0">
                <a:solidFill>
                  <a:sysClr val="windowText" lastClr="000000"/>
                </a:solidFill>
                <a:latin typeface="Microsoft Sans Serif"/>
                <a:cs typeface="Microsoft Sans Serif"/>
              </a:rPr>
              <a:t>đầu </a:t>
            </a:r>
            <a:r>
              <a:rPr sz="2400" kern="0" spc="120" dirty="0">
                <a:solidFill>
                  <a:sysClr val="windowText" lastClr="000000"/>
                </a:solidFill>
                <a:latin typeface="Microsoft Sans Serif"/>
                <a:cs typeface="Microsoft Sans Serif"/>
              </a:rPr>
              <a:t>được</a:t>
            </a:r>
            <a:r>
              <a:rPr sz="2400" kern="0" spc="-1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chạy</a:t>
            </a:r>
            <a:r>
              <a:rPr sz="2400" kern="0" spc="-1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lần</a:t>
            </a:r>
            <a:r>
              <a:rPr sz="2400" kern="0" spc="-1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đầu</a:t>
            </a:r>
            <a:r>
              <a:rPr sz="2400" kern="0" spc="-1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tiên,</a:t>
            </a:r>
            <a:r>
              <a:rPr sz="2400" kern="0" spc="5" dirty="0">
                <a:solidFill>
                  <a:sysClr val="windowText" lastClr="000000"/>
                </a:solidFill>
                <a:latin typeface="Microsoft Sans Serif"/>
                <a:cs typeface="Microsoft Sans Serif"/>
              </a:rPr>
              <a:t>  </a:t>
            </a:r>
            <a:r>
              <a:rPr sz="2400" kern="0" spc="114" dirty="0">
                <a:solidFill>
                  <a:sysClr val="windowText" lastClr="000000"/>
                </a:solidFill>
                <a:latin typeface="Microsoft Sans Serif"/>
                <a:cs typeface="Microsoft Sans Serif"/>
              </a:rPr>
              <a:t>được</a:t>
            </a:r>
            <a:r>
              <a:rPr sz="2400" kern="0" spc="-1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thiết</a:t>
            </a:r>
            <a:r>
              <a:rPr sz="2400" kern="0" spc="-1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lập</a:t>
            </a:r>
            <a:r>
              <a:rPr sz="2400" kern="0" spc="-1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trong</a:t>
            </a:r>
            <a:r>
              <a:rPr sz="2400" kern="0" spc="-5" dirty="0">
                <a:solidFill>
                  <a:sysClr val="windowText" lastClr="000000"/>
                </a:solidFill>
                <a:latin typeface="Microsoft Sans Serif"/>
                <a:cs typeface="Microsoft Sans Serif"/>
              </a:rPr>
              <a:t>  </a:t>
            </a:r>
            <a:r>
              <a:rPr sz="2400" kern="0" spc="-20" dirty="0">
                <a:solidFill>
                  <a:sysClr val="windowText" lastClr="000000"/>
                </a:solidFill>
                <a:latin typeface="Microsoft Sans Serif"/>
                <a:cs typeface="Microsoft Sans Serif"/>
              </a:rPr>
              <a:t>file </a:t>
            </a:r>
            <a:r>
              <a:rPr sz="2400" i="1" kern="0" spc="-10" dirty="0">
                <a:solidFill>
                  <a:sysClr val="windowText" lastClr="000000"/>
                </a:solidFill>
                <a:latin typeface="Arial"/>
                <a:cs typeface="Arial"/>
              </a:rPr>
              <a:t>App_Start\RouteConfig.cs</a:t>
            </a:r>
            <a:endParaRPr sz="2400" kern="0">
              <a:solidFill>
                <a:sysClr val="windowText" lastClr="000000"/>
              </a:solidFill>
              <a:latin typeface="Arial"/>
              <a:cs typeface="Arial"/>
            </a:endParaRPr>
          </a:p>
        </p:txBody>
      </p:sp>
    </p:spTree>
    <p:extLst>
      <p:ext uri="{BB962C8B-B14F-4D97-AF65-F5344CB8AC3E}">
        <p14:creationId xmlns:p14="http://schemas.microsoft.com/office/powerpoint/2010/main" val="316334869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422746" y="1168138"/>
            <a:ext cx="7750947" cy="4809764"/>
          </a:xfrm>
          <a:prstGeom prst="rect">
            <a:avLst/>
          </a:prstGeom>
        </p:spPr>
      </p:pic>
      <p:sp>
        <p:nvSpPr>
          <p:cNvPr id="3" name="object 3"/>
          <p:cNvSpPr txBox="1">
            <a:spLocks noGrp="1"/>
          </p:cNvSpPr>
          <p:nvPr>
            <p:ph type="title"/>
          </p:nvPr>
        </p:nvSpPr>
        <p:spPr>
          <a:xfrm>
            <a:off x="2091268" y="450927"/>
            <a:ext cx="11057467" cy="412292"/>
          </a:xfrm>
          <a:prstGeom prst="rect">
            <a:avLst/>
          </a:prstGeom>
        </p:spPr>
        <p:txBody>
          <a:bodyPr vert="horz" wrap="square" lIns="0" tIns="12065" rIns="0" bIns="0" rtlCol="0">
            <a:spAutoFit/>
          </a:bodyPr>
          <a:lstStyle/>
          <a:p>
            <a:pPr marL="12700">
              <a:spcBef>
                <a:spcPts val="95"/>
              </a:spcBef>
              <a:tabLst>
                <a:tab pos="8279765" algn="l"/>
              </a:tabLst>
            </a:pPr>
            <a:r>
              <a:rPr sz="2600" dirty="0"/>
              <a:t>5.</a:t>
            </a:r>
            <a:r>
              <a:rPr sz="2600" spc="-45" dirty="0"/>
              <a:t> </a:t>
            </a:r>
            <a:r>
              <a:rPr sz="2600" dirty="0"/>
              <a:t>GIỚI</a:t>
            </a:r>
            <a:r>
              <a:rPr sz="2600" spc="-45" dirty="0"/>
              <a:t> </a:t>
            </a:r>
            <a:r>
              <a:rPr sz="2600" dirty="0"/>
              <a:t>THIỆU</a:t>
            </a:r>
            <a:r>
              <a:rPr sz="2600" spc="-80" dirty="0"/>
              <a:t> </a:t>
            </a:r>
            <a:r>
              <a:rPr sz="2600" dirty="0"/>
              <a:t>VỀ</a:t>
            </a:r>
            <a:r>
              <a:rPr sz="2600" spc="-50" dirty="0"/>
              <a:t> </a:t>
            </a:r>
            <a:r>
              <a:rPr sz="2600" dirty="0"/>
              <a:t>ĐỊNH</a:t>
            </a:r>
            <a:r>
              <a:rPr sz="2600" spc="-25" dirty="0"/>
              <a:t> </a:t>
            </a:r>
            <a:r>
              <a:rPr sz="2600" dirty="0"/>
              <a:t>TUYẾN</a:t>
            </a:r>
            <a:r>
              <a:rPr sz="2600" spc="-50" dirty="0"/>
              <a:t> </a:t>
            </a:r>
            <a:r>
              <a:rPr sz="2600" spc="-25" dirty="0"/>
              <a:t>URL</a:t>
            </a:r>
            <a:r>
              <a:rPr sz="2600" dirty="0"/>
              <a:t>	</a:t>
            </a:r>
            <a:endParaRPr sz="260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solidFill>
                  <a:prstClr val="white"/>
                </a:solidFill>
              </a:rPr>
              <a:pPr marL="38100">
                <a:lnSpc>
                  <a:spcPts val="1664"/>
                </a:lnSpc>
              </a:pPr>
              <a:t>37</a:t>
            </a:fld>
            <a:endParaRPr spc="-25" dirty="0">
              <a:solidFill>
                <a:prstClr val="white"/>
              </a:solidFill>
            </a:endParaRPr>
          </a:p>
        </p:txBody>
      </p:sp>
      <p:sp>
        <p:nvSpPr>
          <p:cNvPr id="6" name="object 6"/>
          <p:cNvSpPr txBox="1">
            <a:spLocks noGrp="1"/>
          </p:cNvSpPr>
          <p:nvPr>
            <p:ph type="ftr" sz="quarter" idx="5"/>
          </p:nvPr>
        </p:nvSpPr>
        <p:spPr>
          <a:xfrm>
            <a:off x="2763418" y="6600176"/>
            <a:ext cx="1243964" cy="155171"/>
          </a:xfrm>
          <a:prstGeom prst="rect">
            <a:avLst/>
          </a:prstGeom>
        </p:spPr>
        <p:txBody>
          <a:bodyPr vert="horz" wrap="square" lIns="0" tIns="1270" rIns="0" bIns="0" rtlCol="0">
            <a:spAutoFit/>
          </a:bodyPr>
          <a:lstStyle/>
          <a:p>
            <a:pPr marL="12700">
              <a:spcBef>
                <a:spcPts val="10"/>
              </a:spcBef>
            </a:pPr>
            <a:endParaRPr spc="-20" dirty="0">
              <a:solidFill>
                <a:prstClr val="white"/>
              </a:solidFill>
            </a:endParaRPr>
          </a:p>
        </p:txBody>
      </p:sp>
    </p:spTree>
    <p:extLst>
      <p:ext uri="{BB962C8B-B14F-4D97-AF65-F5344CB8AC3E}">
        <p14:creationId xmlns:p14="http://schemas.microsoft.com/office/powerpoint/2010/main" val="282774757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183346" y="1248155"/>
            <a:ext cx="7883611" cy="3647068"/>
          </a:xfrm>
          <a:prstGeom prst="rect">
            <a:avLst/>
          </a:prstGeom>
        </p:spPr>
      </p:pic>
      <p:sp>
        <p:nvSpPr>
          <p:cNvPr id="3" name="object 3"/>
          <p:cNvSpPr txBox="1">
            <a:spLocks noGrp="1"/>
          </p:cNvSpPr>
          <p:nvPr>
            <p:ph type="title"/>
          </p:nvPr>
        </p:nvSpPr>
        <p:spPr>
          <a:xfrm>
            <a:off x="2091268" y="450927"/>
            <a:ext cx="11057467" cy="412292"/>
          </a:xfrm>
          <a:prstGeom prst="rect">
            <a:avLst/>
          </a:prstGeom>
        </p:spPr>
        <p:txBody>
          <a:bodyPr vert="horz" wrap="square" lIns="0" tIns="12065" rIns="0" bIns="0" rtlCol="0">
            <a:spAutoFit/>
          </a:bodyPr>
          <a:lstStyle/>
          <a:p>
            <a:pPr marL="12700">
              <a:spcBef>
                <a:spcPts val="95"/>
              </a:spcBef>
              <a:tabLst>
                <a:tab pos="8279765" algn="l"/>
              </a:tabLst>
            </a:pPr>
            <a:r>
              <a:rPr sz="2600" dirty="0"/>
              <a:t>5.</a:t>
            </a:r>
            <a:r>
              <a:rPr sz="2600" spc="-45" dirty="0"/>
              <a:t> </a:t>
            </a:r>
            <a:r>
              <a:rPr sz="2600" dirty="0"/>
              <a:t>GIỚI</a:t>
            </a:r>
            <a:r>
              <a:rPr sz="2600" spc="-45" dirty="0"/>
              <a:t> </a:t>
            </a:r>
            <a:r>
              <a:rPr sz="2600" dirty="0"/>
              <a:t>THIỆU</a:t>
            </a:r>
            <a:r>
              <a:rPr sz="2600" spc="-80" dirty="0"/>
              <a:t> </a:t>
            </a:r>
            <a:r>
              <a:rPr sz="2600" dirty="0"/>
              <a:t>VỀ</a:t>
            </a:r>
            <a:r>
              <a:rPr sz="2600" spc="-50" dirty="0"/>
              <a:t> </a:t>
            </a:r>
            <a:r>
              <a:rPr sz="2600" dirty="0"/>
              <a:t>ĐỊNH</a:t>
            </a:r>
            <a:r>
              <a:rPr sz="2600" spc="-25" dirty="0"/>
              <a:t> </a:t>
            </a:r>
            <a:r>
              <a:rPr sz="2600" dirty="0"/>
              <a:t>TUYẾN</a:t>
            </a:r>
            <a:r>
              <a:rPr sz="2600" spc="-50" dirty="0"/>
              <a:t> </a:t>
            </a:r>
            <a:r>
              <a:rPr sz="2600" spc="-25" dirty="0"/>
              <a:t>URL</a:t>
            </a:r>
            <a:r>
              <a:rPr sz="2600" dirty="0"/>
              <a:t>	</a:t>
            </a:r>
            <a:endParaRPr sz="260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solidFill>
                  <a:prstClr val="white"/>
                </a:solidFill>
              </a:rPr>
              <a:pPr marL="38100">
                <a:lnSpc>
                  <a:spcPts val="1664"/>
                </a:lnSpc>
              </a:pPr>
              <a:t>38</a:t>
            </a:fld>
            <a:endParaRPr spc="-25" dirty="0">
              <a:solidFill>
                <a:prstClr val="white"/>
              </a:solidFill>
            </a:endParaRPr>
          </a:p>
        </p:txBody>
      </p:sp>
      <p:sp>
        <p:nvSpPr>
          <p:cNvPr id="6" name="object 6"/>
          <p:cNvSpPr txBox="1">
            <a:spLocks noGrp="1"/>
          </p:cNvSpPr>
          <p:nvPr>
            <p:ph type="ftr" sz="quarter" idx="5"/>
          </p:nvPr>
        </p:nvSpPr>
        <p:spPr>
          <a:xfrm>
            <a:off x="2763418" y="6600176"/>
            <a:ext cx="1243964" cy="155171"/>
          </a:xfrm>
          <a:prstGeom prst="rect">
            <a:avLst/>
          </a:prstGeom>
        </p:spPr>
        <p:txBody>
          <a:bodyPr vert="horz" wrap="square" lIns="0" tIns="1270" rIns="0" bIns="0" rtlCol="0">
            <a:spAutoFit/>
          </a:bodyPr>
          <a:lstStyle/>
          <a:p>
            <a:pPr marL="12700">
              <a:spcBef>
                <a:spcPts val="10"/>
              </a:spcBef>
            </a:pPr>
            <a:endParaRPr spc="-20" dirty="0">
              <a:solidFill>
                <a:prstClr val="white"/>
              </a:solidFill>
            </a:endParaRPr>
          </a:p>
        </p:txBody>
      </p:sp>
    </p:spTree>
    <p:extLst>
      <p:ext uri="{BB962C8B-B14F-4D97-AF65-F5344CB8AC3E}">
        <p14:creationId xmlns:p14="http://schemas.microsoft.com/office/powerpoint/2010/main" val="357537769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91268" y="450927"/>
            <a:ext cx="11057467" cy="444994"/>
          </a:xfrm>
          <a:prstGeom prst="rect">
            <a:avLst/>
          </a:prstGeom>
        </p:spPr>
        <p:txBody>
          <a:bodyPr vert="horz" wrap="square" lIns="0" tIns="13970" rIns="0" bIns="0" rtlCol="0">
            <a:spAutoFit/>
          </a:bodyPr>
          <a:lstStyle/>
          <a:p>
            <a:pPr marL="12700">
              <a:spcBef>
                <a:spcPts val="110"/>
              </a:spcBef>
              <a:tabLst>
                <a:tab pos="8279765" algn="l"/>
              </a:tabLst>
            </a:pPr>
            <a:r>
              <a:rPr dirty="0">
                <a:solidFill>
                  <a:srgbClr val="C00000"/>
                </a:solidFill>
              </a:rPr>
              <a:t>6.</a:t>
            </a:r>
            <a:r>
              <a:rPr spc="-40" dirty="0">
                <a:solidFill>
                  <a:srgbClr val="C00000"/>
                </a:solidFill>
              </a:rPr>
              <a:t> </a:t>
            </a:r>
            <a:r>
              <a:rPr dirty="0">
                <a:solidFill>
                  <a:srgbClr val="C00000"/>
                </a:solidFill>
              </a:rPr>
              <a:t>TÌM</a:t>
            </a:r>
            <a:r>
              <a:rPr spc="-10" dirty="0">
                <a:solidFill>
                  <a:srgbClr val="C00000"/>
                </a:solidFill>
              </a:rPr>
              <a:t> </a:t>
            </a:r>
            <a:r>
              <a:rPr dirty="0">
                <a:solidFill>
                  <a:srgbClr val="C00000"/>
                </a:solidFill>
              </a:rPr>
              <a:t>HIỂU</a:t>
            </a:r>
            <a:r>
              <a:rPr spc="-50" dirty="0">
                <a:solidFill>
                  <a:srgbClr val="C00000"/>
                </a:solidFill>
              </a:rPr>
              <a:t> </a:t>
            </a:r>
            <a:r>
              <a:rPr dirty="0">
                <a:solidFill>
                  <a:srgbClr val="C00000"/>
                </a:solidFill>
              </a:rPr>
              <a:t>VỀ</a:t>
            </a:r>
            <a:r>
              <a:rPr spc="-40" dirty="0">
                <a:solidFill>
                  <a:srgbClr val="C00000"/>
                </a:solidFill>
              </a:rPr>
              <a:t> </a:t>
            </a:r>
            <a:r>
              <a:rPr spc="-10" dirty="0">
                <a:solidFill>
                  <a:srgbClr val="C00000"/>
                </a:solidFill>
              </a:rPr>
              <a:t>MODELS</a:t>
            </a:r>
            <a:r>
              <a:rPr dirty="0">
                <a:solidFill>
                  <a:srgbClr val="C00000"/>
                </a:solidFill>
              </a:rPr>
              <a:t>	</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solidFill>
                  <a:prstClr val="white"/>
                </a:solidFill>
              </a:rPr>
              <a:pPr marL="38100">
                <a:lnSpc>
                  <a:spcPts val="1664"/>
                </a:lnSpc>
              </a:pPr>
              <a:t>39</a:t>
            </a:fld>
            <a:endParaRPr spc="-25" dirty="0">
              <a:solidFill>
                <a:prstClr val="white"/>
              </a:solidFill>
            </a:endParaRPr>
          </a:p>
        </p:txBody>
      </p:sp>
      <p:sp>
        <p:nvSpPr>
          <p:cNvPr id="6" name="object 6"/>
          <p:cNvSpPr txBox="1">
            <a:spLocks noGrp="1"/>
          </p:cNvSpPr>
          <p:nvPr>
            <p:ph type="ftr" sz="quarter" idx="5"/>
          </p:nvPr>
        </p:nvSpPr>
        <p:spPr>
          <a:xfrm>
            <a:off x="2763418" y="6600176"/>
            <a:ext cx="1243964" cy="155171"/>
          </a:xfrm>
          <a:prstGeom prst="rect">
            <a:avLst/>
          </a:prstGeom>
        </p:spPr>
        <p:txBody>
          <a:bodyPr vert="horz" wrap="square" lIns="0" tIns="1270" rIns="0" bIns="0" rtlCol="0">
            <a:spAutoFit/>
          </a:bodyPr>
          <a:lstStyle/>
          <a:p>
            <a:pPr marL="12700">
              <a:spcBef>
                <a:spcPts val="10"/>
              </a:spcBef>
            </a:pPr>
            <a:endParaRPr spc="-20" dirty="0">
              <a:solidFill>
                <a:prstClr val="white"/>
              </a:solidFill>
            </a:endParaRPr>
          </a:p>
        </p:txBody>
      </p:sp>
      <p:sp>
        <p:nvSpPr>
          <p:cNvPr id="3" name="object 3"/>
          <p:cNvSpPr txBox="1"/>
          <p:nvPr/>
        </p:nvSpPr>
        <p:spPr>
          <a:xfrm>
            <a:off x="2530246" y="1167766"/>
            <a:ext cx="7512050" cy="3413125"/>
          </a:xfrm>
          <a:prstGeom prst="rect">
            <a:avLst/>
          </a:prstGeom>
        </p:spPr>
        <p:txBody>
          <a:bodyPr vert="horz" wrap="square" lIns="0" tIns="13970" rIns="0" bIns="0" rtlCol="0">
            <a:spAutoFit/>
          </a:bodyPr>
          <a:lstStyle/>
          <a:p>
            <a:pPr marL="355600" marR="5080" indent="-343535" algn="just">
              <a:spcBef>
                <a:spcPts val="110"/>
              </a:spcBef>
              <a:buFont typeface="Wingdings"/>
              <a:buChar char=""/>
              <a:tabLst>
                <a:tab pos="355600" algn="l"/>
              </a:tabLst>
            </a:pPr>
            <a:r>
              <a:rPr sz="2400" kern="0" dirty="0">
                <a:solidFill>
                  <a:sysClr val="windowText" lastClr="000000"/>
                </a:solidFill>
                <a:latin typeface="Microsoft Sans Serif"/>
                <a:cs typeface="Microsoft Sans Serif"/>
              </a:rPr>
              <a:t>Một</a:t>
            </a:r>
            <a:r>
              <a:rPr sz="2400" kern="0" spc="17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model</a:t>
            </a:r>
            <a:r>
              <a:rPr sz="2400" kern="0" spc="19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trong</a:t>
            </a:r>
            <a:r>
              <a:rPr sz="2400" kern="0" spc="200" dirty="0">
                <a:solidFill>
                  <a:sysClr val="windowText" lastClr="000000"/>
                </a:solidFill>
                <a:latin typeface="Microsoft Sans Serif"/>
                <a:cs typeface="Microsoft Sans Serif"/>
              </a:rPr>
              <a:t> </a:t>
            </a:r>
            <a:r>
              <a:rPr sz="2400" kern="0" spc="85" dirty="0">
                <a:solidFill>
                  <a:sysClr val="windowText" lastClr="000000"/>
                </a:solidFill>
                <a:latin typeface="Microsoft Sans Serif"/>
                <a:cs typeface="Microsoft Sans Serif"/>
              </a:rPr>
              <a:t>ứng</a:t>
            </a:r>
            <a:r>
              <a:rPr sz="2400" kern="0" spc="19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dụng</a:t>
            </a:r>
            <a:r>
              <a:rPr sz="2400" kern="0" spc="19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ASP.NET</a:t>
            </a:r>
            <a:r>
              <a:rPr sz="2400" kern="0" spc="17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MVC</a:t>
            </a:r>
            <a:r>
              <a:rPr sz="2400" kern="0" spc="155" dirty="0">
                <a:solidFill>
                  <a:sysClr val="windowText" lastClr="000000"/>
                </a:solidFill>
                <a:latin typeface="Microsoft Sans Serif"/>
                <a:cs typeface="Microsoft Sans Serif"/>
              </a:rPr>
              <a:t> </a:t>
            </a:r>
            <a:r>
              <a:rPr sz="2400" kern="0" spc="70" dirty="0">
                <a:solidFill>
                  <a:sysClr val="windowText" lastClr="000000"/>
                </a:solidFill>
                <a:latin typeface="Microsoft Sans Serif"/>
                <a:cs typeface="Microsoft Sans Serif"/>
              </a:rPr>
              <a:t>chứa</a:t>
            </a:r>
            <a:r>
              <a:rPr sz="2400" kern="0" spc="195" dirty="0">
                <a:solidFill>
                  <a:sysClr val="windowText" lastClr="000000"/>
                </a:solidFill>
                <a:latin typeface="Microsoft Sans Serif"/>
                <a:cs typeface="Microsoft Sans Serif"/>
              </a:rPr>
              <a:t> </a:t>
            </a:r>
            <a:r>
              <a:rPr sz="2400" kern="0" spc="-25" dirty="0">
                <a:solidFill>
                  <a:sysClr val="windowText" lastClr="000000"/>
                </a:solidFill>
                <a:latin typeface="Microsoft Sans Serif"/>
                <a:cs typeface="Microsoft Sans Serif"/>
              </a:rPr>
              <a:t>tất </a:t>
            </a:r>
            <a:r>
              <a:rPr sz="2400" kern="0" dirty="0">
                <a:solidFill>
                  <a:sysClr val="windowText" lastClr="000000"/>
                </a:solidFill>
                <a:latin typeface="Microsoft Sans Serif"/>
                <a:cs typeface="Microsoft Sans Serif"/>
              </a:rPr>
              <a:t>cả</a:t>
            </a:r>
            <a:r>
              <a:rPr sz="2400" kern="0" spc="2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các</a:t>
            </a:r>
            <a:r>
              <a:rPr sz="2400" kern="0" spc="4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nghiệp</a:t>
            </a:r>
            <a:r>
              <a:rPr sz="2400" kern="0" spc="4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vụ</a:t>
            </a:r>
            <a:r>
              <a:rPr sz="2400" kern="0" spc="2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logic</a:t>
            </a:r>
            <a:r>
              <a:rPr sz="2400" kern="0" spc="1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mà</a:t>
            </a:r>
            <a:r>
              <a:rPr sz="2400" kern="0" spc="-1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không</a:t>
            </a:r>
            <a:r>
              <a:rPr sz="2400" kern="0" spc="1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có</a:t>
            </a:r>
            <a:r>
              <a:rPr sz="2400" kern="0" spc="2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trong</a:t>
            </a:r>
            <a:r>
              <a:rPr sz="2400" kern="0" spc="15" dirty="0">
                <a:solidFill>
                  <a:sysClr val="windowText" lastClr="000000"/>
                </a:solidFill>
                <a:latin typeface="Microsoft Sans Serif"/>
                <a:cs typeface="Microsoft Sans Serif"/>
              </a:rPr>
              <a:t> </a:t>
            </a:r>
            <a:r>
              <a:rPr sz="2400" kern="0" spc="-10" dirty="0">
                <a:solidFill>
                  <a:sysClr val="windowText" lastClr="000000"/>
                </a:solidFill>
                <a:latin typeface="Microsoft Sans Serif"/>
                <a:cs typeface="Microsoft Sans Serif"/>
              </a:rPr>
              <a:t>controllers </a:t>
            </a:r>
            <a:r>
              <a:rPr sz="2400" kern="0" dirty="0">
                <a:solidFill>
                  <a:sysClr val="windowText" lastClr="000000"/>
                </a:solidFill>
                <a:latin typeface="Microsoft Sans Serif"/>
                <a:cs typeface="Microsoft Sans Serif"/>
              </a:rPr>
              <a:t>và</a:t>
            </a:r>
            <a:r>
              <a:rPr sz="2400" kern="0" spc="15" dirty="0">
                <a:solidFill>
                  <a:sysClr val="windowText" lastClr="000000"/>
                </a:solidFill>
                <a:latin typeface="Microsoft Sans Serif"/>
                <a:cs typeface="Microsoft Sans Serif"/>
              </a:rPr>
              <a:t> </a:t>
            </a:r>
            <a:r>
              <a:rPr sz="2400" kern="0" spc="-10" dirty="0">
                <a:solidFill>
                  <a:sysClr val="windowText" lastClr="000000"/>
                </a:solidFill>
                <a:latin typeface="Microsoft Sans Serif"/>
                <a:cs typeface="Microsoft Sans Serif"/>
              </a:rPr>
              <a:t>views.</a:t>
            </a:r>
            <a:endParaRPr sz="2400" kern="0">
              <a:solidFill>
                <a:sysClr val="windowText" lastClr="000000"/>
              </a:solidFill>
              <a:latin typeface="Microsoft Sans Serif"/>
              <a:cs typeface="Microsoft Sans Serif"/>
            </a:endParaRPr>
          </a:p>
          <a:p>
            <a:pPr marL="355600" marR="5080" indent="-343535" algn="just">
              <a:spcBef>
                <a:spcPts val="1810"/>
              </a:spcBef>
              <a:buFont typeface="Wingdings"/>
              <a:buChar char=""/>
              <a:tabLst>
                <a:tab pos="355600" algn="l"/>
              </a:tabLst>
            </a:pPr>
            <a:r>
              <a:rPr sz="2400" kern="0" dirty="0">
                <a:solidFill>
                  <a:sysClr val="windowText" lastClr="000000"/>
                </a:solidFill>
                <a:latin typeface="Microsoft Sans Serif"/>
                <a:cs typeface="Microsoft Sans Serif"/>
              </a:rPr>
              <a:t>Models</a:t>
            </a:r>
            <a:r>
              <a:rPr sz="2400" kern="0" spc="290" dirty="0">
                <a:solidFill>
                  <a:sysClr val="windowText" lastClr="000000"/>
                </a:solidFill>
                <a:latin typeface="Microsoft Sans Serif"/>
                <a:cs typeface="Microsoft Sans Serif"/>
              </a:rPr>
              <a:t> </a:t>
            </a:r>
            <a:r>
              <a:rPr sz="2400" kern="0" spc="65" dirty="0">
                <a:solidFill>
                  <a:sysClr val="windowText" lastClr="000000"/>
                </a:solidFill>
                <a:latin typeface="Microsoft Sans Serif"/>
                <a:cs typeface="Microsoft Sans Serif"/>
              </a:rPr>
              <a:t>chứa</a:t>
            </a:r>
            <a:r>
              <a:rPr sz="2400" kern="0" spc="24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tất</a:t>
            </a:r>
            <a:r>
              <a:rPr sz="2400" kern="0" spc="22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cả</a:t>
            </a:r>
            <a:r>
              <a:rPr sz="2400" kern="0" spc="229"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các</a:t>
            </a:r>
            <a:r>
              <a:rPr sz="2400" kern="0" spc="26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tầng</a:t>
            </a:r>
            <a:r>
              <a:rPr sz="2400" kern="0" spc="23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truy</a:t>
            </a:r>
            <a:r>
              <a:rPr sz="2400" kern="0" spc="26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xuất</a:t>
            </a:r>
            <a:r>
              <a:rPr sz="2400" kern="0" spc="285" dirty="0">
                <a:solidFill>
                  <a:sysClr val="windowText" lastClr="000000"/>
                </a:solidFill>
                <a:latin typeface="Microsoft Sans Serif"/>
                <a:cs typeface="Microsoft Sans Serif"/>
              </a:rPr>
              <a:t> </a:t>
            </a:r>
            <a:r>
              <a:rPr sz="2400" kern="0" spc="125" dirty="0">
                <a:solidFill>
                  <a:sysClr val="windowText" lastClr="000000"/>
                </a:solidFill>
                <a:latin typeface="Microsoft Sans Serif"/>
                <a:cs typeface="Microsoft Sans Serif"/>
              </a:rPr>
              <a:t>dữ</a:t>
            </a:r>
            <a:r>
              <a:rPr sz="2400" kern="0" spc="28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liệu</a:t>
            </a:r>
            <a:r>
              <a:rPr sz="2400" kern="0" spc="275" dirty="0">
                <a:solidFill>
                  <a:sysClr val="windowText" lastClr="000000"/>
                </a:solidFill>
                <a:latin typeface="Microsoft Sans Serif"/>
                <a:cs typeface="Microsoft Sans Serif"/>
              </a:rPr>
              <a:t> </a:t>
            </a:r>
            <a:r>
              <a:rPr sz="2400" kern="0" spc="-10" dirty="0">
                <a:solidFill>
                  <a:sysClr val="windowText" lastClr="000000"/>
                </a:solidFill>
                <a:latin typeface="Microsoft Sans Serif"/>
                <a:cs typeface="Microsoft Sans Serif"/>
              </a:rPr>
              <a:t>logic </a:t>
            </a:r>
            <a:r>
              <a:rPr sz="2400" kern="0" dirty="0">
                <a:solidFill>
                  <a:sysClr val="windowText" lastClr="000000"/>
                </a:solidFill>
                <a:latin typeface="Microsoft Sans Serif"/>
                <a:cs typeface="Microsoft Sans Serif"/>
              </a:rPr>
              <a:t>và</a:t>
            </a:r>
            <a:r>
              <a:rPr sz="2400" kern="0" spc="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tầng</a:t>
            </a:r>
            <a:r>
              <a:rPr sz="2400" kern="0" spc="-3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nghiệp</a:t>
            </a:r>
            <a:r>
              <a:rPr sz="2400" kern="0" spc="-1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vụ</a:t>
            </a:r>
            <a:r>
              <a:rPr sz="2400" kern="0" spc="5" dirty="0">
                <a:solidFill>
                  <a:sysClr val="windowText" lastClr="000000"/>
                </a:solidFill>
                <a:latin typeface="Microsoft Sans Serif"/>
                <a:cs typeface="Microsoft Sans Serif"/>
              </a:rPr>
              <a:t> </a:t>
            </a:r>
            <a:r>
              <a:rPr sz="2400" kern="0" spc="-10" dirty="0">
                <a:solidFill>
                  <a:sysClr val="windowText" lastClr="000000"/>
                </a:solidFill>
                <a:latin typeface="Microsoft Sans Serif"/>
                <a:cs typeface="Microsoft Sans Serif"/>
              </a:rPr>
              <a:t>logic.</a:t>
            </a:r>
            <a:endParaRPr sz="2400" kern="0">
              <a:solidFill>
                <a:sysClr val="windowText" lastClr="000000"/>
              </a:solidFill>
              <a:latin typeface="Microsoft Sans Serif"/>
              <a:cs typeface="Microsoft Sans Serif"/>
            </a:endParaRPr>
          </a:p>
          <a:p>
            <a:pPr marL="355600" marR="5080" indent="-343535" algn="just">
              <a:spcBef>
                <a:spcPts val="1800"/>
              </a:spcBef>
              <a:buFont typeface="Wingdings"/>
              <a:buChar char=""/>
              <a:tabLst>
                <a:tab pos="355600" algn="l"/>
              </a:tabLst>
            </a:pPr>
            <a:r>
              <a:rPr sz="2400" kern="0" spc="65" dirty="0">
                <a:solidFill>
                  <a:sysClr val="windowText" lastClr="000000"/>
                </a:solidFill>
                <a:latin typeface="Microsoft Sans Serif"/>
                <a:cs typeface="Microsoft Sans Serif"/>
              </a:rPr>
              <a:t>Ví</a:t>
            </a:r>
            <a:r>
              <a:rPr sz="2400" kern="0" spc="36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dụ,</a:t>
            </a:r>
            <a:r>
              <a:rPr sz="2400" kern="0" spc="35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nếu</a:t>
            </a:r>
            <a:r>
              <a:rPr sz="2400" kern="0" spc="335" dirty="0">
                <a:solidFill>
                  <a:sysClr val="windowText" lastClr="000000"/>
                </a:solidFill>
                <a:latin typeface="Microsoft Sans Serif"/>
                <a:cs typeface="Microsoft Sans Serif"/>
              </a:rPr>
              <a:t> </a:t>
            </a:r>
            <a:r>
              <a:rPr sz="2400" kern="0" spc="145" dirty="0">
                <a:solidFill>
                  <a:sysClr val="windowText" lastClr="000000"/>
                </a:solidFill>
                <a:latin typeface="Microsoft Sans Serif"/>
                <a:cs typeface="Microsoft Sans Serif"/>
              </a:rPr>
              <a:t>sử</a:t>
            </a:r>
            <a:r>
              <a:rPr sz="2400" kern="0" spc="36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dụng</a:t>
            </a:r>
            <a:r>
              <a:rPr sz="2400" kern="0" spc="34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LINQ</a:t>
            </a:r>
            <a:r>
              <a:rPr sz="2400" kern="0" spc="30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to</a:t>
            </a:r>
            <a:r>
              <a:rPr sz="2400" kern="0" spc="35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SQL</a:t>
            </a:r>
            <a:r>
              <a:rPr sz="2400" kern="0" spc="30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để</a:t>
            </a:r>
            <a:r>
              <a:rPr sz="2400" kern="0" spc="33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truy</a:t>
            </a:r>
            <a:r>
              <a:rPr sz="2400" kern="0" spc="34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nhập</a:t>
            </a:r>
            <a:r>
              <a:rPr sz="2400" kern="0" spc="375" dirty="0">
                <a:solidFill>
                  <a:sysClr val="windowText" lastClr="000000"/>
                </a:solidFill>
                <a:latin typeface="Microsoft Sans Serif"/>
                <a:cs typeface="Microsoft Sans Serif"/>
              </a:rPr>
              <a:t> </a:t>
            </a:r>
            <a:r>
              <a:rPr sz="2400" kern="0" spc="95" dirty="0">
                <a:solidFill>
                  <a:sysClr val="windowText" lastClr="000000"/>
                </a:solidFill>
                <a:latin typeface="Microsoft Sans Serif"/>
                <a:cs typeface="Microsoft Sans Serif"/>
              </a:rPr>
              <a:t>dữ </a:t>
            </a:r>
            <a:r>
              <a:rPr sz="2400" kern="0" dirty="0">
                <a:solidFill>
                  <a:sysClr val="windowText" lastClr="000000"/>
                </a:solidFill>
                <a:latin typeface="Microsoft Sans Serif"/>
                <a:cs typeface="Microsoft Sans Serif"/>
              </a:rPr>
              <a:t>liệu</a:t>
            </a:r>
            <a:r>
              <a:rPr sz="2400" kern="0" spc="30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thì</a:t>
            </a:r>
            <a:r>
              <a:rPr sz="2400" kern="0" spc="26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phải</a:t>
            </a:r>
            <a:r>
              <a:rPr sz="2400" kern="0" spc="28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tạo</a:t>
            </a:r>
            <a:r>
              <a:rPr sz="2400" kern="0" spc="31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LINQ</a:t>
            </a:r>
            <a:r>
              <a:rPr sz="2400" kern="0" spc="27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to</a:t>
            </a:r>
            <a:r>
              <a:rPr sz="2400" kern="0" spc="24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SQL</a:t>
            </a:r>
            <a:r>
              <a:rPr sz="2400" kern="0" spc="16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class</a:t>
            </a:r>
            <a:r>
              <a:rPr sz="2400" kern="0" spc="30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a:t>
            </a:r>
            <a:r>
              <a:rPr sz="2400" kern="0" spc="27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file</a:t>
            </a:r>
            <a:r>
              <a:rPr sz="2400" kern="0" spc="31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định</a:t>
            </a:r>
            <a:r>
              <a:rPr sz="2400" kern="0" spc="265" dirty="0">
                <a:solidFill>
                  <a:sysClr val="windowText" lastClr="000000"/>
                </a:solidFill>
                <a:latin typeface="Microsoft Sans Serif"/>
                <a:cs typeface="Microsoft Sans Serif"/>
              </a:rPr>
              <a:t> </a:t>
            </a:r>
            <a:r>
              <a:rPr sz="2400" kern="0" spc="-20" dirty="0">
                <a:solidFill>
                  <a:sysClr val="windowText" lastClr="000000"/>
                </a:solidFill>
                <a:latin typeface="Microsoft Sans Serif"/>
                <a:cs typeface="Microsoft Sans Serif"/>
              </a:rPr>
              <a:t>dạng </a:t>
            </a:r>
            <a:r>
              <a:rPr sz="2400" kern="0" dirty="0">
                <a:solidFill>
                  <a:sysClr val="windowText" lastClr="000000"/>
                </a:solidFill>
                <a:latin typeface="Microsoft Sans Serif"/>
                <a:cs typeface="Microsoft Sans Serif"/>
              </a:rPr>
              <a:t>dbml</a:t>
            </a:r>
            <a:r>
              <a:rPr sz="2400" kern="0" spc="-5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a:t>
            </a:r>
            <a:r>
              <a:rPr sz="2400" kern="0" spc="1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trong</a:t>
            </a:r>
            <a:r>
              <a:rPr sz="2400" kern="0" spc="-1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folder</a:t>
            </a:r>
            <a:r>
              <a:rPr sz="2400" kern="0" spc="10" dirty="0">
                <a:solidFill>
                  <a:sysClr val="windowText" lastClr="000000"/>
                </a:solidFill>
                <a:latin typeface="Microsoft Sans Serif"/>
                <a:cs typeface="Microsoft Sans Serif"/>
              </a:rPr>
              <a:t> </a:t>
            </a:r>
            <a:r>
              <a:rPr sz="2400" kern="0" spc="-10" dirty="0">
                <a:solidFill>
                  <a:sysClr val="windowText" lastClr="000000"/>
                </a:solidFill>
                <a:latin typeface="Microsoft Sans Serif"/>
                <a:cs typeface="Microsoft Sans Serif"/>
              </a:rPr>
              <a:t>Models.</a:t>
            </a:r>
            <a:endParaRPr sz="2400" kern="0">
              <a:solidFill>
                <a:sysClr val="windowText" lastClr="000000"/>
              </a:solidFill>
              <a:latin typeface="Microsoft Sans Serif"/>
              <a:cs typeface="Microsoft Sans Serif"/>
            </a:endParaRPr>
          </a:p>
        </p:txBody>
      </p:sp>
    </p:spTree>
    <p:extLst>
      <p:ext uri="{BB962C8B-B14F-4D97-AF65-F5344CB8AC3E}">
        <p14:creationId xmlns:p14="http://schemas.microsoft.com/office/powerpoint/2010/main" val="266725060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91268" y="450927"/>
            <a:ext cx="11057467" cy="444994"/>
          </a:xfrm>
          <a:prstGeom prst="rect">
            <a:avLst/>
          </a:prstGeom>
        </p:spPr>
        <p:txBody>
          <a:bodyPr vert="horz" wrap="square" lIns="0" tIns="13970" rIns="0" bIns="0" rtlCol="0">
            <a:spAutoFit/>
          </a:bodyPr>
          <a:lstStyle/>
          <a:p>
            <a:pPr marL="12700">
              <a:spcBef>
                <a:spcPts val="110"/>
              </a:spcBef>
              <a:tabLst>
                <a:tab pos="8279765" algn="l"/>
              </a:tabLst>
            </a:pPr>
            <a:r>
              <a:rPr dirty="0"/>
              <a:t>7.</a:t>
            </a:r>
            <a:r>
              <a:rPr spc="-45" dirty="0"/>
              <a:t> </a:t>
            </a:r>
            <a:r>
              <a:rPr dirty="0"/>
              <a:t>XÂY</a:t>
            </a:r>
            <a:r>
              <a:rPr spc="-80" dirty="0"/>
              <a:t> </a:t>
            </a:r>
            <a:r>
              <a:rPr dirty="0"/>
              <a:t>DỰNG</a:t>
            </a:r>
            <a:r>
              <a:rPr spc="-40" dirty="0"/>
              <a:t> </a:t>
            </a:r>
            <a:r>
              <a:rPr dirty="0"/>
              <a:t>ỨNG</a:t>
            </a:r>
            <a:r>
              <a:rPr spc="-35" dirty="0"/>
              <a:t> </a:t>
            </a:r>
            <a:r>
              <a:rPr dirty="0"/>
              <a:t>DỤNG</a:t>
            </a:r>
            <a:r>
              <a:rPr spc="-5" dirty="0"/>
              <a:t> </a:t>
            </a:r>
            <a:r>
              <a:rPr dirty="0"/>
              <a:t>WEB</a:t>
            </a:r>
            <a:r>
              <a:rPr spc="-30" dirty="0"/>
              <a:t> </a:t>
            </a:r>
            <a:r>
              <a:rPr dirty="0"/>
              <a:t>MVC</a:t>
            </a:r>
            <a:r>
              <a:rPr spc="-55" dirty="0"/>
              <a:t> </a:t>
            </a:r>
            <a:r>
              <a:rPr dirty="0"/>
              <a:t>VỚI</a:t>
            </a:r>
            <a:r>
              <a:rPr spc="-65" dirty="0"/>
              <a:t> </a:t>
            </a:r>
            <a:r>
              <a:rPr spc="-20" dirty="0"/>
              <a:t>CSDL</a:t>
            </a:r>
            <a:r>
              <a:rPr dirty="0"/>
              <a:t>	</a:t>
            </a:r>
          </a:p>
        </p:txBody>
      </p:sp>
      <p:sp>
        <p:nvSpPr>
          <p:cNvPr id="3" name="object 3"/>
          <p:cNvSpPr txBox="1"/>
          <p:nvPr/>
        </p:nvSpPr>
        <p:spPr>
          <a:xfrm>
            <a:off x="2242820" y="1053523"/>
            <a:ext cx="8081009" cy="1416685"/>
          </a:xfrm>
          <a:prstGeom prst="rect">
            <a:avLst/>
          </a:prstGeom>
        </p:spPr>
        <p:txBody>
          <a:bodyPr vert="horz" wrap="square" lIns="0" tIns="128270" rIns="0" bIns="0" rtlCol="0">
            <a:spAutoFit/>
          </a:bodyPr>
          <a:lstStyle/>
          <a:p>
            <a:pPr marL="12700">
              <a:spcBef>
                <a:spcPts val="1010"/>
              </a:spcBef>
            </a:pPr>
            <a:r>
              <a:rPr sz="2400" b="1" kern="0">
                <a:solidFill>
                  <a:srgbClr val="C00000"/>
                </a:solidFill>
                <a:latin typeface="Arial"/>
                <a:cs typeface="Arial"/>
              </a:rPr>
              <a:t>B</a:t>
            </a:r>
            <a:r>
              <a:rPr lang="vi-VN" sz="2400" b="1" kern="0">
                <a:solidFill>
                  <a:srgbClr val="C00000"/>
                </a:solidFill>
                <a:cs typeface="Arial"/>
              </a:rPr>
              <a:t>ư</a:t>
            </a:r>
            <a:r>
              <a:rPr sz="2400" b="1" kern="0">
                <a:solidFill>
                  <a:srgbClr val="C00000"/>
                </a:solidFill>
                <a:latin typeface="Arial"/>
                <a:cs typeface="Arial"/>
              </a:rPr>
              <a:t>ớc</a:t>
            </a:r>
            <a:r>
              <a:rPr sz="2400" b="1" kern="0" spc="-45">
                <a:solidFill>
                  <a:srgbClr val="C00000"/>
                </a:solidFill>
                <a:latin typeface="Arial"/>
                <a:cs typeface="Arial"/>
              </a:rPr>
              <a:t> </a:t>
            </a:r>
            <a:r>
              <a:rPr sz="2400" b="1" kern="0" dirty="0">
                <a:solidFill>
                  <a:srgbClr val="C00000"/>
                </a:solidFill>
                <a:latin typeface="Arial"/>
                <a:cs typeface="Arial"/>
              </a:rPr>
              <a:t>1:</a:t>
            </a:r>
            <a:r>
              <a:rPr sz="2400" b="1" kern="0" spc="-50" dirty="0">
                <a:solidFill>
                  <a:srgbClr val="C00000"/>
                </a:solidFill>
                <a:latin typeface="Arial"/>
                <a:cs typeface="Arial"/>
              </a:rPr>
              <a:t> </a:t>
            </a:r>
            <a:r>
              <a:rPr sz="2400" b="1" kern="0" dirty="0">
                <a:solidFill>
                  <a:srgbClr val="C00000"/>
                </a:solidFill>
                <a:latin typeface="Arial"/>
                <a:cs typeface="Arial"/>
              </a:rPr>
              <a:t>Tạo mới</a:t>
            </a:r>
            <a:r>
              <a:rPr sz="2400" b="1" kern="0" spc="-60" dirty="0">
                <a:solidFill>
                  <a:srgbClr val="C00000"/>
                </a:solidFill>
                <a:latin typeface="Arial"/>
                <a:cs typeface="Arial"/>
              </a:rPr>
              <a:t> </a:t>
            </a:r>
            <a:r>
              <a:rPr sz="2400" b="1" kern="0" spc="-10" dirty="0">
                <a:solidFill>
                  <a:srgbClr val="C00000"/>
                </a:solidFill>
                <a:latin typeface="Arial"/>
                <a:cs typeface="Arial"/>
              </a:rPr>
              <a:t>Project</a:t>
            </a:r>
            <a:endParaRPr sz="2400" kern="0">
              <a:solidFill>
                <a:sysClr val="windowText" lastClr="000000"/>
              </a:solidFill>
              <a:latin typeface="Arial"/>
              <a:cs typeface="Arial"/>
            </a:endParaRPr>
          </a:p>
          <a:p>
            <a:pPr marL="346075" indent="-287655">
              <a:spcBef>
                <a:spcPts val="675"/>
              </a:spcBef>
              <a:buFont typeface="Wingdings"/>
              <a:buChar char=""/>
              <a:tabLst>
                <a:tab pos="346075" algn="l"/>
                <a:tab pos="5680075" algn="l"/>
              </a:tabLst>
            </a:pPr>
            <a:r>
              <a:rPr kern="0" spc="75" dirty="0">
                <a:solidFill>
                  <a:sysClr val="windowText" lastClr="000000"/>
                </a:solidFill>
                <a:latin typeface="Microsoft Sans Serif"/>
                <a:cs typeface="Microsoft Sans Serif"/>
              </a:rPr>
              <a:t>Mở</a:t>
            </a:r>
            <a:r>
              <a:rPr kern="0" spc="15"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Visual</a:t>
            </a:r>
            <a:r>
              <a:rPr kern="0" spc="-15" dirty="0">
                <a:solidFill>
                  <a:sysClr val="windowText" lastClr="000000"/>
                </a:solidFill>
                <a:latin typeface="Microsoft Sans Serif"/>
                <a:cs typeface="Microsoft Sans Serif"/>
              </a:rPr>
              <a:t> </a:t>
            </a:r>
            <a:r>
              <a:rPr kern="0">
                <a:solidFill>
                  <a:sysClr val="windowText" lastClr="000000"/>
                </a:solidFill>
                <a:latin typeface="Microsoft Sans Serif"/>
                <a:cs typeface="Microsoft Sans Serif"/>
              </a:rPr>
              <a:t>Studio chọn</a:t>
            </a:r>
            <a:r>
              <a:rPr kern="0" spc="-1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File</a:t>
            </a:r>
            <a:r>
              <a:rPr kern="0" spc="-35" dirty="0">
                <a:solidFill>
                  <a:sysClr val="windowText" lastClr="000000"/>
                </a:solidFill>
                <a:latin typeface="Microsoft Sans Serif"/>
                <a:cs typeface="Microsoft Sans Serif"/>
              </a:rPr>
              <a:t> </a:t>
            </a:r>
            <a:r>
              <a:rPr kern="0" dirty="0">
                <a:solidFill>
                  <a:sysClr val="windowText" lastClr="000000"/>
                </a:solidFill>
                <a:latin typeface="Wingdings"/>
                <a:cs typeface="Wingdings"/>
              </a:rPr>
              <a:t></a:t>
            </a:r>
            <a:r>
              <a:rPr kern="0" spc="35" dirty="0">
                <a:solidFill>
                  <a:sysClr val="windowText" lastClr="000000"/>
                </a:solidFill>
                <a:latin typeface="Times New Roman"/>
                <a:cs typeface="Times New Roman"/>
              </a:rPr>
              <a:t> </a:t>
            </a:r>
            <a:r>
              <a:rPr kern="0" dirty="0">
                <a:solidFill>
                  <a:sysClr val="windowText" lastClr="000000"/>
                </a:solidFill>
                <a:latin typeface="Microsoft Sans Serif"/>
                <a:cs typeface="Microsoft Sans Serif"/>
              </a:rPr>
              <a:t>New</a:t>
            </a:r>
            <a:r>
              <a:rPr kern="0" spc="10" dirty="0">
                <a:solidFill>
                  <a:sysClr val="windowText" lastClr="000000"/>
                </a:solidFill>
                <a:latin typeface="Microsoft Sans Serif"/>
                <a:cs typeface="Microsoft Sans Serif"/>
              </a:rPr>
              <a:t> </a:t>
            </a:r>
            <a:r>
              <a:rPr kern="0">
                <a:solidFill>
                  <a:sysClr val="windowText" lastClr="000000"/>
                </a:solidFill>
                <a:latin typeface="Wingdings"/>
                <a:cs typeface="Wingdings"/>
              </a:rPr>
              <a:t></a:t>
            </a:r>
            <a:r>
              <a:rPr kern="0" spc="35">
                <a:solidFill>
                  <a:sysClr val="windowText" lastClr="000000"/>
                </a:solidFill>
                <a:latin typeface="Times New Roman"/>
                <a:cs typeface="Times New Roman"/>
              </a:rPr>
              <a:t> </a:t>
            </a:r>
            <a:r>
              <a:rPr kern="0" spc="-10">
                <a:solidFill>
                  <a:sysClr val="windowText" lastClr="000000"/>
                </a:solidFill>
                <a:latin typeface="Microsoft Sans Serif"/>
                <a:cs typeface="Microsoft Sans Serif"/>
              </a:rPr>
              <a:t>Project</a:t>
            </a:r>
            <a:r>
              <a:rPr lang="en-US" kern="0">
                <a:solidFill>
                  <a:sysClr val="windowText" lastClr="000000"/>
                </a:solidFill>
                <a:latin typeface="Microsoft Sans Serif"/>
                <a:cs typeface="Microsoft Sans Serif"/>
              </a:rPr>
              <a:t> </a:t>
            </a:r>
            <a:r>
              <a:rPr kern="0">
                <a:solidFill>
                  <a:sysClr val="windowText" lastClr="000000"/>
                </a:solidFill>
                <a:latin typeface="Microsoft Sans Serif"/>
                <a:cs typeface="Microsoft Sans Serif"/>
              </a:rPr>
              <a:t>tạo </a:t>
            </a:r>
            <a:r>
              <a:rPr kern="0" dirty="0">
                <a:solidFill>
                  <a:sysClr val="windowText" lastClr="000000"/>
                </a:solidFill>
                <a:latin typeface="Microsoft Sans Serif"/>
                <a:cs typeface="Microsoft Sans Serif"/>
              </a:rPr>
              <a:t>1</a:t>
            </a:r>
            <a:r>
              <a:rPr kern="0" spc="35" dirty="0">
                <a:solidFill>
                  <a:sysClr val="windowText" lastClr="000000"/>
                </a:solidFill>
                <a:latin typeface="Microsoft Sans Serif"/>
                <a:cs typeface="Microsoft Sans Serif"/>
              </a:rPr>
              <a:t> </a:t>
            </a:r>
            <a:r>
              <a:rPr kern="0" spc="60" dirty="0">
                <a:solidFill>
                  <a:sysClr val="windowText" lastClr="000000"/>
                </a:solidFill>
                <a:latin typeface="Microsoft Sans Serif"/>
                <a:cs typeface="Microsoft Sans Serif"/>
              </a:rPr>
              <a:t>ứng</a:t>
            </a:r>
            <a:r>
              <a:rPr kern="0" spc="40"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dụng </a:t>
            </a:r>
            <a:r>
              <a:rPr kern="0" spc="-20" dirty="0">
                <a:solidFill>
                  <a:sysClr val="windowText" lastClr="000000"/>
                </a:solidFill>
                <a:latin typeface="Microsoft Sans Serif"/>
                <a:cs typeface="Microsoft Sans Serif"/>
              </a:rPr>
              <a:t>mới.</a:t>
            </a:r>
            <a:endParaRPr kern="0">
              <a:solidFill>
                <a:sysClr val="windowText" lastClr="000000"/>
              </a:solidFill>
              <a:latin typeface="Microsoft Sans Serif"/>
              <a:cs typeface="Microsoft Sans Serif"/>
            </a:endParaRPr>
          </a:p>
          <a:p>
            <a:pPr marL="346075" indent="-287655">
              <a:buFont typeface="Wingdings"/>
              <a:buChar char=""/>
              <a:tabLst>
                <a:tab pos="346075" algn="l"/>
              </a:tabLst>
            </a:pPr>
            <a:r>
              <a:rPr kern="0" dirty="0">
                <a:solidFill>
                  <a:sysClr val="windowText" lastClr="000000"/>
                </a:solidFill>
                <a:latin typeface="Microsoft Sans Serif"/>
                <a:cs typeface="Microsoft Sans Serif"/>
              </a:rPr>
              <a:t>Chọn</a:t>
            </a:r>
            <a:r>
              <a:rPr kern="0" spc="-35"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loại</a:t>
            </a:r>
            <a:r>
              <a:rPr kern="0" spc="-30"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Project</a:t>
            </a:r>
            <a:r>
              <a:rPr kern="0" spc="10"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Visual</a:t>
            </a:r>
            <a:r>
              <a:rPr kern="0" spc="5"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C#</a:t>
            </a:r>
            <a:r>
              <a:rPr kern="0" spc="-35" dirty="0">
                <a:solidFill>
                  <a:sysClr val="windowText" lastClr="000000"/>
                </a:solidFill>
                <a:latin typeface="Microsoft Sans Serif"/>
                <a:cs typeface="Microsoft Sans Serif"/>
              </a:rPr>
              <a:t> </a:t>
            </a:r>
            <a:r>
              <a:rPr kern="0" dirty="0">
                <a:solidFill>
                  <a:sysClr val="windowText" lastClr="000000"/>
                </a:solidFill>
                <a:latin typeface="Wingdings"/>
                <a:cs typeface="Wingdings"/>
              </a:rPr>
              <a:t></a:t>
            </a:r>
            <a:r>
              <a:rPr kern="0" spc="50" dirty="0">
                <a:solidFill>
                  <a:sysClr val="windowText" lastClr="000000"/>
                </a:solidFill>
                <a:latin typeface="Times New Roman"/>
                <a:cs typeface="Times New Roman"/>
              </a:rPr>
              <a:t> </a:t>
            </a:r>
            <a:r>
              <a:rPr kern="0" dirty="0">
                <a:solidFill>
                  <a:sysClr val="windowText" lastClr="000000"/>
                </a:solidFill>
                <a:latin typeface="Microsoft Sans Serif"/>
                <a:cs typeface="Microsoft Sans Serif"/>
              </a:rPr>
              <a:t>Web</a:t>
            </a:r>
            <a:r>
              <a:rPr kern="0" spc="-120" dirty="0">
                <a:solidFill>
                  <a:sysClr val="windowText" lastClr="000000"/>
                </a:solidFill>
                <a:latin typeface="Microsoft Sans Serif"/>
                <a:cs typeface="Microsoft Sans Serif"/>
              </a:rPr>
              <a:t> </a:t>
            </a:r>
            <a:r>
              <a:rPr kern="0" dirty="0">
                <a:solidFill>
                  <a:sysClr val="windowText" lastClr="000000"/>
                </a:solidFill>
                <a:latin typeface="Wingdings"/>
                <a:cs typeface="Wingdings"/>
              </a:rPr>
              <a:t></a:t>
            </a:r>
            <a:r>
              <a:rPr kern="0" spc="-50" dirty="0">
                <a:solidFill>
                  <a:sysClr val="windowText" lastClr="000000"/>
                </a:solidFill>
                <a:latin typeface="Times New Roman"/>
                <a:cs typeface="Times New Roman"/>
              </a:rPr>
              <a:t> </a:t>
            </a:r>
            <a:r>
              <a:rPr kern="0" spc="-25" dirty="0">
                <a:solidFill>
                  <a:sysClr val="windowText" lastClr="000000"/>
                </a:solidFill>
                <a:latin typeface="Microsoft Sans Serif"/>
                <a:cs typeface="Microsoft Sans Serif"/>
              </a:rPr>
              <a:t>ASP.Net</a:t>
            </a:r>
            <a:r>
              <a:rPr kern="0" spc="5" dirty="0">
                <a:solidFill>
                  <a:sysClr val="windowText" lastClr="000000"/>
                </a:solidFill>
                <a:latin typeface="Microsoft Sans Serif"/>
                <a:cs typeface="Microsoft Sans Serif"/>
              </a:rPr>
              <a:t> </a:t>
            </a:r>
            <a:r>
              <a:rPr kern="0">
                <a:solidFill>
                  <a:sysClr val="windowText" lastClr="000000"/>
                </a:solidFill>
                <a:latin typeface="Microsoft Sans Serif"/>
                <a:cs typeface="Microsoft Sans Serif"/>
              </a:rPr>
              <a:t>web</a:t>
            </a:r>
            <a:r>
              <a:rPr kern="0" spc="-60">
                <a:solidFill>
                  <a:sysClr val="windowText" lastClr="000000"/>
                </a:solidFill>
                <a:latin typeface="Microsoft Sans Serif"/>
                <a:cs typeface="Microsoft Sans Serif"/>
              </a:rPr>
              <a:t> </a:t>
            </a:r>
            <a:r>
              <a:rPr kern="0" spc="-10">
                <a:solidFill>
                  <a:sysClr val="windowText" lastClr="000000"/>
                </a:solidFill>
                <a:latin typeface="Microsoft Sans Serif"/>
                <a:cs typeface="Microsoft Sans Serif"/>
              </a:rPr>
              <a:t>Application</a:t>
            </a:r>
            <a:r>
              <a:rPr lang="en-US" kern="0">
                <a:solidFill>
                  <a:sysClr val="windowText" lastClr="000000"/>
                </a:solidFill>
                <a:latin typeface="Microsoft Sans Serif"/>
                <a:cs typeface="Microsoft Sans Serif"/>
              </a:rPr>
              <a:t> </a:t>
            </a:r>
            <a:r>
              <a:rPr kern="0">
                <a:solidFill>
                  <a:sysClr val="windowText" lastClr="000000"/>
                </a:solidFill>
                <a:latin typeface="Wingdings"/>
                <a:cs typeface="Wingdings"/>
              </a:rPr>
              <a:t></a:t>
            </a:r>
            <a:r>
              <a:rPr kern="0" dirty="0">
                <a:solidFill>
                  <a:sysClr val="windowText" lastClr="000000"/>
                </a:solidFill>
                <a:latin typeface="Microsoft Sans Serif"/>
                <a:cs typeface="Microsoft Sans Serif"/>
              </a:rPr>
              <a:t>Name:</a:t>
            </a:r>
            <a:r>
              <a:rPr kern="0" spc="45" dirty="0">
                <a:solidFill>
                  <a:sysClr val="windowText" lastClr="000000"/>
                </a:solidFill>
                <a:latin typeface="Microsoft Sans Serif"/>
                <a:cs typeface="Microsoft Sans Serif"/>
              </a:rPr>
              <a:t> </a:t>
            </a:r>
            <a:r>
              <a:rPr kern="0">
                <a:solidFill>
                  <a:sysClr val="windowText" lastClr="000000"/>
                </a:solidFill>
                <a:latin typeface="Microsoft Sans Serif"/>
                <a:cs typeface="Microsoft Sans Serif"/>
              </a:rPr>
              <a:t>&lt;Tê</a:t>
            </a:r>
            <a:r>
              <a:rPr lang="en-US" kern="0">
                <a:solidFill>
                  <a:sysClr val="windowText" lastClr="000000"/>
                </a:solidFill>
                <a:latin typeface="Microsoft Sans Serif"/>
                <a:cs typeface="Microsoft Sans Serif"/>
              </a:rPr>
              <a:t>n</a:t>
            </a:r>
            <a:r>
              <a:rPr kern="0" spc="-45">
                <a:solidFill>
                  <a:sysClr val="windowText" lastClr="000000"/>
                </a:solidFill>
                <a:latin typeface="Microsoft Sans Serif"/>
                <a:cs typeface="Microsoft Sans Serif"/>
              </a:rPr>
              <a:t> </a:t>
            </a:r>
            <a:r>
              <a:rPr kern="0" spc="-10" dirty="0">
                <a:solidFill>
                  <a:sysClr val="windowText" lastClr="000000"/>
                </a:solidFill>
                <a:latin typeface="Microsoft Sans Serif"/>
                <a:cs typeface="Microsoft Sans Serif"/>
              </a:rPr>
              <a:t>project&gt;</a:t>
            </a:r>
            <a:endParaRPr kern="0">
              <a:solidFill>
                <a:sysClr val="windowText" lastClr="000000"/>
              </a:solidFill>
              <a:latin typeface="Microsoft Sans Serif"/>
              <a:cs typeface="Microsoft Sans Serif"/>
            </a:endParaRPr>
          </a:p>
        </p:txBody>
      </p:sp>
      <p:grpSp>
        <p:nvGrpSpPr>
          <p:cNvPr id="4" name="object 4"/>
          <p:cNvGrpSpPr/>
          <p:nvPr/>
        </p:nvGrpSpPr>
        <p:grpSpPr>
          <a:xfrm>
            <a:off x="2584450" y="2590800"/>
            <a:ext cx="7785100" cy="3124200"/>
            <a:chOff x="1060450" y="2590800"/>
            <a:chExt cx="7785100" cy="3124200"/>
          </a:xfrm>
        </p:grpSpPr>
        <p:pic>
          <p:nvPicPr>
            <p:cNvPr id="5" name="object 5"/>
            <p:cNvPicPr/>
            <p:nvPr/>
          </p:nvPicPr>
          <p:blipFill>
            <a:blip r:embed="rId2" cstate="print"/>
            <a:stretch>
              <a:fillRect/>
            </a:stretch>
          </p:blipFill>
          <p:spPr>
            <a:xfrm>
              <a:off x="1060450" y="2590800"/>
              <a:ext cx="4425950" cy="3124200"/>
            </a:xfrm>
            <a:prstGeom prst="rect">
              <a:avLst/>
            </a:prstGeom>
          </p:spPr>
        </p:pic>
        <p:sp>
          <p:nvSpPr>
            <p:cNvPr id="6" name="object 6"/>
            <p:cNvSpPr/>
            <p:nvPr/>
          </p:nvSpPr>
          <p:spPr>
            <a:xfrm>
              <a:off x="1239253" y="2819400"/>
              <a:ext cx="3779520" cy="2811780"/>
            </a:xfrm>
            <a:custGeom>
              <a:avLst/>
              <a:gdLst/>
              <a:ahLst/>
              <a:cxnLst/>
              <a:rect l="l" t="t" r="r" b="b"/>
              <a:pathLst>
                <a:path w="3779520" h="2811779">
                  <a:moveTo>
                    <a:pt x="0" y="438658"/>
                  </a:moveTo>
                  <a:lnTo>
                    <a:pt x="3883" y="419419"/>
                  </a:lnTo>
                  <a:lnTo>
                    <a:pt x="14473" y="403717"/>
                  </a:lnTo>
                  <a:lnTo>
                    <a:pt x="30180" y="393134"/>
                  </a:lnTo>
                  <a:lnTo>
                    <a:pt x="49415" y="389254"/>
                  </a:lnTo>
                  <a:lnTo>
                    <a:pt x="434479" y="389254"/>
                  </a:lnTo>
                  <a:lnTo>
                    <a:pt x="453718" y="393134"/>
                  </a:lnTo>
                  <a:lnTo>
                    <a:pt x="469420" y="403717"/>
                  </a:lnTo>
                  <a:lnTo>
                    <a:pt x="480003" y="419419"/>
                  </a:lnTo>
                  <a:lnTo>
                    <a:pt x="483882" y="438658"/>
                  </a:lnTo>
                  <a:lnTo>
                    <a:pt x="483882" y="636397"/>
                  </a:lnTo>
                  <a:lnTo>
                    <a:pt x="480003" y="655635"/>
                  </a:lnTo>
                  <a:lnTo>
                    <a:pt x="469420" y="671337"/>
                  </a:lnTo>
                  <a:lnTo>
                    <a:pt x="453718" y="681920"/>
                  </a:lnTo>
                  <a:lnTo>
                    <a:pt x="434479" y="685800"/>
                  </a:lnTo>
                  <a:lnTo>
                    <a:pt x="49415" y="685800"/>
                  </a:lnTo>
                  <a:lnTo>
                    <a:pt x="30180" y="681920"/>
                  </a:lnTo>
                  <a:lnTo>
                    <a:pt x="14473" y="671337"/>
                  </a:lnTo>
                  <a:lnTo>
                    <a:pt x="3883" y="655635"/>
                  </a:lnTo>
                  <a:lnTo>
                    <a:pt x="0" y="636397"/>
                  </a:lnTo>
                  <a:lnTo>
                    <a:pt x="0" y="438658"/>
                  </a:lnTo>
                  <a:close/>
                </a:path>
                <a:path w="3779520" h="2811779">
                  <a:moveTo>
                    <a:pt x="756932" y="46609"/>
                  </a:moveTo>
                  <a:lnTo>
                    <a:pt x="760589" y="28449"/>
                  </a:lnTo>
                  <a:lnTo>
                    <a:pt x="770569" y="13636"/>
                  </a:lnTo>
                  <a:lnTo>
                    <a:pt x="785382" y="3657"/>
                  </a:lnTo>
                  <a:lnTo>
                    <a:pt x="803541" y="0"/>
                  </a:lnTo>
                  <a:lnTo>
                    <a:pt x="2838843" y="0"/>
                  </a:lnTo>
                  <a:lnTo>
                    <a:pt x="2857002" y="3657"/>
                  </a:lnTo>
                  <a:lnTo>
                    <a:pt x="2871816" y="13636"/>
                  </a:lnTo>
                  <a:lnTo>
                    <a:pt x="2881795" y="28449"/>
                  </a:lnTo>
                  <a:lnTo>
                    <a:pt x="2885452" y="46609"/>
                  </a:lnTo>
                  <a:lnTo>
                    <a:pt x="2885452" y="232790"/>
                  </a:lnTo>
                  <a:lnTo>
                    <a:pt x="2881795" y="250950"/>
                  </a:lnTo>
                  <a:lnTo>
                    <a:pt x="2871816" y="265763"/>
                  </a:lnTo>
                  <a:lnTo>
                    <a:pt x="2857002" y="275742"/>
                  </a:lnTo>
                  <a:lnTo>
                    <a:pt x="2838843" y="279400"/>
                  </a:lnTo>
                  <a:lnTo>
                    <a:pt x="803541" y="279400"/>
                  </a:lnTo>
                  <a:lnTo>
                    <a:pt x="785382" y="275742"/>
                  </a:lnTo>
                  <a:lnTo>
                    <a:pt x="770569" y="265763"/>
                  </a:lnTo>
                  <a:lnTo>
                    <a:pt x="760589" y="250950"/>
                  </a:lnTo>
                  <a:lnTo>
                    <a:pt x="756932" y="232790"/>
                  </a:lnTo>
                  <a:lnTo>
                    <a:pt x="756932" y="46609"/>
                  </a:lnTo>
                  <a:close/>
                </a:path>
                <a:path w="3779520" h="2811779">
                  <a:moveTo>
                    <a:pt x="284746" y="2267204"/>
                  </a:moveTo>
                  <a:lnTo>
                    <a:pt x="287957" y="2251277"/>
                  </a:lnTo>
                  <a:lnTo>
                    <a:pt x="296716" y="2238279"/>
                  </a:lnTo>
                  <a:lnTo>
                    <a:pt x="309714" y="2229520"/>
                  </a:lnTo>
                  <a:lnTo>
                    <a:pt x="325640" y="2226310"/>
                  </a:lnTo>
                  <a:lnTo>
                    <a:pt x="1430667" y="2226310"/>
                  </a:lnTo>
                  <a:lnTo>
                    <a:pt x="1446594" y="2229520"/>
                  </a:lnTo>
                  <a:lnTo>
                    <a:pt x="1459591" y="2238279"/>
                  </a:lnTo>
                  <a:lnTo>
                    <a:pt x="1468350" y="2251277"/>
                  </a:lnTo>
                  <a:lnTo>
                    <a:pt x="1471561" y="2267204"/>
                  </a:lnTo>
                  <a:lnTo>
                    <a:pt x="1471561" y="2430526"/>
                  </a:lnTo>
                  <a:lnTo>
                    <a:pt x="1468350" y="2446452"/>
                  </a:lnTo>
                  <a:lnTo>
                    <a:pt x="1459591" y="2459450"/>
                  </a:lnTo>
                  <a:lnTo>
                    <a:pt x="1446594" y="2468209"/>
                  </a:lnTo>
                  <a:lnTo>
                    <a:pt x="1430667" y="2471420"/>
                  </a:lnTo>
                  <a:lnTo>
                    <a:pt x="325640" y="2471420"/>
                  </a:lnTo>
                  <a:lnTo>
                    <a:pt x="309714" y="2468209"/>
                  </a:lnTo>
                  <a:lnTo>
                    <a:pt x="296716" y="2459450"/>
                  </a:lnTo>
                  <a:lnTo>
                    <a:pt x="287957" y="2446452"/>
                  </a:lnTo>
                  <a:lnTo>
                    <a:pt x="284746" y="2430526"/>
                  </a:lnTo>
                  <a:lnTo>
                    <a:pt x="284746" y="2267204"/>
                  </a:lnTo>
                  <a:close/>
                </a:path>
                <a:path w="3779520" h="2811779">
                  <a:moveTo>
                    <a:pt x="3390658" y="2669921"/>
                  </a:moveTo>
                  <a:lnTo>
                    <a:pt x="3392889" y="2658905"/>
                  </a:lnTo>
                  <a:lnTo>
                    <a:pt x="3398977" y="2649902"/>
                  </a:lnTo>
                  <a:lnTo>
                    <a:pt x="3408018" y="2643828"/>
                  </a:lnTo>
                  <a:lnTo>
                    <a:pt x="3419106" y="2641600"/>
                  </a:lnTo>
                  <a:lnTo>
                    <a:pt x="3750957" y="2641600"/>
                  </a:lnTo>
                  <a:lnTo>
                    <a:pt x="3761972" y="2643828"/>
                  </a:lnTo>
                  <a:lnTo>
                    <a:pt x="3770976" y="2649902"/>
                  </a:lnTo>
                  <a:lnTo>
                    <a:pt x="3777050" y="2658905"/>
                  </a:lnTo>
                  <a:lnTo>
                    <a:pt x="3779278" y="2669921"/>
                  </a:lnTo>
                  <a:lnTo>
                    <a:pt x="3779278" y="2783420"/>
                  </a:lnTo>
                  <a:lnTo>
                    <a:pt x="3777050" y="2794458"/>
                  </a:lnTo>
                  <a:lnTo>
                    <a:pt x="3770976" y="2803472"/>
                  </a:lnTo>
                  <a:lnTo>
                    <a:pt x="3761972" y="2809550"/>
                  </a:lnTo>
                  <a:lnTo>
                    <a:pt x="3750957" y="2811780"/>
                  </a:lnTo>
                  <a:lnTo>
                    <a:pt x="3419106" y="2811780"/>
                  </a:lnTo>
                  <a:lnTo>
                    <a:pt x="3408018" y="2809550"/>
                  </a:lnTo>
                  <a:lnTo>
                    <a:pt x="3398977" y="2803472"/>
                  </a:lnTo>
                  <a:lnTo>
                    <a:pt x="3392889" y="2794458"/>
                  </a:lnTo>
                  <a:lnTo>
                    <a:pt x="3390658" y="2783420"/>
                  </a:lnTo>
                  <a:lnTo>
                    <a:pt x="3390658" y="2669921"/>
                  </a:lnTo>
                  <a:close/>
                </a:path>
              </a:pathLst>
            </a:custGeom>
            <a:ln w="19050">
              <a:solidFill>
                <a:srgbClr val="D24717"/>
              </a:solidFill>
            </a:ln>
          </p:spPr>
          <p:txBody>
            <a:bodyPr wrap="square" lIns="0" tIns="0" rIns="0" bIns="0" rtlCol="0"/>
            <a:lstStyle/>
            <a:p>
              <a:endParaRPr kern="0">
                <a:solidFill>
                  <a:sysClr val="windowText" lastClr="000000"/>
                </a:solidFill>
              </a:endParaRPr>
            </a:p>
          </p:txBody>
        </p:sp>
        <p:pic>
          <p:nvPicPr>
            <p:cNvPr id="7" name="object 7"/>
            <p:cNvPicPr/>
            <p:nvPr/>
          </p:nvPicPr>
          <p:blipFill>
            <a:blip r:embed="rId3" cstate="print"/>
            <a:stretch>
              <a:fillRect/>
            </a:stretch>
          </p:blipFill>
          <p:spPr>
            <a:xfrm>
              <a:off x="5638800" y="3098800"/>
              <a:ext cx="3206750" cy="2248535"/>
            </a:xfrm>
            <a:prstGeom prst="rect">
              <a:avLst/>
            </a:prstGeom>
          </p:spPr>
        </p:pic>
        <p:sp>
          <p:nvSpPr>
            <p:cNvPr id="8" name="object 8"/>
            <p:cNvSpPr/>
            <p:nvPr/>
          </p:nvSpPr>
          <p:spPr>
            <a:xfrm>
              <a:off x="6405879" y="3363594"/>
              <a:ext cx="2128520" cy="1965960"/>
            </a:xfrm>
            <a:custGeom>
              <a:avLst/>
              <a:gdLst/>
              <a:ahLst/>
              <a:cxnLst/>
              <a:rect l="l" t="t" r="r" b="b"/>
              <a:pathLst>
                <a:path w="2128520" h="1965960">
                  <a:moveTo>
                    <a:pt x="0" y="55625"/>
                  </a:moveTo>
                  <a:lnTo>
                    <a:pt x="4369" y="33968"/>
                  </a:lnTo>
                  <a:lnTo>
                    <a:pt x="16287" y="16287"/>
                  </a:lnTo>
                  <a:lnTo>
                    <a:pt x="33968" y="4369"/>
                  </a:lnTo>
                  <a:lnTo>
                    <a:pt x="55625" y="0"/>
                  </a:lnTo>
                  <a:lnTo>
                    <a:pt x="332994" y="0"/>
                  </a:lnTo>
                  <a:lnTo>
                    <a:pt x="354651" y="4369"/>
                  </a:lnTo>
                  <a:lnTo>
                    <a:pt x="372332" y="16287"/>
                  </a:lnTo>
                  <a:lnTo>
                    <a:pt x="384250" y="33968"/>
                  </a:lnTo>
                  <a:lnTo>
                    <a:pt x="388620" y="55625"/>
                  </a:lnTo>
                  <a:lnTo>
                    <a:pt x="388620" y="278383"/>
                  </a:lnTo>
                  <a:lnTo>
                    <a:pt x="384250" y="300041"/>
                  </a:lnTo>
                  <a:lnTo>
                    <a:pt x="372332" y="317722"/>
                  </a:lnTo>
                  <a:lnTo>
                    <a:pt x="354651" y="329640"/>
                  </a:lnTo>
                  <a:lnTo>
                    <a:pt x="332994" y="334009"/>
                  </a:lnTo>
                  <a:lnTo>
                    <a:pt x="55625" y="334009"/>
                  </a:lnTo>
                  <a:lnTo>
                    <a:pt x="33968" y="329640"/>
                  </a:lnTo>
                  <a:lnTo>
                    <a:pt x="16287" y="317722"/>
                  </a:lnTo>
                  <a:lnTo>
                    <a:pt x="4369" y="300041"/>
                  </a:lnTo>
                  <a:lnTo>
                    <a:pt x="0" y="278383"/>
                  </a:lnTo>
                  <a:lnTo>
                    <a:pt x="0" y="55625"/>
                  </a:lnTo>
                  <a:close/>
                </a:path>
                <a:path w="2128520" h="1965960">
                  <a:moveTo>
                    <a:pt x="1739900" y="1824100"/>
                  </a:moveTo>
                  <a:lnTo>
                    <a:pt x="1742128" y="1813085"/>
                  </a:lnTo>
                  <a:lnTo>
                    <a:pt x="1748202" y="1804082"/>
                  </a:lnTo>
                  <a:lnTo>
                    <a:pt x="1757205" y="1798008"/>
                  </a:lnTo>
                  <a:lnTo>
                    <a:pt x="1768221" y="1795779"/>
                  </a:lnTo>
                  <a:lnTo>
                    <a:pt x="2100199" y="1795779"/>
                  </a:lnTo>
                  <a:lnTo>
                    <a:pt x="2111214" y="1798008"/>
                  </a:lnTo>
                  <a:lnTo>
                    <a:pt x="2120217" y="1804082"/>
                  </a:lnTo>
                  <a:lnTo>
                    <a:pt x="2126291" y="1813085"/>
                  </a:lnTo>
                  <a:lnTo>
                    <a:pt x="2128520" y="1824100"/>
                  </a:lnTo>
                  <a:lnTo>
                    <a:pt x="2128520" y="1937639"/>
                  </a:lnTo>
                  <a:lnTo>
                    <a:pt x="2126291" y="1948654"/>
                  </a:lnTo>
                  <a:lnTo>
                    <a:pt x="2120217" y="1957657"/>
                  </a:lnTo>
                  <a:lnTo>
                    <a:pt x="2111214" y="1963731"/>
                  </a:lnTo>
                  <a:lnTo>
                    <a:pt x="2100199" y="1965959"/>
                  </a:lnTo>
                  <a:lnTo>
                    <a:pt x="1768221" y="1965959"/>
                  </a:lnTo>
                  <a:lnTo>
                    <a:pt x="1757205" y="1963731"/>
                  </a:lnTo>
                  <a:lnTo>
                    <a:pt x="1748202" y="1957657"/>
                  </a:lnTo>
                  <a:lnTo>
                    <a:pt x="1742128" y="1948654"/>
                  </a:lnTo>
                  <a:lnTo>
                    <a:pt x="1739900" y="1937639"/>
                  </a:lnTo>
                  <a:lnTo>
                    <a:pt x="1739900" y="1824100"/>
                  </a:lnTo>
                  <a:close/>
                </a:path>
              </a:pathLst>
            </a:custGeom>
            <a:ln w="19050">
              <a:solidFill>
                <a:srgbClr val="FF0000"/>
              </a:solidFill>
            </a:ln>
          </p:spPr>
          <p:txBody>
            <a:bodyPr wrap="square" lIns="0" tIns="0" rIns="0" bIns="0" rtlCol="0"/>
            <a:lstStyle/>
            <a:p>
              <a:endParaRPr kern="0">
                <a:solidFill>
                  <a:sysClr val="windowText" lastClr="000000"/>
                </a:solidFill>
              </a:endParaRPr>
            </a:p>
          </p:txBody>
        </p:sp>
      </p:gr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solidFill>
                  <a:prstClr val="white"/>
                </a:solidFill>
              </a:rPr>
              <a:pPr marL="38100">
                <a:lnSpc>
                  <a:spcPts val="1664"/>
                </a:lnSpc>
              </a:pPr>
              <a:t>40</a:t>
            </a:fld>
            <a:endParaRPr spc="-25" dirty="0">
              <a:solidFill>
                <a:prstClr val="white"/>
              </a:solidFill>
            </a:endParaRPr>
          </a:p>
        </p:txBody>
      </p:sp>
      <p:sp>
        <p:nvSpPr>
          <p:cNvPr id="11" name="object 11"/>
          <p:cNvSpPr txBox="1">
            <a:spLocks noGrp="1"/>
          </p:cNvSpPr>
          <p:nvPr>
            <p:ph type="ftr" sz="quarter" idx="5"/>
          </p:nvPr>
        </p:nvSpPr>
        <p:spPr>
          <a:xfrm>
            <a:off x="2763418" y="6600176"/>
            <a:ext cx="1243964" cy="155171"/>
          </a:xfrm>
          <a:prstGeom prst="rect">
            <a:avLst/>
          </a:prstGeom>
        </p:spPr>
        <p:txBody>
          <a:bodyPr vert="horz" wrap="square" lIns="0" tIns="1270" rIns="0" bIns="0" rtlCol="0">
            <a:spAutoFit/>
          </a:bodyPr>
          <a:lstStyle/>
          <a:p>
            <a:pPr marL="12700">
              <a:spcBef>
                <a:spcPts val="10"/>
              </a:spcBef>
            </a:pPr>
            <a:endParaRPr spc="-20" dirty="0">
              <a:solidFill>
                <a:prstClr val="white"/>
              </a:solidFill>
            </a:endParaRPr>
          </a:p>
        </p:txBody>
      </p:sp>
    </p:spTree>
    <p:extLst>
      <p:ext uri="{BB962C8B-B14F-4D97-AF65-F5344CB8AC3E}">
        <p14:creationId xmlns:p14="http://schemas.microsoft.com/office/powerpoint/2010/main" val="378290350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91268" y="450927"/>
            <a:ext cx="11057467" cy="444994"/>
          </a:xfrm>
          <a:prstGeom prst="rect">
            <a:avLst/>
          </a:prstGeom>
        </p:spPr>
        <p:txBody>
          <a:bodyPr vert="horz" wrap="square" lIns="0" tIns="13970" rIns="0" bIns="0" rtlCol="0">
            <a:spAutoFit/>
          </a:bodyPr>
          <a:lstStyle/>
          <a:p>
            <a:pPr marL="12700">
              <a:spcBef>
                <a:spcPts val="110"/>
              </a:spcBef>
              <a:tabLst>
                <a:tab pos="8279765" algn="l"/>
              </a:tabLst>
            </a:pPr>
            <a:r>
              <a:rPr dirty="0"/>
              <a:t>7.</a:t>
            </a:r>
            <a:r>
              <a:rPr spc="-45" dirty="0"/>
              <a:t> </a:t>
            </a:r>
            <a:r>
              <a:rPr dirty="0"/>
              <a:t>XÂY</a:t>
            </a:r>
            <a:r>
              <a:rPr spc="-80" dirty="0"/>
              <a:t> </a:t>
            </a:r>
            <a:r>
              <a:rPr dirty="0"/>
              <a:t>DỰNG</a:t>
            </a:r>
            <a:r>
              <a:rPr spc="-40" dirty="0"/>
              <a:t> </a:t>
            </a:r>
            <a:r>
              <a:rPr dirty="0"/>
              <a:t>ỨNG</a:t>
            </a:r>
            <a:r>
              <a:rPr spc="-35" dirty="0"/>
              <a:t> </a:t>
            </a:r>
            <a:r>
              <a:rPr dirty="0"/>
              <a:t>DỤNG</a:t>
            </a:r>
            <a:r>
              <a:rPr spc="-5" dirty="0"/>
              <a:t> </a:t>
            </a:r>
            <a:r>
              <a:rPr dirty="0"/>
              <a:t>WEB</a:t>
            </a:r>
            <a:r>
              <a:rPr spc="-30" dirty="0"/>
              <a:t> </a:t>
            </a:r>
            <a:r>
              <a:rPr dirty="0"/>
              <a:t>MVC</a:t>
            </a:r>
            <a:r>
              <a:rPr spc="-55" dirty="0"/>
              <a:t> </a:t>
            </a:r>
            <a:r>
              <a:rPr dirty="0"/>
              <a:t>VỚI</a:t>
            </a:r>
            <a:r>
              <a:rPr spc="-65" dirty="0"/>
              <a:t> </a:t>
            </a:r>
            <a:r>
              <a:rPr spc="-20" dirty="0"/>
              <a:t>CSDL</a:t>
            </a:r>
            <a:r>
              <a:rPr dirty="0"/>
              <a:t>	</a:t>
            </a:r>
          </a:p>
        </p:txBody>
      </p:sp>
      <p:sp>
        <p:nvSpPr>
          <p:cNvPr id="3" name="object 3"/>
          <p:cNvSpPr txBox="1"/>
          <p:nvPr/>
        </p:nvSpPr>
        <p:spPr>
          <a:xfrm>
            <a:off x="2242819" y="1083265"/>
            <a:ext cx="7971790" cy="1941195"/>
          </a:xfrm>
          <a:prstGeom prst="rect">
            <a:avLst/>
          </a:prstGeom>
        </p:spPr>
        <p:txBody>
          <a:bodyPr vert="horz" wrap="square" lIns="0" tIns="98425" rIns="0" bIns="0" rtlCol="0">
            <a:spAutoFit/>
          </a:bodyPr>
          <a:lstStyle/>
          <a:p>
            <a:pPr marL="12700">
              <a:spcBef>
                <a:spcPts val="775"/>
              </a:spcBef>
            </a:pPr>
            <a:r>
              <a:rPr sz="2400" b="1" kern="0">
                <a:solidFill>
                  <a:srgbClr val="C00000"/>
                </a:solidFill>
                <a:latin typeface="Arial"/>
                <a:cs typeface="Arial"/>
              </a:rPr>
              <a:t>B</a:t>
            </a:r>
            <a:r>
              <a:rPr lang="vi-VN" sz="2400" b="1" kern="0">
                <a:solidFill>
                  <a:srgbClr val="C00000"/>
                </a:solidFill>
                <a:cs typeface="Arial"/>
              </a:rPr>
              <a:t>ư</a:t>
            </a:r>
            <a:r>
              <a:rPr sz="2400" b="1" kern="0">
                <a:solidFill>
                  <a:srgbClr val="C00000"/>
                </a:solidFill>
                <a:latin typeface="Arial"/>
                <a:cs typeface="Arial"/>
              </a:rPr>
              <a:t>ớc</a:t>
            </a:r>
            <a:r>
              <a:rPr sz="2400" b="1" kern="0" spc="-60">
                <a:solidFill>
                  <a:srgbClr val="C00000"/>
                </a:solidFill>
                <a:latin typeface="Arial"/>
                <a:cs typeface="Arial"/>
              </a:rPr>
              <a:t> </a:t>
            </a:r>
            <a:r>
              <a:rPr sz="2400" b="1" kern="0" dirty="0">
                <a:solidFill>
                  <a:srgbClr val="C00000"/>
                </a:solidFill>
                <a:latin typeface="Arial"/>
                <a:cs typeface="Arial"/>
              </a:rPr>
              <a:t>2:</a:t>
            </a:r>
            <a:r>
              <a:rPr sz="2400" b="1" kern="0" spc="-65" dirty="0">
                <a:solidFill>
                  <a:srgbClr val="C00000"/>
                </a:solidFill>
                <a:latin typeface="Arial"/>
                <a:cs typeface="Arial"/>
              </a:rPr>
              <a:t> </a:t>
            </a:r>
            <a:r>
              <a:rPr sz="2400" b="1" kern="0" dirty="0">
                <a:solidFill>
                  <a:srgbClr val="C00000"/>
                </a:solidFill>
                <a:latin typeface="Arial"/>
                <a:cs typeface="Arial"/>
              </a:rPr>
              <a:t>Tạo</a:t>
            </a:r>
            <a:r>
              <a:rPr sz="2400" b="1" kern="0" spc="-15" dirty="0">
                <a:solidFill>
                  <a:srgbClr val="C00000"/>
                </a:solidFill>
                <a:latin typeface="Arial"/>
                <a:cs typeface="Arial"/>
              </a:rPr>
              <a:t> </a:t>
            </a:r>
            <a:r>
              <a:rPr sz="2400" b="1" kern="0" spc="-20" dirty="0">
                <a:solidFill>
                  <a:srgbClr val="C00000"/>
                </a:solidFill>
                <a:latin typeface="Arial"/>
                <a:cs typeface="Arial"/>
              </a:rPr>
              <a:t>CSDL</a:t>
            </a:r>
            <a:endParaRPr sz="2400" kern="0">
              <a:solidFill>
                <a:sysClr val="windowText" lastClr="000000"/>
              </a:solidFill>
              <a:latin typeface="Arial"/>
              <a:cs typeface="Arial"/>
            </a:endParaRPr>
          </a:p>
          <a:p>
            <a:pPr marL="363220">
              <a:spcBef>
                <a:spcPts val="505"/>
              </a:spcBef>
            </a:pPr>
            <a:r>
              <a:rPr kern="0" dirty="0">
                <a:solidFill>
                  <a:sysClr val="windowText" lastClr="000000"/>
                </a:solidFill>
                <a:latin typeface="Microsoft Sans Serif"/>
                <a:cs typeface="Microsoft Sans Serif"/>
              </a:rPr>
              <a:t>Trong</a:t>
            </a:r>
            <a:r>
              <a:rPr kern="0" spc="254"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SQLServer</a:t>
            </a:r>
            <a:r>
              <a:rPr kern="0" spc="275"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tạo</a:t>
            </a:r>
            <a:r>
              <a:rPr kern="0" spc="254"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CSDL</a:t>
            </a:r>
            <a:r>
              <a:rPr kern="0" spc="185"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Tintuc</a:t>
            </a:r>
            <a:r>
              <a:rPr kern="0" spc="250"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gồm</a:t>
            </a:r>
            <a:r>
              <a:rPr kern="0" spc="190"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2</a:t>
            </a:r>
            <a:r>
              <a:rPr kern="0" spc="254"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bảng</a:t>
            </a:r>
            <a:r>
              <a:rPr kern="0" spc="254"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và</a:t>
            </a:r>
            <a:r>
              <a:rPr kern="0" spc="220" dirty="0">
                <a:solidFill>
                  <a:sysClr val="windowText" lastClr="000000"/>
                </a:solidFill>
                <a:latin typeface="Microsoft Sans Serif"/>
                <a:cs typeface="Microsoft Sans Serif"/>
              </a:rPr>
              <a:t> </a:t>
            </a:r>
            <a:r>
              <a:rPr kern="0" spc="65" dirty="0">
                <a:solidFill>
                  <a:sysClr val="windowText" lastClr="000000"/>
                </a:solidFill>
                <a:latin typeface="Microsoft Sans Serif"/>
                <a:cs typeface="Microsoft Sans Serif"/>
              </a:rPr>
              <a:t>lưu</a:t>
            </a:r>
            <a:r>
              <a:rPr kern="0" spc="254"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file</a:t>
            </a:r>
            <a:r>
              <a:rPr kern="0" spc="250"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lệnh</a:t>
            </a:r>
            <a:r>
              <a:rPr kern="0" spc="254"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vào</a:t>
            </a:r>
            <a:r>
              <a:rPr kern="0" spc="250" dirty="0">
                <a:solidFill>
                  <a:sysClr val="windowText" lastClr="000000"/>
                </a:solidFill>
                <a:latin typeface="Microsoft Sans Serif"/>
                <a:cs typeface="Microsoft Sans Serif"/>
              </a:rPr>
              <a:t> </a:t>
            </a:r>
            <a:r>
              <a:rPr kern="0" spc="40" dirty="0">
                <a:solidFill>
                  <a:sysClr val="windowText" lastClr="000000"/>
                </a:solidFill>
                <a:latin typeface="Microsoft Sans Serif"/>
                <a:cs typeface="Microsoft Sans Serif"/>
              </a:rPr>
              <a:t>thư</a:t>
            </a:r>
            <a:endParaRPr kern="0">
              <a:solidFill>
                <a:sysClr val="windowText" lastClr="000000"/>
              </a:solidFill>
              <a:latin typeface="Microsoft Sans Serif"/>
              <a:cs typeface="Microsoft Sans Serif"/>
            </a:endParaRPr>
          </a:p>
          <a:p>
            <a:pPr marL="363220"/>
            <a:r>
              <a:rPr kern="0" dirty="0">
                <a:solidFill>
                  <a:sysClr val="windowText" lastClr="000000"/>
                </a:solidFill>
                <a:latin typeface="Microsoft Sans Serif"/>
                <a:cs typeface="Microsoft Sans Serif"/>
              </a:rPr>
              <a:t>mục</a:t>
            </a:r>
            <a:r>
              <a:rPr kern="0" spc="-15" dirty="0">
                <a:solidFill>
                  <a:sysClr val="windowText" lastClr="000000"/>
                </a:solidFill>
                <a:latin typeface="Microsoft Sans Serif"/>
                <a:cs typeface="Microsoft Sans Serif"/>
              </a:rPr>
              <a:t> </a:t>
            </a:r>
            <a:r>
              <a:rPr kern="0" spc="-10" dirty="0">
                <a:solidFill>
                  <a:sysClr val="windowText" lastClr="000000"/>
                </a:solidFill>
                <a:latin typeface="Microsoft Sans Serif"/>
                <a:cs typeface="Microsoft Sans Serif"/>
              </a:rPr>
              <a:t>Database\CSDLTintuc.sql:</a:t>
            </a:r>
            <a:endParaRPr kern="0">
              <a:solidFill>
                <a:sysClr val="windowText" lastClr="000000"/>
              </a:solidFill>
              <a:latin typeface="Microsoft Sans Serif"/>
              <a:cs typeface="Microsoft Sans Serif"/>
            </a:endParaRPr>
          </a:p>
          <a:p>
            <a:pPr marL="650240" indent="-287020">
              <a:spcBef>
                <a:spcPts val="1190"/>
              </a:spcBef>
              <a:buFont typeface="Wingdings"/>
              <a:buChar char=""/>
              <a:tabLst>
                <a:tab pos="650240" algn="l"/>
              </a:tabLst>
            </a:pPr>
            <a:r>
              <a:rPr kern="0" dirty="0">
                <a:solidFill>
                  <a:sysClr val="windowText" lastClr="000000"/>
                </a:solidFill>
                <a:latin typeface="Microsoft Sans Serif"/>
                <a:cs typeface="Microsoft Sans Serif"/>
              </a:rPr>
              <a:t>Theloaitin(</a:t>
            </a:r>
            <a:r>
              <a:rPr u="sng" kern="0" dirty="0">
                <a:solidFill>
                  <a:sysClr val="windowText" lastClr="000000"/>
                </a:solidFill>
                <a:uFill>
                  <a:solidFill>
                    <a:srgbClr val="000000"/>
                  </a:solidFill>
                </a:uFill>
                <a:latin typeface="Microsoft Sans Serif"/>
                <a:cs typeface="Microsoft Sans Serif"/>
              </a:rPr>
              <a:t>IDLoai</a:t>
            </a:r>
            <a:r>
              <a:rPr kern="0" spc="380"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int,</a:t>
            </a:r>
            <a:r>
              <a:rPr kern="0" spc="-90"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Tentheloai</a:t>
            </a:r>
            <a:r>
              <a:rPr kern="0" spc="425"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nvarchar(100)</a:t>
            </a:r>
            <a:r>
              <a:rPr kern="0" spc="-90" dirty="0">
                <a:solidFill>
                  <a:sysClr val="windowText" lastClr="000000"/>
                </a:solidFill>
                <a:latin typeface="Microsoft Sans Serif"/>
                <a:cs typeface="Microsoft Sans Serif"/>
              </a:rPr>
              <a:t> </a:t>
            </a:r>
            <a:r>
              <a:rPr kern="0" spc="-50" dirty="0">
                <a:solidFill>
                  <a:sysClr val="windowText" lastClr="000000"/>
                </a:solidFill>
                <a:latin typeface="Microsoft Sans Serif"/>
                <a:cs typeface="Microsoft Sans Serif"/>
              </a:rPr>
              <a:t>)</a:t>
            </a:r>
            <a:endParaRPr kern="0">
              <a:solidFill>
                <a:sysClr val="windowText" lastClr="000000"/>
              </a:solidFill>
              <a:latin typeface="Microsoft Sans Serif"/>
              <a:cs typeface="Microsoft Sans Serif"/>
            </a:endParaRPr>
          </a:p>
          <a:p>
            <a:pPr marL="650875" indent="-287655">
              <a:spcBef>
                <a:spcPts val="1190"/>
              </a:spcBef>
              <a:buFont typeface="Wingdings"/>
              <a:buChar char=""/>
              <a:tabLst>
                <a:tab pos="650875" algn="l"/>
              </a:tabLst>
            </a:pPr>
            <a:r>
              <a:rPr kern="0" dirty="0">
                <a:solidFill>
                  <a:sysClr val="windowText" lastClr="000000"/>
                </a:solidFill>
                <a:latin typeface="Microsoft Sans Serif"/>
                <a:cs typeface="Microsoft Sans Serif"/>
              </a:rPr>
              <a:t>Tintuc(</a:t>
            </a:r>
            <a:r>
              <a:rPr u="sng" kern="0" dirty="0">
                <a:solidFill>
                  <a:sysClr val="windowText" lastClr="000000"/>
                </a:solidFill>
                <a:uFill>
                  <a:solidFill>
                    <a:srgbClr val="000000"/>
                  </a:solidFill>
                </a:uFill>
                <a:latin typeface="Microsoft Sans Serif"/>
                <a:cs typeface="Microsoft Sans Serif"/>
              </a:rPr>
              <a:t>IdTin</a:t>
            </a:r>
            <a:r>
              <a:rPr kern="0" spc="390"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int,</a:t>
            </a:r>
            <a:r>
              <a:rPr kern="0" spc="-55"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IDLoai</a:t>
            </a:r>
            <a:r>
              <a:rPr kern="0" spc="5"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int,</a:t>
            </a:r>
            <a:r>
              <a:rPr kern="0" spc="-85"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Tieudetin</a:t>
            </a:r>
            <a:r>
              <a:rPr kern="0" spc="405"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nvarchar(100),</a:t>
            </a:r>
            <a:r>
              <a:rPr kern="0" spc="390"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Noidungtin</a:t>
            </a:r>
            <a:r>
              <a:rPr kern="0" spc="-80" dirty="0">
                <a:solidFill>
                  <a:sysClr val="windowText" lastClr="000000"/>
                </a:solidFill>
                <a:latin typeface="Microsoft Sans Serif"/>
                <a:cs typeface="Microsoft Sans Serif"/>
              </a:rPr>
              <a:t> </a:t>
            </a:r>
            <a:r>
              <a:rPr kern="0" spc="-25" dirty="0">
                <a:solidFill>
                  <a:sysClr val="windowText" lastClr="000000"/>
                </a:solidFill>
                <a:latin typeface="Microsoft Sans Serif"/>
                <a:cs typeface="Microsoft Sans Serif"/>
              </a:rPr>
              <a:t>nText</a:t>
            </a:r>
            <a:r>
              <a:rPr kern="0" spc="20" dirty="0">
                <a:solidFill>
                  <a:sysClr val="windowText" lastClr="000000"/>
                </a:solidFill>
                <a:latin typeface="Microsoft Sans Serif"/>
                <a:cs typeface="Microsoft Sans Serif"/>
              </a:rPr>
              <a:t> </a:t>
            </a:r>
            <a:r>
              <a:rPr kern="0" spc="-50" dirty="0">
                <a:solidFill>
                  <a:sysClr val="windowText" lastClr="000000"/>
                </a:solidFill>
                <a:latin typeface="Microsoft Sans Serif"/>
                <a:cs typeface="Microsoft Sans Serif"/>
              </a:rPr>
              <a:t>)</a:t>
            </a:r>
            <a:endParaRPr kern="0">
              <a:solidFill>
                <a:sysClr val="windowText" lastClr="000000"/>
              </a:solidFill>
              <a:latin typeface="Microsoft Sans Serif"/>
              <a:cs typeface="Microsoft Sans Serif"/>
            </a:endParaRPr>
          </a:p>
        </p:txBody>
      </p:sp>
      <p:grpSp>
        <p:nvGrpSpPr>
          <p:cNvPr id="4" name="object 4"/>
          <p:cNvGrpSpPr/>
          <p:nvPr/>
        </p:nvGrpSpPr>
        <p:grpSpPr>
          <a:xfrm>
            <a:off x="3276600" y="3429001"/>
            <a:ext cx="6248400" cy="2101215"/>
            <a:chOff x="1752600" y="3429000"/>
            <a:chExt cx="6248400" cy="2101215"/>
          </a:xfrm>
        </p:grpSpPr>
        <p:pic>
          <p:nvPicPr>
            <p:cNvPr id="5" name="object 5"/>
            <p:cNvPicPr/>
            <p:nvPr/>
          </p:nvPicPr>
          <p:blipFill>
            <a:blip r:embed="rId2" cstate="print"/>
            <a:stretch>
              <a:fillRect/>
            </a:stretch>
          </p:blipFill>
          <p:spPr>
            <a:xfrm>
              <a:off x="3581400" y="3429000"/>
              <a:ext cx="1600200" cy="1066800"/>
            </a:xfrm>
            <a:prstGeom prst="rect">
              <a:avLst/>
            </a:prstGeom>
          </p:spPr>
        </p:pic>
        <p:pic>
          <p:nvPicPr>
            <p:cNvPr id="6" name="object 6"/>
            <p:cNvPicPr/>
            <p:nvPr/>
          </p:nvPicPr>
          <p:blipFill>
            <a:blip r:embed="rId3" cstate="print"/>
            <a:stretch>
              <a:fillRect/>
            </a:stretch>
          </p:blipFill>
          <p:spPr>
            <a:xfrm>
              <a:off x="1752600" y="4648212"/>
              <a:ext cx="6248400" cy="881748"/>
            </a:xfrm>
            <a:prstGeom prst="rect">
              <a:avLst/>
            </a:prstGeom>
          </p:spPr>
        </p:pic>
      </p:gr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solidFill>
                  <a:prstClr val="white"/>
                </a:solidFill>
              </a:rPr>
              <a:pPr marL="38100">
                <a:lnSpc>
                  <a:spcPts val="1664"/>
                </a:lnSpc>
              </a:pPr>
              <a:t>41</a:t>
            </a:fld>
            <a:endParaRPr spc="-25" dirty="0">
              <a:solidFill>
                <a:prstClr val="white"/>
              </a:solidFill>
            </a:endParaRPr>
          </a:p>
        </p:txBody>
      </p:sp>
      <p:sp>
        <p:nvSpPr>
          <p:cNvPr id="9" name="object 9"/>
          <p:cNvSpPr txBox="1">
            <a:spLocks noGrp="1"/>
          </p:cNvSpPr>
          <p:nvPr>
            <p:ph type="ftr" sz="quarter" idx="5"/>
          </p:nvPr>
        </p:nvSpPr>
        <p:spPr>
          <a:xfrm>
            <a:off x="2763418" y="6600176"/>
            <a:ext cx="1243964" cy="155171"/>
          </a:xfrm>
          <a:prstGeom prst="rect">
            <a:avLst/>
          </a:prstGeom>
        </p:spPr>
        <p:txBody>
          <a:bodyPr vert="horz" wrap="square" lIns="0" tIns="1270" rIns="0" bIns="0" rtlCol="0">
            <a:spAutoFit/>
          </a:bodyPr>
          <a:lstStyle/>
          <a:p>
            <a:pPr marL="12700">
              <a:spcBef>
                <a:spcPts val="10"/>
              </a:spcBef>
            </a:pPr>
            <a:endParaRPr spc="-20" dirty="0">
              <a:solidFill>
                <a:prstClr val="white"/>
              </a:solidFill>
            </a:endParaRPr>
          </a:p>
        </p:txBody>
      </p:sp>
    </p:spTree>
    <p:extLst>
      <p:ext uri="{BB962C8B-B14F-4D97-AF65-F5344CB8AC3E}">
        <p14:creationId xmlns:p14="http://schemas.microsoft.com/office/powerpoint/2010/main" val="396800597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91268" y="450927"/>
            <a:ext cx="11057467" cy="444994"/>
          </a:xfrm>
          <a:prstGeom prst="rect">
            <a:avLst/>
          </a:prstGeom>
        </p:spPr>
        <p:txBody>
          <a:bodyPr vert="horz" wrap="square" lIns="0" tIns="13970" rIns="0" bIns="0" rtlCol="0">
            <a:spAutoFit/>
          </a:bodyPr>
          <a:lstStyle/>
          <a:p>
            <a:pPr marL="12700">
              <a:spcBef>
                <a:spcPts val="110"/>
              </a:spcBef>
              <a:tabLst>
                <a:tab pos="8279765" algn="l"/>
              </a:tabLst>
            </a:pPr>
            <a:r>
              <a:rPr dirty="0"/>
              <a:t>7.</a:t>
            </a:r>
            <a:r>
              <a:rPr spc="-45" dirty="0"/>
              <a:t> </a:t>
            </a:r>
            <a:r>
              <a:rPr dirty="0"/>
              <a:t>XÂY</a:t>
            </a:r>
            <a:r>
              <a:rPr spc="-80" dirty="0"/>
              <a:t> </a:t>
            </a:r>
            <a:r>
              <a:rPr dirty="0"/>
              <a:t>DỰNG</a:t>
            </a:r>
            <a:r>
              <a:rPr spc="-40" dirty="0"/>
              <a:t> </a:t>
            </a:r>
            <a:r>
              <a:rPr dirty="0"/>
              <a:t>ỨNG</a:t>
            </a:r>
            <a:r>
              <a:rPr spc="-35" dirty="0"/>
              <a:t> </a:t>
            </a:r>
            <a:r>
              <a:rPr dirty="0"/>
              <a:t>DỤNG</a:t>
            </a:r>
            <a:r>
              <a:rPr spc="-5" dirty="0"/>
              <a:t> </a:t>
            </a:r>
            <a:r>
              <a:rPr dirty="0"/>
              <a:t>WEB</a:t>
            </a:r>
            <a:r>
              <a:rPr spc="-30" dirty="0"/>
              <a:t> </a:t>
            </a:r>
            <a:r>
              <a:rPr dirty="0"/>
              <a:t>MVC</a:t>
            </a:r>
            <a:r>
              <a:rPr spc="-55" dirty="0"/>
              <a:t> </a:t>
            </a:r>
            <a:r>
              <a:rPr dirty="0"/>
              <a:t>VỚI</a:t>
            </a:r>
            <a:r>
              <a:rPr spc="-65" dirty="0"/>
              <a:t> </a:t>
            </a:r>
            <a:r>
              <a:rPr spc="-20" dirty="0"/>
              <a:t>CSDL</a:t>
            </a:r>
            <a:r>
              <a:rPr dirty="0"/>
              <a:t>	</a:t>
            </a:r>
          </a:p>
        </p:txBody>
      </p:sp>
      <p:sp>
        <p:nvSpPr>
          <p:cNvPr id="3" name="object 3"/>
          <p:cNvSpPr txBox="1"/>
          <p:nvPr/>
        </p:nvSpPr>
        <p:spPr>
          <a:xfrm>
            <a:off x="2242820" y="1054372"/>
            <a:ext cx="6842759" cy="866140"/>
          </a:xfrm>
          <a:prstGeom prst="rect">
            <a:avLst/>
          </a:prstGeom>
        </p:spPr>
        <p:txBody>
          <a:bodyPr vert="horz" wrap="square" lIns="0" tIns="127635" rIns="0" bIns="0" rtlCol="0">
            <a:spAutoFit/>
          </a:bodyPr>
          <a:lstStyle/>
          <a:p>
            <a:pPr marL="12700">
              <a:spcBef>
                <a:spcPts val="1005"/>
              </a:spcBef>
            </a:pPr>
            <a:r>
              <a:rPr sz="2400" b="1" kern="0">
                <a:solidFill>
                  <a:srgbClr val="C00000"/>
                </a:solidFill>
                <a:latin typeface="Arial"/>
                <a:cs typeface="Arial"/>
              </a:rPr>
              <a:t>B</a:t>
            </a:r>
            <a:r>
              <a:rPr lang="vi-VN" sz="2400" b="1" kern="0">
                <a:solidFill>
                  <a:srgbClr val="C00000"/>
                </a:solidFill>
                <a:cs typeface="Arial"/>
              </a:rPr>
              <a:t>ư</a:t>
            </a:r>
            <a:r>
              <a:rPr sz="2400" b="1" kern="0">
                <a:solidFill>
                  <a:srgbClr val="C00000"/>
                </a:solidFill>
                <a:latin typeface="Arial"/>
                <a:cs typeface="Arial"/>
              </a:rPr>
              <a:t>ớc</a:t>
            </a:r>
            <a:r>
              <a:rPr sz="2400" b="1" kern="0" spc="-30">
                <a:solidFill>
                  <a:srgbClr val="C00000"/>
                </a:solidFill>
                <a:latin typeface="Arial"/>
                <a:cs typeface="Arial"/>
              </a:rPr>
              <a:t> </a:t>
            </a:r>
            <a:r>
              <a:rPr sz="2400" b="1" kern="0" dirty="0">
                <a:solidFill>
                  <a:srgbClr val="C00000"/>
                </a:solidFill>
                <a:latin typeface="Arial"/>
                <a:cs typeface="Arial"/>
              </a:rPr>
              <a:t>3:</a:t>
            </a:r>
            <a:r>
              <a:rPr sz="2400" b="1" kern="0" spc="-40" dirty="0">
                <a:solidFill>
                  <a:srgbClr val="C00000"/>
                </a:solidFill>
                <a:latin typeface="Arial"/>
                <a:cs typeface="Arial"/>
              </a:rPr>
              <a:t> </a:t>
            </a:r>
            <a:r>
              <a:rPr sz="2400" b="1" kern="0" dirty="0">
                <a:solidFill>
                  <a:srgbClr val="C00000"/>
                </a:solidFill>
                <a:latin typeface="Arial"/>
                <a:cs typeface="Arial"/>
              </a:rPr>
              <a:t>Kết</a:t>
            </a:r>
            <a:r>
              <a:rPr sz="2400" b="1" kern="0" spc="-5" dirty="0">
                <a:solidFill>
                  <a:srgbClr val="C00000"/>
                </a:solidFill>
                <a:latin typeface="Arial"/>
                <a:cs typeface="Arial"/>
              </a:rPr>
              <a:t> </a:t>
            </a:r>
            <a:r>
              <a:rPr sz="2400" b="1" kern="0" dirty="0">
                <a:solidFill>
                  <a:srgbClr val="C00000"/>
                </a:solidFill>
                <a:latin typeface="Arial"/>
                <a:cs typeface="Arial"/>
              </a:rPr>
              <a:t>nối</a:t>
            </a:r>
            <a:r>
              <a:rPr sz="2400" b="1" kern="0" spc="-15" dirty="0">
                <a:solidFill>
                  <a:srgbClr val="C00000"/>
                </a:solidFill>
                <a:latin typeface="Arial"/>
                <a:cs typeface="Arial"/>
              </a:rPr>
              <a:t> </a:t>
            </a:r>
            <a:r>
              <a:rPr sz="2400" b="1" kern="0" dirty="0">
                <a:solidFill>
                  <a:srgbClr val="C00000"/>
                </a:solidFill>
                <a:latin typeface="Arial"/>
                <a:cs typeface="Arial"/>
              </a:rPr>
              <a:t>CSDL</a:t>
            </a:r>
            <a:r>
              <a:rPr sz="2400" b="1" kern="0" spc="-95" dirty="0">
                <a:solidFill>
                  <a:srgbClr val="C00000"/>
                </a:solidFill>
                <a:latin typeface="Arial"/>
                <a:cs typeface="Arial"/>
              </a:rPr>
              <a:t> </a:t>
            </a:r>
            <a:r>
              <a:rPr sz="2400" b="1" kern="0" dirty="0">
                <a:solidFill>
                  <a:srgbClr val="C00000"/>
                </a:solidFill>
                <a:latin typeface="Arial"/>
                <a:cs typeface="Arial"/>
              </a:rPr>
              <a:t>với</a:t>
            </a:r>
            <a:r>
              <a:rPr sz="2400" b="1" kern="0" spc="-10" dirty="0">
                <a:solidFill>
                  <a:srgbClr val="C00000"/>
                </a:solidFill>
                <a:latin typeface="Arial"/>
                <a:cs typeface="Arial"/>
              </a:rPr>
              <a:t> </a:t>
            </a:r>
            <a:r>
              <a:rPr sz="2400" b="1" kern="0" dirty="0">
                <a:solidFill>
                  <a:srgbClr val="C00000"/>
                </a:solidFill>
                <a:latin typeface="Arial"/>
                <a:cs typeface="Arial"/>
              </a:rPr>
              <a:t>ứng</a:t>
            </a:r>
            <a:r>
              <a:rPr sz="2400" b="1" kern="0" spc="-50" dirty="0">
                <a:solidFill>
                  <a:srgbClr val="C00000"/>
                </a:solidFill>
                <a:latin typeface="Arial"/>
                <a:cs typeface="Arial"/>
              </a:rPr>
              <a:t> </a:t>
            </a:r>
            <a:r>
              <a:rPr sz="2400" b="1" kern="0">
                <a:solidFill>
                  <a:srgbClr val="C00000"/>
                </a:solidFill>
                <a:latin typeface="Arial"/>
                <a:cs typeface="Arial"/>
              </a:rPr>
              <a:t>dụng</a:t>
            </a:r>
            <a:r>
              <a:rPr sz="2400" b="1" kern="0" spc="-60">
                <a:solidFill>
                  <a:srgbClr val="C00000"/>
                </a:solidFill>
                <a:latin typeface="Arial"/>
                <a:cs typeface="Arial"/>
              </a:rPr>
              <a:t> </a:t>
            </a:r>
            <a:r>
              <a:rPr lang="en-US" sz="2400" b="1" kern="0" smtClean="0">
                <a:solidFill>
                  <a:srgbClr val="C00000"/>
                </a:solidFill>
                <a:latin typeface="Arial"/>
                <a:cs typeface="Arial"/>
              </a:rPr>
              <a:t>MVC</a:t>
            </a:r>
            <a:endParaRPr sz="2400" kern="0">
              <a:solidFill>
                <a:sysClr val="windowText" lastClr="000000"/>
              </a:solidFill>
              <a:latin typeface="Arial"/>
              <a:cs typeface="Arial"/>
            </a:endParaRPr>
          </a:p>
          <a:p>
            <a:pPr marL="439420">
              <a:spcBef>
                <a:spcPts val="670"/>
              </a:spcBef>
            </a:pPr>
            <a:r>
              <a:rPr kern="0" dirty="0">
                <a:solidFill>
                  <a:sysClr val="windowText" lastClr="000000"/>
                </a:solidFill>
                <a:latin typeface="Microsoft Sans Serif"/>
                <a:cs typeface="Microsoft Sans Serif"/>
              </a:rPr>
              <a:t>Chọn</a:t>
            </a:r>
            <a:r>
              <a:rPr kern="0" spc="-30"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Menu</a:t>
            </a:r>
            <a:r>
              <a:rPr kern="0" spc="-25" dirty="0">
                <a:solidFill>
                  <a:sysClr val="windowText" lastClr="000000"/>
                </a:solidFill>
                <a:latin typeface="Microsoft Sans Serif"/>
                <a:cs typeface="Microsoft Sans Serif"/>
              </a:rPr>
              <a:t> </a:t>
            </a:r>
            <a:r>
              <a:rPr kern="0" spc="-20" dirty="0">
                <a:solidFill>
                  <a:sysClr val="windowText" lastClr="000000"/>
                </a:solidFill>
                <a:latin typeface="Microsoft Sans Serif"/>
                <a:cs typeface="Microsoft Sans Serif"/>
              </a:rPr>
              <a:t>Tools</a:t>
            </a:r>
            <a:r>
              <a:rPr kern="0" spc="-5" dirty="0">
                <a:solidFill>
                  <a:sysClr val="windowText" lastClr="000000"/>
                </a:solidFill>
                <a:latin typeface="Microsoft Sans Serif"/>
                <a:cs typeface="Microsoft Sans Serif"/>
              </a:rPr>
              <a:t> </a:t>
            </a:r>
            <a:r>
              <a:rPr kern="0" dirty="0">
                <a:solidFill>
                  <a:sysClr val="windowText" lastClr="000000"/>
                </a:solidFill>
                <a:latin typeface="Wingdings"/>
                <a:cs typeface="Wingdings"/>
              </a:rPr>
              <a:t></a:t>
            </a:r>
            <a:r>
              <a:rPr kern="0" spc="20" dirty="0">
                <a:solidFill>
                  <a:sysClr val="windowText" lastClr="000000"/>
                </a:solidFill>
                <a:latin typeface="Times New Roman"/>
                <a:cs typeface="Times New Roman"/>
              </a:rPr>
              <a:t> </a:t>
            </a:r>
            <a:r>
              <a:rPr kern="0" dirty="0">
                <a:solidFill>
                  <a:sysClr val="windowText" lastClr="000000"/>
                </a:solidFill>
                <a:latin typeface="Microsoft Sans Serif"/>
                <a:cs typeface="Microsoft Sans Serif"/>
              </a:rPr>
              <a:t>Connect</a:t>
            </a:r>
            <a:r>
              <a:rPr kern="0" spc="-25"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to</a:t>
            </a:r>
            <a:r>
              <a:rPr kern="0" spc="5"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Server</a:t>
            </a:r>
            <a:r>
              <a:rPr kern="0" spc="470"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=&gt;</a:t>
            </a:r>
            <a:r>
              <a:rPr kern="0" spc="-10"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Nhập</a:t>
            </a:r>
            <a:r>
              <a:rPr kern="0" spc="-25"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Server</a:t>
            </a:r>
            <a:r>
              <a:rPr kern="0" spc="-15" dirty="0">
                <a:solidFill>
                  <a:sysClr val="windowText" lastClr="000000"/>
                </a:solidFill>
                <a:latin typeface="Microsoft Sans Serif"/>
                <a:cs typeface="Microsoft Sans Serif"/>
              </a:rPr>
              <a:t> </a:t>
            </a:r>
            <a:r>
              <a:rPr kern="0" spc="-20" dirty="0">
                <a:solidFill>
                  <a:sysClr val="windowText" lastClr="000000"/>
                </a:solidFill>
                <a:latin typeface="Microsoft Sans Serif"/>
                <a:cs typeface="Microsoft Sans Serif"/>
              </a:rPr>
              <a:t>Name</a:t>
            </a:r>
            <a:endParaRPr kern="0">
              <a:solidFill>
                <a:sysClr val="windowText" lastClr="000000"/>
              </a:solidFill>
              <a:latin typeface="Microsoft Sans Serif"/>
              <a:cs typeface="Microsoft Sans Serif"/>
            </a:endParaRPr>
          </a:p>
        </p:txBody>
      </p:sp>
      <p:grpSp>
        <p:nvGrpSpPr>
          <p:cNvPr id="4" name="object 4"/>
          <p:cNvGrpSpPr/>
          <p:nvPr/>
        </p:nvGrpSpPr>
        <p:grpSpPr>
          <a:xfrm>
            <a:off x="2601683" y="1992629"/>
            <a:ext cx="7047230" cy="4446270"/>
            <a:chOff x="1077683" y="1992629"/>
            <a:chExt cx="7047230" cy="4446270"/>
          </a:xfrm>
        </p:grpSpPr>
        <p:pic>
          <p:nvPicPr>
            <p:cNvPr id="5" name="object 5"/>
            <p:cNvPicPr/>
            <p:nvPr/>
          </p:nvPicPr>
          <p:blipFill>
            <a:blip r:embed="rId2" cstate="print"/>
            <a:stretch>
              <a:fillRect/>
            </a:stretch>
          </p:blipFill>
          <p:spPr>
            <a:xfrm>
              <a:off x="1077683" y="1992629"/>
              <a:ext cx="3943350" cy="2076450"/>
            </a:xfrm>
            <a:prstGeom prst="rect">
              <a:avLst/>
            </a:prstGeom>
          </p:spPr>
        </p:pic>
        <p:pic>
          <p:nvPicPr>
            <p:cNvPr id="6" name="object 6"/>
            <p:cNvPicPr/>
            <p:nvPr/>
          </p:nvPicPr>
          <p:blipFill>
            <a:blip r:embed="rId3" cstate="print"/>
            <a:stretch>
              <a:fillRect/>
            </a:stretch>
          </p:blipFill>
          <p:spPr>
            <a:xfrm>
              <a:off x="3914775" y="3992879"/>
              <a:ext cx="4210050" cy="2446020"/>
            </a:xfrm>
            <a:prstGeom prst="rect">
              <a:avLst/>
            </a:prstGeom>
          </p:spPr>
        </p:pic>
        <p:sp>
          <p:nvSpPr>
            <p:cNvPr id="7" name="object 7"/>
            <p:cNvSpPr/>
            <p:nvPr/>
          </p:nvSpPr>
          <p:spPr>
            <a:xfrm>
              <a:off x="1219200" y="2666999"/>
              <a:ext cx="4770755" cy="2232025"/>
            </a:xfrm>
            <a:custGeom>
              <a:avLst/>
              <a:gdLst/>
              <a:ahLst/>
              <a:cxnLst/>
              <a:rect l="l" t="t" r="r" b="b"/>
              <a:pathLst>
                <a:path w="4770755" h="2232025">
                  <a:moveTo>
                    <a:pt x="0" y="78486"/>
                  </a:moveTo>
                  <a:lnTo>
                    <a:pt x="6164" y="47898"/>
                  </a:lnTo>
                  <a:lnTo>
                    <a:pt x="22979" y="22955"/>
                  </a:lnTo>
                  <a:lnTo>
                    <a:pt x="47925" y="6155"/>
                  </a:lnTo>
                  <a:lnTo>
                    <a:pt x="78486" y="0"/>
                  </a:lnTo>
                  <a:lnTo>
                    <a:pt x="917194" y="0"/>
                  </a:lnTo>
                  <a:lnTo>
                    <a:pt x="947781" y="6155"/>
                  </a:lnTo>
                  <a:lnTo>
                    <a:pt x="972724" y="22955"/>
                  </a:lnTo>
                  <a:lnTo>
                    <a:pt x="989524" y="47898"/>
                  </a:lnTo>
                  <a:lnTo>
                    <a:pt x="995680" y="78486"/>
                  </a:lnTo>
                  <a:lnTo>
                    <a:pt x="995680" y="392049"/>
                  </a:lnTo>
                  <a:lnTo>
                    <a:pt x="989524" y="422636"/>
                  </a:lnTo>
                  <a:lnTo>
                    <a:pt x="972724" y="447579"/>
                  </a:lnTo>
                  <a:lnTo>
                    <a:pt x="947781" y="464379"/>
                  </a:lnTo>
                  <a:lnTo>
                    <a:pt x="917194" y="470535"/>
                  </a:lnTo>
                  <a:lnTo>
                    <a:pt x="78486" y="470535"/>
                  </a:lnTo>
                  <a:lnTo>
                    <a:pt x="47925" y="464379"/>
                  </a:lnTo>
                  <a:lnTo>
                    <a:pt x="22979" y="447579"/>
                  </a:lnTo>
                  <a:lnTo>
                    <a:pt x="6164" y="422636"/>
                  </a:lnTo>
                  <a:lnTo>
                    <a:pt x="0" y="392049"/>
                  </a:lnTo>
                  <a:lnTo>
                    <a:pt x="0" y="78486"/>
                  </a:lnTo>
                  <a:close/>
                </a:path>
                <a:path w="4770755" h="2232025">
                  <a:moveTo>
                    <a:pt x="2819400" y="2061337"/>
                  </a:moveTo>
                  <a:lnTo>
                    <a:pt x="2822074" y="2048089"/>
                  </a:lnTo>
                  <a:lnTo>
                    <a:pt x="2829369" y="2037270"/>
                  </a:lnTo>
                  <a:lnTo>
                    <a:pt x="2840188" y="2029975"/>
                  </a:lnTo>
                  <a:lnTo>
                    <a:pt x="2853436" y="2027301"/>
                  </a:lnTo>
                  <a:lnTo>
                    <a:pt x="4736719" y="2027301"/>
                  </a:lnTo>
                  <a:lnTo>
                    <a:pt x="4749966" y="2029975"/>
                  </a:lnTo>
                  <a:lnTo>
                    <a:pt x="4760785" y="2037270"/>
                  </a:lnTo>
                  <a:lnTo>
                    <a:pt x="4768080" y="2048089"/>
                  </a:lnTo>
                  <a:lnTo>
                    <a:pt x="4770755" y="2061337"/>
                  </a:lnTo>
                  <a:lnTo>
                    <a:pt x="4770755" y="2197608"/>
                  </a:lnTo>
                  <a:lnTo>
                    <a:pt x="4768080" y="2210875"/>
                  </a:lnTo>
                  <a:lnTo>
                    <a:pt x="4760785" y="2221738"/>
                  </a:lnTo>
                  <a:lnTo>
                    <a:pt x="4749966" y="2229076"/>
                  </a:lnTo>
                  <a:lnTo>
                    <a:pt x="4736719" y="2231771"/>
                  </a:lnTo>
                  <a:lnTo>
                    <a:pt x="2853436" y="2231771"/>
                  </a:lnTo>
                  <a:lnTo>
                    <a:pt x="2840188" y="2229076"/>
                  </a:lnTo>
                  <a:lnTo>
                    <a:pt x="2829369" y="2221738"/>
                  </a:lnTo>
                  <a:lnTo>
                    <a:pt x="2822074" y="2210875"/>
                  </a:lnTo>
                  <a:lnTo>
                    <a:pt x="2819400" y="2197608"/>
                  </a:lnTo>
                  <a:lnTo>
                    <a:pt x="2819400" y="2061337"/>
                  </a:lnTo>
                  <a:close/>
                </a:path>
              </a:pathLst>
            </a:custGeom>
            <a:ln w="28575">
              <a:solidFill>
                <a:srgbClr val="FF0000"/>
              </a:solidFill>
            </a:ln>
          </p:spPr>
          <p:txBody>
            <a:bodyPr wrap="square" lIns="0" tIns="0" rIns="0" bIns="0" rtlCol="0"/>
            <a:lstStyle/>
            <a:p>
              <a:endParaRPr kern="0">
                <a:solidFill>
                  <a:sysClr val="windowText" lastClr="000000"/>
                </a:solidFill>
              </a:endParaRPr>
            </a:p>
          </p:txBody>
        </p:sp>
      </p:gr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solidFill>
                  <a:prstClr val="white"/>
                </a:solidFill>
              </a:rPr>
              <a:pPr marL="38100">
                <a:lnSpc>
                  <a:spcPts val="1664"/>
                </a:lnSpc>
              </a:pPr>
              <a:t>42</a:t>
            </a:fld>
            <a:endParaRPr spc="-25" dirty="0">
              <a:solidFill>
                <a:prstClr val="white"/>
              </a:solidFill>
            </a:endParaRPr>
          </a:p>
        </p:txBody>
      </p:sp>
      <p:sp>
        <p:nvSpPr>
          <p:cNvPr id="10" name="object 10"/>
          <p:cNvSpPr txBox="1">
            <a:spLocks noGrp="1"/>
          </p:cNvSpPr>
          <p:nvPr>
            <p:ph type="ftr" sz="quarter" idx="5"/>
          </p:nvPr>
        </p:nvSpPr>
        <p:spPr>
          <a:xfrm>
            <a:off x="2763418" y="6600176"/>
            <a:ext cx="1243964" cy="155171"/>
          </a:xfrm>
          <a:prstGeom prst="rect">
            <a:avLst/>
          </a:prstGeom>
        </p:spPr>
        <p:txBody>
          <a:bodyPr vert="horz" wrap="square" lIns="0" tIns="1270" rIns="0" bIns="0" rtlCol="0">
            <a:spAutoFit/>
          </a:bodyPr>
          <a:lstStyle/>
          <a:p>
            <a:pPr marL="12700">
              <a:spcBef>
                <a:spcPts val="10"/>
              </a:spcBef>
            </a:pPr>
            <a:endParaRPr spc="-20" dirty="0">
              <a:solidFill>
                <a:prstClr val="white"/>
              </a:solidFill>
            </a:endParaRPr>
          </a:p>
        </p:txBody>
      </p:sp>
    </p:spTree>
    <p:extLst>
      <p:ext uri="{BB962C8B-B14F-4D97-AF65-F5344CB8AC3E}">
        <p14:creationId xmlns:p14="http://schemas.microsoft.com/office/powerpoint/2010/main" val="53757943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91268" y="450927"/>
            <a:ext cx="11057467" cy="444994"/>
          </a:xfrm>
          <a:prstGeom prst="rect">
            <a:avLst/>
          </a:prstGeom>
        </p:spPr>
        <p:txBody>
          <a:bodyPr vert="horz" wrap="square" lIns="0" tIns="13970" rIns="0" bIns="0" rtlCol="0">
            <a:spAutoFit/>
          </a:bodyPr>
          <a:lstStyle/>
          <a:p>
            <a:pPr marL="12700">
              <a:spcBef>
                <a:spcPts val="110"/>
              </a:spcBef>
              <a:tabLst>
                <a:tab pos="8279765" algn="l"/>
              </a:tabLst>
            </a:pPr>
            <a:r>
              <a:rPr dirty="0"/>
              <a:t>7.</a:t>
            </a:r>
            <a:r>
              <a:rPr spc="-45" dirty="0"/>
              <a:t> </a:t>
            </a:r>
            <a:r>
              <a:rPr dirty="0"/>
              <a:t>XÂY</a:t>
            </a:r>
            <a:r>
              <a:rPr spc="-80" dirty="0"/>
              <a:t> </a:t>
            </a:r>
            <a:r>
              <a:rPr dirty="0"/>
              <a:t>DỰNG</a:t>
            </a:r>
            <a:r>
              <a:rPr spc="-40" dirty="0"/>
              <a:t> </a:t>
            </a:r>
            <a:r>
              <a:rPr dirty="0"/>
              <a:t>ỨNG</a:t>
            </a:r>
            <a:r>
              <a:rPr spc="-35" dirty="0"/>
              <a:t> </a:t>
            </a:r>
            <a:r>
              <a:rPr dirty="0"/>
              <a:t>DỤNG</a:t>
            </a:r>
            <a:r>
              <a:rPr spc="-5" dirty="0"/>
              <a:t> </a:t>
            </a:r>
            <a:r>
              <a:rPr dirty="0"/>
              <a:t>WEB</a:t>
            </a:r>
            <a:r>
              <a:rPr spc="-30" dirty="0"/>
              <a:t> </a:t>
            </a:r>
            <a:r>
              <a:rPr dirty="0"/>
              <a:t>MVC</a:t>
            </a:r>
            <a:r>
              <a:rPr spc="-55" dirty="0"/>
              <a:t> </a:t>
            </a:r>
            <a:r>
              <a:rPr dirty="0"/>
              <a:t>VỚI</a:t>
            </a:r>
            <a:r>
              <a:rPr spc="-65" dirty="0"/>
              <a:t> </a:t>
            </a:r>
            <a:r>
              <a:rPr spc="-20" dirty="0"/>
              <a:t>CSDL</a:t>
            </a:r>
            <a:r>
              <a:rPr dirty="0"/>
              <a:t>	</a:t>
            </a:r>
          </a:p>
        </p:txBody>
      </p:sp>
      <p:sp>
        <p:nvSpPr>
          <p:cNvPr id="3" name="object 3"/>
          <p:cNvSpPr txBox="1"/>
          <p:nvPr/>
        </p:nvSpPr>
        <p:spPr>
          <a:xfrm>
            <a:off x="2346148" y="1095833"/>
            <a:ext cx="7859395" cy="574675"/>
          </a:xfrm>
          <a:prstGeom prst="rect">
            <a:avLst/>
          </a:prstGeom>
        </p:spPr>
        <p:txBody>
          <a:bodyPr vert="horz" wrap="square" lIns="0" tIns="12700" rIns="0" bIns="0" rtlCol="0">
            <a:spAutoFit/>
          </a:bodyPr>
          <a:lstStyle/>
          <a:p>
            <a:pPr marL="12700">
              <a:spcBef>
                <a:spcPts val="100"/>
              </a:spcBef>
              <a:tabLst>
                <a:tab pos="702945" algn="l"/>
                <a:tab pos="2230755" algn="l"/>
                <a:tab pos="2614930" algn="l"/>
                <a:tab pos="3255645" algn="l"/>
                <a:tab pos="4380865" algn="l"/>
                <a:tab pos="4888230" algn="l"/>
                <a:tab pos="5336540" algn="l"/>
                <a:tab pos="5789295" algn="l"/>
                <a:tab pos="6699884" algn="l"/>
              </a:tabLst>
            </a:pPr>
            <a:r>
              <a:rPr kern="0" spc="-20">
                <a:solidFill>
                  <a:sysClr val="windowText" lastClr="000000"/>
                </a:solidFill>
                <a:latin typeface="Microsoft Sans Serif"/>
                <a:cs typeface="Microsoft Sans Serif"/>
              </a:rPr>
              <a:t>Nhập</a:t>
            </a:r>
            <a:r>
              <a:rPr lang="en-US" kern="0">
                <a:solidFill>
                  <a:sysClr val="windowText" lastClr="000000"/>
                </a:solidFill>
                <a:latin typeface="Microsoft Sans Serif"/>
                <a:cs typeface="Microsoft Sans Serif"/>
              </a:rPr>
              <a:t> </a:t>
            </a:r>
            <a:r>
              <a:rPr kern="0" spc="-10">
                <a:solidFill>
                  <a:sysClr val="windowText" lastClr="000000"/>
                </a:solidFill>
                <a:latin typeface="Microsoft Sans Serif"/>
                <a:cs typeface="Microsoft Sans Serif"/>
              </a:rPr>
              <a:t>Servername</a:t>
            </a:r>
            <a:r>
              <a:rPr lang="en-US" kern="0">
                <a:solidFill>
                  <a:sysClr val="windowText" lastClr="000000"/>
                </a:solidFill>
                <a:latin typeface="Microsoft Sans Serif"/>
                <a:cs typeface="Microsoft Sans Serif"/>
              </a:rPr>
              <a:t> </a:t>
            </a:r>
            <a:r>
              <a:rPr kern="0" spc="-25">
                <a:solidFill>
                  <a:sysClr val="windowText" lastClr="000000"/>
                </a:solidFill>
                <a:latin typeface="Microsoft Sans Serif"/>
                <a:cs typeface="Microsoft Sans Serif"/>
              </a:rPr>
              <a:t>và</a:t>
            </a:r>
            <a:r>
              <a:rPr lang="en-US" kern="0" spc="-25">
                <a:solidFill>
                  <a:sysClr val="windowText" lastClr="000000"/>
                </a:solidFill>
                <a:latin typeface="Microsoft Sans Serif"/>
                <a:cs typeface="Microsoft Sans Serif"/>
              </a:rPr>
              <a:t> </a:t>
            </a:r>
            <a:r>
              <a:rPr lang="en-US" kern="0">
                <a:solidFill>
                  <a:sysClr val="windowText" lastClr="000000"/>
                </a:solidFill>
                <a:latin typeface="Microsoft Sans Serif"/>
                <a:cs typeface="Microsoft Sans Serif"/>
              </a:rPr>
              <a:t> </a:t>
            </a:r>
            <a:r>
              <a:rPr kern="0" spc="-20">
                <a:solidFill>
                  <a:sysClr val="windowText" lastClr="000000"/>
                </a:solidFill>
                <a:latin typeface="Microsoft Sans Serif"/>
                <a:cs typeface="Microsoft Sans Serif"/>
              </a:rPr>
              <a:t>ch</a:t>
            </a:r>
            <a:r>
              <a:rPr lang="en-US" kern="0" spc="-20">
                <a:solidFill>
                  <a:sysClr val="windowText" lastClr="000000"/>
                </a:solidFill>
                <a:latin typeface="Microsoft Sans Serif"/>
                <a:cs typeface="Microsoft Sans Serif"/>
              </a:rPr>
              <a:t>ọ</a:t>
            </a:r>
            <a:r>
              <a:rPr kern="0" spc="-20">
                <a:solidFill>
                  <a:sysClr val="windowText" lastClr="000000"/>
                </a:solidFill>
                <a:latin typeface="Microsoft Sans Serif"/>
                <a:cs typeface="Microsoft Sans Serif"/>
              </a:rPr>
              <a:t>n</a:t>
            </a:r>
            <a:r>
              <a:rPr lang="en-US" kern="0" spc="-20">
                <a:solidFill>
                  <a:sysClr val="windowText" lastClr="000000"/>
                </a:solidFill>
                <a:latin typeface="Microsoft Sans Serif"/>
                <a:cs typeface="Microsoft Sans Serif"/>
              </a:rPr>
              <a:t> </a:t>
            </a:r>
            <a:r>
              <a:rPr kern="0" spc="-10">
                <a:solidFill>
                  <a:sysClr val="windowText" lastClr="000000"/>
                </a:solidFill>
                <a:latin typeface="Microsoft Sans Serif"/>
                <a:cs typeface="Microsoft Sans Serif"/>
              </a:rPr>
              <a:t>Database</a:t>
            </a:r>
            <a:r>
              <a:rPr lang="en-US" kern="0" spc="-10">
                <a:solidFill>
                  <a:sysClr val="windowText" lastClr="000000"/>
                </a:solidFill>
                <a:latin typeface="Microsoft Sans Serif"/>
                <a:cs typeface="Microsoft Sans Serif"/>
              </a:rPr>
              <a:t> </a:t>
            </a:r>
            <a:r>
              <a:rPr kern="0" spc="-25">
                <a:solidFill>
                  <a:sysClr val="windowText" lastClr="000000"/>
                </a:solidFill>
                <a:latin typeface="Microsoft Sans Serif"/>
                <a:cs typeface="Microsoft Sans Serif"/>
              </a:rPr>
              <a:t>cần</a:t>
            </a:r>
            <a:r>
              <a:rPr lang="en-US" kern="0">
                <a:solidFill>
                  <a:sysClr val="windowText" lastClr="000000"/>
                </a:solidFill>
                <a:latin typeface="Microsoft Sans Serif"/>
                <a:cs typeface="Microsoft Sans Serif"/>
              </a:rPr>
              <a:t> </a:t>
            </a:r>
            <a:r>
              <a:rPr kern="0" spc="-25">
                <a:solidFill>
                  <a:sysClr val="windowText" lastClr="000000"/>
                </a:solidFill>
                <a:latin typeface="Microsoft Sans Serif"/>
                <a:cs typeface="Microsoft Sans Serif"/>
              </a:rPr>
              <a:t>kết</a:t>
            </a:r>
            <a:r>
              <a:rPr lang="en-US" kern="0">
                <a:solidFill>
                  <a:sysClr val="windowText" lastClr="000000"/>
                </a:solidFill>
                <a:latin typeface="Microsoft Sans Serif"/>
                <a:cs typeface="Microsoft Sans Serif"/>
              </a:rPr>
              <a:t> </a:t>
            </a:r>
            <a:r>
              <a:rPr kern="0" spc="-25">
                <a:solidFill>
                  <a:sysClr val="windowText" lastClr="000000"/>
                </a:solidFill>
                <a:latin typeface="Microsoft Sans Serif"/>
                <a:cs typeface="Microsoft Sans Serif"/>
              </a:rPr>
              <a:t>nối</a:t>
            </a:r>
            <a:r>
              <a:rPr lang="en-US" kern="0" dirty="0">
                <a:solidFill>
                  <a:sysClr val="windowText" lastClr="000000"/>
                </a:solidFill>
                <a:latin typeface="Microsoft Sans Serif"/>
                <a:cs typeface="Microsoft Sans Serif"/>
              </a:rPr>
              <a:t> </a:t>
            </a:r>
            <a:r>
              <a:rPr kern="0" spc="-10">
                <a:solidFill>
                  <a:sysClr val="windowText" lastClr="000000"/>
                </a:solidFill>
                <a:latin typeface="Microsoft Sans Serif"/>
                <a:cs typeface="Microsoft Sans Serif"/>
              </a:rPr>
              <a:t>(Tintuc)</a:t>
            </a:r>
            <a:r>
              <a:rPr lang="en-US" kern="0" spc="-10">
                <a:solidFill>
                  <a:sysClr val="windowText" lastClr="000000"/>
                </a:solidFill>
                <a:latin typeface="Microsoft Sans Serif"/>
                <a:cs typeface="Microsoft Sans Serif"/>
              </a:rPr>
              <a:t> </a:t>
            </a:r>
            <a:r>
              <a:rPr kern="0" spc="-10">
                <a:solidFill>
                  <a:sysClr val="windowText" lastClr="000000"/>
                </a:solidFill>
                <a:latin typeface="Microsoft Sans Serif"/>
                <a:cs typeface="Microsoft Sans Serif"/>
              </a:rPr>
              <a:t>(</a:t>
            </a:r>
            <a:r>
              <a:rPr kern="0" spc="-10" dirty="0">
                <a:solidFill>
                  <a:sysClr val="windowText" lastClr="000000"/>
                </a:solidFill>
                <a:latin typeface="Microsoft Sans Serif"/>
                <a:cs typeface="Microsoft Sans Serif"/>
              </a:rPr>
              <a:t>username,</a:t>
            </a:r>
            <a:endParaRPr kern="0">
              <a:solidFill>
                <a:sysClr val="windowText" lastClr="000000"/>
              </a:solidFill>
              <a:latin typeface="Microsoft Sans Serif"/>
              <a:cs typeface="Microsoft Sans Serif"/>
            </a:endParaRPr>
          </a:p>
          <a:p>
            <a:pPr marL="12700"/>
            <a:r>
              <a:rPr kern="0" dirty="0">
                <a:solidFill>
                  <a:sysClr val="windowText" lastClr="000000"/>
                </a:solidFill>
                <a:latin typeface="Microsoft Sans Serif"/>
                <a:cs typeface="Microsoft Sans Serif"/>
              </a:rPr>
              <a:t>password</a:t>
            </a:r>
            <a:r>
              <a:rPr kern="0" spc="35"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nếu</a:t>
            </a:r>
            <a:r>
              <a:rPr kern="0" spc="-15"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có).</a:t>
            </a:r>
            <a:r>
              <a:rPr kern="0" spc="-15"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Chọn</a:t>
            </a:r>
            <a:r>
              <a:rPr kern="0" spc="-10" dirty="0">
                <a:solidFill>
                  <a:sysClr val="windowText" lastClr="000000"/>
                </a:solidFill>
                <a:latin typeface="Microsoft Sans Serif"/>
                <a:cs typeface="Microsoft Sans Serif"/>
              </a:rPr>
              <a:t> </a:t>
            </a:r>
            <a:r>
              <a:rPr kern="0" spc="-40" dirty="0">
                <a:solidFill>
                  <a:sysClr val="windowText" lastClr="000000"/>
                </a:solidFill>
                <a:latin typeface="Microsoft Sans Serif"/>
                <a:cs typeface="Microsoft Sans Serif"/>
              </a:rPr>
              <a:t>Test</a:t>
            </a:r>
            <a:r>
              <a:rPr kern="0" spc="-10"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Connection</a:t>
            </a:r>
            <a:r>
              <a:rPr kern="0" spc="-35"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nếu</a:t>
            </a:r>
            <a:r>
              <a:rPr kern="0" spc="-10"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cần</a:t>
            </a:r>
            <a:r>
              <a:rPr kern="0" spc="25"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kiểm</a:t>
            </a:r>
            <a:r>
              <a:rPr kern="0" spc="-40" dirty="0">
                <a:solidFill>
                  <a:sysClr val="windowText" lastClr="000000"/>
                </a:solidFill>
                <a:latin typeface="Microsoft Sans Serif"/>
                <a:cs typeface="Microsoft Sans Serif"/>
              </a:rPr>
              <a:t> </a:t>
            </a:r>
            <a:r>
              <a:rPr kern="0" spc="-20" dirty="0">
                <a:solidFill>
                  <a:sysClr val="windowText" lastClr="000000"/>
                </a:solidFill>
                <a:latin typeface="Microsoft Sans Serif"/>
                <a:cs typeface="Microsoft Sans Serif"/>
              </a:rPr>
              <a:t>tra.</a:t>
            </a:r>
            <a:endParaRPr kern="0">
              <a:solidFill>
                <a:sysClr val="windowText" lastClr="000000"/>
              </a:solidFill>
              <a:latin typeface="Microsoft Sans Serif"/>
              <a:cs typeface="Microsoft Sans Serif"/>
            </a:endParaRPr>
          </a:p>
        </p:txBody>
      </p:sp>
      <p:grpSp>
        <p:nvGrpSpPr>
          <p:cNvPr id="4" name="object 4"/>
          <p:cNvGrpSpPr/>
          <p:nvPr/>
        </p:nvGrpSpPr>
        <p:grpSpPr>
          <a:xfrm>
            <a:off x="4114801" y="1713191"/>
            <a:ext cx="3287395" cy="4826000"/>
            <a:chOff x="2590800" y="1713191"/>
            <a:chExt cx="3287395" cy="4826000"/>
          </a:xfrm>
        </p:grpSpPr>
        <p:pic>
          <p:nvPicPr>
            <p:cNvPr id="5" name="object 5"/>
            <p:cNvPicPr/>
            <p:nvPr/>
          </p:nvPicPr>
          <p:blipFill>
            <a:blip r:embed="rId2" cstate="print"/>
            <a:stretch>
              <a:fillRect/>
            </a:stretch>
          </p:blipFill>
          <p:spPr>
            <a:xfrm>
              <a:off x="2590800" y="1713191"/>
              <a:ext cx="3286887" cy="4825619"/>
            </a:xfrm>
            <a:prstGeom prst="rect">
              <a:avLst/>
            </a:prstGeom>
          </p:spPr>
        </p:pic>
        <p:sp>
          <p:nvSpPr>
            <p:cNvPr id="6" name="object 6"/>
            <p:cNvSpPr/>
            <p:nvPr/>
          </p:nvSpPr>
          <p:spPr>
            <a:xfrm>
              <a:off x="2667000" y="2762885"/>
              <a:ext cx="3063875" cy="3637915"/>
            </a:xfrm>
            <a:custGeom>
              <a:avLst/>
              <a:gdLst/>
              <a:ahLst/>
              <a:cxnLst/>
              <a:rect l="l" t="t" r="r" b="b"/>
              <a:pathLst>
                <a:path w="3063875" h="3637915">
                  <a:moveTo>
                    <a:pt x="0" y="60198"/>
                  </a:moveTo>
                  <a:lnTo>
                    <a:pt x="4726" y="36754"/>
                  </a:lnTo>
                  <a:lnTo>
                    <a:pt x="17621" y="17621"/>
                  </a:lnTo>
                  <a:lnTo>
                    <a:pt x="36754" y="4726"/>
                  </a:lnTo>
                  <a:lnTo>
                    <a:pt x="60198" y="0"/>
                  </a:lnTo>
                  <a:lnTo>
                    <a:pt x="915162" y="0"/>
                  </a:lnTo>
                  <a:lnTo>
                    <a:pt x="938605" y="4726"/>
                  </a:lnTo>
                  <a:lnTo>
                    <a:pt x="957738" y="17621"/>
                  </a:lnTo>
                  <a:lnTo>
                    <a:pt x="970633" y="36754"/>
                  </a:lnTo>
                  <a:lnTo>
                    <a:pt x="975360" y="60198"/>
                  </a:lnTo>
                  <a:lnTo>
                    <a:pt x="975360" y="301116"/>
                  </a:lnTo>
                  <a:lnTo>
                    <a:pt x="970633" y="324560"/>
                  </a:lnTo>
                  <a:lnTo>
                    <a:pt x="957738" y="343693"/>
                  </a:lnTo>
                  <a:lnTo>
                    <a:pt x="938605" y="356588"/>
                  </a:lnTo>
                  <a:lnTo>
                    <a:pt x="915162" y="361314"/>
                  </a:lnTo>
                  <a:lnTo>
                    <a:pt x="60198" y="361314"/>
                  </a:lnTo>
                  <a:lnTo>
                    <a:pt x="36754" y="356588"/>
                  </a:lnTo>
                  <a:lnTo>
                    <a:pt x="17621" y="343693"/>
                  </a:lnTo>
                  <a:lnTo>
                    <a:pt x="4726" y="324560"/>
                  </a:lnTo>
                  <a:lnTo>
                    <a:pt x="0" y="301116"/>
                  </a:lnTo>
                  <a:lnTo>
                    <a:pt x="0" y="60198"/>
                  </a:lnTo>
                  <a:close/>
                </a:path>
                <a:path w="3063875" h="3637915">
                  <a:moveTo>
                    <a:pt x="0" y="716406"/>
                  </a:moveTo>
                  <a:lnTo>
                    <a:pt x="6171" y="670442"/>
                  </a:lnTo>
                  <a:lnTo>
                    <a:pt x="23589" y="629148"/>
                  </a:lnTo>
                  <a:lnTo>
                    <a:pt x="50609" y="594169"/>
                  </a:lnTo>
                  <a:lnTo>
                    <a:pt x="85588" y="567149"/>
                  </a:lnTo>
                  <a:lnTo>
                    <a:pt x="126882" y="549731"/>
                  </a:lnTo>
                  <a:lnTo>
                    <a:pt x="172847" y="543560"/>
                  </a:lnTo>
                  <a:lnTo>
                    <a:pt x="2891028" y="543560"/>
                  </a:lnTo>
                  <a:lnTo>
                    <a:pt x="2936992" y="549731"/>
                  </a:lnTo>
                  <a:lnTo>
                    <a:pt x="2978286" y="567149"/>
                  </a:lnTo>
                  <a:lnTo>
                    <a:pt x="3013265" y="594169"/>
                  </a:lnTo>
                  <a:lnTo>
                    <a:pt x="3040285" y="629148"/>
                  </a:lnTo>
                  <a:lnTo>
                    <a:pt x="3057703" y="670442"/>
                  </a:lnTo>
                  <a:lnTo>
                    <a:pt x="3063875" y="716406"/>
                  </a:lnTo>
                  <a:lnTo>
                    <a:pt x="3063875" y="1407667"/>
                  </a:lnTo>
                  <a:lnTo>
                    <a:pt x="3057703" y="1453632"/>
                  </a:lnTo>
                  <a:lnTo>
                    <a:pt x="3040285" y="1494926"/>
                  </a:lnTo>
                  <a:lnTo>
                    <a:pt x="3013265" y="1529905"/>
                  </a:lnTo>
                  <a:lnTo>
                    <a:pt x="2978286" y="1556925"/>
                  </a:lnTo>
                  <a:lnTo>
                    <a:pt x="2936992" y="1574343"/>
                  </a:lnTo>
                  <a:lnTo>
                    <a:pt x="2891028" y="1580514"/>
                  </a:lnTo>
                  <a:lnTo>
                    <a:pt x="172847" y="1580514"/>
                  </a:lnTo>
                  <a:lnTo>
                    <a:pt x="126882" y="1574343"/>
                  </a:lnTo>
                  <a:lnTo>
                    <a:pt x="85588" y="1556925"/>
                  </a:lnTo>
                  <a:lnTo>
                    <a:pt x="50609" y="1529905"/>
                  </a:lnTo>
                  <a:lnTo>
                    <a:pt x="23589" y="1494926"/>
                  </a:lnTo>
                  <a:lnTo>
                    <a:pt x="6171" y="1453632"/>
                  </a:lnTo>
                  <a:lnTo>
                    <a:pt x="0" y="1407667"/>
                  </a:lnTo>
                  <a:lnTo>
                    <a:pt x="0" y="716406"/>
                  </a:lnTo>
                  <a:close/>
                </a:path>
                <a:path w="3063875" h="3637915">
                  <a:moveTo>
                    <a:pt x="116205" y="1951227"/>
                  </a:moveTo>
                  <a:lnTo>
                    <a:pt x="121378" y="1925552"/>
                  </a:lnTo>
                  <a:lnTo>
                    <a:pt x="135493" y="1904603"/>
                  </a:lnTo>
                  <a:lnTo>
                    <a:pt x="156442" y="1890488"/>
                  </a:lnTo>
                  <a:lnTo>
                    <a:pt x="182118" y="1885314"/>
                  </a:lnTo>
                  <a:lnTo>
                    <a:pt x="1708277" y="1885314"/>
                  </a:lnTo>
                  <a:lnTo>
                    <a:pt x="1733952" y="1890488"/>
                  </a:lnTo>
                  <a:lnTo>
                    <a:pt x="1754901" y="1904603"/>
                  </a:lnTo>
                  <a:lnTo>
                    <a:pt x="1769016" y="1925552"/>
                  </a:lnTo>
                  <a:lnTo>
                    <a:pt x="1774189" y="1951227"/>
                  </a:lnTo>
                  <a:lnTo>
                    <a:pt x="1774189" y="2215007"/>
                  </a:lnTo>
                  <a:lnTo>
                    <a:pt x="1769016" y="2240682"/>
                  </a:lnTo>
                  <a:lnTo>
                    <a:pt x="1754901" y="2261631"/>
                  </a:lnTo>
                  <a:lnTo>
                    <a:pt x="1733952" y="2275746"/>
                  </a:lnTo>
                  <a:lnTo>
                    <a:pt x="1708277" y="2280920"/>
                  </a:lnTo>
                  <a:lnTo>
                    <a:pt x="182118" y="2280920"/>
                  </a:lnTo>
                  <a:lnTo>
                    <a:pt x="156442" y="2275746"/>
                  </a:lnTo>
                  <a:lnTo>
                    <a:pt x="135493" y="2261631"/>
                  </a:lnTo>
                  <a:lnTo>
                    <a:pt x="121378" y="2240682"/>
                  </a:lnTo>
                  <a:lnTo>
                    <a:pt x="116205" y="2215007"/>
                  </a:lnTo>
                  <a:lnTo>
                    <a:pt x="116205" y="1951227"/>
                  </a:lnTo>
                  <a:close/>
                </a:path>
                <a:path w="3063875" h="3637915">
                  <a:moveTo>
                    <a:pt x="34289" y="3427831"/>
                  </a:moveTo>
                  <a:lnTo>
                    <a:pt x="37590" y="3411478"/>
                  </a:lnTo>
                  <a:lnTo>
                    <a:pt x="46593" y="3398124"/>
                  </a:lnTo>
                  <a:lnTo>
                    <a:pt x="59953" y="3389121"/>
                  </a:lnTo>
                  <a:lnTo>
                    <a:pt x="76326" y="3385819"/>
                  </a:lnTo>
                  <a:lnTo>
                    <a:pt x="933323" y="3385819"/>
                  </a:lnTo>
                  <a:lnTo>
                    <a:pt x="949696" y="3389121"/>
                  </a:lnTo>
                  <a:lnTo>
                    <a:pt x="963056" y="3398124"/>
                  </a:lnTo>
                  <a:lnTo>
                    <a:pt x="972059" y="3411478"/>
                  </a:lnTo>
                  <a:lnTo>
                    <a:pt x="975360" y="3427831"/>
                  </a:lnTo>
                  <a:lnTo>
                    <a:pt x="975360" y="3595903"/>
                  </a:lnTo>
                  <a:lnTo>
                    <a:pt x="972059" y="3612256"/>
                  </a:lnTo>
                  <a:lnTo>
                    <a:pt x="963056" y="3625610"/>
                  </a:lnTo>
                  <a:lnTo>
                    <a:pt x="949696" y="3634613"/>
                  </a:lnTo>
                  <a:lnTo>
                    <a:pt x="933323" y="3637915"/>
                  </a:lnTo>
                  <a:lnTo>
                    <a:pt x="76326" y="3637915"/>
                  </a:lnTo>
                  <a:lnTo>
                    <a:pt x="59953" y="3634613"/>
                  </a:lnTo>
                  <a:lnTo>
                    <a:pt x="46593" y="3625610"/>
                  </a:lnTo>
                  <a:lnTo>
                    <a:pt x="37590" y="3612256"/>
                  </a:lnTo>
                  <a:lnTo>
                    <a:pt x="34289" y="3595903"/>
                  </a:lnTo>
                  <a:lnTo>
                    <a:pt x="34289" y="3427831"/>
                  </a:lnTo>
                  <a:close/>
                </a:path>
                <a:path w="3063875" h="3637915">
                  <a:moveTo>
                    <a:pt x="1752600" y="3427831"/>
                  </a:moveTo>
                  <a:lnTo>
                    <a:pt x="1755900" y="3411478"/>
                  </a:lnTo>
                  <a:lnTo>
                    <a:pt x="1764903" y="3398124"/>
                  </a:lnTo>
                  <a:lnTo>
                    <a:pt x="1778263" y="3389121"/>
                  </a:lnTo>
                  <a:lnTo>
                    <a:pt x="1794637" y="3385819"/>
                  </a:lnTo>
                  <a:lnTo>
                    <a:pt x="2433828" y="3385819"/>
                  </a:lnTo>
                  <a:lnTo>
                    <a:pt x="2450201" y="3389121"/>
                  </a:lnTo>
                  <a:lnTo>
                    <a:pt x="2463561" y="3398124"/>
                  </a:lnTo>
                  <a:lnTo>
                    <a:pt x="2472564" y="3411478"/>
                  </a:lnTo>
                  <a:lnTo>
                    <a:pt x="2475865" y="3427831"/>
                  </a:lnTo>
                  <a:lnTo>
                    <a:pt x="2475865" y="3595903"/>
                  </a:lnTo>
                  <a:lnTo>
                    <a:pt x="2472564" y="3612256"/>
                  </a:lnTo>
                  <a:lnTo>
                    <a:pt x="2463561" y="3625610"/>
                  </a:lnTo>
                  <a:lnTo>
                    <a:pt x="2450201" y="3634613"/>
                  </a:lnTo>
                  <a:lnTo>
                    <a:pt x="2433828" y="3637915"/>
                  </a:lnTo>
                  <a:lnTo>
                    <a:pt x="1794637" y="3637915"/>
                  </a:lnTo>
                  <a:lnTo>
                    <a:pt x="1778263" y="3634613"/>
                  </a:lnTo>
                  <a:lnTo>
                    <a:pt x="1764903" y="3625610"/>
                  </a:lnTo>
                  <a:lnTo>
                    <a:pt x="1755900" y="3612256"/>
                  </a:lnTo>
                  <a:lnTo>
                    <a:pt x="1752600" y="3595903"/>
                  </a:lnTo>
                  <a:lnTo>
                    <a:pt x="1752600" y="3427831"/>
                  </a:lnTo>
                  <a:close/>
                </a:path>
              </a:pathLst>
            </a:custGeom>
            <a:ln w="28575">
              <a:solidFill>
                <a:srgbClr val="FF0000"/>
              </a:solidFill>
            </a:ln>
          </p:spPr>
          <p:txBody>
            <a:bodyPr wrap="square" lIns="0" tIns="0" rIns="0" bIns="0" rtlCol="0"/>
            <a:lstStyle/>
            <a:p>
              <a:endParaRPr kern="0">
                <a:solidFill>
                  <a:sysClr val="windowText" lastClr="000000"/>
                </a:solidFill>
              </a:endParaRPr>
            </a:p>
          </p:txBody>
        </p:sp>
      </p:gr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solidFill>
                  <a:prstClr val="white"/>
                </a:solidFill>
              </a:rPr>
              <a:pPr marL="38100">
                <a:lnSpc>
                  <a:spcPts val="1664"/>
                </a:lnSpc>
              </a:pPr>
              <a:t>43</a:t>
            </a:fld>
            <a:endParaRPr spc="-25" dirty="0">
              <a:solidFill>
                <a:prstClr val="white"/>
              </a:solidFill>
            </a:endParaRPr>
          </a:p>
        </p:txBody>
      </p:sp>
      <p:sp>
        <p:nvSpPr>
          <p:cNvPr id="9" name="object 9"/>
          <p:cNvSpPr txBox="1">
            <a:spLocks noGrp="1"/>
          </p:cNvSpPr>
          <p:nvPr>
            <p:ph type="ftr" sz="quarter" idx="5"/>
          </p:nvPr>
        </p:nvSpPr>
        <p:spPr>
          <a:xfrm>
            <a:off x="2763418" y="6600176"/>
            <a:ext cx="1243964" cy="155171"/>
          </a:xfrm>
          <a:prstGeom prst="rect">
            <a:avLst/>
          </a:prstGeom>
        </p:spPr>
        <p:txBody>
          <a:bodyPr vert="horz" wrap="square" lIns="0" tIns="1270" rIns="0" bIns="0" rtlCol="0">
            <a:spAutoFit/>
          </a:bodyPr>
          <a:lstStyle/>
          <a:p>
            <a:pPr marL="12700">
              <a:spcBef>
                <a:spcPts val="10"/>
              </a:spcBef>
            </a:pPr>
            <a:endParaRPr spc="-20" dirty="0">
              <a:solidFill>
                <a:prstClr val="white"/>
              </a:solidFill>
            </a:endParaRPr>
          </a:p>
        </p:txBody>
      </p:sp>
    </p:spTree>
    <p:extLst>
      <p:ext uri="{BB962C8B-B14F-4D97-AF65-F5344CB8AC3E}">
        <p14:creationId xmlns:p14="http://schemas.microsoft.com/office/powerpoint/2010/main" val="284992537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91268" y="450927"/>
            <a:ext cx="11057467" cy="444994"/>
          </a:xfrm>
          <a:prstGeom prst="rect">
            <a:avLst/>
          </a:prstGeom>
        </p:spPr>
        <p:txBody>
          <a:bodyPr vert="horz" wrap="square" lIns="0" tIns="13970" rIns="0" bIns="0" rtlCol="0">
            <a:spAutoFit/>
          </a:bodyPr>
          <a:lstStyle/>
          <a:p>
            <a:pPr marL="12700">
              <a:spcBef>
                <a:spcPts val="110"/>
              </a:spcBef>
              <a:tabLst>
                <a:tab pos="8279765" algn="l"/>
              </a:tabLst>
            </a:pPr>
            <a:r>
              <a:rPr dirty="0"/>
              <a:t>7.</a:t>
            </a:r>
            <a:r>
              <a:rPr spc="-45" dirty="0"/>
              <a:t> </a:t>
            </a:r>
            <a:r>
              <a:rPr dirty="0"/>
              <a:t>XÂY</a:t>
            </a:r>
            <a:r>
              <a:rPr spc="-80" dirty="0"/>
              <a:t> </a:t>
            </a:r>
            <a:r>
              <a:rPr dirty="0"/>
              <a:t>DỰNG</a:t>
            </a:r>
            <a:r>
              <a:rPr spc="-40" dirty="0"/>
              <a:t> </a:t>
            </a:r>
            <a:r>
              <a:rPr dirty="0"/>
              <a:t>ỨNG</a:t>
            </a:r>
            <a:r>
              <a:rPr spc="-35" dirty="0"/>
              <a:t> </a:t>
            </a:r>
            <a:r>
              <a:rPr dirty="0"/>
              <a:t>DỤNG</a:t>
            </a:r>
            <a:r>
              <a:rPr spc="-5" dirty="0"/>
              <a:t> </a:t>
            </a:r>
            <a:r>
              <a:rPr dirty="0"/>
              <a:t>WEB</a:t>
            </a:r>
            <a:r>
              <a:rPr spc="-30" dirty="0"/>
              <a:t> </a:t>
            </a:r>
            <a:r>
              <a:rPr dirty="0"/>
              <a:t>MVC</a:t>
            </a:r>
            <a:r>
              <a:rPr spc="-55" dirty="0"/>
              <a:t> </a:t>
            </a:r>
            <a:r>
              <a:rPr dirty="0"/>
              <a:t>VỚI</a:t>
            </a:r>
            <a:r>
              <a:rPr spc="-65" dirty="0"/>
              <a:t> </a:t>
            </a:r>
            <a:r>
              <a:rPr spc="-20" dirty="0"/>
              <a:t>CSDL</a:t>
            </a:r>
            <a:r>
              <a:rPr dirty="0"/>
              <a:t>	</a:t>
            </a:r>
          </a:p>
        </p:txBody>
      </p:sp>
      <p:sp>
        <p:nvSpPr>
          <p:cNvPr id="3" name="object 3"/>
          <p:cNvSpPr txBox="1"/>
          <p:nvPr/>
        </p:nvSpPr>
        <p:spPr>
          <a:xfrm>
            <a:off x="2060245" y="1115872"/>
            <a:ext cx="7852409" cy="1230630"/>
          </a:xfrm>
          <a:prstGeom prst="rect">
            <a:avLst/>
          </a:prstGeom>
        </p:spPr>
        <p:txBody>
          <a:bodyPr vert="horz" wrap="square" lIns="0" tIns="66040" rIns="0" bIns="0" rtlCol="0">
            <a:spAutoFit/>
          </a:bodyPr>
          <a:lstStyle/>
          <a:p>
            <a:pPr marL="355600" indent="-342900">
              <a:spcBef>
                <a:spcPts val="520"/>
              </a:spcBef>
              <a:buFont typeface="Wingdings"/>
              <a:buChar char=""/>
              <a:tabLst>
                <a:tab pos="355600" algn="l"/>
              </a:tabLst>
            </a:pPr>
            <a:r>
              <a:rPr sz="2400" b="1" kern="0" dirty="0">
                <a:solidFill>
                  <a:srgbClr val="C00000"/>
                </a:solidFill>
                <a:latin typeface="Arial"/>
                <a:cs typeface="Arial"/>
              </a:rPr>
              <a:t>Sử</a:t>
            </a:r>
            <a:r>
              <a:rPr sz="2400" b="1" kern="0" spc="-50" dirty="0">
                <a:solidFill>
                  <a:srgbClr val="C00000"/>
                </a:solidFill>
                <a:latin typeface="Arial"/>
                <a:cs typeface="Arial"/>
              </a:rPr>
              <a:t> </a:t>
            </a:r>
            <a:r>
              <a:rPr sz="2400" b="1" kern="0" dirty="0">
                <a:solidFill>
                  <a:srgbClr val="C00000"/>
                </a:solidFill>
                <a:latin typeface="Arial"/>
                <a:cs typeface="Arial"/>
              </a:rPr>
              <a:t>dụng</a:t>
            </a:r>
            <a:r>
              <a:rPr sz="2400" b="1" kern="0" spc="-50" dirty="0">
                <a:solidFill>
                  <a:srgbClr val="C00000"/>
                </a:solidFill>
                <a:latin typeface="Arial"/>
                <a:cs typeface="Arial"/>
              </a:rPr>
              <a:t> </a:t>
            </a:r>
            <a:r>
              <a:rPr sz="2400" b="1" kern="0" dirty="0">
                <a:solidFill>
                  <a:srgbClr val="C00000"/>
                </a:solidFill>
                <a:latin typeface="Arial"/>
                <a:cs typeface="Arial"/>
              </a:rPr>
              <a:t>mô</a:t>
            </a:r>
            <a:r>
              <a:rPr sz="2400" b="1" kern="0" spc="-50" dirty="0">
                <a:solidFill>
                  <a:srgbClr val="C00000"/>
                </a:solidFill>
                <a:latin typeface="Arial"/>
                <a:cs typeface="Arial"/>
              </a:rPr>
              <a:t> </a:t>
            </a:r>
            <a:r>
              <a:rPr sz="2400" b="1" kern="0" dirty="0">
                <a:solidFill>
                  <a:srgbClr val="C00000"/>
                </a:solidFill>
                <a:latin typeface="Arial"/>
                <a:cs typeface="Arial"/>
              </a:rPr>
              <a:t>hình</a:t>
            </a:r>
            <a:r>
              <a:rPr sz="2400" b="1" kern="0" spc="-50" dirty="0">
                <a:solidFill>
                  <a:srgbClr val="C00000"/>
                </a:solidFill>
                <a:latin typeface="Arial"/>
                <a:cs typeface="Arial"/>
              </a:rPr>
              <a:t> </a:t>
            </a:r>
            <a:r>
              <a:rPr sz="2400" b="1" kern="0" dirty="0">
                <a:solidFill>
                  <a:srgbClr val="C00000"/>
                </a:solidFill>
                <a:latin typeface="Arial"/>
                <a:cs typeface="Arial"/>
              </a:rPr>
              <a:t>LINQ</a:t>
            </a:r>
            <a:r>
              <a:rPr sz="2400" b="1" kern="0" spc="-25" dirty="0">
                <a:solidFill>
                  <a:srgbClr val="C00000"/>
                </a:solidFill>
                <a:latin typeface="Arial"/>
                <a:cs typeface="Arial"/>
              </a:rPr>
              <a:t> </a:t>
            </a:r>
            <a:r>
              <a:rPr sz="2400" b="1" kern="0" dirty="0">
                <a:solidFill>
                  <a:srgbClr val="C00000"/>
                </a:solidFill>
                <a:latin typeface="Arial"/>
                <a:cs typeface="Arial"/>
              </a:rPr>
              <a:t>to</a:t>
            </a:r>
            <a:r>
              <a:rPr sz="2400" b="1" kern="0" spc="-10" dirty="0">
                <a:solidFill>
                  <a:srgbClr val="C00000"/>
                </a:solidFill>
                <a:latin typeface="Arial"/>
                <a:cs typeface="Arial"/>
              </a:rPr>
              <a:t> </a:t>
            </a:r>
            <a:r>
              <a:rPr sz="2400" b="1" kern="0" dirty="0">
                <a:solidFill>
                  <a:srgbClr val="C00000"/>
                </a:solidFill>
                <a:latin typeface="Arial"/>
                <a:cs typeface="Arial"/>
              </a:rPr>
              <a:t>SQL</a:t>
            </a:r>
            <a:r>
              <a:rPr sz="2400" b="1" kern="0" spc="-95" dirty="0">
                <a:solidFill>
                  <a:srgbClr val="C00000"/>
                </a:solidFill>
                <a:latin typeface="Arial"/>
                <a:cs typeface="Arial"/>
              </a:rPr>
              <a:t> </a:t>
            </a:r>
            <a:r>
              <a:rPr sz="2400" b="1" kern="0" dirty="0">
                <a:solidFill>
                  <a:srgbClr val="C00000"/>
                </a:solidFill>
                <a:latin typeface="Arial"/>
                <a:cs typeface="Arial"/>
              </a:rPr>
              <a:t>tạo</a:t>
            </a:r>
            <a:r>
              <a:rPr sz="2400" b="1" kern="0" spc="-20" dirty="0">
                <a:solidFill>
                  <a:srgbClr val="C00000"/>
                </a:solidFill>
                <a:latin typeface="Arial"/>
                <a:cs typeface="Arial"/>
              </a:rPr>
              <a:t> </a:t>
            </a:r>
            <a:r>
              <a:rPr sz="2400" b="1" kern="0" spc="-10" dirty="0">
                <a:solidFill>
                  <a:srgbClr val="C00000"/>
                </a:solidFill>
                <a:latin typeface="Arial"/>
                <a:cs typeface="Arial"/>
              </a:rPr>
              <a:t>Models</a:t>
            </a:r>
            <a:endParaRPr sz="2400" kern="0">
              <a:solidFill>
                <a:sysClr val="windowText" lastClr="000000"/>
              </a:solidFill>
              <a:latin typeface="Arial"/>
              <a:cs typeface="Arial"/>
            </a:endParaRPr>
          </a:p>
          <a:p>
            <a:pPr marL="458470">
              <a:spcBef>
                <a:spcPts val="420"/>
              </a:spcBef>
            </a:pPr>
            <a:r>
              <a:rPr sz="2400" kern="0" dirty="0">
                <a:solidFill>
                  <a:sysClr val="windowText" lastClr="000000"/>
                </a:solidFill>
                <a:latin typeface="Microsoft Sans Serif"/>
                <a:cs typeface="Microsoft Sans Serif"/>
              </a:rPr>
              <a:t>Trong</a:t>
            </a:r>
            <a:r>
              <a:rPr sz="2400" kern="0" spc="-5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Solution</a:t>
            </a:r>
            <a:r>
              <a:rPr sz="2400" kern="0" spc="-5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Explorer</a:t>
            </a:r>
            <a:r>
              <a:rPr sz="2400" kern="0" spc="1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click</a:t>
            </a:r>
            <a:r>
              <a:rPr sz="2400" kern="0" spc="-6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phải </a:t>
            </a:r>
            <a:r>
              <a:rPr sz="2400" kern="0" dirty="0">
                <a:solidFill>
                  <a:sysClr val="windowText" lastClr="000000"/>
                </a:solidFill>
                <a:latin typeface="Wingdings"/>
                <a:cs typeface="Wingdings"/>
              </a:rPr>
              <a:t></a:t>
            </a:r>
            <a:r>
              <a:rPr sz="2400" kern="0" spc="10" dirty="0">
                <a:solidFill>
                  <a:sysClr val="windowText" lastClr="000000"/>
                </a:solidFill>
                <a:latin typeface="Times New Roman"/>
                <a:cs typeface="Times New Roman"/>
              </a:rPr>
              <a:t> </a:t>
            </a:r>
            <a:r>
              <a:rPr sz="2400" kern="0" dirty="0">
                <a:solidFill>
                  <a:sysClr val="windowText" lastClr="000000"/>
                </a:solidFill>
                <a:latin typeface="Microsoft Sans Serif"/>
                <a:cs typeface="Microsoft Sans Serif"/>
              </a:rPr>
              <a:t>Models</a:t>
            </a:r>
            <a:r>
              <a:rPr sz="2400" kern="0" spc="-20" dirty="0">
                <a:solidFill>
                  <a:sysClr val="windowText" lastClr="000000"/>
                </a:solidFill>
                <a:latin typeface="Microsoft Sans Serif"/>
                <a:cs typeface="Microsoft Sans Serif"/>
              </a:rPr>
              <a:t> </a:t>
            </a:r>
            <a:r>
              <a:rPr sz="2400" kern="0" dirty="0">
                <a:solidFill>
                  <a:sysClr val="windowText" lastClr="000000"/>
                </a:solidFill>
                <a:latin typeface="Wingdings"/>
                <a:cs typeface="Wingdings"/>
              </a:rPr>
              <a:t></a:t>
            </a:r>
            <a:r>
              <a:rPr sz="2400" kern="0" dirty="0">
                <a:solidFill>
                  <a:sysClr val="windowText" lastClr="000000"/>
                </a:solidFill>
                <a:latin typeface="Microsoft Sans Serif"/>
                <a:cs typeface="Microsoft Sans Serif"/>
              </a:rPr>
              <a:t>Add</a:t>
            </a:r>
            <a:r>
              <a:rPr sz="2400" kern="0" spc="-45" dirty="0">
                <a:solidFill>
                  <a:sysClr val="windowText" lastClr="000000"/>
                </a:solidFill>
                <a:latin typeface="Microsoft Sans Serif"/>
                <a:cs typeface="Microsoft Sans Serif"/>
              </a:rPr>
              <a:t> </a:t>
            </a:r>
            <a:r>
              <a:rPr sz="2400" kern="0" spc="-50" dirty="0">
                <a:solidFill>
                  <a:sysClr val="windowText" lastClr="000000"/>
                </a:solidFill>
                <a:latin typeface="Wingdings"/>
                <a:cs typeface="Wingdings"/>
              </a:rPr>
              <a:t></a:t>
            </a:r>
            <a:endParaRPr sz="2400" kern="0">
              <a:solidFill>
                <a:sysClr val="windowText" lastClr="000000"/>
              </a:solidFill>
              <a:latin typeface="Wingdings"/>
              <a:cs typeface="Wingdings"/>
            </a:endParaRPr>
          </a:p>
          <a:p>
            <a:pPr marL="458470">
              <a:spcBef>
                <a:spcPts val="5"/>
              </a:spcBef>
            </a:pPr>
            <a:r>
              <a:rPr sz="2400" kern="0" dirty="0">
                <a:solidFill>
                  <a:sysClr val="windowText" lastClr="000000"/>
                </a:solidFill>
                <a:latin typeface="Microsoft Sans Serif"/>
                <a:cs typeface="Microsoft Sans Serif"/>
              </a:rPr>
              <a:t>New</a:t>
            </a:r>
            <a:r>
              <a:rPr sz="2400" kern="0" spc="2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Item</a:t>
            </a:r>
            <a:r>
              <a:rPr sz="2400" kern="0" spc="-10" dirty="0">
                <a:solidFill>
                  <a:sysClr val="windowText" lastClr="000000"/>
                </a:solidFill>
                <a:latin typeface="Microsoft Sans Serif"/>
                <a:cs typeface="Microsoft Sans Serif"/>
              </a:rPr>
              <a:t> </a:t>
            </a:r>
            <a:r>
              <a:rPr sz="2400" kern="0" dirty="0">
                <a:solidFill>
                  <a:sysClr val="windowText" lastClr="000000"/>
                </a:solidFill>
                <a:latin typeface="Wingdings"/>
                <a:cs typeface="Wingdings"/>
              </a:rPr>
              <a:t></a:t>
            </a:r>
            <a:r>
              <a:rPr sz="2400" kern="0" spc="60" dirty="0">
                <a:solidFill>
                  <a:sysClr val="windowText" lastClr="000000"/>
                </a:solidFill>
                <a:latin typeface="Times New Roman"/>
                <a:cs typeface="Times New Roman"/>
              </a:rPr>
              <a:t> </a:t>
            </a:r>
            <a:r>
              <a:rPr sz="2400" kern="0" dirty="0">
                <a:solidFill>
                  <a:sysClr val="windowText" lastClr="000000"/>
                </a:solidFill>
                <a:latin typeface="Microsoft Sans Serif"/>
                <a:cs typeface="Microsoft Sans Serif"/>
              </a:rPr>
              <a:t>LINQ</a:t>
            </a:r>
            <a:r>
              <a:rPr sz="2400" kern="0" spc="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to</a:t>
            </a:r>
            <a:r>
              <a:rPr sz="2400" kern="0" spc="-4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SQL</a:t>
            </a:r>
            <a:r>
              <a:rPr sz="2400" kern="0" spc="-80" dirty="0">
                <a:solidFill>
                  <a:sysClr val="windowText" lastClr="000000"/>
                </a:solidFill>
                <a:latin typeface="Microsoft Sans Serif"/>
                <a:cs typeface="Microsoft Sans Serif"/>
              </a:rPr>
              <a:t> </a:t>
            </a:r>
            <a:r>
              <a:rPr sz="2400" kern="0" spc="-10" dirty="0">
                <a:solidFill>
                  <a:sysClr val="windowText" lastClr="000000"/>
                </a:solidFill>
                <a:latin typeface="Microsoft Sans Serif"/>
                <a:cs typeface="Microsoft Sans Serif"/>
              </a:rPr>
              <a:t>Classes</a:t>
            </a:r>
            <a:endParaRPr sz="2400" kern="0">
              <a:solidFill>
                <a:sysClr val="windowText" lastClr="000000"/>
              </a:solidFill>
              <a:latin typeface="Microsoft Sans Serif"/>
              <a:cs typeface="Microsoft Sans Serif"/>
            </a:endParaRPr>
          </a:p>
        </p:txBody>
      </p:sp>
      <p:pic>
        <p:nvPicPr>
          <p:cNvPr id="4" name="object 4"/>
          <p:cNvPicPr/>
          <p:nvPr/>
        </p:nvPicPr>
        <p:blipFill>
          <a:blip r:embed="rId2" cstate="print"/>
          <a:stretch>
            <a:fillRect/>
          </a:stretch>
        </p:blipFill>
        <p:spPr>
          <a:xfrm>
            <a:off x="3343276" y="2400301"/>
            <a:ext cx="6758051" cy="4117975"/>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solidFill>
                  <a:prstClr val="white"/>
                </a:solidFill>
              </a:rPr>
              <a:pPr marL="38100">
                <a:lnSpc>
                  <a:spcPts val="1664"/>
                </a:lnSpc>
              </a:pPr>
              <a:t>44</a:t>
            </a:fld>
            <a:endParaRPr spc="-25" dirty="0">
              <a:solidFill>
                <a:prstClr val="white"/>
              </a:solidFill>
            </a:endParaRPr>
          </a:p>
        </p:txBody>
      </p:sp>
      <p:sp>
        <p:nvSpPr>
          <p:cNvPr id="7" name="object 7"/>
          <p:cNvSpPr txBox="1">
            <a:spLocks noGrp="1"/>
          </p:cNvSpPr>
          <p:nvPr>
            <p:ph type="ftr" sz="quarter" idx="5"/>
          </p:nvPr>
        </p:nvSpPr>
        <p:spPr>
          <a:xfrm>
            <a:off x="2763418" y="6600176"/>
            <a:ext cx="1243964" cy="155171"/>
          </a:xfrm>
          <a:prstGeom prst="rect">
            <a:avLst/>
          </a:prstGeom>
        </p:spPr>
        <p:txBody>
          <a:bodyPr vert="horz" wrap="square" lIns="0" tIns="1270" rIns="0" bIns="0" rtlCol="0">
            <a:spAutoFit/>
          </a:bodyPr>
          <a:lstStyle/>
          <a:p>
            <a:pPr marL="12700">
              <a:spcBef>
                <a:spcPts val="10"/>
              </a:spcBef>
            </a:pPr>
            <a:endParaRPr spc="-20" dirty="0">
              <a:solidFill>
                <a:prstClr val="white"/>
              </a:solidFill>
            </a:endParaRPr>
          </a:p>
        </p:txBody>
      </p:sp>
    </p:spTree>
    <p:extLst>
      <p:ext uri="{BB962C8B-B14F-4D97-AF65-F5344CB8AC3E}">
        <p14:creationId xmlns:p14="http://schemas.microsoft.com/office/powerpoint/2010/main" val="293748481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91268" y="450927"/>
            <a:ext cx="11057467" cy="444994"/>
          </a:xfrm>
          <a:prstGeom prst="rect">
            <a:avLst/>
          </a:prstGeom>
        </p:spPr>
        <p:txBody>
          <a:bodyPr vert="horz" wrap="square" lIns="0" tIns="13970" rIns="0" bIns="0" rtlCol="0">
            <a:spAutoFit/>
          </a:bodyPr>
          <a:lstStyle/>
          <a:p>
            <a:pPr marL="12700">
              <a:spcBef>
                <a:spcPts val="110"/>
              </a:spcBef>
              <a:tabLst>
                <a:tab pos="8279765" algn="l"/>
              </a:tabLst>
            </a:pPr>
            <a:r>
              <a:rPr dirty="0"/>
              <a:t>7.</a:t>
            </a:r>
            <a:r>
              <a:rPr spc="-45" dirty="0"/>
              <a:t> </a:t>
            </a:r>
            <a:r>
              <a:rPr dirty="0"/>
              <a:t>XÂY</a:t>
            </a:r>
            <a:r>
              <a:rPr spc="-80" dirty="0"/>
              <a:t> </a:t>
            </a:r>
            <a:r>
              <a:rPr dirty="0"/>
              <a:t>DỰNG</a:t>
            </a:r>
            <a:r>
              <a:rPr spc="-40" dirty="0"/>
              <a:t> </a:t>
            </a:r>
            <a:r>
              <a:rPr dirty="0"/>
              <a:t>ỨNG</a:t>
            </a:r>
            <a:r>
              <a:rPr spc="-35" dirty="0"/>
              <a:t> </a:t>
            </a:r>
            <a:r>
              <a:rPr dirty="0"/>
              <a:t>DỤNG</a:t>
            </a:r>
            <a:r>
              <a:rPr spc="-5" dirty="0"/>
              <a:t> </a:t>
            </a:r>
            <a:r>
              <a:rPr dirty="0"/>
              <a:t>WEB</a:t>
            </a:r>
            <a:r>
              <a:rPr spc="-30" dirty="0"/>
              <a:t> </a:t>
            </a:r>
            <a:r>
              <a:rPr dirty="0"/>
              <a:t>MVC</a:t>
            </a:r>
            <a:r>
              <a:rPr spc="-55" dirty="0"/>
              <a:t> </a:t>
            </a:r>
            <a:r>
              <a:rPr dirty="0"/>
              <a:t>VỚI</a:t>
            </a:r>
            <a:r>
              <a:rPr spc="-65" dirty="0"/>
              <a:t> </a:t>
            </a:r>
            <a:r>
              <a:rPr spc="-20" dirty="0"/>
              <a:t>CSDL</a:t>
            </a:r>
            <a:r>
              <a:rPr dirty="0"/>
              <a:t>	</a:t>
            </a:r>
          </a:p>
        </p:txBody>
      </p:sp>
      <p:sp>
        <p:nvSpPr>
          <p:cNvPr id="3" name="object 3"/>
          <p:cNvSpPr txBox="1"/>
          <p:nvPr/>
        </p:nvSpPr>
        <p:spPr>
          <a:xfrm>
            <a:off x="2060245" y="1115873"/>
            <a:ext cx="8182609" cy="864869"/>
          </a:xfrm>
          <a:prstGeom prst="rect">
            <a:avLst/>
          </a:prstGeom>
        </p:spPr>
        <p:txBody>
          <a:bodyPr vert="horz" wrap="square" lIns="0" tIns="66040" rIns="0" bIns="0" rtlCol="0">
            <a:spAutoFit/>
          </a:bodyPr>
          <a:lstStyle/>
          <a:p>
            <a:pPr marL="12700">
              <a:spcBef>
                <a:spcPts val="520"/>
              </a:spcBef>
            </a:pPr>
            <a:r>
              <a:rPr sz="2400" b="1" kern="0">
                <a:solidFill>
                  <a:srgbClr val="C00000"/>
                </a:solidFill>
                <a:latin typeface="Arial"/>
                <a:cs typeface="Arial"/>
              </a:rPr>
              <a:t>B</a:t>
            </a:r>
            <a:r>
              <a:rPr lang="vi-VN" sz="2400" b="1" kern="0">
                <a:solidFill>
                  <a:srgbClr val="C00000"/>
                </a:solidFill>
                <a:cs typeface="Arial"/>
              </a:rPr>
              <a:t>ư</a:t>
            </a:r>
            <a:r>
              <a:rPr sz="2400" b="1" kern="0">
                <a:solidFill>
                  <a:srgbClr val="C00000"/>
                </a:solidFill>
                <a:latin typeface="Arial"/>
                <a:cs typeface="Arial"/>
              </a:rPr>
              <a:t>ớc</a:t>
            </a:r>
            <a:r>
              <a:rPr sz="2400" b="1" kern="0" spc="-30">
                <a:solidFill>
                  <a:srgbClr val="C00000"/>
                </a:solidFill>
                <a:latin typeface="Arial"/>
                <a:cs typeface="Arial"/>
              </a:rPr>
              <a:t> </a:t>
            </a:r>
            <a:r>
              <a:rPr sz="2400" b="1" kern="0" dirty="0">
                <a:solidFill>
                  <a:srgbClr val="C00000"/>
                </a:solidFill>
                <a:latin typeface="Arial"/>
                <a:cs typeface="Arial"/>
              </a:rPr>
              <a:t>4:</a:t>
            </a:r>
            <a:r>
              <a:rPr sz="2400" b="1" kern="0" spc="-40" dirty="0">
                <a:solidFill>
                  <a:srgbClr val="C00000"/>
                </a:solidFill>
                <a:latin typeface="Arial"/>
                <a:cs typeface="Arial"/>
              </a:rPr>
              <a:t> </a:t>
            </a:r>
            <a:r>
              <a:rPr sz="2400" b="1" kern="0" dirty="0">
                <a:solidFill>
                  <a:srgbClr val="C00000"/>
                </a:solidFill>
                <a:latin typeface="Arial"/>
                <a:cs typeface="Arial"/>
              </a:rPr>
              <a:t>Sử</a:t>
            </a:r>
            <a:r>
              <a:rPr sz="2400" b="1" kern="0" spc="-5" dirty="0">
                <a:solidFill>
                  <a:srgbClr val="C00000"/>
                </a:solidFill>
                <a:latin typeface="Arial"/>
                <a:cs typeface="Arial"/>
              </a:rPr>
              <a:t> </a:t>
            </a:r>
            <a:r>
              <a:rPr sz="2400" b="1" kern="0" dirty="0">
                <a:solidFill>
                  <a:srgbClr val="C00000"/>
                </a:solidFill>
                <a:latin typeface="Arial"/>
                <a:cs typeface="Arial"/>
              </a:rPr>
              <a:t>dụng</a:t>
            </a:r>
            <a:r>
              <a:rPr sz="2400" b="1" kern="0" spc="-100" dirty="0">
                <a:solidFill>
                  <a:srgbClr val="C00000"/>
                </a:solidFill>
                <a:latin typeface="Arial"/>
                <a:cs typeface="Arial"/>
              </a:rPr>
              <a:t> </a:t>
            </a:r>
            <a:r>
              <a:rPr sz="2400" b="1" kern="0" dirty="0">
                <a:solidFill>
                  <a:srgbClr val="C00000"/>
                </a:solidFill>
                <a:latin typeface="Arial"/>
                <a:cs typeface="Arial"/>
              </a:rPr>
              <a:t>mô</a:t>
            </a:r>
            <a:r>
              <a:rPr sz="2400" b="1" kern="0" spc="-20" dirty="0">
                <a:solidFill>
                  <a:srgbClr val="C00000"/>
                </a:solidFill>
                <a:latin typeface="Arial"/>
                <a:cs typeface="Arial"/>
              </a:rPr>
              <a:t> </a:t>
            </a:r>
            <a:r>
              <a:rPr sz="2400" b="1" kern="0" dirty="0">
                <a:solidFill>
                  <a:srgbClr val="C00000"/>
                </a:solidFill>
                <a:latin typeface="Arial"/>
                <a:cs typeface="Arial"/>
              </a:rPr>
              <a:t>hình</a:t>
            </a:r>
            <a:r>
              <a:rPr sz="2400" b="1" kern="0" spc="-60" dirty="0">
                <a:solidFill>
                  <a:srgbClr val="C00000"/>
                </a:solidFill>
                <a:latin typeface="Arial"/>
                <a:cs typeface="Arial"/>
              </a:rPr>
              <a:t> </a:t>
            </a:r>
            <a:r>
              <a:rPr sz="2400" b="1" kern="0" dirty="0">
                <a:solidFill>
                  <a:srgbClr val="C00000"/>
                </a:solidFill>
                <a:latin typeface="Arial"/>
                <a:cs typeface="Arial"/>
              </a:rPr>
              <a:t>LINQ</a:t>
            </a:r>
            <a:r>
              <a:rPr sz="2400" b="1" kern="0" spc="-65" dirty="0">
                <a:solidFill>
                  <a:srgbClr val="C00000"/>
                </a:solidFill>
                <a:latin typeface="Arial"/>
                <a:cs typeface="Arial"/>
              </a:rPr>
              <a:t> </a:t>
            </a:r>
            <a:r>
              <a:rPr sz="2400" b="1" kern="0" dirty="0">
                <a:solidFill>
                  <a:srgbClr val="C00000"/>
                </a:solidFill>
                <a:latin typeface="Arial"/>
                <a:cs typeface="Arial"/>
              </a:rPr>
              <a:t>to</a:t>
            </a:r>
            <a:r>
              <a:rPr sz="2400" b="1" kern="0" spc="-15" dirty="0">
                <a:solidFill>
                  <a:srgbClr val="C00000"/>
                </a:solidFill>
                <a:latin typeface="Arial"/>
                <a:cs typeface="Arial"/>
              </a:rPr>
              <a:t> </a:t>
            </a:r>
            <a:r>
              <a:rPr sz="2400" b="1" kern="0" dirty="0">
                <a:solidFill>
                  <a:srgbClr val="C00000"/>
                </a:solidFill>
                <a:latin typeface="Arial"/>
                <a:cs typeface="Arial"/>
              </a:rPr>
              <a:t>SQL</a:t>
            </a:r>
            <a:r>
              <a:rPr sz="2400" b="1" kern="0" spc="-105" dirty="0">
                <a:solidFill>
                  <a:srgbClr val="C00000"/>
                </a:solidFill>
                <a:latin typeface="Arial"/>
                <a:cs typeface="Arial"/>
              </a:rPr>
              <a:t> </a:t>
            </a:r>
            <a:r>
              <a:rPr sz="2400" b="1" kern="0" dirty="0">
                <a:solidFill>
                  <a:srgbClr val="C00000"/>
                </a:solidFill>
                <a:latin typeface="Arial"/>
                <a:cs typeface="Arial"/>
              </a:rPr>
              <a:t>tạo</a:t>
            </a:r>
            <a:r>
              <a:rPr sz="2400" b="1" kern="0" spc="10" dirty="0">
                <a:solidFill>
                  <a:srgbClr val="C00000"/>
                </a:solidFill>
                <a:latin typeface="Arial"/>
                <a:cs typeface="Arial"/>
              </a:rPr>
              <a:t> </a:t>
            </a:r>
            <a:r>
              <a:rPr sz="2400" b="1" kern="0" spc="-10" dirty="0">
                <a:solidFill>
                  <a:srgbClr val="C00000"/>
                </a:solidFill>
                <a:latin typeface="Arial"/>
                <a:cs typeface="Arial"/>
              </a:rPr>
              <a:t>Models</a:t>
            </a:r>
            <a:endParaRPr sz="2400" kern="0">
              <a:solidFill>
                <a:sysClr val="windowText" lastClr="000000"/>
              </a:solidFill>
              <a:latin typeface="Arial"/>
              <a:cs typeface="Arial"/>
            </a:endParaRPr>
          </a:p>
          <a:p>
            <a:pPr marL="458470">
              <a:spcBef>
                <a:spcPts val="420"/>
              </a:spcBef>
              <a:tabLst>
                <a:tab pos="4204335" algn="l"/>
              </a:tabLst>
            </a:pPr>
            <a:r>
              <a:rPr sz="2400" kern="0" dirty="0">
                <a:solidFill>
                  <a:sysClr val="windowText" lastClr="000000"/>
                </a:solidFill>
                <a:latin typeface="Microsoft Sans Serif"/>
                <a:cs typeface="Microsoft Sans Serif"/>
              </a:rPr>
              <a:t>Click</a:t>
            </a:r>
            <a:r>
              <a:rPr sz="2400" kern="0" spc="-5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phải</a:t>
            </a:r>
            <a:r>
              <a:rPr sz="2400" kern="0" spc="1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chuột</a:t>
            </a:r>
            <a:r>
              <a:rPr sz="2400" kern="0" spc="-1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vào</a:t>
            </a:r>
            <a:r>
              <a:rPr sz="2400" kern="0" spc="5" dirty="0">
                <a:solidFill>
                  <a:sysClr val="windowText" lastClr="000000"/>
                </a:solidFill>
                <a:latin typeface="Microsoft Sans Serif"/>
                <a:cs typeface="Microsoft Sans Serif"/>
              </a:rPr>
              <a:t> </a:t>
            </a:r>
            <a:r>
              <a:rPr sz="2400" kern="0" spc="-10" dirty="0">
                <a:solidFill>
                  <a:sysClr val="windowText" lastClr="000000"/>
                </a:solidFill>
                <a:latin typeface="Microsoft Sans Serif"/>
                <a:cs typeface="Microsoft Sans Serif"/>
              </a:rPr>
              <a:t>folder</a:t>
            </a:r>
            <a:r>
              <a:rPr sz="2400" kern="0" dirty="0">
                <a:solidFill>
                  <a:sysClr val="windowText" lastClr="000000"/>
                </a:solidFill>
                <a:latin typeface="Microsoft Sans Serif"/>
                <a:cs typeface="Microsoft Sans Serif"/>
              </a:rPr>
              <a:t>	Models =&gt;</a:t>
            </a:r>
            <a:r>
              <a:rPr sz="2400" kern="0" spc="-30"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add=&gt;</a:t>
            </a:r>
            <a:r>
              <a:rPr sz="2400" kern="0" spc="5" dirty="0">
                <a:solidFill>
                  <a:sysClr val="windowText" lastClr="000000"/>
                </a:solidFill>
                <a:latin typeface="Microsoft Sans Serif"/>
                <a:cs typeface="Microsoft Sans Serif"/>
              </a:rPr>
              <a:t> </a:t>
            </a:r>
            <a:r>
              <a:rPr sz="2400" kern="0" dirty="0">
                <a:solidFill>
                  <a:sysClr val="windowText" lastClr="000000"/>
                </a:solidFill>
                <a:latin typeface="Microsoft Sans Serif"/>
                <a:cs typeface="Microsoft Sans Serif"/>
              </a:rPr>
              <a:t>chọn</a:t>
            </a:r>
            <a:r>
              <a:rPr sz="2400" kern="0" spc="-30" dirty="0">
                <a:solidFill>
                  <a:sysClr val="windowText" lastClr="000000"/>
                </a:solidFill>
                <a:latin typeface="Microsoft Sans Serif"/>
                <a:cs typeface="Microsoft Sans Serif"/>
              </a:rPr>
              <a:t> </a:t>
            </a:r>
            <a:r>
              <a:rPr sz="2400" kern="0" spc="-10" dirty="0">
                <a:solidFill>
                  <a:sysClr val="windowText" lastClr="000000"/>
                </a:solidFill>
                <a:latin typeface="Microsoft Sans Serif"/>
                <a:cs typeface="Microsoft Sans Serif"/>
              </a:rPr>
              <a:t>Class</a:t>
            </a:r>
            <a:endParaRPr sz="2400" kern="0">
              <a:solidFill>
                <a:sysClr val="windowText" lastClr="000000"/>
              </a:solidFill>
              <a:latin typeface="Microsoft Sans Serif"/>
              <a:cs typeface="Microsoft Sans Serif"/>
            </a:endParaRPr>
          </a:p>
        </p:txBody>
      </p:sp>
      <p:grpSp>
        <p:nvGrpSpPr>
          <p:cNvPr id="4" name="object 4"/>
          <p:cNvGrpSpPr/>
          <p:nvPr/>
        </p:nvGrpSpPr>
        <p:grpSpPr>
          <a:xfrm>
            <a:off x="3397250" y="1998217"/>
            <a:ext cx="5137150" cy="3423920"/>
            <a:chOff x="1873250" y="1998217"/>
            <a:chExt cx="5137150" cy="3423920"/>
          </a:xfrm>
        </p:grpSpPr>
        <p:pic>
          <p:nvPicPr>
            <p:cNvPr id="5" name="object 5"/>
            <p:cNvPicPr/>
            <p:nvPr/>
          </p:nvPicPr>
          <p:blipFill>
            <a:blip r:embed="rId2" cstate="print"/>
            <a:stretch>
              <a:fillRect/>
            </a:stretch>
          </p:blipFill>
          <p:spPr>
            <a:xfrm>
              <a:off x="1873250" y="1998217"/>
              <a:ext cx="5137150" cy="3411982"/>
            </a:xfrm>
            <a:prstGeom prst="rect">
              <a:avLst/>
            </a:prstGeom>
          </p:spPr>
        </p:pic>
        <p:sp>
          <p:nvSpPr>
            <p:cNvPr id="6" name="object 6"/>
            <p:cNvSpPr/>
            <p:nvPr/>
          </p:nvSpPr>
          <p:spPr>
            <a:xfrm>
              <a:off x="1981200" y="2249169"/>
              <a:ext cx="4488815" cy="3159125"/>
            </a:xfrm>
            <a:custGeom>
              <a:avLst/>
              <a:gdLst/>
              <a:ahLst/>
              <a:cxnLst/>
              <a:rect l="l" t="t" r="r" b="b"/>
              <a:pathLst>
                <a:path w="4488815" h="3159125">
                  <a:moveTo>
                    <a:pt x="0" y="42037"/>
                  </a:moveTo>
                  <a:lnTo>
                    <a:pt x="3300" y="25663"/>
                  </a:lnTo>
                  <a:lnTo>
                    <a:pt x="12303" y="12303"/>
                  </a:lnTo>
                  <a:lnTo>
                    <a:pt x="25663" y="3300"/>
                  </a:lnTo>
                  <a:lnTo>
                    <a:pt x="42037" y="0"/>
                  </a:lnTo>
                  <a:lnTo>
                    <a:pt x="681227" y="0"/>
                  </a:lnTo>
                  <a:lnTo>
                    <a:pt x="697601" y="3300"/>
                  </a:lnTo>
                  <a:lnTo>
                    <a:pt x="710961" y="12303"/>
                  </a:lnTo>
                  <a:lnTo>
                    <a:pt x="719964" y="25663"/>
                  </a:lnTo>
                  <a:lnTo>
                    <a:pt x="723264" y="42037"/>
                  </a:lnTo>
                  <a:lnTo>
                    <a:pt x="723264" y="210057"/>
                  </a:lnTo>
                  <a:lnTo>
                    <a:pt x="719964" y="226431"/>
                  </a:lnTo>
                  <a:lnTo>
                    <a:pt x="710961" y="239791"/>
                  </a:lnTo>
                  <a:lnTo>
                    <a:pt x="697601" y="248794"/>
                  </a:lnTo>
                  <a:lnTo>
                    <a:pt x="681227" y="252094"/>
                  </a:lnTo>
                  <a:lnTo>
                    <a:pt x="42037" y="252094"/>
                  </a:lnTo>
                  <a:lnTo>
                    <a:pt x="25663" y="248794"/>
                  </a:lnTo>
                  <a:lnTo>
                    <a:pt x="12303" y="239791"/>
                  </a:lnTo>
                  <a:lnTo>
                    <a:pt x="3300" y="226431"/>
                  </a:lnTo>
                  <a:lnTo>
                    <a:pt x="0" y="210057"/>
                  </a:lnTo>
                  <a:lnTo>
                    <a:pt x="0" y="42037"/>
                  </a:lnTo>
                  <a:close/>
                </a:path>
                <a:path w="4488815" h="3159125">
                  <a:moveTo>
                    <a:pt x="1145413" y="969771"/>
                  </a:moveTo>
                  <a:lnTo>
                    <a:pt x="1148730" y="953398"/>
                  </a:lnTo>
                  <a:lnTo>
                    <a:pt x="1157763" y="940038"/>
                  </a:lnTo>
                  <a:lnTo>
                    <a:pt x="1171130" y="931035"/>
                  </a:lnTo>
                  <a:lnTo>
                    <a:pt x="1187450" y="927734"/>
                  </a:lnTo>
                  <a:lnTo>
                    <a:pt x="2311273" y="927734"/>
                  </a:lnTo>
                  <a:lnTo>
                    <a:pt x="2327572" y="931035"/>
                  </a:lnTo>
                  <a:lnTo>
                    <a:pt x="2340895" y="940038"/>
                  </a:lnTo>
                  <a:lnTo>
                    <a:pt x="2349884" y="953398"/>
                  </a:lnTo>
                  <a:lnTo>
                    <a:pt x="2353183" y="969771"/>
                  </a:lnTo>
                  <a:lnTo>
                    <a:pt x="2353183" y="1137792"/>
                  </a:lnTo>
                  <a:lnTo>
                    <a:pt x="2349884" y="1154166"/>
                  </a:lnTo>
                  <a:lnTo>
                    <a:pt x="2340895" y="1167526"/>
                  </a:lnTo>
                  <a:lnTo>
                    <a:pt x="2327572" y="1176529"/>
                  </a:lnTo>
                  <a:lnTo>
                    <a:pt x="2311273" y="1179829"/>
                  </a:lnTo>
                  <a:lnTo>
                    <a:pt x="1187450" y="1179829"/>
                  </a:lnTo>
                  <a:lnTo>
                    <a:pt x="1171130" y="1176529"/>
                  </a:lnTo>
                  <a:lnTo>
                    <a:pt x="1157763" y="1167526"/>
                  </a:lnTo>
                  <a:lnTo>
                    <a:pt x="1148730" y="1154166"/>
                  </a:lnTo>
                  <a:lnTo>
                    <a:pt x="1145413" y="1137792"/>
                  </a:lnTo>
                  <a:lnTo>
                    <a:pt x="1145413" y="969771"/>
                  </a:lnTo>
                  <a:close/>
                </a:path>
                <a:path w="4488815" h="3159125">
                  <a:moveTo>
                    <a:pt x="593217" y="2804286"/>
                  </a:moveTo>
                  <a:lnTo>
                    <a:pt x="595802" y="2791485"/>
                  </a:lnTo>
                  <a:lnTo>
                    <a:pt x="602853" y="2781030"/>
                  </a:lnTo>
                  <a:lnTo>
                    <a:pt x="613308" y="2773979"/>
                  </a:lnTo>
                  <a:lnTo>
                    <a:pt x="626110" y="2771393"/>
                  </a:lnTo>
                  <a:lnTo>
                    <a:pt x="1447419" y="2771393"/>
                  </a:lnTo>
                  <a:lnTo>
                    <a:pt x="1460220" y="2773979"/>
                  </a:lnTo>
                  <a:lnTo>
                    <a:pt x="1470675" y="2781030"/>
                  </a:lnTo>
                  <a:lnTo>
                    <a:pt x="1477726" y="2791485"/>
                  </a:lnTo>
                  <a:lnTo>
                    <a:pt x="1480312" y="2804286"/>
                  </a:lnTo>
                  <a:lnTo>
                    <a:pt x="1480312" y="2935985"/>
                  </a:lnTo>
                  <a:lnTo>
                    <a:pt x="1477726" y="2948787"/>
                  </a:lnTo>
                  <a:lnTo>
                    <a:pt x="1470675" y="2959242"/>
                  </a:lnTo>
                  <a:lnTo>
                    <a:pt x="1460220" y="2966293"/>
                  </a:lnTo>
                  <a:lnTo>
                    <a:pt x="1447419" y="2968879"/>
                  </a:lnTo>
                  <a:lnTo>
                    <a:pt x="626110" y="2968879"/>
                  </a:lnTo>
                  <a:lnTo>
                    <a:pt x="613308" y="2966293"/>
                  </a:lnTo>
                  <a:lnTo>
                    <a:pt x="602853" y="2959242"/>
                  </a:lnTo>
                  <a:lnTo>
                    <a:pt x="595802" y="2948787"/>
                  </a:lnTo>
                  <a:lnTo>
                    <a:pt x="593217" y="2935985"/>
                  </a:lnTo>
                  <a:lnTo>
                    <a:pt x="593217" y="2804286"/>
                  </a:lnTo>
                  <a:close/>
                </a:path>
                <a:path w="4488815" h="3159125">
                  <a:moveTo>
                    <a:pt x="4038600" y="2994024"/>
                  </a:moveTo>
                  <a:lnTo>
                    <a:pt x="4041185" y="2981223"/>
                  </a:lnTo>
                  <a:lnTo>
                    <a:pt x="4048236" y="2970768"/>
                  </a:lnTo>
                  <a:lnTo>
                    <a:pt x="4058691" y="2963717"/>
                  </a:lnTo>
                  <a:lnTo>
                    <a:pt x="4071492" y="2961131"/>
                  </a:lnTo>
                  <a:lnTo>
                    <a:pt x="4455922" y="2961131"/>
                  </a:lnTo>
                  <a:lnTo>
                    <a:pt x="4468723" y="2963717"/>
                  </a:lnTo>
                  <a:lnTo>
                    <a:pt x="4479178" y="2970768"/>
                  </a:lnTo>
                  <a:lnTo>
                    <a:pt x="4486229" y="2981223"/>
                  </a:lnTo>
                  <a:lnTo>
                    <a:pt x="4488815" y="2994024"/>
                  </a:lnTo>
                  <a:lnTo>
                    <a:pt x="4488815" y="3125723"/>
                  </a:lnTo>
                  <a:lnTo>
                    <a:pt x="4486229" y="3138525"/>
                  </a:lnTo>
                  <a:lnTo>
                    <a:pt x="4479178" y="3148980"/>
                  </a:lnTo>
                  <a:lnTo>
                    <a:pt x="4468723" y="3156031"/>
                  </a:lnTo>
                  <a:lnTo>
                    <a:pt x="4455922" y="3158616"/>
                  </a:lnTo>
                  <a:lnTo>
                    <a:pt x="4071492" y="3158616"/>
                  </a:lnTo>
                  <a:lnTo>
                    <a:pt x="4058691" y="3156031"/>
                  </a:lnTo>
                  <a:lnTo>
                    <a:pt x="4048236" y="3148980"/>
                  </a:lnTo>
                  <a:lnTo>
                    <a:pt x="4041185" y="3138525"/>
                  </a:lnTo>
                  <a:lnTo>
                    <a:pt x="4038600" y="3125723"/>
                  </a:lnTo>
                  <a:lnTo>
                    <a:pt x="4038600" y="2994024"/>
                  </a:lnTo>
                  <a:close/>
                </a:path>
              </a:pathLst>
            </a:custGeom>
            <a:ln w="28575">
              <a:solidFill>
                <a:srgbClr val="FF0000"/>
              </a:solidFill>
            </a:ln>
          </p:spPr>
          <p:txBody>
            <a:bodyPr wrap="square" lIns="0" tIns="0" rIns="0" bIns="0" rtlCol="0"/>
            <a:lstStyle/>
            <a:p>
              <a:endParaRPr kern="0">
                <a:solidFill>
                  <a:sysClr val="windowText" lastClr="000000"/>
                </a:solidFill>
              </a:endParaRPr>
            </a:p>
          </p:txBody>
        </p:sp>
      </p:grpSp>
      <p:sp>
        <p:nvSpPr>
          <p:cNvPr id="7" name="object 7"/>
          <p:cNvSpPr txBox="1"/>
          <p:nvPr/>
        </p:nvSpPr>
        <p:spPr>
          <a:xfrm>
            <a:off x="2593950" y="5634330"/>
            <a:ext cx="7617459" cy="574675"/>
          </a:xfrm>
          <a:prstGeom prst="rect">
            <a:avLst/>
          </a:prstGeom>
        </p:spPr>
        <p:txBody>
          <a:bodyPr vert="horz" wrap="square" lIns="0" tIns="12700" rIns="0" bIns="0" rtlCol="0">
            <a:spAutoFit/>
          </a:bodyPr>
          <a:lstStyle/>
          <a:p>
            <a:pPr marL="12700">
              <a:spcBef>
                <a:spcPts val="100"/>
              </a:spcBef>
            </a:pPr>
            <a:r>
              <a:rPr kern="0" dirty="0">
                <a:solidFill>
                  <a:sysClr val="windowText" lastClr="000000"/>
                </a:solidFill>
                <a:latin typeface="Microsoft Sans Serif"/>
                <a:cs typeface="Microsoft Sans Serif"/>
              </a:rPr>
              <a:t>Chọn</a:t>
            </a:r>
            <a:r>
              <a:rPr kern="0" spc="130"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LINQ</a:t>
            </a:r>
            <a:r>
              <a:rPr kern="0" spc="100"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to</a:t>
            </a:r>
            <a:r>
              <a:rPr kern="0" spc="135"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SQL</a:t>
            </a:r>
            <a:r>
              <a:rPr kern="0" spc="65"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classes</a:t>
            </a:r>
            <a:r>
              <a:rPr kern="0" spc="135"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a:t>
            </a:r>
            <a:r>
              <a:rPr kern="0" spc="105"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Vì</a:t>
            </a:r>
            <a:r>
              <a:rPr kern="0" spc="130"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truy</a:t>
            </a:r>
            <a:r>
              <a:rPr kern="0" spc="95"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xuất</a:t>
            </a:r>
            <a:r>
              <a:rPr kern="0" spc="135" dirty="0">
                <a:solidFill>
                  <a:sysClr val="windowText" lastClr="000000"/>
                </a:solidFill>
                <a:latin typeface="Microsoft Sans Serif"/>
                <a:cs typeface="Microsoft Sans Serif"/>
              </a:rPr>
              <a:t> </a:t>
            </a:r>
            <a:r>
              <a:rPr kern="0" spc="100" dirty="0">
                <a:solidFill>
                  <a:sysClr val="windowText" lastClr="000000"/>
                </a:solidFill>
                <a:latin typeface="Microsoft Sans Serif"/>
                <a:cs typeface="Microsoft Sans Serif"/>
              </a:rPr>
              <a:t>dữ</a:t>
            </a:r>
            <a:r>
              <a:rPr kern="0" spc="75"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liệu</a:t>
            </a:r>
            <a:r>
              <a:rPr kern="0" spc="105"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bằng</a:t>
            </a:r>
            <a:r>
              <a:rPr kern="0" spc="135"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LINQ).</a:t>
            </a:r>
            <a:r>
              <a:rPr kern="0" spc="130"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Đặt</a:t>
            </a:r>
            <a:r>
              <a:rPr kern="0" spc="100"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tên</a:t>
            </a:r>
            <a:r>
              <a:rPr kern="0" spc="135" dirty="0">
                <a:solidFill>
                  <a:sysClr val="windowText" lastClr="000000"/>
                </a:solidFill>
                <a:latin typeface="Microsoft Sans Serif"/>
                <a:cs typeface="Microsoft Sans Serif"/>
              </a:rPr>
              <a:t> </a:t>
            </a:r>
            <a:r>
              <a:rPr kern="0" spc="-25" dirty="0">
                <a:solidFill>
                  <a:sysClr val="windowText" lastClr="000000"/>
                </a:solidFill>
                <a:latin typeface="Microsoft Sans Serif"/>
                <a:cs typeface="Microsoft Sans Serif"/>
              </a:rPr>
              <a:t>cho</a:t>
            </a:r>
            <a:endParaRPr kern="0">
              <a:solidFill>
                <a:sysClr val="windowText" lastClr="000000"/>
              </a:solidFill>
              <a:latin typeface="Microsoft Sans Serif"/>
              <a:cs typeface="Microsoft Sans Serif"/>
            </a:endParaRPr>
          </a:p>
          <a:p>
            <a:pPr marL="12700"/>
            <a:r>
              <a:rPr kern="0" dirty="0">
                <a:solidFill>
                  <a:sysClr val="windowText" lastClr="000000"/>
                </a:solidFill>
                <a:latin typeface="Microsoft Sans Serif"/>
                <a:cs typeface="Microsoft Sans Serif"/>
              </a:rPr>
              <a:t>file</a:t>
            </a:r>
            <a:r>
              <a:rPr kern="0" spc="-50"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Class</a:t>
            </a:r>
            <a:r>
              <a:rPr kern="0" spc="-20"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là</a:t>
            </a:r>
            <a:r>
              <a:rPr kern="0" spc="-50"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DataClasses1.dbml</a:t>
            </a:r>
            <a:r>
              <a:rPr kern="0" spc="15" dirty="0">
                <a:solidFill>
                  <a:sysClr val="windowText" lastClr="000000"/>
                </a:solidFill>
                <a:latin typeface="Microsoft Sans Serif"/>
                <a:cs typeface="Microsoft Sans Serif"/>
              </a:rPr>
              <a:t> </a:t>
            </a:r>
            <a:r>
              <a:rPr kern="0" spc="-50" dirty="0">
                <a:solidFill>
                  <a:sysClr val="windowText" lastClr="000000"/>
                </a:solidFill>
                <a:latin typeface="Microsoft Sans Serif"/>
                <a:cs typeface="Microsoft Sans Serif"/>
              </a:rPr>
              <a:t>.</a:t>
            </a:r>
            <a:endParaRPr kern="0">
              <a:solidFill>
                <a:sysClr val="windowText" lastClr="000000"/>
              </a:solidFill>
              <a:latin typeface="Microsoft Sans Serif"/>
              <a:cs typeface="Microsoft Sans Serif"/>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solidFill>
                  <a:prstClr val="white"/>
                </a:solidFill>
              </a:rPr>
              <a:pPr marL="38100">
                <a:lnSpc>
                  <a:spcPts val="1664"/>
                </a:lnSpc>
              </a:pPr>
              <a:t>45</a:t>
            </a:fld>
            <a:endParaRPr spc="-25" dirty="0">
              <a:solidFill>
                <a:prstClr val="white"/>
              </a:solidFill>
            </a:endParaRPr>
          </a:p>
        </p:txBody>
      </p:sp>
      <p:sp>
        <p:nvSpPr>
          <p:cNvPr id="10" name="object 10"/>
          <p:cNvSpPr txBox="1">
            <a:spLocks noGrp="1"/>
          </p:cNvSpPr>
          <p:nvPr>
            <p:ph type="ftr" sz="quarter" idx="5"/>
          </p:nvPr>
        </p:nvSpPr>
        <p:spPr>
          <a:xfrm>
            <a:off x="2763418" y="6600176"/>
            <a:ext cx="1243964" cy="155171"/>
          </a:xfrm>
          <a:prstGeom prst="rect">
            <a:avLst/>
          </a:prstGeom>
        </p:spPr>
        <p:txBody>
          <a:bodyPr vert="horz" wrap="square" lIns="0" tIns="1270" rIns="0" bIns="0" rtlCol="0">
            <a:spAutoFit/>
          </a:bodyPr>
          <a:lstStyle/>
          <a:p>
            <a:pPr marL="12700">
              <a:spcBef>
                <a:spcPts val="10"/>
              </a:spcBef>
            </a:pPr>
            <a:endParaRPr spc="-20" dirty="0">
              <a:solidFill>
                <a:prstClr val="white"/>
              </a:solidFill>
            </a:endParaRPr>
          </a:p>
        </p:txBody>
      </p:sp>
    </p:spTree>
    <p:extLst>
      <p:ext uri="{BB962C8B-B14F-4D97-AF65-F5344CB8AC3E}">
        <p14:creationId xmlns:p14="http://schemas.microsoft.com/office/powerpoint/2010/main" val="300357798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91268" y="450927"/>
            <a:ext cx="11057467" cy="444994"/>
          </a:xfrm>
          <a:prstGeom prst="rect">
            <a:avLst/>
          </a:prstGeom>
        </p:spPr>
        <p:txBody>
          <a:bodyPr vert="horz" wrap="square" lIns="0" tIns="13970" rIns="0" bIns="0" rtlCol="0">
            <a:spAutoFit/>
          </a:bodyPr>
          <a:lstStyle/>
          <a:p>
            <a:pPr marL="12700">
              <a:spcBef>
                <a:spcPts val="110"/>
              </a:spcBef>
              <a:tabLst>
                <a:tab pos="8279765" algn="l"/>
              </a:tabLst>
            </a:pPr>
            <a:r>
              <a:rPr dirty="0"/>
              <a:t>7.</a:t>
            </a:r>
            <a:r>
              <a:rPr spc="-45" dirty="0"/>
              <a:t> </a:t>
            </a:r>
            <a:r>
              <a:rPr dirty="0"/>
              <a:t>XÂY</a:t>
            </a:r>
            <a:r>
              <a:rPr spc="-80" dirty="0"/>
              <a:t> </a:t>
            </a:r>
            <a:r>
              <a:rPr dirty="0"/>
              <a:t>DỰNG</a:t>
            </a:r>
            <a:r>
              <a:rPr spc="-40" dirty="0"/>
              <a:t> </a:t>
            </a:r>
            <a:r>
              <a:rPr dirty="0"/>
              <a:t>ỨNG</a:t>
            </a:r>
            <a:r>
              <a:rPr spc="-35" dirty="0"/>
              <a:t> </a:t>
            </a:r>
            <a:r>
              <a:rPr dirty="0"/>
              <a:t>DỤNG</a:t>
            </a:r>
            <a:r>
              <a:rPr spc="-5" dirty="0"/>
              <a:t> </a:t>
            </a:r>
            <a:r>
              <a:rPr dirty="0"/>
              <a:t>WEB</a:t>
            </a:r>
            <a:r>
              <a:rPr spc="-30" dirty="0"/>
              <a:t> </a:t>
            </a:r>
            <a:r>
              <a:rPr dirty="0"/>
              <a:t>MVC</a:t>
            </a:r>
            <a:r>
              <a:rPr spc="-55" dirty="0"/>
              <a:t> </a:t>
            </a:r>
            <a:r>
              <a:rPr dirty="0"/>
              <a:t>VỚI</a:t>
            </a:r>
            <a:r>
              <a:rPr spc="-65" dirty="0"/>
              <a:t> </a:t>
            </a:r>
            <a:r>
              <a:rPr spc="-20" dirty="0"/>
              <a:t>CSDL</a:t>
            </a:r>
            <a:r>
              <a:rPr dirty="0"/>
              <a:t>	</a:t>
            </a:r>
          </a:p>
        </p:txBody>
      </p:sp>
      <p:sp>
        <p:nvSpPr>
          <p:cNvPr id="3" name="object 3"/>
          <p:cNvSpPr txBox="1"/>
          <p:nvPr/>
        </p:nvSpPr>
        <p:spPr>
          <a:xfrm>
            <a:off x="2280615" y="1091260"/>
            <a:ext cx="8090534" cy="640080"/>
          </a:xfrm>
          <a:prstGeom prst="rect">
            <a:avLst/>
          </a:prstGeom>
        </p:spPr>
        <p:txBody>
          <a:bodyPr vert="horz" wrap="square" lIns="0" tIns="13335" rIns="0" bIns="0" rtlCol="0">
            <a:spAutoFit/>
          </a:bodyPr>
          <a:lstStyle/>
          <a:p>
            <a:pPr marL="12700" marR="5080">
              <a:lnSpc>
                <a:spcPct val="100600"/>
              </a:lnSpc>
              <a:spcBef>
                <a:spcPts val="105"/>
              </a:spcBef>
            </a:pPr>
            <a:r>
              <a:rPr sz="2000" kern="0" dirty="0">
                <a:solidFill>
                  <a:sysClr val="windowText" lastClr="000000"/>
                </a:solidFill>
                <a:latin typeface="Microsoft Sans Serif"/>
                <a:cs typeface="Microsoft Sans Serif"/>
              </a:rPr>
              <a:t>Trên</a:t>
            </a:r>
            <a:r>
              <a:rPr sz="2000" kern="0" spc="25" dirty="0">
                <a:solidFill>
                  <a:sysClr val="windowText" lastClr="000000"/>
                </a:solidFill>
                <a:latin typeface="Microsoft Sans Serif"/>
                <a:cs typeface="Microsoft Sans Serif"/>
              </a:rPr>
              <a:t> </a:t>
            </a:r>
            <a:r>
              <a:rPr sz="2000" kern="0" dirty="0">
                <a:solidFill>
                  <a:sysClr val="windowText" lastClr="000000"/>
                </a:solidFill>
                <a:latin typeface="Microsoft Sans Serif"/>
                <a:cs typeface="Microsoft Sans Serif"/>
              </a:rPr>
              <a:t>thanh</a:t>
            </a:r>
            <a:r>
              <a:rPr sz="2000" kern="0" spc="30" dirty="0">
                <a:solidFill>
                  <a:sysClr val="windowText" lastClr="000000"/>
                </a:solidFill>
                <a:latin typeface="Microsoft Sans Serif"/>
                <a:cs typeface="Microsoft Sans Serif"/>
              </a:rPr>
              <a:t> </a:t>
            </a:r>
            <a:r>
              <a:rPr sz="2000" kern="0" dirty="0">
                <a:solidFill>
                  <a:sysClr val="windowText" lastClr="000000"/>
                </a:solidFill>
                <a:latin typeface="Microsoft Sans Serif"/>
                <a:cs typeface="Microsoft Sans Serif"/>
              </a:rPr>
              <a:t>Server</a:t>
            </a:r>
            <a:r>
              <a:rPr sz="2000" kern="0" spc="45" dirty="0">
                <a:solidFill>
                  <a:sysClr val="windowText" lastClr="000000"/>
                </a:solidFill>
                <a:latin typeface="Microsoft Sans Serif"/>
                <a:cs typeface="Microsoft Sans Serif"/>
              </a:rPr>
              <a:t> </a:t>
            </a:r>
            <a:r>
              <a:rPr sz="2000" kern="0" dirty="0">
                <a:solidFill>
                  <a:sysClr val="windowText" lastClr="000000"/>
                </a:solidFill>
                <a:latin typeface="Microsoft Sans Serif"/>
                <a:cs typeface="Microsoft Sans Serif"/>
              </a:rPr>
              <a:t>Explorer</a:t>
            </a:r>
            <a:r>
              <a:rPr sz="2000" kern="0" spc="55" dirty="0">
                <a:solidFill>
                  <a:sysClr val="windowText" lastClr="000000"/>
                </a:solidFill>
                <a:latin typeface="Microsoft Sans Serif"/>
                <a:cs typeface="Microsoft Sans Serif"/>
              </a:rPr>
              <a:t> </a:t>
            </a:r>
            <a:r>
              <a:rPr sz="2000" kern="0" dirty="0">
                <a:solidFill>
                  <a:sysClr val="windowText" lastClr="000000"/>
                </a:solidFill>
                <a:latin typeface="Microsoft Sans Serif"/>
                <a:cs typeface="Microsoft Sans Serif"/>
              </a:rPr>
              <a:t>kéo</a:t>
            </a:r>
            <a:r>
              <a:rPr sz="2000" kern="0" spc="-5" dirty="0">
                <a:solidFill>
                  <a:sysClr val="windowText" lastClr="000000"/>
                </a:solidFill>
                <a:latin typeface="Microsoft Sans Serif"/>
                <a:cs typeface="Microsoft Sans Serif"/>
              </a:rPr>
              <a:t> </a:t>
            </a:r>
            <a:r>
              <a:rPr sz="2000" kern="0" dirty="0">
                <a:solidFill>
                  <a:sysClr val="windowText" lastClr="000000"/>
                </a:solidFill>
                <a:latin typeface="Microsoft Sans Serif"/>
                <a:cs typeface="Microsoft Sans Serif"/>
              </a:rPr>
              <a:t>thả</a:t>
            </a:r>
            <a:r>
              <a:rPr sz="2000" kern="0" spc="30" dirty="0">
                <a:solidFill>
                  <a:sysClr val="windowText" lastClr="000000"/>
                </a:solidFill>
                <a:latin typeface="Microsoft Sans Serif"/>
                <a:cs typeface="Microsoft Sans Serif"/>
              </a:rPr>
              <a:t> </a:t>
            </a:r>
            <a:r>
              <a:rPr sz="2000" kern="0" dirty="0">
                <a:solidFill>
                  <a:sysClr val="windowText" lastClr="000000"/>
                </a:solidFill>
                <a:latin typeface="Microsoft Sans Serif"/>
                <a:cs typeface="Microsoft Sans Serif"/>
              </a:rPr>
              <a:t>các bảng</a:t>
            </a:r>
            <a:r>
              <a:rPr sz="2000" kern="0" spc="60" dirty="0">
                <a:solidFill>
                  <a:sysClr val="windowText" lastClr="000000"/>
                </a:solidFill>
                <a:latin typeface="Microsoft Sans Serif"/>
                <a:cs typeface="Microsoft Sans Serif"/>
              </a:rPr>
              <a:t> </a:t>
            </a:r>
            <a:r>
              <a:rPr sz="2000" kern="0" dirty="0">
                <a:solidFill>
                  <a:sysClr val="windowText" lastClr="000000"/>
                </a:solidFill>
                <a:latin typeface="Microsoft Sans Serif"/>
                <a:cs typeface="Microsoft Sans Serif"/>
              </a:rPr>
              <a:t>của</a:t>
            </a:r>
            <a:r>
              <a:rPr sz="2000" kern="0" spc="60" dirty="0">
                <a:solidFill>
                  <a:sysClr val="windowText" lastClr="000000"/>
                </a:solidFill>
                <a:latin typeface="Microsoft Sans Serif"/>
                <a:cs typeface="Microsoft Sans Serif"/>
              </a:rPr>
              <a:t> </a:t>
            </a:r>
            <a:r>
              <a:rPr sz="2000" kern="0" dirty="0">
                <a:solidFill>
                  <a:sysClr val="windowText" lastClr="000000"/>
                </a:solidFill>
                <a:latin typeface="Microsoft Sans Serif"/>
                <a:cs typeface="Microsoft Sans Serif"/>
              </a:rPr>
              <a:t>Database</a:t>
            </a:r>
            <a:r>
              <a:rPr sz="2000" kern="0" spc="35" dirty="0">
                <a:solidFill>
                  <a:sysClr val="windowText" lastClr="000000"/>
                </a:solidFill>
                <a:latin typeface="Microsoft Sans Serif"/>
                <a:cs typeface="Microsoft Sans Serif"/>
              </a:rPr>
              <a:t> </a:t>
            </a:r>
            <a:r>
              <a:rPr sz="2000" kern="0" dirty="0">
                <a:solidFill>
                  <a:sysClr val="windowText" lastClr="000000"/>
                </a:solidFill>
                <a:latin typeface="Microsoft Sans Serif"/>
                <a:cs typeface="Microsoft Sans Serif"/>
              </a:rPr>
              <a:t>sang</a:t>
            </a:r>
            <a:r>
              <a:rPr sz="2000" kern="0" spc="30" dirty="0">
                <a:solidFill>
                  <a:sysClr val="windowText" lastClr="000000"/>
                </a:solidFill>
                <a:latin typeface="Microsoft Sans Serif"/>
                <a:cs typeface="Microsoft Sans Serif"/>
              </a:rPr>
              <a:t> </a:t>
            </a:r>
            <a:r>
              <a:rPr sz="2000" kern="0" spc="-10" dirty="0">
                <a:solidFill>
                  <a:sysClr val="windowText" lastClr="000000"/>
                </a:solidFill>
                <a:latin typeface="Microsoft Sans Serif"/>
                <a:cs typeface="Microsoft Sans Serif"/>
              </a:rPr>
              <a:t>trang Dataclasses.dbml</a:t>
            </a:r>
            <a:endParaRPr sz="2000" kern="0">
              <a:solidFill>
                <a:sysClr val="windowText" lastClr="000000"/>
              </a:solidFill>
              <a:latin typeface="Microsoft Sans Serif"/>
              <a:cs typeface="Microsoft Sans Serif"/>
            </a:endParaRPr>
          </a:p>
        </p:txBody>
      </p:sp>
      <p:grpSp>
        <p:nvGrpSpPr>
          <p:cNvPr id="4" name="object 4"/>
          <p:cNvGrpSpPr/>
          <p:nvPr/>
        </p:nvGrpSpPr>
        <p:grpSpPr>
          <a:xfrm>
            <a:off x="2634348" y="1900555"/>
            <a:ext cx="7315200" cy="4309745"/>
            <a:chOff x="1110348" y="1900554"/>
            <a:chExt cx="7315200" cy="4309745"/>
          </a:xfrm>
        </p:grpSpPr>
        <p:pic>
          <p:nvPicPr>
            <p:cNvPr id="5" name="object 5"/>
            <p:cNvPicPr/>
            <p:nvPr/>
          </p:nvPicPr>
          <p:blipFill>
            <a:blip r:embed="rId2" cstate="print"/>
            <a:stretch>
              <a:fillRect/>
            </a:stretch>
          </p:blipFill>
          <p:spPr>
            <a:xfrm>
              <a:off x="1110348" y="1900554"/>
              <a:ext cx="7315200" cy="4309745"/>
            </a:xfrm>
            <a:prstGeom prst="rect">
              <a:avLst/>
            </a:prstGeom>
          </p:spPr>
        </p:pic>
        <p:sp>
          <p:nvSpPr>
            <p:cNvPr id="6" name="object 6"/>
            <p:cNvSpPr/>
            <p:nvPr/>
          </p:nvSpPr>
          <p:spPr>
            <a:xfrm>
              <a:off x="2258441" y="2672079"/>
              <a:ext cx="631190" cy="375285"/>
            </a:xfrm>
            <a:custGeom>
              <a:avLst/>
              <a:gdLst/>
              <a:ahLst/>
              <a:cxnLst/>
              <a:rect l="l" t="t" r="r" b="b"/>
              <a:pathLst>
                <a:path w="631189" h="375285">
                  <a:moveTo>
                    <a:pt x="93852" y="0"/>
                  </a:moveTo>
                  <a:lnTo>
                    <a:pt x="0" y="0"/>
                  </a:lnTo>
                  <a:lnTo>
                    <a:pt x="52683" y="2025"/>
                  </a:lnTo>
                  <a:lnTo>
                    <a:pt x="104020" y="7983"/>
                  </a:lnTo>
                  <a:lnTo>
                    <a:pt x="153697" y="17692"/>
                  </a:lnTo>
                  <a:lnTo>
                    <a:pt x="201399" y="30972"/>
                  </a:lnTo>
                  <a:lnTo>
                    <a:pt x="246814" y="47643"/>
                  </a:lnTo>
                  <a:lnTo>
                    <a:pt x="289626" y="67524"/>
                  </a:lnTo>
                  <a:lnTo>
                    <a:pt x="329523" y="90436"/>
                  </a:lnTo>
                  <a:lnTo>
                    <a:pt x="366190" y="116196"/>
                  </a:lnTo>
                  <a:lnTo>
                    <a:pt x="399313" y="144626"/>
                  </a:lnTo>
                  <a:lnTo>
                    <a:pt x="428579" y="175545"/>
                  </a:lnTo>
                  <a:lnTo>
                    <a:pt x="453674" y="208772"/>
                  </a:lnTo>
                  <a:lnTo>
                    <a:pt x="474283" y="244128"/>
                  </a:lnTo>
                  <a:lnTo>
                    <a:pt x="490092" y="281432"/>
                  </a:lnTo>
                  <a:lnTo>
                    <a:pt x="443229" y="281432"/>
                  </a:lnTo>
                  <a:lnTo>
                    <a:pt x="553084" y="375285"/>
                  </a:lnTo>
                  <a:lnTo>
                    <a:pt x="630808" y="281432"/>
                  </a:lnTo>
                  <a:lnTo>
                    <a:pt x="583945" y="281432"/>
                  </a:lnTo>
                  <a:lnTo>
                    <a:pt x="568136" y="244128"/>
                  </a:lnTo>
                  <a:lnTo>
                    <a:pt x="547527" y="208772"/>
                  </a:lnTo>
                  <a:lnTo>
                    <a:pt x="522432" y="175545"/>
                  </a:lnTo>
                  <a:lnTo>
                    <a:pt x="493166" y="144626"/>
                  </a:lnTo>
                  <a:lnTo>
                    <a:pt x="460043" y="116196"/>
                  </a:lnTo>
                  <a:lnTo>
                    <a:pt x="423376" y="90436"/>
                  </a:lnTo>
                  <a:lnTo>
                    <a:pt x="383479" y="67524"/>
                  </a:lnTo>
                  <a:lnTo>
                    <a:pt x="340667" y="47643"/>
                  </a:lnTo>
                  <a:lnTo>
                    <a:pt x="295252" y="30972"/>
                  </a:lnTo>
                  <a:lnTo>
                    <a:pt x="247550" y="17692"/>
                  </a:lnTo>
                  <a:lnTo>
                    <a:pt x="197873" y="7983"/>
                  </a:lnTo>
                  <a:lnTo>
                    <a:pt x="146536" y="2025"/>
                  </a:lnTo>
                  <a:lnTo>
                    <a:pt x="93852" y="0"/>
                  </a:lnTo>
                  <a:close/>
                </a:path>
              </a:pathLst>
            </a:custGeom>
            <a:solidFill>
              <a:srgbClr val="D24717"/>
            </a:solidFill>
          </p:spPr>
          <p:txBody>
            <a:bodyPr wrap="square" lIns="0" tIns="0" rIns="0" bIns="0" rtlCol="0"/>
            <a:lstStyle/>
            <a:p>
              <a:endParaRPr kern="0">
                <a:solidFill>
                  <a:sysClr val="windowText" lastClr="000000"/>
                </a:solidFill>
              </a:endParaRPr>
            </a:p>
          </p:txBody>
        </p:sp>
        <p:sp>
          <p:nvSpPr>
            <p:cNvPr id="7" name="object 7"/>
            <p:cNvSpPr/>
            <p:nvPr/>
          </p:nvSpPr>
          <p:spPr>
            <a:xfrm>
              <a:off x="1752219" y="2672079"/>
              <a:ext cx="553085" cy="375285"/>
            </a:xfrm>
            <a:custGeom>
              <a:avLst/>
              <a:gdLst/>
              <a:ahLst/>
              <a:cxnLst/>
              <a:rect l="l" t="t" r="r" b="b"/>
              <a:pathLst>
                <a:path w="553085" h="375285">
                  <a:moveTo>
                    <a:pt x="506222" y="0"/>
                  </a:moveTo>
                  <a:lnTo>
                    <a:pt x="451072" y="2202"/>
                  </a:lnTo>
                  <a:lnTo>
                    <a:pt x="397641" y="8655"/>
                  </a:lnTo>
                  <a:lnTo>
                    <a:pt x="346236" y="19132"/>
                  </a:lnTo>
                  <a:lnTo>
                    <a:pt x="297168" y="33402"/>
                  </a:lnTo>
                  <a:lnTo>
                    <a:pt x="250745" y="51237"/>
                  </a:lnTo>
                  <a:lnTo>
                    <a:pt x="207276" y="72408"/>
                  </a:lnTo>
                  <a:lnTo>
                    <a:pt x="167070" y="96686"/>
                  </a:lnTo>
                  <a:lnTo>
                    <a:pt x="130437" y="123841"/>
                  </a:lnTo>
                  <a:lnTo>
                    <a:pt x="97686" y="153646"/>
                  </a:lnTo>
                  <a:lnTo>
                    <a:pt x="69125" y="185871"/>
                  </a:lnTo>
                  <a:lnTo>
                    <a:pt x="45064" y="220287"/>
                  </a:lnTo>
                  <a:lnTo>
                    <a:pt x="25812" y="256665"/>
                  </a:lnTo>
                  <a:lnTo>
                    <a:pt x="11678" y="294777"/>
                  </a:lnTo>
                  <a:lnTo>
                    <a:pt x="2971" y="334393"/>
                  </a:lnTo>
                  <a:lnTo>
                    <a:pt x="0" y="375285"/>
                  </a:lnTo>
                  <a:lnTo>
                    <a:pt x="93853" y="375285"/>
                  </a:lnTo>
                  <a:lnTo>
                    <a:pt x="96848" y="334284"/>
                  </a:lnTo>
                  <a:lnTo>
                    <a:pt x="105635" y="294505"/>
                  </a:lnTo>
                  <a:lnTo>
                    <a:pt x="119911" y="256192"/>
                  </a:lnTo>
                  <a:lnTo>
                    <a:pt x="139376" y="219591"/>
                  </a:lnTo>
                  <a:lnTo>
                    <a:pt x="163727" y="184946"/>
                  </a:lnTo>
                  <a:lnTo>
                    <a:pt x="192664" y="152503"/>
                  </a:lnTo>
                  <a:lnTo>
                    <a:pt x="225885" y="122507"/>
                  </a:lnTo>
                  <a:lnTo>
                    <a:pt x="263089" y="95203"/>
                  </a:lnTo>
                  <a:lnTo>
                    <a:pt x="303975" y="70837"/>
                  </a:lnTo>
                  <a:lnTo>
                    <a:pt x="348241" y="49654"/>
                  </a:lnTo>
                  <a:lnTo>
                    <a:pt x="395587" y="31898"/>
                  </a:lnTo>
                  <a:lnTo>
                    <a:pt x="445710" y="17815"/>
                  </a:lnTo>
                  <a:lnTo>
                    <a:pt x="498310" y="7651"/>
                  </a:lnTo>
                  <a:lnTo>
                    <a:pt x="553085" y="1650"/>
                  </a:lnTo>
                  <a:lnTo>
                    <a:pt x="529653" y="396"/>
                  </a:lnTo>
                  <a:lnTo>
                    <a:pt x="506222" y="0"/>
                  </a:lnTo>
                  <a:close/>
                </a:path>
              </a:pathLst>
            </a:custGeom>
            <a:solidFill>
              <a:srgbClr val="AA3912"/>
            </a:solidFill>
          </p:spPr>
          <p:txBody>
            <a:bodyPr wrap="square" lIns="0" tIns="0" rIns="0" bIns="0" rtlCol="0"/>
            <a:lstStyle/>
            <a:p>
              <a:endParaRPr kern="0">
                <a:solidFill>
                  <a:sysClr val="windowText" lastClr="000000"/>
                </a:solidFill>
              </a:endParaRPr>
            </a:p>
          </p:txBody>
        </p:sp>
        <p:sp>
          <p:nvSpPr>
            <p:cNvPr id="8" name="object 8"/>
            <p:cNvSpPr/>
            <p:nvPr/>
          </p:nvSpPr>
          <p:spPr>
            <a:xfrm>
              <a:off x="1752219" y="2672079"/>
              <a:ext cx="1137285" cy="375285"/>
            </a:xfrm>
            <a:custGeom>
              <a:avLst/>
              <a:gdLst/>
              <a:ahLst/>
              <a:cxnLst/>
              <a:rect l="l" t="t" r="r" b="b"/>
              <a:pathLst>
                <a:path w="1137285" h="375285">
                  <a:moveTo>
                    <a:pt x="553085" y="1650"/>
                  </a:moveTo>
                  <a:lnTo>
                    <a:pt x="498310" y="7651"/>
                  </a:lnTo>
                  <a:lnTo>
                    <a:pt x="445710" y="17815"/>
                  </a:lnTo>
                  <a:lnTo>
                    <a:pt x="395587" y="31898"/>
                  </a:lnTo>
                  <a:lnTo>
                    <a:pt x="348241" y="49654"/>
                  </a:lnTo>
                  <a:lnTo>
                    <a:pt x="303975" y="70837"/>
                  </a:lnTo>
                  <a:lnTo>
                    <a:pt x="263089" y="95203"/>
                  </a:lnTo>
                  <a:lnTo>
                    <a:pt x="225885" y="122507"/>
                  </a:lnTo>
                  <a:lnTo>
                    <a:pt x="192664" y="152503"/>
                  </a:lnTo>
                  <a:lnTo>
                    <a:pt x="163727" y="184946"/>
                  </a:lnTo>
                  <a:lnTo>
                    <a:pt x="139376" y="219591"/>
                  </a:lnTo>
                  <a:lnTo>
                    <a:pt x="119911" y="256192"/>
                  </a:lnTo>
                  <a:lnTo>
                    <a:pt x="105635" y="294505"/>
                  </a:lnTo>
                  <a:lnTo>
                    <a:pt x="96848" y="334284"/>
                  </a:lnTo>
                  <a:lnTo>
                    <a:pt x="93853" y="375285"/>
                  </a:lnTo>
                  <a:lnTo>
                    <a:pt x="0" y="375285"/>
                  </a:lnTo>
                  <a:lnTo>
                    <a:pt x="2971" y="334393"/>
                  </a:lnTo>
                  <a:lnTo>
                    <a:pt x="11678" y="294777"/>
                  </a:lnTo>
                  <a:lnTo>
                    <a:pt x="25812" y="256665"/>
                  </a:lnTo>
                  <a:lnTo>
                    <a:pt x="45064" y="220287"/>
                  </a:lnTo>
                  <a:lnTo>
                    <a:pt x="69125" y="185871"/>
                  </a:lnTo>
                  <a:lnTo>
                    <a:pt x="97686" y="153646"/>
                  </a:lnTo>
                  <a:lnTo>
                    <a:pt x="130437" y="123841"/>
                  </a:lnTo>
                  <a:lnTo>
                    <a:pt x="167070" y="96686"/>
                  </a:lnTo>
                  <a:lnTo>
                    <a:pt x="207276" y="72408"/>
                  </a:lnTo>
                  <a:lnTo>
                    <a:pt x="250745" y="51237"/>
                  </a:lnTo>
                  <a:lnTo>
                    <a:pt x="297168" y="33402"/>
                  </a:lnTo>
                  <a:lnTo>
                    <a:pt x="346236" y="19132"/>
                  </a:lnTo>
                  <a:lnTo>
                    <a:pt x="397641" y="8655"/>
                  </a:lnTo>
                  <a:lnTo>
                    <a:pt x="451072" y="2202"/>
                  </a:lnTo>
                  <a:lnTo>
                    <a:pt x="506222" y="0"/>
                  </a:lnTo>
                  <a:lnTo>
                    <a:pt x="600075" y="0"/>
                  </a:lnTo>
                  <a:lnTo>
                    <a:pt x="652758" y="2025"/>
                  </a:lnTo>
                  <a:lnTo>
                    <a:pt x="704095" y="7983"/>
                  </a:lnTo>
                  <a:lnTo>
                    <a:pt x="753772" y="17692"/>
                  </a:lnTo>
                  <a:lnTo>
                    <a:pt x="801474" y="30972"/>
                  </a:lnTo>
                  <a:lnTo>
                    <a:pt x="846889" y="47643"/>
                  </a:lnTo>
                  <a:lnTo>
                    <a:pt x="889701" y="67524"/>
                  </a:lnTo>
                  <a:lnTo>
                    <a:pt x="929598" y="90436"/>
                  </a:lnTo>
                  <a:lnTo>
                    <a:pt x="966265" y="116196"/>
                  </a:lnTo>
                  <a:lnTo>
                    <a:pt x="999388" y="144626"/>
                  </a:lnTo>
                  <a:lnTo>
                    <a:pt x="1028654" y="175545"/>
                  </a:lnTo>
                  <a:lnTo>
                    <a:pt x="1053749" y="208772"/>
                  </a:lnTo>
                  <a:lnTo>
                    <a:pt x="1074358" y="244128"/>
                  </a:lnTo>
                  <a:lnTo>
                    <a:pt x="1090168" y="281432"/>
                  </a:lnTo>
                  <a:lnTo>
                    <a:pt x="1137031" y="281432"/>
                  </a:lnTo>
                  <a:lnTo>
                    <a:pt x="1059307" y="375285"/>
                  </a:lnTo>
                  <a:lnTo>
                    <a:pt x="949451" y="281432"/>
                  </a:lnTo>
                  <a:lnTo>
                    <a:pt x="996314" y="281432"/>
                  </a:lnTo>
                  <a:lnTo>
                    <a:pt x="980505" y="244128"/>
                  </a:lnTo>
                  <a:lnTo>
                    <a:pt x="959896" y="208772"/>
                  </a:lnTo>
                  <a:lnTo>
                    <a:pt x="934801" y="175545"/>
                  </a:lnTo>
                  <a:lnTo>
                    <a:pt x="905535" y="144626"/>
                  </a:lnTo>
                  <a:lnTo>
                    <a:pt x="872412" y="116196"/>
                  </a:lnTo>
                  <a:lnTo>
                    <a:pt x="835745" y="90436"/>
                  </a:lnTo>
                  <a:lnTo>
                    <a:pt x="795848" y="67524"/>
                  </a:lnTo>
                  <a:lnTo>
                    <a:pt x="753036" y="47643"/>
                  </a:lnTo>
                  <a:lnTo>
                    <a:pt x="707621" y="30972"/>
                  </a:lnTo>
                  <a:lnTo>
                    <a:pt x="659919" y="17692"/>
                  </a:lnTo>
                  <a:lnTo>
                    <a:pt x="610242" y="7983"/>
                  </a:lnTo>
                  <a:lnTo>
                    <a:pt x="558905" y="2025"/>
                  </a:lnTo>
                  <a:lnTo>
                    <a:pt x="506222" y="0"/>
                  </a:lnTo>
                </a:path>
              </a:pathLst>
            </a:custGeom>
            <a:ln w="19050">
              <a:solidFill>
                <a:srgbClr val="9B310D"/>
              </a:solidFill>
            </a:ln>
          </p:spPr>
          <p:txBody>
            <a:bodyPr wrap="square" lIns="0" tIns="0" rIns="0" bIns="0" rtlCol="0"/>
            <a:lstStyle/>
            <a:p>
              <a:endParaRPr kern="0">
                <a:solidFill>
                  <a:sysClr val="windowText" lastClr="000000"/>
                </a:solidFill>
              </a:endParaRPr>
            </a:p>
          </p:txBody>
        </p:sp>
        <p:sp>
          <p:nvSpPr>
            <p:cNvPr id="9" name="object 9"/>
            <p:cNvSpPr/>
            <p:nvPr/>
          </p:nvSpPr>
          <p:spPr>
            <a:xfrm>
              <a:off x="1459484" y="3047364"/>
              <a:ext cx="4103370" cy="1143635"/>
            </a:xfrm>
            <a:custGeom>
              <a:avLst/>
              <a:gdLst/>
              <a:ahLst/>
              <a:cxnLst/>
              <a:rect l="l" t="t" r="r" b="b"/>
              <a:pathLst>
                <a:path w="4103370" h="1143635">
                  <a:moveTo>
                    <a:pt x="0" y="50926"/>
                  </a:moveTo>
                  <a:lnTo>
                    <a:pt x="3992" y="31075"/>
                  </a:lnTo>
                  <a:lnTo>
                    <a:pt x="14890" y="14890"/>
                  </a:lnTo>
                  <a:lnTo>
                    <a:pt x="31075" y="3992"/>
                  </a:lnTo>
                  <a:lnTo>
                    <a:pt x="50927" y="0"/>
                  </a:lnTo>
                  <a:lnTo>
                    <a:pt x="808863" y="0"/>
                  </a:lnTo>
                  <a:lnTo>
                    <a:pt x="828661" y="3992"/>
                  </a:lnTo>
                  <a:lnTo>
                    <a:pt x="844851" y="14890"/>
                  </a:lnTo>
                  <a:lnTo>
                    <a:pt x="855779" y="31075"/>
                  </a:lnTo>
                  <a:lnTo>
                    <a:pt x="859790" y="50926"/>
                  </a:lnTo>
                  <a:lnTo>
                    <a:pt x="859790" y="254508"/>
                  </a:lnTo>
                  <a:lnTo>
                    <a:pt x="855779" y="274359"/>
                  </a:lnTo>
                  <a:lnTo>
                    <a:pt x="844851" y="290544"/>
                  </a:lnTo>
                  <a:lnTo>
                    <a:pt x="828661" y="301442"/>
                  </a:lnTo>
                  <a:lnTo>
                    <a:pt x="808863" y="305435"/>
                  </a:lnTo>
                  <a:lnTo>
                    <a:pt x="50927" y="305435"/>
                  </a:lnTo>
                  <a:lnTo>
                    <a:pt x="31075" y="301442"/>
                  </a:lnTo>
                  <a:lnTo>
                    <a:pt x="14890" y="290544"/>
                  </a:lnTo>
                  <a:lnTo>
                    <a:pt x="3992" y="274359"/>
                  </a:lnTo>
                  <a:lnTo>
                    <a:pt x="0" y="254508"/>
                  </a:lnTo>
                  <a:lnTo>
                    <a:pt x="0" y="50926"/>
                  </a:lnTo>
                  <a:close/>
                </a:path>
                <a:path w="4103370" h="1143635">
                  <a:moveTo>
                    <a:pt x="1264666" y="191135"/>
                  </a:moveTo>
                  <a:lnTo>
                    <a:pt x="1269700" y="147472"/>
                  </a:lnTo>
                  <a:lnTo>
                    <a:pt x="1284038" y="107381"/>
                  </a:lnTo>
                  <a:lnTo>
                    <a:pt x="1306533" y="72009"/>
                  </a:lnTo>
                  <a:lnTo>
                    <a:pt x="1336040" y="42502"/>
                  </a:lnTo>
                  <a:lnTo>
                    <a:pt x="1371412" y="20007"/>
                  </a:lnTo>
                  <a:lnTo>
                    <a:pt x="1411503" y="5669"/>
                  </a:lnTo>
                  <a:lnTo>
                    <a:pt x="1455166" y="635"/>
                  </a:lnTo>
                  <a:lnTo>
                    <a:pt x="3912616" y="635"/>
                  </a:lnTo>
                  <a:lnTo>
                    <a:pt x="3956278" y="5669"/>
                  </a:lnTo>
                  <a:lnTo>
                    <a:pt x="3996369" y="20007"/>
                  </a:lnTo>
                  <a:lnTo>
                    <a:pt x="4031741" y="42502"/>
                  </a:lnTo>
                  <a:lnTo>
                    <a:pt x="4061248" y="72009"/>
                  </a:lnTo>
                  <a:lnTo>
                    <a:pt x="4083743" y="107381"/>
                  </a:lnTo>
                  <a:lnTo>
                    <a:pt x="4098081" y="147472"/>
                  </a:lnTo>
                  <a:lnTo>
                    <a:pt x="4103116" y="191135"/>
                  </a:lnTo>
                  <a:lnTo>
                    <a:pt x="4103116" y="953135"/>
                  </a:lnTo>
                  <a:lnTo>
                    <a:pt x="4098081" y="996797"/>
                  </a:lnTo>
                  <a:lnTo>
                    <a:pt x="4083743" y="1036888"/>
                  </a:lnTo>
                  <a:lnTo>
                    <a:pt x="4061248" y="1072260"/>
                  </a:lnTo>
                  <a:lnTo>
                    <a:pt x="4031741" y="1101767"/>
                  </a:lnTo>
                  <a:lnTo>
                    <a:pt x="3996369" y="1124262"/>
                  </a:lnTo>
                  <a:lnTo>
                    <a:pt x="3956278" y="1138600"/>
                  </a:lnTo>
                  <a:lnTo>
                    <a:pt x="3912616" y="1143635"/>
                  </a:lnTo>
                  <a:lnTo>
                    <a:pt x="1455166" y="1143635"/>
                  </a:lnTo>
                  <a:lnTo>
                    <a:pt x="1411503" y="1138600"/>
                  </a:lnTo>
                  <a:lnTo>
                    <a:pt x="1371412" y="1124262"/>
                  </a:lnTo>
                  <a:lnTo>
                    <a:pt x="1336040" y="1101767"/>
                  </a:lnTo>
                  <a:lnTo>
                    <a:pt x="1306533" y="1072260"/>
                  </a:lnTo>
                  <a:lnTo>
                    <a:pt x="1284038" y="1036888"/>
                  </a:lnTo>
                  <a:lnTo>
                    <a:pt x="1269700" y="996797"/>
                  </a:lnTo>
                  <a:lnTo>
                    <a:pt x="1264666" y="953135"/>
                  </a:lnTo>
                  <a:lnTo>
                    <a:pt x="1264666" y="191135"/>
                  </a:lnTo>
                  <a:close/>
                </a:path>
              </a:pathLst>
            </a:custGeom>
            <a:ln w="19050">
              <a:solidFill>
                <a:srgbClr val="FF0000"/>
              </a:solidFill>
            </a:ln>
          </p:spPr>
          <p:txBody>
            <a:bodyPr wrap="square" lIns="0" tIns="0" rIns="0" bIns="0" rtlCol="0"/>
            <a:lstStyle/>
            <a:p>
              <a:endParaRPr kern="0">
                <a:solidFill>
                  <a:sysClr val="windowText" lastClr="000000"/>
                </a:solidFill>
              </a:endParaRPr>
            </a:p>
          </p:txBody>
        </p:sp>
      </p:gr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solidFill>
                  <a:prstClr val="white"/>
                </a:solidFill>
              </a:rPr>
              <a:pPr marL="38100">
                <a:lnSpc>
                  <a:spcPts val="1664"/>
                </a:lnSpc>
              </a:pPr>
              <a:t>46</a:t>
            </a:fld>
            <a:endParaRPr spc="-25" dirty="0">
              <a:solidFill>
                <a:prstClr val="white"/>
              </a:solidFill>
            </a:endParaRPr>
          </a:p>
        </p:txBody>
      </p:sp>
      <p:sp>
        <p:nvSpPr>
          <p:cNvPr id="12" name="object 12"/>
          <p:cNvSpPr txBox="1">
            <a:spLocks noGrp="1"/>
          </p:cNvSpPr>
          <p:nvPr>
            <p:ph type="ftr" sz="quarter" idx="5"/>
          </p:nvPr>
        </p:nvSpPr>
        <p:spPr>
          <a:xfrm>
            <a:off x="2763418" y="6600176"/>
            <a:ext cx="1243964" cy="155171"/>
          </a:xfrm>
          <a:prstGeom prst="rect">
            <a:avLst/>
          </a:prstGeom>
        </p:spPr>
        <p:txBody>
          <a:bodyPr vert="horz" wrap="square" lIns="0" tIns="1270" rIns="0" bIns="0" rtlCol="0">
            <a:spAutoFit/>
          </a:bodyPr>
          <a:lstStyle/>
          <a:p>
            <a:pPr marL="12700">
              <a:spcBef>
                <a:spcPts val="10"/>
              </a:spcBef>
            </a:pPr>
            <a:endParaRPr spc="-20" dirty="0">
              <a:solidFill>
                <a:prstClr val="white"/>
              </a:solidFill>
            </a:endParaRPr>
          </a:p>
        </p:txBody>
      </p:sp>
    </p:spTree>
    <p:extLst>
      <p:ext uri="{BB962C8B-B14F-4D97-AF65-F5344CB8AC3E}">
        <p14:creationId xmlns:p14="http://schemas.microsoft.com/office/powerpoint/2010/main" val="263387116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91268" y="450927"/>
            <a:ext cx="11057467" cy="444994"/>
          </a:xfrm>
          <a:prstGeom prst="rect">
            <a:avLst/>
          </a:prstGeom>
        </p:spPr>
        <p:txBody>
          <a:bodyPr vert="horz" wrap="square" lIns="0" tIns="13970" rIns="0" bIns="0" rtlCol="0">
            <a:spAutoFit/>
          </a:bodyPr>
          <a:lstStyle/>
          <a:p>
            <a:pPr marL="12700">
              <a:spcBef>
                <a:spcPts val="110"/>
              </a:spcBef>
              <a:tabLst>
                <a:tab pos="8279765" algn="l"/>
              </a:tabLst>
            </a:pPr>
            <a:r>
              <a:rPr dirty="0"/>
              <a:t>7.</a:t>
            </a:r>
            <a:r>
              <a:rPr spc="-45" dirty="0"/>
              <a:t> </a:t>
            </a:r>
            <a:r>
              <a:rPr dirty="0"/>
              <a:t>XÂY</a:t>
            </a:r>
            <a:r>
              <a:rPr spc="-80" dirty="0"/>
              <a:t> </a:t>
            </a:r>
            <a:r>
              <a:rPr dirty="0"/>
              <a:t>DỰNG</a:t>
            </a:r>
            <a:r>
              <a:rPr spc="-40" dirty="0"/>
              <a:t> </a:t>
            </a:r>
            <a:r>
              <a:rPr dirty="0"/>
              <a:t>ỨNG</a:t>
            </a:r>
            <a:r>
              <a:rPr spc="-35" dirty="0"/>
              <a:t> </a:t>
            </a:r>
            <a:r>
              <a:rPr dirty="0"/>
              <a:t>DỤNG</a:t>
            </a:r>
            <a:r>
              <a:rPr spc="-5" dirty="0"/>
              <a:t> </a:t>
            </a:r>
            <a:r>
              <a:rPr dirty="0"/>
              <a:t>WEB</a:t>
            </a:r>
            <a:r>
              <a:rPr spc="-30" dirty="0"/>
              <a:t> </a:t>
            </a:r>
            <a:r>
              <a:rPr dirty="0"/>
              <a:t>MVC</a:t>
            </a:r>
            <a:r>
              <a:rPr spc="-55" dirty="0"/>
              <a:t> </a:t>
            </a:r>
            <a:r>
              <a:rPr dirty="0"/>
              <a:t>VỚI</a:t>
            </a:r>
            <a:r>
              <a:rPr spc="-65" dirty="0"/>
              <a:t> </a:t>
            </a:r>
            <a:r>
              <a:rPr spc="-20" dirty="0"/>
              <a:t>CSDL</a:t>
            </a:r>
            <a:r>
              <a:rPr dirty="0"/>
              <a:t>	</a:t>
            </a:r>
          </a:p>
        </p:txBody>
      </p:sp>
      <p:sp>
        <p:nvSpPr>
          <p:cNvPr id="3" name="object 3"/>
          <p:cNvSpPr txBox="1"/>
          <p:nvPr/>
        </p:nvSpPr>
        <p:spPr>
          <a:xfrm>
            <a:off x="2060245" y="1092104"/>
            <a:ext cx="6584315" cy="799465"/>
          </a:xfrm>
          <a:prstGeom prst="rect">
            <a:avLst/>
          </a:prstGeom>
        </p:spPr>
        <p:txBody>
          <a:bodyPr vert="horz" wrap="square" lIns="0" tIns="89535" rIns="0" bIns="0" rtlCol="0">
            <a:spAutoFit/>
          </a:bodyPr>
          <a:lstStyle/>
          <a:p>
            <a:pPr marL="12700">
              <a:spcBef>
                <a:spcPts val="705"/>
              </a:spcBef>
            </a:pPr>
            <a:r>
              <a:rPr sz="2400" b="1" kern="0">
                <a:solidFill>
                  <a:srgbClr val="C00000"/>
                </a:solidFill>
                <a:latin typeface="Arial"/>
                <a:cs typeface="Arial"/>
              </a:rPr>
              <a:t>B</a:t>
            </a:r>
            <a:r>
              <a:rPr lang="vi-VN" sz="2400" b="1" kern="0">
                <a:solidFill>
                  <a:srgbClr val="C00000"/>
                </a:solidFill>
                <a:cs typeface="Arial"/>
              </a:rPr>
              <a:t>ư</a:t>
            </a:r>
            <a:r>
              <a:rPr sz="2400" b="1" kern="0">
                <a:solidFill>
                  <a:srgbClr val="C00000"/>
                </a:solidFill>
                <a:latin typeface="Arial"/>
                <a:cs typeface="Arial"/>
              </a:rPr>
              <a:t>ớc</a:t>
            </a:r>
            <a:r>
              <a:rPr sz="2400" b="1" kern="0" spc="-45">
                <a:solidFill>
                  <a:srgbClr val="C00000"/>
                </a:solidFill>
                <a:latin typeface="Arial"/>
                <a:cs typeface="Arial"/>
              </a:rPr>
              <a:t> </a:t>
            </a:r>
            <a:r>
              <a:rPr sz="2400" b="1" kern="0" dirty="0">
                <a:solidFill>
                  <a:srgbClr val="C00000"/>
                </a:solidFill>
                <a:latin typeface="Arial"/>
                <a:cs typeface="Arial"/>
              </a:rPr>
              <a:t>5:</a:t>
            </a:r>
            <a:r>
              <a:rPr sz="2400" b="1" kern="0" spc="-45" dirty="0">
                <a:solidFill>
                  <a:srgbClr val="C00000"/>
                </a:solidFill>
                <a:latin typeface="Arial"/>
                <a:cs typeface="Arial"/>
              </a:rPr>
              <a:t> </a:t>
            </a:r>
            <a:r>
              <a:rPr sz="2400" b="1" kern="0" dirty="0">
                <a:solidFill>
                  <a:srgbClr val="C00000"/>
                </a:solidFill>
                <a:latin typeface="Arial"/>
                <a:cs typeface="Arial"/>
              </a:rPr>
              <a:t>Xử</a:t>
            </a:r>
            <a:r>
              <a:rPr sz="2400" b="1" kern="0" spc="-15" dirty="0">
                <a:solidFill>
                  <a:srgbClr val="C00000"/>
                </a:solidFill>
                <a:latin typeface="Arial"/>
                <a:cs typeface="Arial"/>
              </a:rPr>
              <a:t> </a:t>
            </a:r>
            <a:r>
              <a:rPr sz="2400" b="1" kern="0" dirty="0">
                <a:solidFill>
                  <a:srgbClr val="C00000"/>
                </a:solidFill>
                <a:latin typeface="Arial"/>
                <a:cs typeface="Arial"/>
              </a:rPr>
              <a:t>lý</a:t>
            </a:r>
            <a:r>
              <a:rPr sz="2400" b="1" kern="0" spc="-80" dirty="0">
                <a:solidFill>
                  <a:srgbClr val="C00000"/>
                </a:solidFill>
                <a:latin typeface="Arial"/>
                <a:cs typeface="Arial"/>
              </a:rPr>
              <a:t> </a:t>
            </a:r>
            <a:r>
              <a:rPr sz="2400" b="1" kern="0" spc="-10" dirty="0">
                <a:solidFill>
                  <a:srgbClr val="C00000"/>
                </a:solidFill>
                <a:latin typeface="Arial"/>
                <a:cs typeface="Arial"/>
              </a:rPr>
              <a:t>Controller</a:t>
            </a:r>
            <a:endParaRPr sz="2400" kern="0">
              <a:solidFill>
                <a:sysClr val="windowText" lastClr="000000"/>
              </a:solidFill>
              <a:latin typeface="Arial"/>
              <a:cs typeface="Arial"/>
            </a:endParaRPr>
          </a:p>
          <a:p>
            <a:pPr marL="458470">
              <a:spcBef>
                <a:spcPts val="450"/>
              </a:spcBef>
            </a:pPr>
            <a:r>
              <a:rPr kern="0" dirty="0">
                <a:solidFill>
                  <a:sysClr val="windowText" lastClr="000000"/>
                </a:solidFill>
                <a:latin typeface="Microsoft Sans Serif"/>
                <a:cs typeface="Microsoft Sans Serif"/>
              </a:rPr>
              <a:t>Tại</a:t>
            </a:r>
            <a:r>
              <a:rPr kern="0" spc="-15"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Folder</a:t>
            </a:r>
            <a:r>
              <a:rPr kern="0" spc="-35"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controller</a:t>
            </a:r>
            <a:r>
              <a:rPr kern="0" spc="400"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click</a:t>
            </a:r>
            <a:r>
              <a:rPr kern="0" spc="-45"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chuột</a:t>
            </a:r>
            <a:r>
              <a:rPr kern="0" spc="-5"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phải</a:t>
            </a:r>
            <a:r>
              <a:rPr kern="0" spc="25"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chọn</a:t>
            </a:r>
            <a:r>
              <a:rPr kern="0" spc="-110"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Add</a:t>
            </a:r>
            <a:r>
              <a:rPr kern="0" spc="110" dirty="0">
                <a:solidFill>
                  <a:sysClr val="windowText" lastClr="000000"/>
                </a:solidFill>
                <a:latin typeface="Microsoft Sans Serif"/>
                <a:cs typeface="Microsoft Sans Serif"/>
              </a:rPr>
              <a:t> </a:t>
            </a:r>
            <a:r>
              <a:rPr kern="0" dirty="0">
                <a:solidFill>
                  <a:sysClr val="windowText" lastClr="000000"/>
                </a:solidFill>
                <a:latin typeface="Wingdings"/>
                <a:cs typeface="Wingdings"/>
              </a:rPr>
              <a:t></a:t>
            </a:r>
            <a:r>
              <a:rPr kern="0" spc="45" dirty="0">
                <a:solidFill>
                  <a:sysClr val="windowText" lastClr="000000"/>
                </a:solidFill>
                <a:latin typeface="Times New Roman"/>
                <a:cs typeface="Times New Roman"/>
              </a:rPr>
              <a:t> </a:t>
            </a:r>
            <a:r>
              <a:rPr kern="0" spc="-10" dirty="0">
                <a:solidFill>
                  <a:sysClr val="windowText" lastClr="000000"/>
                </a:solidFill>
                <a:latin typeface="Microsoft Sans Serif"/>
                <a:cs typeface="Microsoft Sans Serif"/>
              </a:rPr>
              <a:t>Controller</a:t>
            </a:r>
            <a:endParaRPr kern="0">
              <a:solidFill>
                <a:sysClr val="windowText" lastClr="000000"/>
              </a:solidFill>
              <a:latin typeface="Microsoft Sans Serif"/>
              <a:cs typeface="Microsoft Sans Serif"/>
            </a:endParaRPr>
          </a:p>
        </p:txBody>
      </p:sp>
      <p:grpSp>
        <p:nvGrpSpPr>
          <p:cNvPr id="4" name="object 4"/>
          <p:cNvGrpSpPr/>
          <p:nvPr/>
        </p:nvGrpSpPr>
        <p:grpSpPr>
          <a:xfrm>
            <a:off x="2461272" y="1953260"/>
            <a:ext cx="7368540" cy="4594860"/>
            <a:chOff x="937272" y="1953260"/>
            <a:chExt cx="7368540" cy="4594860"/>
          </a:xfrm>
        </p:grpSpPr>
        <p:pic>
          <p:nvPicPr>
            <p:cNvPr id="5" name="object 5"/>
            <p:cNvPicPr/>
            <p:nvPr/>
          </p:nvPicPr>
          <p:blipFill>
            <a:blip r:embed="rId2" cstate="print"/>
            <a:stretch>
              <a:fillRect/>
            </a:stretch>
          </p:blipFill>
          <p:spPr>
            <a:xfrm>
              <a:off x="951560" y="1953260"/>
              <a:ext cx="4763389" cy="3380740"/>
            </a:xfrm>
            <a:prstGeom prst="rect">
              <a:avLst/>
            </a:prstGeom>
          </p:spPr>
        </p:pic>
        <p:pic>
          <p:nvPicPr>
            <p:cNvPr id="6" name="object 6"/>
            <p:cNvPicPr/>
            <p:nvPr/>
          </p:nvPicPr>
          <p:blipFill>
            <a:blip r:embed="rId3" cstate="print"/>
            <a:stretch>
              <a:fillRect/>
            </a:stretch>
          </p:blipFill>
          <p:spPr>
            <a:xfrm>
              <a:off x="3889375" y="5334000"/>
              <a:ext cx="4416425" cy="1214120"/>
            </a:xfrm>
            <a:prstGeom prst="rect">
              <a:avLst/>
            </a:prstGeom>
          </p:spPr>
        </p:pic>
        <p:sp>
          <p:nvSpPr>
            <p:cNvPr id="7" name="object 7"/>
            <p:cNvSpPr/>
            <p:nvPr/>
          </p:nvSpPr>
          <p:spPr>
            <a:xfrm>
              <a:off x="4871212" y="5104130"/>
              <a:ext cx="441325" cy="191135"/>
            </a:xfrm>
            <a:custGeom>
              <a:avLst/>
              <a:gdLst/>
              <a:ahLst/>
              <a:cxnLst/>
              <a:rect l="l" t="t" r="r" b="b"/>
              <a:pathLst>
                <a:path w="441325" h="191135">
                  <a:moveTo>
                    <a:pt x="0" y="31750"/>
                  </a:moveTo>
                  <a:lnTo>
                    <a:pt x="2498" y="19395"/>
                  </a:lnTo>
                  <a:lnTo>
                    <a:pt x="9318" y="9302"/>
                  </a:lnTo>
                  <a:lnTo>
                    <a:pt x="19448" y="2496"/>
                  </a:lnTo>
                  <a:lnTo>
                    <a:pt x="31876" y="0"/>
                  </a:lnTo>
                  <a:lnTo>
                    <a:pt x="409066" y="0"/>
                  </a:lnTo>
                  <a:lnTo>
                    <a:pt x="421421" y="2496"/>
                  </a:lnTo>
                  <a:lnTo>
                    <a:pt x="431514" y="9302"/>
                  </a:lnTo>
                  <a:lnTo>
                    <a:pt x="438320" y="19395"/>
                  </a:lnTo>
                  <a:lnTo>
                    <a:pt x="440816" y="31750"/>
                  </a:lnTo>
                  <a:lnTo>
                    <a:pt x="440816" y="159004"/>
                  </a:lnTo>
                  <a:lnTo>
                    <a:pt x="438320" y="171358"/>
                  </a:lnTo>
                  <a:lnTo>
                    <a:pt x="431514" y="181451"/>
                  </a:lnTo>
                  <a:lnTo>
                    <a:pt x="421421" y="188257"/>
                  </a:lnTo>
                  <a:lnTo>
                    <a:pt x="409066" y="190754"/>
                  </a:lnTo>
                  <a:lnTo>
                    <a:pt x="31876" y="190754"/>
                  </a:lnTo>
                  <a:lnTo>
                    <a:pt x="19448" y="188257"/>
                  </a:lnTo>
                  <a:lnTo>
                    <a:pt x="9318" y="181451"/>
                  </a:lnTo>
                  <a:lnTo>
                    <a:pt x="2498" y="171358"/>
                  </a:lnTo>
                  <a:lnTo>
                    <a:pt x="0" y="159004"/>
                  </a:lnTo>
                  <a:lnTo>
                    <a:pt x="0" y="31750"/>
                  </a:lnTo>
                  <a:close/>
                </a:path>
              </a:pathLst>
            </a:custGeom>
            <a:ln w="28575">
              <a:solidFill>
                <a:srgbClr val="C00000"/>
              </a:solidFill>
            </a:ln>
          </p:spPr>
          <p:txBody>
            <a:bodyPr wrap="square" lIns="0" tIns="0" rIns="0" bIns="0" rtlCol="0"/>
            <a:lstStyle/>
            <a:p>
              <a:endParaRPr kern="0">
                <a:solidFill>
                  <a:sysClr val="windowText" lastClr="000000"/>
                </a:solidFill>
              </a:endParaRPr>
            </a:p>
          </p:txBody>
        </p:sp>
        <p:sp>
          <p:nvSpPr>
            <p:cNvPr id="8" name="object 8"/>
            <p:cNvSpPr/>
            <p:nvPr/>
          </p:nvSpPr>
          <p:spPr>
            <a:xfrm>
              <a:off x="951560" y="2300986"/>
              <a:ext cx="2728595" cy="224154"/>
            </a:xfrm>
            <a:custGeom>
              <a:avLst/>
              <a:gdLst/>
              <a:ahLst/>
              <a:cxnLst/>
              <a:rect l="l" t="t" r="r" b="b"/>
              <a:pathLst>
                <a:path w="2728595" h="224155">
                  <a:moveTo>
                    <a:pt x="0" y="66801"/>
                  </a:moveTo>
                  <a:lnTo>
                    <a:pt x="1778" y="58019"/>
                  </a:lnTo>
                  <a:lnTo>
                    <a:pt x="6630" y="50831"/>
                  </a:lnTo>
                  <a:lnTo>
                    <a:pt x="13828" y="45977"/>
                  </a:lnTo>
                  <a:lnTo>
                    <a:pt x="22644" y="44196"/>
                  </a:lnTo>
                  <a:lnTo>
                    <a:pt x="543102" y="44196"/>
                  </a:lnTo>
                  <a:lnTo>
                    <a:pt x="551959" y="45977"/>
                  </a:lnTo>
                  <a:lnTo>
                    <a:pt x="559184" y="50831"/>
                  </a:lnTo>
                  <a:lnTo>
                    <a:pt x="564051" y="58019"/>
                  </a:lnTo>
                  <a:lnTo>
                    <a:pt x="565835" y="66801"/>
                  </a:lnTo>
                  <a:lnTo>
                    <a:pt x="565835" y="157352"/>
                  </a:lnTo>
                  <a:lnTo>
                    <a:pt x="564051" y="166209"/>
                  </a:lnTo>
                  <a:lnTo>
                    <a:pt x="559184" y="173434"/>
                  </a:lnTo>
                  <a:lnTo>
                    <a:pt x="551959" y="178302"/>
                  </a:lnTo>
                  <a:lnTo>
                    <a:pt x="543102" y="180086"/>
                  </a:lnTo>
                  <a:lnTo>
                    <a:pt x="22644" y="180086"/>
                  </a:lnTo>
                  <a:lnTo>
                    <a:pt x="13828" y="178302"/>
                  </a:lnTo>
                  <a:lnTo>
                    <a:pt x="6630" y="173434"/>
                  </a:lnTo>
                  <a:lnTo>
                    <a:pt x="1778" y="166209"/>
                  </a:lnTo>
                  <a:lnTo>
                    <a:pt x="0" y="157352"/>
                  </a:lnTo>
                  <a:lnTo>
                    <a:pt x="0" y="66801"/>
                  </a:lnTo>
                  <a:close/>
                </a:path>
                <a:path w="2728595" h="224155">
                  <a:moveTo>
                    <a:pt x="1029639" y="37337"/>
                  </a:moveTo>
                  <a:lnTo>
                    <a:pt x="1032580" y="22824"/>
                  </a:lnTo>
                  <a:lnTo>
                    <a:pt x="1040593" y="10953"/>
                  </a:lnTo>
                  <a:lnTo>
                    <a:pt x="1052464" y="2940"/>
                  </a:lnTo>
                  <a:lnTo>
                    <a:pt x="1066977" y="0"/>
                  </a:lnTo>
                  <a:lnTo>
                    <a:pt x="2690926" y="0"/>
                  </a:lnTo>
                  <a:lnTo>
                    <a:pt x="2705440" y="2940"/>
                  </a:lnTo>
                  <a:lnTo>
                    <a:pt x="2717311" y="10953"/>
                  </a:lnTo>
                  <a:lnTo>
                    <a:pt x="2725323" y="22824"/>
                  </a:lnTo>
                  <a:lnTo>
                    <a:pt x="2728264" y="37337"/>
                  </a:lnTo>
                  <a:lnTo>
                    <a:pt x="2728264" y="186816"/>
                  </a:lnTo>
                  <a:lnTo>
                    <a:pt x="2725323" y="201384"/>
                  </a:lnTo>
                  <a:lnTo>
                    <a:pt x="2717311" y="213248"/>
                  </a:lnTo>
                  <a:lnTo>
                    <a:pt x="2705440" y="221232"/>
                  </a:lnTo>
                  <a:lnTo>
                    <a:pt x="2690926" y="224154"/>
                  </a:lnTo>
                  <a:lnTo>
                    <a:pt x="1066977" y="224154"/>
                  </a:lnTo>
                  <a:lnTo>
                    <a:pt x="1052464" y="221232"/>
                  </a:lnTo>
                  <a:lnTo>
                    <a:pt x="1040593" y="213248"/>
                  </a:lnTo>
                  <a:lnTo>
                    <a:pt x="1032580" y="201384"/>
                  </a:lnTo>
                  <a:lnTo>
                    <a:pt x="1029639" y="186816"/>
                  </a:lnTo>
                  <a:lnTo>
                    <a:pt x="1029639" y="37337"/>
                  </a:lnTo>
                  <a:close/>
                </a:path>
              </a:pathLst>
            </a:custGeom>
            <a:ln w="28575">
              <a:solidFill>
                <a:srgbClr val="FF0000"/>
              </a:solidFill>
            </a:ln>
          </p:spPr>
          <p:txBody>
            <a:bodyPr wrap="square" lIns="0" tIns="0" rIns="0" bIns="0" rtlCol="0"/>
            <a:lstStyle/>
            <a:p>
              <a:endParaRPr kern="0">
                <a:solidFill>
                  <a:sysClr val="windowText" lastClr="000000"/>
                </a:solidFill>
              </a:endParaRPr>
            </a:p>
          </p:txBody>
        </p:sp>
        <p:sp>
          <p:nvSpPr>
            <p:cNvPr id="9" name="object 9"/>
            <p:cNvSpPr/>
            <p:nvPr/>
          </p:nvSpPr>
          <p:spPr>
            <a:xfrm>
              <a:off x="3975353" y="5638800"/>
              <a:ext cx="3568700" cy="761365"/>
            </a:xfrm>
            <a:custGeom>
              <a:avLst/>
              <a:gdLst/>
              <a:ahLst/>
              <a:cxnLst/>
              <a:rect l="l" t="t" r="r" b="b"/>
              <a:pathLst>
                <a:path w="3568700" h="761364">
                  <a:moveTo>
                    <a:pt x="0" y="76200"/>
                  </a:moveTo>
                  <a:lnTo>
                    <a:pt x="5976" y="46537"/>
                  </a:lnTo>
                  <a:lnTo>
                    <a:pt x="22288" y="22317"/>
                  </a:lnTo>
                  <a:lnTo>
                    <a:pt x="46505" y="5987"/>
                  </a:lnTo>
                  <a:lnTo>
                    <a:pt x="76200" y="0"/>
                  </a:lnTo>
                  <a:lnTo>
                    <a:pt x="1130046" y="0"/>
                  </a:lnTo>
                  <a:lnTo>
                    <a:pt x="1159686" y="5987"/>
                  </a:lnTo>
                  <a:lnTo>
                    <a:pt x="1183909" y="22317"/>
                  </a:lnTo>
                  <a:lnTo>
                    <a:pt x="1200251" y="46537"/>
                  </a:lnTo>
                  <a:lnTo>
                    <a:pt x="1206246" y="76200"/>
                  </a:lnTo>
                  <a:lnTo>
                    <a:pt x="1206246" y="381000"/>
                  </a:lnTo>
                  <a:lnTo>
                    <a:pt x="1200251" y="410662"/>
                  </a:lnTo>
                  <a:lnTo>
                    <a:pt x="1183909" y="434882"/>
                  </a:lnTo>
                  <a:lnTo>
                    <a:pt x="1159686" y="451212"/>
                  </a:lnTo>
                  <a:lnTo>
                    <a:pt x="1130046" y="457200"/>
                  </a:lnTo>
                  <a:lnTo>
                    <a:pt x="76200" y="457200"/>
                  </a:lnTo>
                  <a:lnTo>
                    <a:pt x="46505" y="451212"/>
                  </a:lnTo>
                  <a:lnTo>
                    <a:pt x="22288" y="434882"/>
                  </a:lnTo>
                  <a:lnTo>
                    <a:pt x="5976" y="410662"/>
                  </a:lnTo>
                  <a:lnTo>
                    <a:pt x="0" y="381000"/>
                  </a:lnTo>
                  <a:lnTo>
                    <a:pt x="0" y="76200"/>
                  </a:lnTo>
                  <a:close/>
                </a:path>
                <a:path w="3568700" h="761364">
                  <a:moveTo>
                    <a:pt x="2975229" y="507847"/>
                  </a:moveTo>
                  <a:lnTo>
                    <a:pt x="2979199" y="488130"/>
                  </a:lnTo>
                  <a:lnTo>
                    <a:pt x="2990040" y="472032"/>
                  </a:lnTo>
                  <a:lnTo>
                    <a:pt x="3006143" y="461179"/>
                  </a:lnTo>
                  <a:lnTo>
                    <a:pt x="3025902" y="457200"/>
                  </a:lnTo>
                  <a:lnTo>
                    <a:pt x="3517773" y="457200"/>
                  </a:lnTo>
                  <a:lnTo>
                    <a:pt x="3537477" y="461179"/>
                  </a:lnTo>
                  <a:lnTo>
                    <a:pt x="3553587" y="472032"/>
                  </a:lnTo>
                  <a:lnTo>
                    <a:pt x="3564457" y="488130"/>
                  </a:lnTo>
                  <a:lnTo>
                    <a:pt x="3568446" y="507847"/>
                  </a:lnTo>
                  <a:lnTo>
                    <a:pt x="3568446" y="710399"/>
                  </a:lnTo>
                  <a:lnTo>
                    <a:pt x="3564457" y="730116"/>
                  </a:lnTo>
                  <a:lnTo>
                    <a:pt x="3553587" y="746215"/>
                  </a:lnTo>
                  <a:lnTo>
                    <a:pt x="3537477" y="757068"/>
                  </a:lnTo>
                  <a:lnTo>
                    <a:pt x="3517773" y="761047"/>
                  </a:lnTo>
                  <a:lnTo>
                    <a:pt x="3025902" y="761047"/>
                  </a:lnTo>
                  <a:lnTo>
                    <a:pt x="3006143" y="757068"/>
                  </a:lnTo>
                  <a:lnTo>
                    <a:pt x="2990040" y="746215"/>
                  </a:lnTo>
                  <a:lnTo>
                    <a:pt x="2979199" y="730116"/>
                  </a:lnTo>
                  <a:lnTo>
                    <a:pt x="2975229" y="710399"/>
                  </a:lnTo>
                  <a:lnTo>
                    <a:pt x="2975229" y="507847"/>
                  </a:lnTo>
                  <a:close/>
                </a:path>
              </a:pathLst>
            </a:custGeom>
            <a:ln w="28575">
              <a:solidFill>
                <a:srgbClr val="C00000"/>
              </a:solidFill>
            </a:ln>
          </p:spPr>
          <p:txBody>
            <a:bodyPr wrap="square" lIns="0" tIns="0" rIns="0" bIns="0" rtlCol="0"/>
            <a:lstStyle/>
            <a:p>
              <a:endParaRPr kern="0">
                <a:solidFill>
                  <a:sysClr val="windowText" lastClr="000000"/>
                </a:solidFill>
              </a:endParaRPr>
            </a:p>
          </p:txBody>
        </p:sp>
      </p:gr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solidFill>
                  <a:prstClr val="white"/>
                </a:solidFill>
              </a:rPr>
              <a:pPr marL="38100">
                <a:lnSpc>
                  <a:spcPts val="1664"/>
                </a:lnSpc>
              </a:pPr>
              <a:t>47</a:t>
            </a:fld>
            <a:endParaRPr spc="-25" dirty="0">
              <a:solidFill>
                <a:prstClr val="white"/>
              </a:solidFill>
            </a:endParaRPr>
          </a:p>
        </p:txBody>
      </p:sp>
      <p:sp>
        <p:nvSpPr>
          <p:cNvPr id="12" name="object 12"/>
          <p:cNvSpPr txBox="1">
            <a:spLocks noGrp="1"/>
          </p:cNvSpPr>
          <p:nvPr>
            <p:ph type="ftr" sz="quarter" idx="5"/>
          </p:nvPr>
        </p:nvSpPr>
        <p:spPr>
          <a:xfrm>
            <a:off x="2763418" y="6600176"/>
            <a:ext cx="1243964" cy="155171"/>
          </a:xfrm>
          <a:prstGeom prst="rect">
            <a:avLst/>
          </a:prstGeom>
        </p:spPr>
        <p:txBody>
          <a:bodyPr vert="horz" wrap="square" lIns="0" tIns="1270" rIns="0" bIns="0" rtlCol="0">
            <a:spAutoFit/>
          </a:bodyPr>
          <a:lstStyle/>
          <a:p>
            <a:pPr marL="12700">
              <a:spcBef>
                <a:spcPts val="10"/>
              </a:spcBef>
            </a:pPr>
            <a:endParaRPr spc="-20" dirty="0">
              <a:solidFill>
                <a:prstClr val="white"/>
              </a:solidFill>
            </a:endParaRPr>
          </a:p>
        </p:txBody>
      </p:sp>
    </p:spTree>
    <p:extLst>
      <p:ext uri="{BB962C8B-B14F-4D97-AF65-F5344CB8AC3E}">
        <p14:creationId xmlns:p14="http://schemas.microsoft.com/office/powerpoint/2010/main" val="4257455777"/>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2091268" y="450927"/>
            <a:ext cx="11057467" cy="444994"/>
          </a:xfrm>
          <a:prstGeom prst="rect">
            <a:avLst/>
          </a:prstGeom>
        </p:spPr>
        <p:txBody>
          <a:bodyPr vert="horz" wrap="square" lIns="0" tIns="13970" rIns="0" bIns="0" rtlCol="0">
            <a:spAutoFit/>
          </a:bodyPr>
          <a:lstStyle/>
          <a:p>
            <a:pPr marL="12700">
              <a:spcBef>
                <a:spcPts val="110"/>
              </a:spcBef>
              <a:tabLst>
                <a:tab pos="8279765" algn="l"/>
              </a:tabLst>
            </a:pPr>
            <a:r>
              <a:rPr dirty="0"/>
              <a:t>7.</a:t>
            </a:r>
            <a:r>
              <a:rPr spc="-45" dirty="0"/>
              <a:t> </a:t>
            </a:r>
            <a:r>
              <a:rPr dirty="0"/>
              <a:t>XÂY</a:t>
            </a:r>
            <a:r>
              <a:rPr spc="-80" dirty="0"/>
              <a:t> </a:t>
            </a:r>
            <a:r>
              <a:rPr dirty="0"/>
              <a:t>DỰNG</a:t>
            </a:r>
            <a:r>
              <a:rPr spc="-40" dirty="0"/>
              <a:t> </a:t>
            </a:r>
            <a:r>
              <a:rPr dirty="0"/>
              <a:t>ỨNG</a:t>
            </a:r>
            <a:r>
              <a:rPr spc="-35" dirty="0"/>
              <a:t> </a:t>
            </a:r>
            <a:r>
              <a:rPr dirty="0"/>
              <a:t>DỤNG</a:t>
            </a:r>
            <a:r>
              <a:rPr spc="-5" dirty="0"/>
              <a:t> </a:t>
            </a:r>
            <a:r>
              <a:rPr dirty="0"/>
              <a:t>WEB</a:t>
            </a:r>
            <a:r>
              <a:rPr spc="-30" dirty="0"/>
              <a:t> </a:t>
            </a:r>
            <a:r>
              <a:rPr dirty="0"/>
              <a:t>MVC</a:t>
            </a:r>
            <a:r>
              <a:rPr spc="-55" dirty="0"/>
              <a:t> </a:t>
            </a:r>
            <a:r>
              <a:rPr dirty="0"/>
              <a:t>VỚI</a:t>
            </a:r>
            <a:r>
              <a:rPr spc="-65" dirty="0"/>
              <a:t> </a:t>
            </a:r>
            <a:r>
              <a:rPr spc="-20" dirty="0"/>
              <a:t>CSDL</a:t>
            </a:r>
            <a:r>
              <a:rPr dirty="0"/>
              <a:t>	</a:t>
            </a:r>
          </a:p>
        </p:txBody>
      </p:sp>
      <p:sp>
        <p:nvSpPr>
          <p:cNvPr id="3" name="object 3"/>
          <p:cNvSpPr txBox="1"/>
          <p:nvPr/>
        </p:nvSpPr>
        <p:spPr>
          <a:xfrm>
            <a:off x="2291284" y="1025094"/>
            <a:ext cx="5809615" cy="300355"/>
          </a:xfrm>
          <a:prstGeom prst="rect">
            <a:avLst/>
          </a:prstGeom>
        </p:spPr>
        <p:txBody>
          <a:bodyPr vert="horz" wrap="square" lIns="0" tIns="12700" rIns="0" bIns="0" rtlCol="0">
            <a:spAutoFit/>
          </a:bodyPr>
          <a:lstStyle/>
          <a:p>
            <a:pPr marL="12700">
              <a:spcBef>
                <a:spcPts val="100"/>
              </a:spcBef>
            </a:pPr>
            <a:r>
              <a:rPr kern="0" dirty="0">
                <a:solidFill>
                  <a:sysClr val="windowText" lastClr="000000"/>
                </a:solidFill>
                <a:latin typeface="Microsoft Sans Serif"/>
                <a:cs typeface="Microsoft Sans Serif"/>
              </a:rPr>
              <a:t>Bổ</a:t>
            </a:r>
            <a:r>
              <a:rPr kern="0" spc="30"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sung Code</a:t>
            </a:r>
            <a:r>
              <a:rPr kern="0" spc="30"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vào</a:t>
            </a:r>
            <a:r>
              <a:rPr kern="0" spc="-20" dirty="0">
                <a:solidFill>
                  <a:sysClr val="windowText" lastClr="000000"/>
                </a:solidFill>
                <a:latin typeface="Microsoft Sans Serif"/>
                <a:cs typeface="Microsoft Sans Serif"/>
              </a:rPr>
              <a:t> </a:t>
            </a:r>
            <a:r>
              <a:rPr kern="0">
                <a:solidFill>
                  <a:sysClr val="windowText" lastClr="000000"/>
                </a:solidFill>
                <a:latin typeface="Microsoft Sans Serif"/>
                <a:cs typeface="Microsoft Sans Serif"/>
              </a:rPr>
              <a:t>file</a:t>
            </a:r>
            <a:r>
              <a:rPr kern="0" spc="-70">
                <a:solidFill>
                  <a:sysClr val="windowText" lastClr="000000"/>
                </a:solidFill>
                <a:latin typeface="Microsoft Sans Serif"/>
                <a:cs typeface="Microsoft Sans Serif"/>
              </a:rPr>
              <a:t> </a:t>
            </a:r>
            <a:r>
              <a:rPr kern="0">
                <a:solidFill>
                  <a:sysClr val="windowText" lastClr="000000"/>
                </a:solidFill>
                <a:latin typeface="Microsoft Sans Serif"/>
                <a:cs typeface="Microsoft Sans Serif"/>
              </a:rPr>
              <a:t>TheloaitinController.cs</a:t>
            </a:r>
            <a:r>
              <a:rPr kern="0" spc="430">
                <a:solidFill>
                  <a:sysClr val="windowText" lastClr="000000"/>
                </a:solidFill>
                <a:latin typeface="Microsoft Sans Serif"/>
                <a:cs typeface="Microsoft Sans Serif"/>
              </a:rPr>
              <a:t> </a:t>
            </a:r>
            <a:r>
              <a:rPr kern="0" spc="70" dirty="0">
                <a:solidFill>
                  <a:sysClr val="windowText" lastClr="000000"/>
                </a:solidFill>
                <a:latin typeface="Microsoft Sans Serif"/>
                <a:cs typeface="Microsoft Sans Serif"/>
              </a:rPr>
              <a:t>như</a:t>
            </a:r>
            <a:r>
              <a:rPr kern="0" spc="15"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sau </a:t>
            </a:r>
            <a:r>
              <a:rPr kern="0" spc="-50" dirty="0">
                <a:solidFill>
                  <a:sysClr val="windowText" lastClr="000000"/>
                </a:solidFill>
                <a:latin typeface="Microsoft Sans Serif"/>
                <a:cs typeface="Microsoft Sans Serif"/>
              </a:rPr>
              <a:t>:</a:t>
            </a:r>
            <a:endParaRPr kern="0">
              <a:solidFill>
                <a:sysClr val="windowText" lastClr="000000"/>
              </a:solidFill>
              <a:latin typeface="Microsoft Sans Serif"/>
              <a:cs typeface="Microsoft Sans Serif"/>
            </a:endParaRPr>
          </a:p>
        </p:txBody>
      </p:sp>
      <p:pic>
        <p:nvPicPr>
          <p:cNvPr id="4" name="object 4"/>
          <p:cNvPicPr/>
          <p:nvPr/>
        </p:nvPicPr>
        <p:blipFill>
          <a:blip r:embed="rId2" cstate="print"/>
          <a:stretch>
            <a:fillRect/>
          </a:stretch>
        </p:blipFill>
        <p:spPr>
          <a:xfrm>
            <a:off x="2394941" y="1388363"/>
            <a:ext cx="8056691" cy="4348028"/>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solidFill>
                  <a:prstClr val="white"/>
                </a:solidFill>
              </a:rPr>
              <a:pPr marL="38100">
                <a:lnSpc>
                  <a:spcPts val="1664"/>
                </a:lnSpc>
              </a:pPr>
              <a:t>48</a:t>
            </a:fld>
            <a:endParaRPr spc="-25" dirty="0">
              <a:solidFill>
                <a:prstClr val="white"/>
              </a:solidFill>
            </a:endParaRPr>
          </a:p>
        </p:txBody>
      </p:sp>
      <p:sp>
        <p:nvSpPr>
          <p:cNvPr id="7" name="object 7"/>
          <p:cNvSpPr txBox="1">
            <a:spLocks noGrp="1"/>
          </p:cNvSpPr>
          <p:nvPr>
            <p:ph type="ftr" sz="quarter" idx="5"/>
          </p:nvPr>
        </p:nvSpPr>
        <p:spPr>
          <a:xfrm>
            <a:off x="2763418" y="6600176"/>
            <a:ext cx="1243964" cy="155171"/>
          </a:xfrm>
          <a:prstGeom prst="rect">
            <a:avLst/>
          </a:prstGeom>
        </p:spPr>
        <p:txBody>
          <a:bodyPr vert="horz" wrap="square" lIns="0" tIns="1270" rIns="0" bIns="0" rtlCol="0">
            <a:spAutoFit/>
          </a:bodyPr>
          <a:lstStyle/>
          <a:p>
            <a:pPr marL="12700">
              <a:spcBef>
                <a:spcPts val="10"/>
              </a:spcBef>
            </a:pPr>
            <a:endParaRPr spc="-20" dirty="0">
              <a:solidFill>
                <a:prstClr val="white"/>
              </a:solidFill>
            </a:endParaRPr>
          </a:p>
        </p:txBody>
      </p:sp>
    </p:spTree>
    <p:extLst>
      <p:ext uri="{BB962C8B-B14F-4D97-AF65-F5344CB8AC3E}">
        <p14:creationId xmlns:p14="http://schemas.microsoft.com/office/powerpoint/2010/main" val="8487952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584326" y="66675"/>
            <a:ext cx="9020175" cy="6699250"/>
            <a:chOff x="60325" y="66675"/>
            <a:chExt cx="9020175" cy="6699250"/>
          </a:xfrm>
        </p:grpSpPr>
        <p:sp>
          <p:nvSpPr>
            <p:cNvPr id="3" name="object 3"/>
            <p:cNvSpPr/>
            <p:nvPr/>
          </p:nvSpPr>
          <p:spPr>
            <a:xfrm>
              <a:off x="63500" y="69850"/>
              <a:ext cx="9013825" cy="6692900"/>
            </a:xfrm>
            <a:custGeom>
              <a:avLst/>
              <a:gdLst/>
              <a:ahLst/>
              <a:cxnLst/>
              <a:rect l="l" t="t" r="r" b="b"/>
              <a:pathLst>
                <a:path w="9013825" h="6692900">
                  <a:moveTo>
                    <a:pt x="0" y="329946"/>
                  </a:moveTo>
                  <a:lnTo>
                    <a:pt x="3576" y="281184"/>
                  </a:lnTo>
                  <a:lnTo>
                    <a:pt x="13967" y="234645"/>
                  </a:lnTo>
                  <a:lnTo>
                    <a:pt x="30661" y="190840"/>
                  </a:lnTo>
                  <a:lnTo>
                    <a:pt x="53148" y="150277"/>
                  </a:lnTo>
                  <a:lnTo>
                    <a:pt x="80918" y="113468"/>
                  </a:lnTo>
                  <a:lnTo>
                    <a:pt x="113460" y="80923"/>
                  </a:lnTo>
                  <a:lnTo>
                    <a:pt x="150264" y="53151"/>
                  </a:lnTo>
                  <a:lnTo>
                    <a:pt x="190820" y="30662"/>
                  </a:lnTo>
                  <a:lnTo>
                    <a:pt x="234617" y="13967"/>
                  </a:lnTo>
                  <a:lnTo>
                    <a:pt x="281146" y="3576"/>
                  </a:lnTo>
                  <a:lnTo>
                    <a:pt x="329895" y="0"/>
                  </a:lnTo>
                  <a:lnTo>
                    <a:pt x="8683879" y="0"/>
                  </a:lnTo>
                  <a:lnTo>
                    <a:pt x="8732640" y="3576"/>
                  </a:lnTo>
                  <a:lnTo>
                    <a:pt x="8779179" y="13967"/>
                  </a:lnTo>
                  <a:lnTo>
                    <a:pt x="8822984" y="30662"/>
                  </a:lnTo>
                  <a:lnTo>
                    <a:pt x="8863547" y="53151"/>
                  </a:lnTo>
                  <a:lnTo>
                    <a:pt x="8900356" y="80923"/>
                  </a:lnTo>
                  <a:lnTo>
                    <a:pt x="8932901" y="113468"/>
                  </a:lnTo>
                  <a:lnTo>
                    <a:pt x="8960673" y="150277"/>
                  </a:lnTo>
                  <a:lnTo>
                    <a:pt x="8983162" y="190840"/>
                  </a:lnTo>
                  <a:lnTo>
                    <a:pt x="8999857" y="234645"/>
                  </a:lnTo>
                  <a:lnTo>
                    <a:pt x="9010248" y="281184"/>
                  </a:lnTo>
                  <a:lnTo>
                    <a:pt x="9013825" y="329946"/>
                  </a:lnTo>
                  <a:lnTo>
                    <a:pt x="9013825" y="6363004"/>
                  </a:lnTo>
                  <a:lnTo>
                    <a:pt x="9010248" y="6411753"/>
                  </a:lnTo>
                  <a:lnTo>
                    <a:pt x="8999857" y="6458282"/>
                  </a:lnTo>
                  <a:lnTo>
                    <a:pt x="8983162" y="6502079"/>
                  </a:lnTo>
                  <a:lnTo>
                    <a:pt x="8960673" y="6542635"/>
                  </a:lnTo>
                  <a:lnTo>
                    <a:pt x="8932901" y="6579439"/>
                  </a:lnTo>
                  <a:lnTo>
                    <a:pt x="8900356" y="6611981"/>
                  </a:lnTo>
                  <a:lnTo>
                    <a:pt x="8863547" y="6639751"/>
                  </a:lnTo>
                  <a:lnTo>
                    <a:pt x="8822984" y="6662238"/>
                  </a:lnTo>
                  <a:lnTo>
                    <a:pt x="8779179" y="6678932"/>
                  </a:lnTo>
                  <a:lnTo>
                    <a:pt x="8732640" y="6689323"/>
                  </a:lnTo>
                  <a:lnTo>
                    <a:pt x="8683879" y="6692900"/>
                  </a:lnTo>
                  <a:lnTo>
                    <a:pt x="329895" y="6692900"/>
                  </a:lnTo>
                  <a:lnTo>
                    <a:pt x="281146" y="6689323"/>
                  </a:lnTo>
                  <a:lnTo>
                    <a:pt x="234617" y="6678932"/>
                  </a:lnTo>
                  <a:lnTo>
                    <a:pt x="190820" y="6662238"/>
                  </a:lnTo>
                  <a:lnTo>
                    <a:pt x="150264" y="6639751"/>
                  </a:lnTo>
                  <a:lnTo>
                    <a:pt x="113460" y="6611981"/>
                  </a:lnTo>
                  <a:lnTo>
                    <a:pt x="80918" y="6579439"/>
                  </a:lnTo>
                  <a:lnTo>
                    <a:pt x="53148" y="6542635"/>
                  </a:lnTo>
                  <a:lnTo>
                    <a:pt x="30661" y="6502079"/>
                  </a:lnTo>
                  <a:lnTo>
                    <a:pt x="13967" y="6458282"/>
                  </a:lnTo>
                  <a:lnTo>
                    <a:pt x="3576" y="6411753"/>
                  </a:lnTo>
                  <a:lnTo>
                    <a:pt x="0" y="6363004"/>
                  </a:lnTo>
                  <a:lnTo>
                    <a:pt x="0" y="329946"/>
                  </a:lnTo>
                  <a:close/>
                </a:path>
              </a:pathLst>
            </a:custGeom>
            <a:ln w="6350">
              <a:solidFill>
                <a:srgbClr val="000000"/>
              </a:solidFill>
            </a:ln>
          </p:spPr>
          <p:txBody>
            <a:bodyPr wrap="square" lIns="0" tIns="0" rIns="0" bIns="0" rtlCol="0"/>
            <a:lstStyle/>
            <a:p>
              <a:endParaRPr kern="0">
                <a:solidFill>
                  <a:sysClr val="windowText" lastClr="000000"/>
                </a:solidFill>
              </a:endParaRPr>
            </a:p>
          </p:txBody>
        </p:sp>
        <p:pic>
          <p:nvPicPr>
            <p:cNvPr id="4" name="object 4"/>
            <p:cNvPicPr/>
            <p:nvPr/>
          </p:nvPicPr>
          <p:blipFill>
            <a:blip r:embed="rId2" cstate="print"/>
            <a:stretch>
              <a:fillRect/>
            </a:stretch>
          </p:blipFill>
          <p:spPr>
            <a:xfrm>
              <a:off x="990600" y="2219325"/>
              <a:ext cx="5715000" cy="2809875"/>
            </a:xfrm>
            <a:prstGeom prst="rect">
              <a:avLst/>
            </a:prstGeom>
          </p:spPr>
        </p:pic>
        <p:sp>
          <p:nvSpPr>
            <p:cNvPr id="5" name="object 5"/>
            <p:cNvSpPr/>
            <p:nvPr/>
          </p:nvSpPr>
          <p:spPr>
            <a:xfrm>
              <a:off x="985837" y="2214498"/>
              <a:ext cx="5724525" cy="2819400"/>
            </a:xfrm>
            <a:custGeom>
              <a:avLst/>
              <a:gdLst/>
              <a:ahLst/>
              <a:cxnLst/>
              <a:rect l="l" t="t" r="r" b="b"/>
              <a:pathLst>
                <a:path w="5724525" h="2819400">
                  <a:moveTo>
                    <a:pt x="0" y="2819400"/>
                  </a:moveTo>
                  <a:lnTo>
                    <a:pt x="5724525" y="2819400"/>
                  </a:lnTo>
                  <a:lnTo>
                    <a:pt x="5724525" y="0"/>
                  </a:lnTo>
                  <a:lnTo>
                    <a:pt x="0" y="0"/>
                  </a:lnTo>
                  <a:lnTo>
                    <a:pt x="0" y="2819400"/>
                  </a:lnTo>
                  <a:close/>
                </a:path>
              </a:pathLst>
            </a:custGeom>
            <a:ln w="9525">
              <a:solidFill>
                <a:srgbClr val="D24717"/>
              </a:solidFill>
            </a:ln>
          </p:spPr>
          <p:txBody>
            <a:bodyPr wrap="square" lIns="0" tIns="0" rIns="0" bIns="0" rtlCol="0"/>
            <a:lstStyle/>
            <a:p>
              <a:endParaRPr kern="0">
                <a:solidFill>
                  <a:sysClr val="windowText" lastClr="000000"/>
                </a:solidFill>
              </a:endParaRPr>
            </a:p>
          </p:txBody>
        </p:sp>
        <p:pic>
          <p:nvPicPr>
            <p:cNvPr id="6" name="object 6"/>
            <p:cNvPicPr/>
            <p:nvPr/>
          </p:nvPicPr>
          <p:blipFill>
            <a:blip r:embed="rId3" cstate="print"/>
            <a:stretch>
              <a:fillRect/>
            </a:stretch>
          </p:blipFill>
          <p:spPr>
            <a:xfrm>
              <a:off x="4572000" y="3374390"/>
              <a:ext cx="4156075" cy="3102610"/>
            </a:xfrm>
            <a:prstGeom prst="rect">
              <a:avLst/>
            </a:prstGeom>
          </p:spPr>
        </p:pic>
        <p:sp>
          <p:nvSpPr>
            <p:cNvPr id="7" name="object 7"/>
            <p:cNvSpPr/>
            <p:nvPr/>
          </p:nvSpPr>
          <p:spPr>
            <a:xfrm>
              <a:off x="146050"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kern="0">
                <a:solidFill>
                  <a:sysClr val="windowText" lastClr="000000"/>
                </a:solidFill>
              </a:endParaRPr>
            </a:p>
          </p:txBody>
        </p:sp>
        <p:pic>
          <p:nvPicPr>
            <p:cNvPr id="8" name="object 8"/>
            <p:cNvPicPr/>
            <p:nvPr/>
          </p:nvPicPr>
          <p:blipFill>
            <a:blip r:embed="rId4" cstate="print"/>
            <a:stretch>
              <a:fillRect/>
            </a:stretch>
          </p:blipFill>
          <p:spPr>
            <a:xfrm>
              <a:off x="425195" y="886967"/>
              <a:ext cx="8293608" cy="105156"/>
            </a:xfrm>
            <a:prstGeom prst="rect">
              <a:avLst/>
            </a:prstGeom>
          </p:spPr>
        </p:pic>
        <p:sp>
          <p:nvSpPr>
            <p:cNvPr id="9" name="object 9"/>
            <p:cNvSpPr/>
            <p:nvPr/>
          </p:nvSpPr>
          <p:spPr>
            <a:xfrm>
              <a:off x="447675" y="6567487"/>
              <a:ext cx="8315325" cy="195580"/>
            </a:xfrm>
            <a:custGeom>
              <a:avLst/>
              <a:gdLst/>
              <a:ahLst/>
              <a:cxnLst/>
              <a:rect l="l" t="t" r="r" b="b"/>
              <a:pathLst>
                <a:path w="8315325" h="195579">
                  <a:moveTo>
                    <a:pt x="2741676" y="195262"/>
                  </a:moveTo>
                  <a:lnTo>
                    <a:pt x="2735313" y="144627"/>
                  </a:lnTo>
                  <a:lnTo>
                    <a:pt x="2717393" y="99123"/>
                  </a:lnTo>
                  <a:lnTo>
                    <a:pt x="2689580" y="60566"/>
                  </a:lnTo>
                  <a:lnTo>
                    <a:pt x="2653601" y="30772"/>
                  </a:lnTo>
                  <a:lnTo>
                    <a:pt x="2611132" y="11569"/>
                  </a:lnTo>
                  <a:lnTo>
                    <a:pt x="2563876" y="4762"/>
                  </a:lnTo>
                  <a:lnTo>
                    <a:pt x="177800" y="4762"/>
                  </a:lnTo>
                  <a:lnTo>
                    <a:pt x="130530" y="11569"/>
                  </a:lnTo>
                  <a:lnTo>
                    <a:pt x="88049" y="30772"/>
                  </a:lnTo>
                  <a:lnTo>
                    <a:pt x="52070" y="60566"/>
                  </a:lnTo>
                  <a:lnTo>
                    <a:pt x="24269" y="99123"/>
                  </a:lnTo>
                  <a:lnTo>
                    <a:pt x="6350" y="144627"/>
                  </a:lnTo>
                  <a:lnTo>
                    <a:pt x="0" y="195262"/>
                  </a:lnTo>
                  <a:lnTo>
                    <a:pt x="2741676" y="195262"/>
                  </a:lnTo>
                  <a:close/>
                </a:path>
                <a:path w="8315325" h="195579">
                  <a:moveTo>
                    <a:pt x="8315325" y="190512"/>
                  </a:moveTo>
                  <a:lnTo>
                    <a:pt x="8308962" y="139865"/>
                  </a:lnTo>
                  <a:lnTo>
                    <a:pt x="8291042" y="94361"/>
                  </a:lnTo>
                  <a:lnTo>
                    <a:pt x="8263229" y="55803"/>
                  </a:lnTo>
                  <a:lnTo>
                    <a:pt x="8227250" y="26022"/>
                  </a:lnTo>
                  <a:lnTo>
                    <a:pt x="8184782" y="6807"/>
                  </a:lnTo>
                  <a:lnTo>
                    <a:pt x="8137525" y="0"/>
                  </a:lnTo>
                  <a:lnTo>
                    <a:pt x="5749925" y="0"/>
                  </a:lnTo>
                  <a:lnTo>
                    <a:pt x="5702655" y="6807"/>
                  </a:lnTo>
                  <a:lnTo>
                    <a:pt x="5660187" y="26022"/>
                  </a:lnTo>
                  <a:lnTo>
                    <a:pt x="5624207" y="55803"/>
                  </a:lnTo>
                  <a:lnTo>
                    <a:pt x="5596394" y="94361"/>
                  </a:lnTo>
                  <a:lnTo>
                    <a:pt x="5578475" y="139865"/>
                  </a:lnTo>
                  <a:lnTo>
                    <a:pt x="5572125" y="190512"/>
                  </a:lnTo>
                  <a:lnTo>
                    <a:pt x="8315325" y="190512"/>
                  </a:lnTo>
                  <a:close/>
                </a:path>
              </a:pathLst>
            </a:custGeom>
            <a:solidFill>
              <a:srgbClr val="D24717"/>
            </a:solidFill>
          </p:spPr>
          <p:txBody>
            <a:bodyPr wrap="square" lIns="0" tIns="0" rIns="0" bIns="0" rtlCol="0"/>
            <a:lstStyle/>
            <a:p>
              <a:endParaRPr kern="0">
                <a:solidFill>
                  <a:sysClr val="windowText" lastClr="000000"/>
                </a:solidFill>
              </a:endParaRPr>
            </a:p>
          </p:txBody>
        </p:sp>
      </p:grpSp>
      <p:sp>
        <p:nvSpPr>
          <p:cNvPr id="10" name="object 10"/>
          <p:cNvSpPr txBox="1">
            <a:spLocks noGrp="1"/>
          </p:cNvSpPr>
          <p:nvPr>
            <p:ph type="title"/>
          </p:nvPr>
        </p:nvSpPr>
        <p:spPr>
          <a:xfrm>
            <a:off x="2091268" y="450927"/>
            <a:ext cx="11057467" cy="444994"/>
          </a:xfrm>
          <a:prstGeom prst="rect">
            <a:avLst/>
          </a:prstGeom>
        </p:spPr>
        <p:txBody>
          <a:bodyPr vert="horz" wrap="square" lIns="0" tIns="13970" rIns="0" bIns="0" rtlCol="0">
            <a:spAutoFit/>
          </a:bodyPr>
          <a:lstStyle/>
          <a:p>
            <a:pPr marL="12700">
              <a:spcBef>
                <a:spcPts val="110"/>
              </a:spcBef>
              <a:tabLst>
                <a:tab pos="8279765" algn="l"/>
              </a:tabLst>
            </a:pPr>
            <a:r>
              <a:rPr dirty="0"/>
              <a:t>7.</a:t>
            </a:r>
            <a:r>
              <a:rPr spc="-45" dirty="0"/>
              <a:t> </a:t>
            </a:r>
            <a:r>
              <a:rPr dirty="0"/>
              <a:t>XÂY</a:t>
            </a:r>
            <a:r>
              <a:rPr spc="-80" dirty="0"/>
              <a:t> </a:t>
            </a:r>
            <a:r>
              <a:rPr dirty="0"/>
              <a:t>DỰNG</a:t>
            </a:r>
            <a:r>
              <a:rPr spc="-40" dirty="0"/>
              <a:t> </a:t>
            </a:r>
            <a:r>
              <a:rPr dirty="0"/>
              <a:t>ỨNG</a:t>
            </a:r>
            <a:r>
              <a:rPr spc="-35" dirty="0"/>
              <a:t> </a:t>
            </a:r>
            <a:r>
              <a:rPr dirty="0"/>
              <a:t>DỤNG</a:t>
            </a:r>
            <a:r>
              <a:rPr spc="-5" dirty="0"/>
              <a:t> </a:t>
            </a:r>
            <a:r>
              <a:rPr dirty="0"/>
              <a:t>WEB</a:t>
            </a:r>
            <a:r>
              <a:rPr spc="-30" dirty="0"/>
              <a:t> </a:t>
            </a:r>
            <a:r>
              <a:rPr dirty="0"/>
              <a:t>MVC</a:t>
            </a:r>
            <a:r>
              <a:rPr spc="-55" dirty="0"/>
              <a:t> </a:t>
            </a:r>
            <a:r>
              <a:rPr dirty="0"/>
              <a:t>VỚI</a:t>
            </a:r>
            <a:r>
              <a:rPr spc="-65" dirty="0"/>
              <a:t> </a:t>
            </a:r>
            <a:r>
              <a:rPr spc="-20" dirty="0"/>
              <a:t>CSDL</a:t>
            </a:r>
            <a:r>
              <a:rPr dirty="0"/>
              <a:t>	</a:t>
            </a:r>
          </a:p>
        </p:txBody>
      </p:sp>
      <p:sp>
        <p:nvSpPr>
          <p:cNvPr id="11" name="object 11"/>
          <p:cNvSpPr txBox="1"/>
          <p:nvPr/>
        </p:nvSpPr>
        <p:spPr>
          <a:xfrm>
            <a:off x="2060244" y="1092103"/>
            <a:ext cx="6516370" cy="1074420"/>
          </a:xfrm>
          <a:prstGeom prst="rect">
            <a:avLst/>
          </a:prstGeom>
        </p:spPr>
        <p:txBody>
          <a:bodyPr vert="horz" wrap="square" lIns="0" tIns="89535" rIns="0" bIns="0" rtlCol="0">
            <a:spAutoFit/>
          </a:bodyPr>
          <a:lstStyle/>
          <a:p>
            <a:pPr marL="12700">
              <a:spcBef>
                <a:spcPts val="705"/>
              </a:spcBef>
            </a:pPr>
            <a:r>
              <a:rPr sz="2400" b="1" kern="0">
                <a:solidFill>
                  <a:srgbClr val="C00000"/>
                </a:solidFill>
                <a:latin typeface="Arial"/>
                <a:cs typeface="Arial"/>
              </a:rPr>
              <a:t>B</a:t>
            </a:r>
            <a:r>
              <a:rPr lang="vi-VN" sz="2400" b="1" kern="0">
                <a:solidFill>
                  <a:srgbClr val="C00000"/>
                </a:solidFill>
                <a:cs typeface="Arial"/>
              </a:rPr>
              <a:t>ư</a:t>
            </a:r>
            <a:r>
              <a:rPr sz="2400" b="1" kern="0">
                <a:solidFill>
                  <a:srgbClr val="C00000"/>
                </a:solidFill>
                <a:latin typeface="Arial"/>
                <a:cs typeface="Arial"/>
              </a:rPr>
              <a:t>ớc</a:t>
            </a:r>
            <a:r>
              <a:rPr sz="2400" b="1" kern="0" spc="-55">
                <a:solidFill>
                  <a:srgbClr val="C00000"/>
                </a:solidFill>
                <a:latin typeface="Arial"/>
                <a:cs typeface="Arial"/>
              </a:rPr>
              <a:t> </a:t>
            </a:r>
            <a:r>
              <a:rPr sz="2400" b="1" kern="0" dirty="0">
                <a:solidFill>
                  <a:srgbClr val="C00000"/>
                </a:solidFill>
                <a:latin typeface="Arial"/>
                <a:cs typeface="Arial"/>
              </a:rPr>
              <a:t>6:</a:t>
            </a:r>
            <a:r>
              <a:rPr sz="2400" b="1" kern="0" spc="-55" dirty="0">
                <a:solidFill>
                  <a:srgbClr val="C00000"/>
                </a:solidFill>
                <a:latin typeface="Arial"/>
                <a:cs typeface="Arial"/>
              </a:rPr>
              <a:t> </a:t>
            </a:r>
            <a:r>
              <a:rPr sz="2400" b="1" kern="0" dirty="0">
                <a:solidFill>
                  <a:srgbClr val="C00000"/>
                </a:solidFill>
                <a:latin typeface="Arial"/>
                <a:cs typeface="Arial"/>
              </a:rPr>
              <a:t>Tạo</a:t>
            </a:r>
            <a:r>
              <a:rPr sz="2400" b="1" kern="0" spc="-5" dirty="0">
                <a:solidFill>
                  <a:srgbClr val="C00000"/>
                </a:solidFill>
                <a:latin typeface="Arial"/>
                <a:cs typeface="Arial"/>
              </a:rPr>
              <a:t> </a:t>
            </a:r>
            <a:r>
              <a:rPr sz="2400" b="1" kern="0" dirty="0">
                <a:solidFill>
                  <a:srgbClr val="C00000"/>
                </a:solidFill>
                <a:latin typeface="Arial"/>
                <a:cs typeface="Arial"/>
              </a:rPr>
              <a:t>View</a:t>
            </a:r>
            <a:r>
              <a:rPr sz="2400" b="1" kern="0" spc="-85" dirty="0">
                <a:solidFill>
                  <a:srgbClr val="C00000"/>
                </a:solidFill>
                <a:latin typeface="Arial"/>
                <a:cs typeface="Arial"/>
              </a:rPr>
              <a:t> </a:t>
            </a:r>
            <a:r>
              <a:rPr sz="2400" b="1" kern="0" dirty="0">
                <a:solidFill>
                  <a:srgbClr val="C00000"/>
                </a:solidFill>
                <a:latin typeface="Arial"/>
                <a:cs typeface="Arial"/>
              </a:rPr>
              <a:t>hiện</a:t>
            </a:r>
            <a:r>
              <a:rPr sz="2400" b="1" kern="0" spc="-75" dirty="0">
                <a:solidFill>
                  <a:srgbClr val="C00000"/>
                </a:solidFill>
                <a:latin typeface="Arial"/>
                <a:cs typeface="Arial"/>
              </a:rPr>
              <a:t> </a:t>
            </a:r>
            <a:r>
              <a:rPr sz="2400" b="1" kern="0" dirty="0">
                <a:solidFill>
                  <a:srgbClr val="C00000"/>
                </a:solidFill>
                <a:latin typeface="Arial"/>
                <a:cs typeface="Arial"/>
              </a:rPr>
              <a:t>thị</a:t>
            </a:r>
            <a:r>
              <a:rPr sz="2400" b="1" kern="0" spc="-25" dirty="0">
                <a:solidFill>
                  <a:srgbClr val="C00000"/>
                </a:solidFill>
                <a:latin typeface="Arial"/>
                <a:cs typeface="Arial"/>
              </a:rPr>
              <a:t> </a:t>
            </a:r>
            <a:r>
              <a:rPr sz="2400" b="1" kern="0" dirty="0">
                <a:solidFill>
                  <a:srgbClr val="C00000"/>
                </a:solidFill>
                <a:latin typeface="Arial"/>
                <a:cs typeface="Arial"/>
              </a:rPr>
              <a:t>nội</a:t>
            </a:r>
            <a:r>
              <a:rPr sz="2400" b="1" kern="0" spc="-60" dirty="0">
                <a:solidFill>
                  <a:srgbClr val="C00000"/>
                </a:solidFill>
                <a:latin typeface="Arial"/>
                <a:cs typeface="Arial"/>
              </a:rPr>
              <a:t> </a:t>
            </a:r>
            <a:r>
              <a:rPr sz="2400" b="1" kern="0" spc="-20" dirty="0">
                <a:solidFill>
                  <a:srgbClr val="C00000"/>
                </a:solidFill>
                <a:latin typeface="Arial"/>
                <a:cs typeface="Arial"/>
              </a:rPr>
              <a:t>dung</a:t>
            </a:r>
            <a:endParaRPr sz="2400" kern="0">
              <a:solidFill>
                <a:sysClr val="windowText" lastClr="000000"/>
              </a:solidFill>
              <a:latin typeface="Arial"/>
              <a:cs typeface="Arial"/>
            </a:endParaRPr>
          </a:p>
          <a:p>
            <a:pPr marL="458470">
              <a:spcBef>
                <a:spcPts val="450"/>
              </a:spcBef>
            </a:pPr>
            <a:r>
              <a:rPr kern="0" dirty="0">
                <a:solidFill>
                  <a:sysClr val="windowText" lastClr="000000"/>
                </a:solidFill>
                <a:latin typeface="Microsoft Sans Serif"/>
                <a:cs typeface="Microsoft Sans Serif"/>
              </a:rPr>
              <a:t>Trong</a:t>
            </a:r>
            <a:r>
              <a:rPr kern="0" spc="10"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File</a:t>
            </a:r>
            <a:r>
              <a:rPr kern="0" spc="-100" dirty="0">
                <a:solidFill>
                  <a:sysClr val="windowText" lastClr="000000"/>
                </a:solidFill>
                <a:latin typeface="Microsoft Sans Serif"/>
                <a:cs typeface="Microsoft Sans Serif"/>
              </a:rPr>
              <a:t> </a:t>
            </a:r>
            <a:r>
              <a:rPr kern="0" spc="-10" dirty="0">
                <a:solidFill>
                  <a:sysClr val="windowText" lastClr="000000"/>
                </a:solidFill>
                <a:latin typeface="Microsoft Sans Serif"/>
                <a:cs typeface="Microsoft Sans Serif"/>
              </a:rPr>
              <a:t>TheloaitinControllers.cs</a:t>
            </a:r>
            <a:r>
              <a:rPr kern="0" spc="-70" dirty="0">
                <a:solidFill>
                  <a:sysClr val="windowText" lastClr="000000"/>
                </a:solidFill>
                <a:latin typeface="Microsoft Sans Serif"/>
                <a:cs typeface="Microsoft Sans Serif"/>
              </a:rPr>
              <a:t> </a:t>
            </a:r>
            <a:r>
              <a:rPr kern="0" spc="180" dirty="0">
                <a:solidFill>
                  <a:sysClr val="windowText" lastClr="000000"/>
                </a:solidFill>
                <a:latin typeface="Microsoft Sans Serif"/>
                <a:cs typeface="Microsoft Sans Serif"/>
              </a:rPr>
              <a:t>ở</a:t>
            </a:r>
            <a:r>
              <a:rPr kern="0" spc="45"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trên</a:t>
            </a:r>
            <a:r>
              <a:rPr kern="0" spc="15"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ta</a:t>
            </a:r>
            <a:r>
              <a:rPr kern="0" spc="10"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có</a:t>
            </a:r>
            <a:r>
              <a:rPr kern="0" spc="45"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hàm:</a:t>
            </a:r>
            <a:r>
              <a:rPr kern="0" spc="75" dirty="0">
                <a:solidFill>
                  <a:sysClr val="windowText" lastClr="000000"/>
                </a:solidFill>
                <a:latin typeface="Microsoft Sans Serif"/>
                <a:cs typeface="Microsoft Sans Serif"/>
              </a:rPr>
              <a:t> </a:t>
            </a:r>
            <a:r>
              <a:rPr kern="0" spc="-10" dirty="0">
                <a:solidFill>
                  <a:sysClr val="windowText" lastClr="000000"/>
                </a:solidFill>
                <a:latin typeface="Microsoft Sans Serif"/>
                <a:cs typeface="Microsoft Sans Serif"/>
              </a:rPr>
              <a:t>Index()</a:t>
            </a:r>
            <a:endParaRPr kern="0">
              <a:solidFill>
                <a:sysClr val="windowText" lastClr="000000"/>
              </a:solidFill>
              <a:latin typeface="Microsoft Sans Serif"/>
              <a:cs typeface="Microsoft Sans Serif"/>
            </a:endParaRPr>
          </a:p>
          <a:p>
            <a:pPr marL="458470"/>
            <a:r>
              <a:rPr kern="0" dirty="0">
                <a:solidFill>
                  <a:sysClr val="windowText" lastClr="000000"/>
                </a:solidFill>
                <a:latin typeface="Microsoft Sans Serif"/>
                <a:cs typeface="Microsoft Sans Serif"/>
              </a:rPr>
              <a:t>Click</a:t>
            </a:r>
            <a:r>
              <a:rPr kern="0" spc="-60"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phải</a:t>
            </a:r>
            <a:r>
              <a:rPr kern="0" spc="5"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vào</a:t>
            </a:r>
            <a:r>
              <a:rPr kern="0" spc="-15"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tên</a:t>
            </a:r>
            <a:r>
              <a:rPr kern="0" spc="-5"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hàm=&gt;</a:t>
            </a:r>
            <a:r>
              <a:rPr kern="0" spc="80"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add</a:t>
            </a:r>
            <a:r>
              <a:rPr kern="0" spc="-25" dirty="0">
                <a:solidFill>
                  <a:sysClr val="windowText" lastClr="000000"/>
                </a:solidFill>
                <a:latin typeface="Microsoft Sans Serif"/>
                <a:cs typeface="Microsoft Sans Serif"/>
              </a:rPr>
              <a:t> </a:t>
            </a:r>
            <a:r>
              <a:rPr kern="0" spc="140" dirty="0">
                <a:solidFill>
                  <a:sysClr val="windowText" lastClr="000000"/>
                </a:solidFill>
                <a:latin typeface="Microsoft Sans Serif"/>
                <a:cs typeface="Microsoft Sans Serif"/>
              </a:rPr>
              <a:t>view…</a:t>
            </a:r>
            <a:endParaRPr kern="0">
              <a:solidFill>
                <a:sysClr val="windowText" lastClr="000000"/>
              </a:solidFill>
              <a:latin typeface="Microsoft Sans Serif"/>
              <a:cs typeface="Microsoft Sans Serif"/>
            </a:endParaRPr>
          </a:p>
        </p:txBody>
      </p:sp>
      <p:sp>
        <p:nvSpPr>
          <p:cNvPr id="12" name="object 12"/>
          <p:cNvSpPr/>
          <p:nvPr/>
        </p:nvSpPr>
        <p:spPr>
          <a:xfrm>
            <a:off x="4622419" y="3733801"/>
            <a:ext cx="5546090" cy="2271395"/>
          </a:xfrm>
          <a:custGeom>
            <a:avLst/>
            <a:gdLst/>
            <a:ahLst/>
            <a:cxnLst/>
            <a:rect l="l" t="t" r="r" b="b"/>
            <a:pathLst>
              <a:path w="5546090" h="2271395">
                <a:moveTo>
                  <a:pt x="0" y="408177"/>
                </a:moveTo>
                <a:lnTo>
                  <a:pt x="2141" y="397609"/>
                </a:lnTo>
                <a:lnTo>
                  <a:pt x="7985" y="388969"/>
                </a:lnTo>
                <a:lnTo>
                  <a:pt x="16662" y="383139"/>
                </a:lnTo>
                <a:lnTo>
                  <a:pt x="27305" y="381000"/>
                </a:lnTo>
                <a:lnTo>
                  <a:pt x="955167" y="381000"/>
                </a:lnTo>
                <a:lnTo>
                  <a:pt x="965789" y="383139"/>
                </a:lnTo>
                <a:lnTo>
                  <a:pt x="974423" y="388969"/>
                </a:lnTo>
                <a:lnTo>
                  <a:pt x="980223" y="397609"/>
                </a:lnTo>
                <a:lnTo>
                  <a:pt x="982344" y="408177"/>
                </a:lnTo>
                <a:lnTo>
                  <a:pt x="982344" y="517017"/>
                </a:lnTo>
                <a:lnTo>
                  <a:pt x="980223" y="527585"/>
                </a:lnTo>
                <a:lnTo>
                  <a:pt x="974423" y="536225"/>
                </a:lnTo>
                <a:lnTo>
                  <a:pt x="965789" y="542055"/>
                </a:lnTo>
                <a:lnTo>
                  <a:pt x="955167" y="544194"/>
                </a:lnTo>
                <a:lnTo>
                  <a:pt x="27305" y="544194"/>
                </a:lnTo>
                <a:lnTo>
                  <a:pt x="16662" y="542055"/>
                </a:lnTo>
                <a:lnTo>
                  <a:pt x="7985" y="536225"/>
                </a:lnTo>
                <a:lnTo>
                  <a:pt x="2141" y="527585"/>
                </a:lnTo>
                <a:lnTo>
                  <a:pt x="0" y="517017"/>
                </a:lnTo>
                <a:lnTo>
                  <a:pt x="0" y="408177"/>
                </a:lnTo>
                <a:close/>
              </a:path>
              <a:path w="5546090" h="2271395">
                <a:moveTo>
                  <a:pt x="5163947" y="1866480"/>
                </a:moveTo>
                <a:lnTo>
                  <a:pt x="5166891" y="1851822"/>
                </a:lnTo>
                <a:lnTo>
                  <a:pt x="5174932" y="1839844"/>
                </a:lnTo>
                <a:lnTo>
                  <a:pt x="5186878" y="1831764"/>
                </a:lnTo>
                <a:lnTo>
                  <a:pt x="5201538" y="1828800"/>
                </a:lnTo>
                <a:lnTo>
                  <a:pt x="5507862" y="1828800"/>
                </a:lnTo>
                <a:lnTo>
                  <a:pt x="5522543" y="1831764"/>
                </a:lnTo>
                <a:lnTo>
                  <a:pt x="5534533" y="1839844"/>
                </a:lnTo>
                <a:lnTo>
                  <a:pt x="5542617" y="1851822"/>
                </a:lnTo>
                <a:lnTo>
                  <a:pt x="5545582" y="1866480"/>
                </a:lnTo>
                <a:lnTo>
                  <a:pt x="5545582" y="2017179"/>
                </a:lnTo>
                <a:lnTo>
                  <a:pt x="5542617" y="2031848"/>
                </a:lnTo>
                <a:lnTo>
                  <a:pt x="5534533" y="2043825"/>
                </a:lnTo>
                <a:lnTo>
                  <a:pt x="5522543" y="2051899"/>
                </a:lnTo>
                <a:lnTo>
                  <a:pt x="5507862" y="2054860"/>
                </a:lnTo>
                <a:lnTo>
                  <a:pt x="5201538" y="2054860"/>
                </a:lnTo>
                <a:lnTo>
                  <a:pt x="5186878" y="2051899"/>
                </a:lnTo>
                <a:lnTo>
                  <a:pt x="5174932" y="2043825"/>
                </a:lnTo>
                <a:lnTo>
                  <a:pt x="5166891" y="2031848"/>
                </a:lnTo>
                <a:lnTo>
                  <a:pt x="5163947" y="2017179"/>
                </a:lnTo>
                <a:lnTo>
                  <a:pt x="5163947" y="1866480"/>
                </a:lnTo>
                <a:close/>
              </a:path>
              <a:path w="5546090" h="2271395">
                <a:moveTo>
                  <a:pt x="1549781" y="52324"/>
                </a:moveTo>
                <a:lnTo>
                  <a:pt x="1553884" y="31932"/>
                </a:lnTo>
                <a:lnTo>
                  <a:pt x="1565084" y="15303"/>
                </a:lnTo>
                <a:lnTo>
                  <a:pt x="1581713" y="4103"/>
                </a:lnTo>
                <a:lnTo>
                  <a:pt x="1602105" y="0"/>
                </a:lnTo>
                <a:lnTo>
                  <a:pt x="2520442" y="0"/>
                </a:lnTo>
                <a:lnTo>
                  <a:pt x="2540833" y="4103"/>
                </a:lnTo>
                <a:lnTo>
                  <a:pt x="2557462" y="15303"/>
                </a:lnTo>
                <a:lnTo>
                  <a:pt x="2568662" y="31932"/>
                </a:lnTo>
                <a:lnTo>
                  <a:pt x="2572766" y="52324"/>
                </a:lnTo>
                <a:lnTo>
                  <a:pt x="2572766" y="261366"/>
                </a:lnTo>
                <a:lnTo>
                  <a:pt x="2568662" y="281757"/>
                </a:lnTo>
                <a:lnTo>
                  <a:pt x="2557462" y="298386"/>
                </a:lnTo>
                <a:lnTo>
                  <a:pt x="2540833" y="309586"/>
                </a:lnTo>
                <a:lnTo>
                  <a:pt x="2520442" y="313689"/>
                </a:lnTo>
                <a:lnTo>
                  <a:pt x="1602105" y="313689"/>
                </a:lnTo>
                <a:lnTo>
                  <a:pt x="1581713" y="309586"/>
                </a:lnTo>
                <a:lnTo>
                  <a:pt x="1565084" y="298386"/>
                </a:lnTo>
                <a:lnTo>
                  <a:pt x="1553884" y="281757"/>
                </a:lnTo>
                <a:lnTo>
                  <a:pt x="1549781" y="261366"/>
                </a:lnTo>
                <a:lnTo>
                  <a:pt x="1549781" y="52324"/>
                </a:lnTo>
                <a:close/>
              </a:path>
              <a:path w="5546090" h="2271395">
                <a:moveTo>
                  <a:pt x="1549781" y="672719"/>
                </a:moveTo>
                <a:lnTo>
                  <a:pt x="1553884" y="652327"/>
                </a:lnTo>
                <a:lnTo>
                  <a:pt x="1565084" y="635698"/>
                </a:lnTo>
                <a:lnTo>
                  <a:pt x="1581713" y="624498"/>
                </a:lnTo>
                <a:lnTo>
                  <a:pt x="1602105" y="620394"/>
                </a:lnTo>
                <a:lnTo>
                  <a:pt x="2520442" y="620394"/>
                </a:lnTo>
                <a:lnTo>
                  <a:pt x="2540833" y="624498"/>
                </a:lnTo>
                <a:lnTo>
                  <a:pt x="2557462" y="635698"/>
                </a:lnTo>
                <a:lnTo>
                  <a:pt x="2568662" y="652327"/>
                </a:lnTo>
                <a:lnTo>
                  <a:pt x="2572766" y="672719"/>
                </a:lnTo>
                <a:lnTo>
                  <a:pt x="2572766" y="881761"/>
                </a:lnTo>
                <a:lnTo>
                  <a:pt x="2568662" y="902152"/>
                </a:lnTo>
                <a:lnTo>
                  <a:pt x="2557462" y="918781"/>
                </a:lnTo>
                <a:lnTo>
                  <a:pt x="2540833" y="929981"/>
                </a:lnTo>
                <a:lnTo>
                  <a:pt x="2520442" y="934085"/>
                </a:lnTo>
                <a:lnTo>
                  <a:pt x="1602105" y="934085"/>
                </a:lnTo>
                <a:lnTo>
                  <a:pt x="1581713" y="929981"/>
                </a:lnTo>
                <a:lnTo>
                  <a:pt x="1565084" y="918781"/>
                </a:lnTo>
                <a:lnTo>
                  <a:pt x="1553884" y="902152"/>
                </a:lnTo>
                <a:lnTo>
                  <a:pt x="1549781" y="881761"/>
                </a:lnTo>
                <a:lnTo>
                  <a:pt x="1549781" y="672719"/>
                </a:lnTo>
                <a:close/>
              </a:path>
              <a:path w="5546090" h="2271395">
                <a:moveTo>
                  <a:pt x="1591056" y="1743328"/>
                </a:moveTo>
                <a:lnTo>
                  <a:pt x="1599350" y="1702173"/>
                </a:lnTo>
                <a:lnTo>
                  <a:pt x="1621980" y="1668589"/>
                </a:lnTo>
                <a:lnTo>
                  <a:pt x="1655564" y="1645959"/>
                </a:lnTo>
                <a:lnTo>
                  <a:pt x="1696720" y="1637664"/>
                </a:lnTo>
                <a:lnTo>
                  <a:pt x="3859656" y="1637664"/>
                </a:lnTo>
                <a:lnTo>
                  <a:pt x="3900812" y="1645959"/>
                </a:lnTo>
                <a:lnTo>
                  <a:pt x="3934396" y="1668589"/>
                </a:lnTo>
                <a:lnTo>
                  <a:pt x="3957026" y="1702173"/>
                </a:lnTo>
                <a:lnTo>
                  <a:pt x="3965321" y="1743328"/>
                </a:lnTo>
                <a:lnTo>
                  <a:pt x="3965321" y="2165769"/>
                </a:lnTo>
                <a:lnTo>
                  <a:pt x="3957026" y="2206881"/>
                </a:lnTo>
                <a:lnTo>
                  <a:pt x="3934396" y="2240456"/>
                </a:lnTo>
                <a:lnTo>
                  <a:pt x="3900812" y="2263093"/>
                </a:lnTo>
                <a:lnTo>
                  <a:pt x="3859656" y="2271395"/>
                </a:lnTo>
                <a:lnTo>
                  <a:pt x="1696720" y="2271395"/>
                </a:lnTo>
                <a:lnTo>
                  <a:pt x="1655564" y="2263093"/>
                </a:lnTo>
                <a:lnTo>
                  <a:pt x="1621980" y="2240456"/>
                </a:lnTo>
                <a:lnTo>
                  <a:pt x="1599350" y="2206881"/>
                </a:lnTo>
                <a:lnTo>
                  <a:pt x="1591056" y="2165769"/>
                </a:lnTo>
                <a:lnTo>
                  <a:pt x="1591056" y="1743328"/>
                </a:lnTo>
                <a:close/>
              </a:path>
            </a:pathLst>
          </a:custGeom>
          <a:ln w="28575">
            <a:solidFill>
              <a:srgbClr val="C00000"/>
            </a:solidFill>
          </a:ln>
        </p:spPr>
        <p:txBody>
          <a:bodyPr wrap="square" lIns="0" tIns="0" rIns="0" bIns="0" rtlCol="0"/>
          <a:lstStyle/>
          <a:p>
            <a:endParaRPr kern="0">
              <a:solidFill>
                <a:sysClr val="windowText" lastClr="000000"/>
              </a:solidFill>
            </a:endParaRPr>
          </a:p>
        </p:txBody>
      </p:sp>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solidFill>
                  <a:prstClr val="white"/>
                </a:solidFill>
              </a:rPr>
              <a:pPr marL="38100">
                <a:lnSpc>
                  <a:spcPts val="1664"/>
                </a:lnSpc>
              </a:pPr>
              <a:t>49</a:t>
            </a:fld>
            <a:endParaRPr spc="-25" dirty="0">
              <a:solidFill>
                <a:prstClr val="white"/>
              </a:solidFill>
            </a:endParaRPr>
          </a:p>
        </p:txBody>
      </p:sp>
      <p:sp>
        <p:nvSpPr>
          <p:cNvPr id="15" name="object 15"/>
          <p:cNvSpPr txBox="1">
            <a:spLocks noGrp="1"/>
          </p:cNvSpPr>
          <p:nvPr>
            <p:ph type="ftr" sz="quarter" idx="5"/>
          </p:nvPr>
        </p:nvSpPr>
        <p:spPr>
          <a:xfrm>
            <a:off x="2763418" y="6600176"/>
            <a:ext cx="1243964" cy="155171"/>
          </a:xfrm>
          <a:prstGeom prst="rect">
            <a:avLst/>
          </a:prstGeom>
        </p:spPr>
        <p:txBody>
          <a:bodyPr vert="horz" wrap="square" lIns="0" tIns="1270" rIns="0" bIns="0" rtlCol="0">
            <a:spAutoFit/>
          </a:bodyPr>
          <a:lstStyle/>
          <a:p>
            <a:pPr marL="12700">
              <a:spcBef>
                <a:spcPts val="10"/>
              </a:spcBef>
            </a:pPr>
            <a:endParaRPr spc="-20" dirty="0">
              <a:solidFill>
                <a:prstClr val="white"/>
              </a:solidFill>
            </a:endParaRPr>
          </a:p>
        </p:txBody>
      </p:sp>
    </p:spTree>
    <p:extLst>
      <p:ext uri="{BB962C8B-B14F-4D97-AF65-F5344CB8AC3E}">
        <p14:creationId xmlns:p14="http://schemas.microsoft.com/office/powerpoint/2010/main" val="279971464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2091268" y="450927"/>
            <a:ext cx="11057467" cy="444994"/>
          </a:xfrm>
          <a:prstGeom prst="rect">
            <a:avLst/>
          </a:prstGeom>
        </p:spPr>
        <p:txBody>
          <a:bodyPr vert="horz" wrap="square" lIns="0" tIns="13970" rIns="0" bIns="0" rtlCol="0">
            <a:spAutoFit/>
          </a:bodyPr>
          <a:lstStyle/>
          <a:p>
            <a:pPr marL="12700">
              <a:spcBef>
                <a:spcPts val="110"/>
              </a:spcBef>
              <a:tabLst>
                <a:tab pos="8279765" algn="l"/>
              </a:tabLst>
            </a:pPr>
            <a:r>
              <a:rPr dirty="0"/>
              <a:t>7.</a:t>
            </a:r>
            <a:r>
              <a:rPr spc="-45" dirty="0"/>
              <a:t> </a:t>
            </a:r>
            <a:r>
              <a:rPr dirty="0"/>
              <a:t>XÂY</a:t>
            </a:r>
            <a:r>
              <a:rPr spc="-80" dirty="0"/>
              <a:t> </a:t>
            </a:r>
            <a:r>
              <a:rPr dirty="0"/>
              <a:t>DỰNG</a:t>
            </a:r>
            <a:r>
              <a:rPr spc="-40" dirty="0"/>
              <a:t> </a:t>
            </a:r>
            <a:r>
              <a:rPr dirty="0"/>
              <a:t>ỨNG</a:t>
            </a:r>
            <a:r>
              <a:rPr spc="-35" dirty="0"/>
              <a:t> </a:t>
            </a:r>
            <a:r>
              <a:rPr dirty="0"/>
              <a:t>DỤNG</a:t>
            </a:r>
            <a:r>
              <a:rPr spc="-5" dirty="0"/>
              <a:t> </a:t>
            </a:r>
            <a:r>
              <a:rPr dirty="0"/>
              <a:t>WEB</a:t>
            </a:r>
            <a:r>
              <a:rPr spc="-30" dirty="0"/>
              <a:t> </a:t>
            </a:r>
            <a:r>
              <a:rPr dirty="0"/>
              <a:t>MVC</a:t>
            </a:r>
            <a:r>
              <a:rPr spc="-55" dirty="0"/>
              <a:t> </a:t>
            </a:r>
            <a:r>
              <a:rPr dirty="0"/>
              <a:t>VỚI</a:t>
            </a:r>
            <a:r>
              <a:rPr spc="-65" dirty="0"/>
              <a:t> </a:t>
            </a:r>
            <a:r>
              <a:rPr spc="-20" dirty="0"/>
              <a:t>CSDL</a:t>
            </a:r>
            <a:r>
              <a:rPr dirty="0"/>
              <a:t>	</a:t>
            </a:r>
          </a:p>
        </p:txBody>
      </p:sp>
      <p:sp>
        <p:nvSpPr>
          <p:cNvPr id="3" name="object 3"/>
          <p:cNvSpPr txBox="1"/>
          <p:nvPr/>
        </p:nvSpPr>
        <p:spPr>
          <a:xfrm>
            <a:off x="2419300" y="1095833"/>
            <a:ext cx="6195695" cy="300355"/>
          </a:xfrm>
          <a:prstGeom prst="rect">
            <a:avLst/>
          </a:prstGeom>
        </p:spPr>
        <p:txBody>
          <a:bodyPr vert="horz" wrap="square" lIns="0" tIns="12700" rIns="0" bIns="0" rtlCol="0">
            <a:spAutoFit/>
          </a:bodyPr>
          <a:lstStyle/>
          <a:p>
            <a:pPr marL="12700">
              <a:spcBef>
                <a:spcPts val="100"/>
              </a:spcBef>
            </a:pPr>
            <a:r>
              <a:rPr kern="0" dirty="0">
                <a:solidFill>
                  <a:sysClr val="windowText" lastClr="000000"/>
                </a:solidFill>
                <a:latin typeface="Microsoft Sans Serif"/>
                <a:cs typeface="Microsoft Sans Serif"/>
              </a:rPr>
              <a:t>Bổ</a:t>
            </a:r>
            <a:r>
              <a:rPr kern="0" spc="30"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sung code để</a:t>
            </a:r>
            <a:r>
              <a:rPr kern="0" spc="30"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hiện</a:t>
            </a:r>
            <a:r>
              <a:rPr kern="0" spc="-35"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thị</a:t>
            </a:r>
            <a:r>
              <a:rPr kern="0" spc="25" dirty="0">
                <a:solidFill>
                  <a:sysClr val="windowText" lastClr="000000"/>
                </a:solidFill>
                <a:latin typeface="Microsoft Sans Serif"/>
                <a:cs typeface="Microsoft Sans Serif"/>
              </a:rPr>
              <a:t> </a:t>
            </a:r>
            <a:r>
              <a:rPr kern="0" spc="100" dirty="0">
                <a:solidFill>
                  <a:sysClr val="windowText" lastClr="000000"/>
                </a:solidFill>
                <a:latin typeface="Microsoft Sans Serif"/>
                <a:cs typeface="Microsoft Sans Serif"/>
              </a:rPr>
              <a:t>dữ</a:t>
            </a:r>
            <a:r>
              <a:rPr kern="0" spc="10"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liệu</a:t>
            </a:r>
            <a:r>
              <a:rPr kern="0" spc="-35"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trong</a:t>
            </a:r>
            <a:r>
              <a:rPr kern="0" spc="-35" dirty="0">
                <a:solidFill>
                  <a:sysClr val="windowText" lastClr="000000"/>
                </a:solidFill>
                <a:latin typeface="Microsoft Sans Serif"/>
                <a:cs typeface="Microsoft Sans Serif"/>
              </a:rPr>
              <a:t> </a:t>
            </a:r>
            <a:r>
              <a:rPr kern="0" dirty="0">
                <a:solidFill>
                  <a:sysClr val="windowText" lastClr="000000"/>
                </a:solidFill>
                <a:latin typeface="Microsoft Sans Serif"/>
                <a:cs typeface="Microsoft Sans Serif"/>
              </a:rPr>
              <a:t>Index</a:t>
            </a:r>
            <a:r>
              <a:rPr i="1" kern="0" dirty="0">
                <a:solidFill>
                  <a:sysClr val="windowText" lastClr="000000"/>
                </a:solidFill>
                <a:latin typeface="Arial"/>
                <a:cs typeface="Arial"/>
              </a:rPr>
              <a:t>.cshtml</a:t>
            </a:r>
            <a:r>
              <a:rPr i="1" kern="0" spc="10" dirty="0">
                <a:solidFill>
                  <a:sysClr val="windowText" lastClr="000000"/>
                </a:solidFill>
                <a:latin typeface="Arial"/>
                <a:cs typeface="Arial"/>
              </a:rPr>
              <a:t> </a:t>
            </a:r>
            <a:r>
              <a:rPr i="1" kern="0" dirty="0">
                <a:solidFill>
                  <a:sysClr val="windowText" lastClr="000000"/>
                </a:solidFill>
                <a:latin typeface="Arial"/>
                <a:cs typeface="Arial"/>
              </a:rPr>
              <a:t>như</a:t>
            </a:r>
            <a:r>
              <a:rPr i="1" kern="0" spc="-20" dirty="0">
                <a:solidFill>
                  <a:sysClr val="windowText" lastClr="000000"/>
                </a:solidFill>
                <a:latin typeface="Arial"/>
                <a:cs typeface="Arial"/>
              </a:rPr>
              <a:t> sau:</a:t>
            </a:r>
            <a:endParaRPr kern="0">
              <a:solidFill>
                <a:sysClr val="windowText" lastClr="000000"/>
              </a:solidFill>
              <a:latin typeface="Arial"/>
              <a:cs typeface="Arial"/>
            </a:endParaRP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solidFill>
                  <a:prstClr val="white"/>
                </a:solidFill>
              </a:rPr>
              <a:pPr marL="38100">
                <a:lnSpc>
                  <a:spcPts val="1664"/>
                </a:lnSpc>
              </a:pPr>
              <a:t>50</a:t>
            </a:fld>
            <a:endParaRPr spc="-25" dirty="0">
              <a:solidFill>
                <a:prstClr val="white"/>
              </a:solidFill>
            </a:endParaRPr>
          </a:p>
        </p:txBody>
      </p:sp>
      <p:sp>
        <p:nvSpPr>
          <p:cNvPr id="11" name="object 11"/>
          <p:cNvSpPr txBox="1">
            <a:spLocks noGrp="1"/>
          </p:cNvSpPr>
          <p:nvPr>
            <p:ph type="ftr" sz="quarter" idx="5"/>
          </p:nvPr>
        </p:nvSpPr>
        <p:spPr>
          <a:xfrm>
            <a:off x="2763418" y="6600176"/>
            <a:ext cx="1243964" cy="155171"/>
          </a:xfrm>
          <a:prstGeom prst="rect">
            <a:avLst/>
          </a:prstGeom>
        </p:spPr>
        <p:txBody>
          <a:bodyPr vert="horz" wrap="square" lIns="0" tIns="1270" rIns="0" bIns="0" rtlCol="0">
            <a:spAutoFit/>
          </a:bodyPr>
          <a:lstStyle/>
          <a:p>
            <a:pPr marL="12700">
              <a:spcBef>
                <a:spcPts val="10"/>
              </a:spcBef>
            </a:pPr>
            <a:endParaRPr spc="-20" dirty="0">
              <a:solidFill>
                <a:prstClr val="white"/>
              </a:solidFill>
            </a:endParaRPr>
          </a:p>
        </p:txBody>
      </p:sp>
      <p:pic>
        <p:nvPicPr>
          <p:cNvPr id="12" name="Picture 11"/>
          <p:cNvPicPr>
            <a:picLocks noChangeAspect="1"/>
          </p:cNvPicPr>
          <p:nvPr/>
        </p:nvPicPr>
        <p:blipFill>
          <a:blip r:embed="rId2"/>
          <a:stretch>
            <a:fillRect/>
          </a:stretch>
        </p:blipFill>
        <p:spPr>
          <a:xfrm>
            <a:off x="2133600" y="1447801"/>
            <a:ext cx="8401050" cy="4962525"/>
          </a:xfrm>
          <a:prstGeom prst="rect">
            <a:avLst/>
          </a:prstGeom>
        </p:spPr>
      </p:pic>
    </p:spTree>
    <p:extLst>
      <p:ext uri="{BB962C8B-B14F-4D97-AF65-F5344CB8AC3E}">
        <p14:creationId xmlns:p14="http://schemas.microsoft.com/office/powerpoint/2010/main" val="2060455780"/>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2091268" y="450927"/>
            <a:ext cx="11057467" cy="444994"/>
          </a:xfrm>
          <a:prstGeom prst="rect">
            <a:avLst/>
          </a:prstGeom>
        </p:spPr>
        <p:txBody>
          <a:bodyPr vert="horz" wrap="square" lIns="0" tIns="13970" rIns="0" bIns="0" rtlCol="0">
            <a:spAutoFit/>
          </a:bodyPr>
          <a:lstStyle/>
          <a:p>
            <a:pPr marL="12700">
              <a:spcBef>
                <a:spcPts val="110"/>
              </a:spcBef>
              <a:tabLst>
                <a:tab pos="8279765" algn="l"/>
              </a:tabLst>
            </a:pPr>
            <a:r>
              <a:rPr dirty="0"/>
              <a:t>7.</a:t>
            </a:r>
            <a:r>
              <a:rPr spc="-45" dirty="0"/>
              <a:t> </a:t>
            </a:r>
            <a:r>
              <a:rPr dirty="0"/>
              <a:t>XÂY</a:t>
            </a:r>
            <a:r>
              <a:rPr spc="-80" dirty="0"/>
              <a:t> </a:t>
            </a:r>
            <a:r>
              <a:rPr dirty="0"/>
              <a:t>DỰNG</a:t>
            </a:r>
            <a:r>
              <a:rPr spc="-40" dirty="0"/>
              <a:t> </a:t>
            </a:r>
            <a:r>
              <a:rPr dirty="0"/>
              <a:t>ỨNG</a:t>
            </a:r>
            <a:r>
              <a:rPr spc="-35" dirty="0"/>
              <a:t> </a:t>
            </a:r>
            <a:r>
              <a:rPr dirty="0"/>
              <a:t>DỤNG</a:t>
            </a:r>
            <a:r>
              <a:rPr spc="-5" dirty="0"/>
              <a:t> </a:t>
            </a:r>
            <a:r>
              <a:rPr dirty="0"/>
              <a:t>WEB</a:t>
            </a:r>
            <a:r>
              <a:rPr spc="-30" dirty="0"/>
              <a:t> </a:t>
            </a:r>
            <a:r>
              <a:rPr dirty="0"/>
              <a:t>MVC</a:t>
            </a:r>
            <a:r>
              <a:rPr spc="-55" dirty="0"/>
              <a:t> </a:t>
            </a:r>
            <a:r>
              <a:rPr dirty="0"/>
              <a:t>VỚI</a:t>
            </a:r>
            <a:r>
              <a:rPr spc="-65" dirty="0"/>
              <a:t> </a:t>
            </a:r>
            <a:r>
              <a:rPr spc="-20" dirty="0"/>
              <a:t>CSDL</a:t>
            </a:r>
            <a:r>
              <a:rPr dirty="0"/>
              <a:t>	</a:t>
            </a:r>
          </a:p>
        </p:txBody>
      </p:sp>
      <p:sp>
        <p:nvSpPr>
          <p:cNvPr id="3" name="object 3"/>
          <p:cNvSpPr txBox="1"/>
          <p:nvPr/>
        </p:nvSpPr>
        <p:spPr>
          <a:xfrm>
            <a:off x="2419299" y="1095833"/>
            <a:ext cx="4932680" cy="300355"/>
          </a:xfrm>
          <a:prstGeom prst="rect">
            <a:avLst/>
          </a:prstGeom>
        </p:spPr>
        <p:txBody>
          <a:bodyPr vert="horz" wrap="square" lIns="0" tIns="12700" rIns="0" bIns="0" rtlCol="0">
            <a:spAutoFit/>
          </a:bodyPr>
          <a:lstStyle/>
          <a:p>
            <a:pPr marL="12700">
              <a:spcBef>
                <a:spcPts val="100"/>
              </a:spcBef>
            </a:pPr>
            <a:r>
              <a:rPr b="1" i="1" kern="0" dirty="0">
                <a:solidFill>
                  <a:srgbClr val="C00000"/>
                </a:solidFill>
                <a:latin typeface="Arial"/>
                <a:cs typeface="Arial"/>
              </a:rPr>
              <a:t>Tương</a:t>
            </a:r>
            <a:r>
              <a:rPr b="1" i="1" kern="0" spc="-50" dirty="0">
                <a:solidFill>
                  <a:srgbClr val="C00000"/>
                </a:solidFill>
                <a:latin typeface="Arial"/>
                <a:cs typeface="Arial"/>
              </a:rPr>
              <a:t> </a:t>
            </a:r>
            <a:r>
              <a:rPr b="1" i="1" kern="0" dirty="0">
                <a:solidFill>
                  <a:srgbClr val="C00000"/>
                </a:solidFill>
                <a:latin typeface="Arial"/>
                <a:cs typeface="Arial"/>
              </a:rPr>
              <a:t>tự</a:t>
            </a:r>
            <a:r>
              <a:rPr b="1" i="1" kern="0" spc="-20" dirty="0">
                <a:solidFill>
                  <a:srgbClr val="C00000"/>
                </a:solidFill>
                <a:latin typeface="Arial"/>
                <a:cs typeface="Arial"/>
              </a:rPr>
              <a:t> </a:t>
            </a:r>
            <a:r>
              <a:rPr b="1" i="1" kern="0" dirty="0">
                <a:solidFill>
                  <a:srgbClr val="C00000"/>
                </a:solidFill>
                <a:latin typeface="Arial"/>
                <a:cs typeface="Arial"/>
              </a:rPr>
              <a:t>cho</a:t>
            </a:r>
            <a:r>
              <a:rPr b="1" i="1" kern="0" spc="-10" dirty="0">
                <a:solidFill>
                  <a:srgbClr val="C00000"/>
                </a:solidFill>
                <a:latin typeface="Arial"/>
                <a:cs typeface="Arial"/>
              </a:rPr>
              <a:t> </a:t>
            </a:r>
            <a:r>
              <a:rPr b="1" i="1" kern="0" dirty="0">
                <a:solidFill>
                  <a:srgbClr val="C00000"/>
                </a:solidFill>
                <a:latin typeface="Arial"/>
                <a:cs typeface="Arial"/>
              </a:rPr>
              <a:t>trang</a:t>
            </a:r>
            <a:r>
              <a:rPr b="1" i="1" kern="0" spc="-10" dirty="0">
                <a:solidFill>
                  <a:srgbClr val="C00000"/>
                </a:solidFill>
                <a:latin typeface="Arial"/>
                <a:cs typeface="Arial"/>
              </a:rPr>
              <a:t> </a:t>
            </a:r>
            <a:r>
              <a:rPr b="1" i="1" kern="0" dirty="0">
                <a:solidFill>
                  <a:srgbClr val="C00000"/>
                </a:solidFill>
                <a:latin typeface="Arial"/>
                <a:cs typeface="Arial"/>
              </a:rPr>
              <a:t>Tin</a:t>
            </a:r>
            <a:r>
              <a:rPr b="1" i="1" kern="0" spc="-10" dirty="0">
                <a:solidFill>
                  <a:srgbClr val="C00000"/>
                </a:solidFill>
                <a:latin typeface="Arial"/>
                <a:cs typeface="Arial"/>
              </a:rPr>
              <a:t> </a:t>
            </a:r>
            <a:r>
              <a:rPr b="1" i="1" kern="0" dirty="0">
                <a:solidFill>
                  <a:srgbClr val="C00000"/>
                </a:solidFill>
                <a:latin typeface="Arial"/>
                <a:cs typeface="Arial"/>
              </a:rPr>
              <a:t>tức:</a:t>
            </a:r>
            <a:r>
              <a:rPr b="1" i="1" kern="0" spc="-20" dirty="0">
                <a:solidFill>
                  <a:srgbClr val="C00000"/>
                </a:solidFill>
                <a:latin typeface="Arial"/>
                <a:cs typeface="Arial"/>
              </a:rPr>
              <a:t> </a:t>
            </a:r>
            <a:r>
              <a:rPr b="1" i="1" kern="0" spc="-10" dirty="0">
                <a:solidFill>
                  <a:srgbClr val="C00000"/>
                </a:solidFill>
                <a:latin typeface="Arial"/>
                <a:cs typeface="Arial"/>
              </a:rPr>
              <a:t>TintucController</a:t>
            </a:r>
            <a:endParaRPr kern="0">
              <a:solidFill>
                <a:sysClr val="windowText" lastClr="000000"/>
              </a:solidFill>
              <a:latin typeface="Arial"/>
              <a:cs typeface="Arial"/>
            </a:endParaRPr>
          </a:p>
        </p:txBody>
      </p:sp>
      <p:pic>
        <p:nvPicPr>
          <p:cNvPr id="4" name="object 4"/>
          <p:cNvPicPr/>
          <p:nvPr/>
        </p:nvPicPr>
        <p:blipFill>
          <a:blip r:embed="rId2" cstate="print"/>
          <a:stretch>
            <a:fillRect/>
          </a:stretch>
        </p:blipFill>
        <p:spPr>
          <a:xfrm>
            <a:off x="2877567" y="1697216"/>
            <a:ext cx="6861175" cy="4480433"/>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solidFill>
                  <a:prstClr val="white"/>
                </a:solidFill>
              </a:rPr>
              <a:pPr marL="38100">
                <a:lnSpc>
                  <a:spcPts val="1664"/>
                </a:lnSpc>
              </a:pPr>
              <a:t>51</a:t>
            </a:fld>
            <a:endParaRPr spc="-25" dirty="0">
              <a:solidFill>
                <a:prstClr val="white"/>
              </a:solidFill>
            </a:endParaRPr>
          </a:p>
        </p:txBody>
      </p:sp>
      <p:sp>
        <p:nvSpPr>
          <p:cNvPr id="7" name="object 7"/>
          <p:cNvSpPr txBox="1">
            <a:spLocks noGrp="1"/>
          </p:cNvSpPr>
          <p:nvPr>
            <p:ph type="ftr" sz="quarter" idx="5"/>
          </p:nvPr>
        </p:nvSpPr>
        <p:spPr>
          <a:xfrm>
            <a:off x="2763418" y="6600176"/>
            <a:ext cx="1243964" cy="155171"/>
          </a:xfrm>
          <a:prstGeom prst="rect">
            <a:avLst/>
          </a:prstGeom>
        </p:spPr>
        <p:txBody>
          <a:bodyPr vert="horz" wrap="square" lIns="0" tIns="1270" rIns="0" bIns="0" rtlCol="0">
            <a:spAutoFit/>
          </a:bodyPr>
          <a:lstStyle/>
          <a:p>
            <a:pPr marL="12700">
              <a:spcBef>
                <a:spcPts val="10"/>
              </a:spcBef>
            </a:pPr>
            <a:endParaRPr spc="-20" dirty="0">
              <a:solidFill>
                <a:prstClr val="white"/>
              </a:solidFill>
            </a:endParaRPr>
          </a:p>
        </p:txBody>
      </p:sp>
    </p:spTree>
    <p:extLst>
      <p:ext uri="{BB962C8B-B14F-4D97-AF65-F5344CB8AC3E}">
        <p14:creationId xmlns:p14="http://schemas.microsoft.com/office/powerpoint/2010/main" val="3667142692"/>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2091268" y="450927"/>
            <a:ext cx="11057467" cy="444994"/>
          </a:xfrm>
          <a:prstGeom prst="rect">
            <a:avLst/>
          </a:prstGeom>
        </p:spPr>
        <p:txBody>
          <a:bodyPr vert="horz" wrap="square" lIns="0" tIns="13970" rIns="0" bIns="0" rtlCol="0">
            <a:spAutoFit/>
          </a:bodyPr>
          <a:lstStyle/>
          <a:p>
            <a:pPr marL="12700">
              <a:spcBef>
                <a:spcPts val="110"/>
              </a:spcBef>
              <a:tabLst>
                <a:tab pos="8279765" algn="l"/>
              </a:tabLst>
            </a:pPr>
            <a:r>
              <a:rPr dirty="0"/>
              <a:t>7.</a:t>
            </a:r>
            <a:r>
              <a:rPr spc="-45" dirty="0"/>
              <a:t> </a:t>
            </a:r>
            <a:r>
              <a:rPr dirty="0"/>
              <a:t>XÂY</a:t>
            </a:r>
            <a:r>
              <a:rPr spc="-80" dirty="0"/>
              <a:t> </a:t>
            </a:r>
            <a:r>
              <a:rPr dirty="0"/>
              <a:t>DỰNG</a:t>
            </a:r>
            <a:r>
              <a:rPr spc="-40" dirty="0"/>
              <a:t> </a:t>
            </a:r>
            <a:r>
              <a:rPr dirty="0"/>
              <a:t>ỨNG</a:t>
            </a:r>
            <a:r>
              <a:rPr spc="-35" dirty="0"/>
              <a:t> </a:t>
            </a:r>
            <a:r>
              <a:rPr dirty="0"/>
              <a:t>DỤNG</a:t>
            </a:r>
            <a:r>
              <a:rPr spc="-5" dirty="0"/>
              <a:t> </a:t>
            </a:r>
            <a:r>
              <a:rPr dirty="0"/>
              <a:t>WEB</a:t>
            </a:r>
            <a:r>
              <a:rPr spc="-30" dirty="0"/>
              <a:t> </a:t>
            </a:r>
            <a:r>
              <a:rPr dirty="0"/>
              <a:t>MVC</a:t>
            </a:r>
            <a:r>
              <a:rPr spc="-55" dirty="0"/>
              <a:t> </a:t>
            </a:r>
            <a:r>
              <a:rPr dirty="0"/>
              <a:t>VỚI</a:t>
            </a:r>
            <a:r>
              <a:rPr spc="-65" dirty="0"/>
              <a:t> </a:t>
            </a:r>
            <a:r>
              <a:rPr spc="-20" dirty="0"/>
              <a:t>CSDL</a:t>
            </a:r>
            <a:r>
              <a:rPr dirty="0"/>
              <a:t>	</a:t>
            </a:r>
          </a:p>
        </p:txBody>
      </p:sp>
      <p:sp>
        <p:nvSpPr>
          <p:cNvPr id="3" name="object 3"/>
          <p:cNvSpPr txBox="1"/>
          <p:nvPr/>
        </p:nvSpPr>
        <p:spPr>
          <a:xfrm>
            <a:off x="2419299" y="1095833"/>
            <a:ext cx="5126990" cy="300355"/>
          </a:xfrm>
          <a:prstGeom prst="rect">
            <a:avLst/>
          </a:prstGeom>
        </p:spPr>
        <p:txBody>
          <a:bodyPr vert="horz" wrap="square" lIns="0" tIns="12700" rIns="0" bIns="0" rtlCol="0">
            <a:spAutoFit/>
          </a:bodyPr>
          <a:lstStyle/>
          <a:p>
            <a:pPr marL="12700">
              <a:spcBef>
                <a:spcPts val="100"/>
              </a:spcBef>
            </a:pPr>
            <a:r>
              <a:rPr b="1" i="1" kern="0" dirty="0">
                <a:solidFill>
                  <a:srgbClr val="C00000"/>
                </a:solidFill>
                <a:latin typeface="Arial"/>
                <a:cs typeface="Arial"/>
              </a:rPr>
              <a:t>Tương</a:t>
            </a:r>
            <a:r>
              <a:rPr b="1" i="1" kern="0" spc="-65" dirty="0">
                <a:solidFill>
                  <a:srgbClr val="C00000"/>
                </a:solidFill>
                <a:latin typeface="Arial"/>
                <a:cs typeface="Arial"/>
              </a:rPr>
              <a:t> </a:t>
            </a:r>
            <a:r>
              <a:rPr b="1" i="1" kern="0" dirty="0">
                <a:solidFill>
                  <a:srgbClr val="C00000"/>
                </a:solidFill>
                <a:latin typeface="Arial"/>
                <a:cs typeface="Arial"/>
              </a:rPr>
              <a:t>tự</a:t>
            </a:r>
            <a:r>
              <a:rPr b="1" i="1" kern="0" spc="-30" dirty="0">
                <a:solidFill>
                  <a:srgbClr val="C00000"/>
                </a:solidFill>
                <a:latin typeface="Arial"/>
                <a:cs typeface="Arial"/>
              </a:rPr>
              <a:t> </a:t>
            </a:r>
            <a:r>
              <a:rPr b="1" i="1" kern="0" dirty="0">
                <a:solidFill>
                  <a:srgbClr val="C00000"/>
                </a:solidFill>
                <a:latin typeface="Arial"/>
                <a:cs typeface="Arial"/>
              </a:rPr>
              <a:t>cho</a:t>
            </a:r>
            <a:r>
              <a:rPr b="1" i="1" kern="0" spc="-25" dirty="0">
                <a:solidFill>
                  <a:srgbClr val="C00000"/>
                </a:solidFill>
                <a:latin typeface="Arial"/>
                <a:cs typeface="Arial"/>
              </a:rPr>
              <a:t> </a:t>
            </a:r>
            <a:r>
              <a:rPr b="1" i="1" kern="0" dirty="0">
                <a:solidFill>
                  <a:srgbClr val="C00000"/>
                </a:solidFill>
                <a:latin typeface="Arial"/>
                <a:cs typeface="Arial"/>
              </a:rPr>
              <a:t>trang</a:t>
            </a:r>
            <a:r>
              <a:rPr b="1" i="1" kern="0" spc="-20" dirty="0">
                <a:solidFill>
                  <a:srgbClr val="C00000"/>
                </a:solidFill>
                <a:latin typeface="Arial"/>
                <a:cs typeface="Arial"/>
              </a:rPr>
              <a:t> </a:t>
            </a:r>
            <a:r>
              <a:rPr b="1" i="1" kern="0" dirty="0">
                <a:solidFill>
                  <a:srgbClr val="C00000"/>
                </a:solidFill>
                <a:latin typeface="Arial"/>
                <a:cs typeface="Arial"/>
              </a:rPr>
              <a:t>Tin</a:t>
            </a:r>
            <a:r>
              <a:rPr b="1" i="1" kern="0" spc="-25" dirty="0">
                <a:solidFill>
                  <a:srgbClr val="C00000"/>
                </a:solidFill>
                <a:latin typeface="Arial"/>
                <a:cs typeface="Arial"/>
              </a:rPr>
              <a:t> </a:t>
            </a:r>
            <a:r>
              <a:rPr b="1" i="1" kern="0" dirty="0">
                <a:solidFill>
                  <a:srgbClr val="C00000"/>
                </a:solidFill>
                <a:latin typeface="Arial"/>
                <a:cs typeface="Arial"/>
              </a:rPr>
              <a:t>tức:</a:t>
            </a:r>
            <a:r>
              <a:rPr b="1" i="1" kern="0" spc="-30" dirty="0">
                <a:solidFill>
                  <a:srgbClr val="C00000"/>
                </a:solidFill>
                <a:latin typeface="Arial"/>
                <a:cs typeface="Arial"/>
              </a:rPr>
              <a:t> </a:t>
            </a:r>
            <a:r>
              <a:rPr b="1" i="1" kern="0" dirty="0">
                <a:solidFill>
                  <a:srgbClr val="C00000"/>
                </a:solidFill>
                <a:latin typeface="Arial"/>
                <a:cs typeface="Arial"/>
              </a:rPr>
              <a:t>View</a:t>
            </a:r>
            <a:r>
              <a:rPr b="1" i="1" kern="0" spc="-5" dirty="0">
                <a:solidFill>
                  <a:srgbClr val="C00000"/>
                </a:solidFill>
                <a:latin typeface="Arial"/>
                <a:cs typeface="Arial"/>
              </a:rPr>
              <a:t> </a:t>
            </a:r>
            <a:r>
              <a:rPr b="1" i="1" kern="0" spc="-10" dirty="0">
                <a:solidFill>
                  <a:srgbClr val="C00000"/>
                </a:solidFill>
                <a:latin typeface="Arial"/>
                <a:cs typeface="Arial"/>
              </a:rPr>
              <a:t>Index.cshtml</a:t>
            </a:r>
            <a:endParaRPr kern="0">
              <a:solidFill>
                <a:sysClr val="windowText" lastClr="000000"/>
              </a:solidFill>
              <a:latin typeface="Arial"/>
              <a:cs typeface="Arial"/>
            </a:endParaRPr>
          </a:p>
        </p:txBody>
      </p:sp>
      <p:pic>
        <p:nvPicPr>
          <p:cNvPr id="4" name="object 4"/>
          <p:cNvPicPr/>
          <p:nvPr/>
        </p:nvPicPr>
        <p:blipFill>
          <a:blip r:embed="rId2" cstate="print"/>
          <a:stretch>
            <a:fillRect/>
          </a:stretch>
        </p:blipFill>
        <p:spPr>
          <a:xfrm>
            <a:off x="2444979" y="1436116"/>
            <a:ext cx="7529449" cy="4278884"/>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solidFill>
                  <a:prstClr val="white"/>
                </a:solidFill>
              </a:rPr>
              <a:pPr marL="38100">
                <a:lnSpc>
                  <a:spcPts val="1664"/>
                </a:lnSpc>
              </a:pPr>
              <a:t>52</a:t>
            </a:fld>
            <a:endParaRPr spc="-25" dirty="0">
              <a:solidFill>
                <a:prstClr val="white"/>
              </a:solidFill>
            </a:endParaRPr>
          </a:p>
        </p:txBody>
      </p:sp>
      <p:sp>
        <p:nvSpPr>
          <p:cNvPr id="7" name="object 7"/>
          <p:cNvSpPr txBox="1">
            <a:spLocks noGrp="1"/>
          </p:cNvSpPr>
          <p:nvPr>
            <p:ph type="ftr" sz="quarter" idx="5"/>
          </p:nvPr>
        </p:nvSpPr>
        <p:spPr>
          <a:xfrm>
            <a:off x="2763418" y="6600176"/>
            <a:ext cx="1243964" cy="155171"/>
          </a:xfrm>
          <a:prstGeom prst="rect">
            <a:avLst/>
          </a:prstGeom>
        </p:spPr>
        <p:txBody>
          <a:bodyPr vert="horz" wrap="square" lIns="0" tIns="1270" rIns="0" bIns="0" rtlCol="0">
            <a:spAutoFit/>
          </a:bodyPr>
          <a:lstStyle/>
          <a:p>
            <a:pPr marL="12700">
              <a:spcBef>
                <a:spcPts val="10"/>
              </a:spcBef>
            </a:pPr>
            <a:endParaRPr spc="-20" dirty="0">
              <a:solidFill>
                <a:prstClr val="white"/>
              </a:solidFill>
            </a:endParaRPr>
          </a:p>
        </p:txBody>
      </p:sp>
    </p:spTree>
    <p:extLst>
      <p:ext uri="{BB962C8B-B14F-4D97-AF65-F5344CB8AC3E}">
        <p14:creationId xmlns:p14="http://schemas.microsoft.com/office/powerpoint/2010/main" val="176134563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2091268" y="450927"/>
            <a:ext cx="11057467" cy="444994"/>
          </a:xfrm>
          <a:prstGeom prst="rect">
            <a:avLst/>
          </a:prstGeom>
        </p:spPr>
        <p:txBody>
          <a:bodyPr vert="horz" wrap="square" lIns="0" tIns="13970" rIns="0" bIns="0" rtlCol="0">
            <a:spAutoFit/>
          </a:bodyPr>
          <a:lstStyle/>
          <a:p>
            <a:pPr marL="12700">
              <a:spcBef>
                <a:spcPts val="110"/>
              </a:spcBef>
              <a:tabLst>
                <a:tab pos="8279765" algn="l"/>
              </a:tabLst>
            </a:pPr>
            <a:r>
              <a:rPr dirty="0"/>
              <a:t>7.</a:t>
            </a:r>
            <a:r>
              <a:rPr spc="-45" dirty="0"/>
              <a:t> </a:t>
            </a:r>
            <a:r>
              <a:rPr dirty="0"/>
              <a:t>XÂY</a:t>
            </a:r>
            <a:r>
              <a:rPr spc="-80" dirty="0"/>
              <a:t> </a:t>
            </a:r>
            <a:r>
              <a:rPr dirty="0"/>
              <a:t>DỰNG</a:t>
            </a:r>
            <a:r>
              <a:rPr spc="-40" dirty="0"/>
              <a:t> </a:t>
            </a:r>
            <a:r>
              <a:rPr dirty="0"/>
              <a:t>ỨNG</a:t>
            </a:r>
            <a:r>
              <a:rPr spc="-35" dirty="0"/>
              <a:t> </a:t>
            </a:r>
            <a:r>
              <a:rPr dirty="0"/>
              <a:t>DỤNG</a:t>
            </a:r>
            <a:r>
              <a:rPr spc="-5" dirty="0"/>
              <a:t> </a:t>
            </a:r>
            <a:r>
              <a:rPr dirty="0"/>
              <a:t>WEB</a:t>
            </a:r>
            <a:r>
              <a:rPr spc="-30" dirty="0"/>
              <a:t> </a:t>
            </a:r>
            <a:r>
              <a:rPr dirty="0"/>
              <a:t>MVC</a:t>
            </a:r>
            <a:r>
              <a:rPr spc="-55" dirty="0"/>
              <a:t> </a:t>
            </a:r>
            <a:r>
              <a:rPr dirty="0"/>
              <a:t>VỚI</a:t>
            </a:r>
            <a:r>
              <a:rPr spc="-65" dirty="0"/>
              <a:t> </a:t>
            </a:r>
            <a:r>
              <a:rPr spc="-20" dirty="0"/>
              <a:t>CSDL</a:t>
            </a:r>
            <a:r>
              <a:rPr dirty="0"/>
              <a:t>	</a:t>
            </a:r>
          </a:p>
        </p:txBody>
      </p:sp>
      <p:sp>
        <p:nvSpPr>
          <p:cNvPr id="3" name="object 3"/>
          <p:cNvSpPr txBox="1"/>
          <p:nvPr/>
        </p:nvSpPr>
        <p:spPr>
          <a:xfrm>
            <a:off x="2419299" y="1095833"/>
            <a:ext cx="6028690" cy="300355"/>
          </a:xfrm>
          <a:prstGeom prst="rect">
            <a:avLst/>
          </a:prstGeom>
        </p:spPr>
        <p:txBody>
          <a:bodyPr vert="horz" wrap="square" lIns="0" tIns="12700" rIns="0" bIns="0" rtlCol="0">
            <a:spAutoFit/>
          </a:bodyPr>
          <a:lstStyle/>
          <a:p>
            <a:pPr marL="12700">
              <a:spcBef>
                <a:spcPts val="100"/>
              </a:spcBef>
            </a:pPr>
            <a:r>
              <a:rPr b="1" i="1" kern="0" dirty="0">
                <a:solidFill>
                  <a:srgbClr val="C00000"/>
                </a:solidFill>
                <a:latin typeface="Arial"/>
                <a:cs typeface="Arial"/>
              </a:rPr>
              <a:t>Tương</a:t>
            </a:r>
            <a:r>
              <a:rPr b="1" i="1" kern="0" spc="-60" dirty="0">
                <a:solidFill>
                  <a:srgbClr val="C00000"/>
                </a:solidFill>
                <a:latin typeface="Arial"/>
                <a:cs typeface="Arial"/>
              </a:rPr>
              <a:t> </a:t>
            </a:r>
            <a:r>
              <a:rPr b="1" i="1" kern="0" dirty="0">
                <a:solidFill>
                  <a:srgbClr val="C00000"/>
                </a:solidFill>
                <a:latin typeface="Arial"/>
                <a:cs typeface="Arial"/>
              </a:rPr>
              <a:t>tự</a:t>
            </a:r>
            <a:r>
              <a:rPr b="1" i="1" kern="0" spc="-25" dirty="0">
                <a:solidFill>
                  <a:srgbClr val="C00000"/>
                </a:solidFill>
                <a:latin typeface="Arial"/>
                <a:cs typeface="Arial"/>
              </a:rPr>
              <a:t> </a:t>
            </a:r>
            <a:r>
              <a:rPr b="1" i="1" kern="0" dirty="0">
                <a:solidFill>
                  <a:srgbClr val="C00000"/>
                </a:solidFill>
                <a:latin typeface="Arial"/>
                <a:cs typeface="Arial"/>
              </a:rPr>
              <a:t>cho</a:t>
            </a:r>
            <a:r>
              <a:rPr b="1" i="1" kern="0" spc="-20" dirty="0">
                <a:solidFill>
                  <a:srgbClr val="C00000"/>
                </a:solidFill>
                <a:latin typeface="Arial"/>
                <a:cs typeface="Arial"/>
              </a:rPr>
              <a:t> </a:t>
            </a:r>
            <a:r>
              <a:rPr b="1" i="1" kern="0" dirty="0">
                <a:solidFill>
                  <a:srgbClr val="C00000"/>
                </a:solidFill>
                <a:latin typeface="Arial"/>
                <a:cs typeface="Arial"/>
              </a:rPr>
              <a:t>trang</a:t>
            </a:r>
            <a:r>
              <a:rPr b="1" i="1" kern="0" spc="-15" dirty="0">
                <a:solidFill>
                  <a:srgbClr val="C00000"/>
                </a:solidFill>
                <a:latin typeface="Arial"/>
                <a:cs typeface="Arial"/>
              </a:rPr>
              <a:t> </a:t>
            </a:r>
            <a:r>
              <a:rPr b="1" i="1" kern="0" dirty="0">
                <a:solidFill>
                  <a:srgbClr val="C00000"/>
                </a:solidFill>
                <a:latin typeface="Arial"/>
                <a:cs typeface="Arial"/>
              </a:rPr>
              <a:t>Tin</a:t>
            </a:r>
            <a:r>
              <a:rPr b="1" i="1" kern="0" spc="-20" dirty="0">
                <a:solidFill>
                  <a:srgbClr val="C00000"/>
                </a:solidFill>
                <a:latin typeface="Arial"/>
                <a:cs typeface="Arial"/>
              </a:rPr>
              <a:t> </a:t>
            </a:r>
            <a:r>
              <a:rPr b="1" i="1" kern="0" dirty="0">
                <a:solidFill>
                  <a:srgbClr val="C00000"/>
                </a:solidFill>
                <a:latin typeface="Arial"/>
                <a:cs typeface="Arial"/>
              </a:rPr>
              <a:t>tức:</a:t>
            </a:r>
            <a:r>
              <a:rPr b="1" i="1" kern="0" spc="-25" dirty="0">
                <a:solidFill>
                  <a:srgbClr val="C00000"/>
                </a:solidFill>
                <a:latin typeface="Arial"/>
                <a:cs typeface="Arial"/>
              </a:rPr>
              <a:t> </a:t>
            </a:r>
            <a:r>
              <a:rPr b="1" i="1" kern="0" dirty="0">
                <a:solidFill>
                  <a:srgbClr val="C00000"/>
                </a:solidFill>
                <a:latin typeface="Arial"/>
                <a:cs typeface="Arial"/>
              </a:rPr>
              <a:t>Kết</a:t>
            </a:r>
            <a:r>
              <a:rPr b="1" i="1" kern="0" spc="-25" dirty="0">
                <a:solidFill>
                  <a:srgbClr val="C00000"/>
                </a:solidFill>
                <a:latin typeface="Arial"/>
                <a:cs typeface="Arial"/>
              </a:rPr>
              <a:t> </a:t>
            </a:r>
            <a:r>
              <a:rPr b="1" i="1" kern="0" dirty="0">
                <a:solidFill>
                  <a:srgbClr val="C00000"/>
                </a:solidFill>
                <a:latin typeface="Arial"/>
                <a:cs typeface="Arial"/>
              </a:rPr>
              <a:t>quả</a:t>
            </a:r>
            <a:r>
              <a:rPr b="1" i="1" kern="0" spc="-25" dirty="0">
                <a:solidFill>
                  <a:srgbClr val="C00000"/>
                </a:solidFill>
                <a:latin typeface="Arial"/>
                <a:cs typeface="Arial"/>
              </a:rPr>
              <a:t> </a:t>
            </a:r>
            <a:r>
              <a:rPr b="1" i="1" kern="0" dirty="0">
                <a:solidFill>
                  <a:srgbClr val="C00000"/>
                </a:solidFill>
                <a:latin typeface="Arial"/>
                <a:cs typeface="Arial"/>
              </a:rPr>
              <a:t>View </a:t>
            </a:r>
            <a:r>
              <a:rPr b="1" i="1" kern="0" spc="-10" dirty="0">
                <a:solidFill>
                  <a:srgbClr val="C00000"/>
                </a:solidFill>
                <a:latin typeface="Arial"/>
                <a:cs typeface="Arial"/>
              </a:rPr>
              <a:t>Index.cshtml</a:t>
            </a:r>
            <a:endParaRPr kern="0">
              <a:solidFill>
                <a:sysClr val="windowText" lastClr="000000"/>
              </a:solidFill>
              <a:latin typeface="Arial"/>
              <a:cs typeface="Arial"/>
            </a:endParaRPr>
          </a:p>
        </p:txBody>
      </p:sp>
      <p:pic>
        <p:nvPicPr>
          <p:cNvPr id="4" name="object 4"/>
          <p:cNvPicPr/>
          <p:nvPr/>
        </p:nvPicPr>
        <p:blipFill>
          <a:blip r:embed="rId2" cstate="print"/>
          <a:stretch>
            <a:fillRect/>
          </a:stretch>
        </p:blipFill>
        <p:spPr>
          <a:xfrm>
            <a:off x="2361971" y="1524000"/>
            <a:ext cx="7951978" cy="3200400"/>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solidFill>
                  <a:prstClr val="white"/>
                </a:solidFill>
              </a:rPr>
              <a:pPr marL="38100">
                <a:lnSpc>
                  <a:spcPts val="1664"/>
                </a:lnSpc>
              </a:pPr>
              <a:t>53</a:t>
            </a:fld>
            <a:endParaRPr spc="-25" dirty="0">
              <a:solidFill>
                <a:prstClr val="white"/>
              </a:solidFill>
            </a:endParaRPr>
          </a:p>
        </p:txBody>
      </p:sp>
      <p:sp>
        <p:nvSpPr>
          <p:cNvPr id="7" name="object 7"/>
          <p:cNvSpPr txBox="1">
            <a:spLocks noGrp="1"/>
          </p:cNvSpPr>
          <p:nvPr>
            <p:ph type="ftr" sz="quarter" idx="5"/>
          </p:nvPr>
        </p:nvSpPr>
        <p:spPr>
          <a:xfrm>
            <a:off x="2763418" y="6600176"/>
            <a:ext cx="1243964" cy="155171"/>
          </a:xfrm>
          <a:prstGeom prst="rect">
            <a:avLst/>
          </a:prstGeom>
        </p:spPr>
        <p:txBody>
          <a:bodyPr vert="horz" wrap="square" lIns="0" tIns="1270" rIns="0" bIns="0" rtlCol="0">
            <a:spAutoFit/>
          </a:bodyPr>
          <a:lstStyle/>
          <a:p>
            <a:pPr marL="12700">
              <a:spcBef>
                <a:spcPts val="10"/>
              </a:spcBef>
            </a:pPr>
            <a:endParaRPr spc="-20" dirty="0">
              <a:solidFill>
                <a:prstClr val="white"/>
              </a:solidFill>
            </a:endParaRPr>
          </a:p>
        </p:txBody>
      </p:sp>
    </p:spTree>
    <p:extLst>
      <p:ext uri="{BB962C8B-B14F-4D97-AF65-F5344CB8AC3E}">
        <p14:creationId xmlns:p14="http://schemas.microsoft.com/office/powerpoint/2010/main" val="3561958934"/>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66675"/>
            <a:ext cx="12192000" cy="6697980"/>
            <a:chOff x="61912" y="66675"/>
            <a:chExt cx="9022080" cy="6697980"/>
          </a:xfrm>
        </p:grpSpPr>
        <p:pic>
          <p:nvPicPr>
            <p:cNvPr id="3" name="object 3"/>
            <p:cNvPicPr/>
            <p:nvPr/>
          </p:nvPicPr>
          <p:blipFill>
            <a:blip r:embed="rId2" cstate="print"/>
            <a:stretch>
              <a:fillRect/>
            </a:stretch>
          </p:blipFill>
          <p:spPr>
            <a:xfrm>
              <a:off x="65087" y="69850"/>
              <a:ext cx="9013888" cy="6691313"/>
            </a:xfrm>
            <a:prstGeom prst="rect">
              <a:avLst/>
            </a:prstGeom>
          </p:spPr>
        </p:pic>
        <p:sp>
          <p:nvSpPr>
            <p:cNvPr id="4" name="object 4"/>
            <p:cNvSpPr/>
            <p:nvPr/>
          </p:nvSpPr>
          <p:spPr>
            <a:xfrm>
              <a:off x="65087" y="69850"/>
              <a:ext cx="9014460" cy="6691630"/>
            </a:xfrm>
            <a:custGeom>
              <a:avLst/>
              <a:gdLst/>
              <a:ahLst/>
              <a:cxnLst/>
              <a:rect l="l" t="t" r="r" b="b"/>
              <a:pathLst>
                <a:path w="9014460" h="6691630">
                  <a:moveTo>
                    <a:pt x="0" y="329819"/>
                  </a:moveTo>
                  <a:lnTo>
                    <a:pt x="3576" y="281088"/>
                  </a:lnTo>
                  <a:lnTo>
                    <a:pt x="13964" y="234576"/>
                  </a:lnTo>
                  <a:lnTo>
                    <a:pt x="30653" y="190791"/>
                  </a:lnTo>
                  <a:lnTo>
                    <a:pt x="53135" y="150245"/>
                  </a:lnTo>
                  <a:lnTo>
                    <a:pt x="80898" y="113448"/>
                  </a:lnTo>
                  <a:lnTo>
                    <a:pt x="113432" y="80911"/>
                  </a:lnTo>
                  <a:lnTo>
                    <a:pt x="150228" y="53144"/>
                  </a:lnTo>
                  <a:lnTo>
                    <a:pt x="190774" y="30660"/>
                  </a:lnTo>
                  <a:lnTo>
                    <a:pt x="234562" y="13967"/>
                  </a:lnTo>
                  <a:lnTo>
                    <a:pt x="281080" y="3576"/>
                  </a:lnTo>
                  <a:lnTo>
                    <a:pt x="329819" y="0"/>
                  </a:lnTo>
                  <a:lnTo>
                    <a:pt x="8684069" y="0"/>
                  </a:lnTo>
                  <a:lnTo>
                    <a:pt x="8732799" y="3576"/>
                  </a:lnTo>
                  <a:lnTo>
                    <a:pt x="8779312" y="13967"/>
                  </a:lnTo>
                  <a:lnTo>
                    <a:pt x="8823097" y="30660"/>
                  </a:lnTo>
                  <a:lnTo>
                    <a:pt x="8863643" y="53144"/>
                  </a:lnTo>
                  <a:lnTo>
                    <a:pt x="8900440" y="80911"/>
                  </a:lnTo>
                  <a:lnTo>
                    <a:pt x="8932977" y="113448"/>
                  </a:lnTo>
                  <a:lnTo>
                    <a:pt x="8960743" y="150245"/>
                  </a:lnTo>
                  <a:lnTo>
                    <a:pt x="8983228" y="190791"/>
                  </a:lnTo>
                  <a:lnTo>
                    <a:pt x="8999921" y="234576"/>
                  </a:lnTo>
                  <a:lnTo>
                    <a:pt x="9010311" y="281088"/>
                  </a:lnTo>
                  <a:lnTo>
                    <a:pt x="9013888" y="329819"/>
                  </a:lnTo>
                  <a:lnTo>
                    <a:pt x="9013888" y="6361493"/>
                  </a:lnTo>
                  <a:lnTo>
                    <a:pt x="9010311" y="6410232"/>
                  </a:lnTo>
                  <a:lnTo>
                    <a:pt x="8999921" y="6456750"/>
                  </a:lnTo>
                  <a:lnTo>
                    <a:pt x="8983228" y="6500538"/>
                  </a:lnTo>
                  <a:lnTo>
                    <a:pt x="8960743" y="6541084"/>
                  </a:lnTo>
                  <a:lnTo>
                    <a:pt x="8932977" y="6577880"/>
                  </a:lnTo>
                  <a:lnTo>
                    <a:pt x="8900440" y="6610414"/>
                  </a:lnTo>
                  <a:lnTo>
                    <a:pt x="8863643" y="6638178"/>
                  </a:lnTo>
                  <a:lnTo>
                    <a:pt x="8823097" y="6660659"/>
                  </a:lnTo>
                  <a:lnTo>
                    <a:pt x="8779312" y="6677349"/>
                  </a:lnTo>
                  <a:lnTo>
                    <a:pt x="8732799" y="6687737"/>
                  </a:lnTo>
                  <a:lnTo>
                    <a:pt x="8684069" y="6691313"/>
                  </a:lnTo>
                  <a:lnTo>
                    <a:pt x="329819" y="6691313"/>
                  </a:lnTo>
                  <a:lnTo>
                    <a:pt x="281080" y="6687737"/>
                  </a:lnTo>
                  <a:lnTo>
                    <a:pt x="234562" y="6677349"/>
                  </a:lnTo>
                  <a:lnTo>
                    <a:pt x="190774" y="6660659"/>
                  </a:lnTo>
                  <a:lnTo>
                    <a:pt x="150228" y="6638178"/>
                  </a:lnTo>
                  <a:lnTo>
                    <a:pt x="113432" y="6610414"/>
                  </a:lnTo>
                  <a:lnTo>
                    <a:pt x="80898" y="6577880"/>
                  </a:lnTo>
                  <a:lnTo>
                    <a:pt x="53135" y="6541084"/>
                  </a:lnTo>
                  <a:lnTo>
                    <a:pt x="30653" y="6500538"/>
                  </a:lnTo>
                  <a:lnTo>
                    <a:pt x="13964" y="6456750"/>
                  </a:lnTo>
                  <a:lnTo>
                    <a:pt x="3576" y="6410232"/>
                  </a:lnTo>
                  <a:lnTo>
                    <a:pt x="0" y="6361493"/>
                  </a:lnTo>
                  <a:lnTo>
                    <a:pt x="0" y="329819"/>
                  </a:lnTo>
                  <a:close/>
                </a:path>
              </a:pathLst>
            </a:custGeom>
            <a:ln w="6350">
              <a:solidFill>
                <a:srgbClr val="000000"/>
              </a:solidFill>
            </a:ln>
          </p:spPr>
          <p:txBody>
            <a:bodyPr wrap="square" lIns="0" tIns="0" rIns="0" bIns="0" rtlCol="0"/>
            <a:lstStyle/>
            <a:p>
              <a:endParaRPr kern="0">
                <a:solidFill>
                  <a:sysClr val="windowText" lastClr="000000"/>
                </a:solidFill>
              </a:endParaRPr>
            </a:p>
          </p:txBody>
        </p:sp>
        <p:sp>
          <p:nvSpPr>
            <p:cNvPr id="5" name="object 5"/>
            <p:cNvSpPr/>
            <p:nvPr/>
          </p:nvSpPr>
          <p:spPr>
            <a:xfrm>
              <a:off x="63500" y="1397000"/>
              <a:ext cx="9020175" cy="120650"/>
            </a:xfrm>
            <a:custGeom>
              <a:avLst/>
              <a:gdLst/>
              <a:ahLst/>
              <a:cxnLst/>
              <a:rect l="l" t="t" r="r" b="b"/>
              <a:pathLst>
                <a:path w="9020175" h="120650">
                  <a:moveTo>
                    <a:pt x="9020175" y="0"/>
                  </a:moveTo>
                  <a:lnTo>
                    <a:pt x="0" y="0"/>
                  </a:lnTo>
                  <a:lnTo>
                    <a:pt x="0" y="120650"/>
                  </a:lnTo>
                  <a:lnTo>
                    <a:pt x="9020175" y="120650"/>
                  </a:lnTo>
                  <a:lnTo>
                    <a:pt x="9020175" y="0"/>
                  </a:lnTo>
                  <a:close/>
                </a:path>
              </a:pathLst>
            </a:custGeom>
            <a:solidFill>
              <a:srgbClr val="E6B0AB"/>
            </a:solidFill>
          </p:spPr>
          <p:txBody>
            <a:bodyPr wrap="square" lIns="0" tIns="0" rIns="0" bIns="0" rtlCol="0"/>
            <a:lstStyle/>
            <a:p>
              <a:endParaRPr kern="0">
                <a:solidFill>
                  <a:sysClr val="windowText" lastClr="000000"/>
                </a:solidFill>
              </a:endParaRPr>
            </a:p>
          </p:txBody>
        </p:sp>
        <p:sp>
          <p:nvSpPr>
            <p:cNvPr id="6" name="object 6"/>
            <p:cNvSpPr/>
            <p:nvPr/>
          </p:nvSpPr>
          <p:spPr>
            <a:xfrm>
              <a:off x="63500" y="2976626"/>
              <a:ext cx="9020175" cy="111125"/>
            </a:xfrm>
            <a:custGeom>
              <a:avLst/>
              <a:gdLst/>
              <a:ahLst/>
              <a:cxnLst/>
              <a:rect l="l" t="t" r="r" b="b"/>
              <a:pathLst>
                <a:path w="9020175" h="111125">
                  <a:moveTo>
                    <a:pt x="9020175" y="0"/>
                  </a:moveTo>
                  <a:lnTo>
                    <a:pt x="0" y="0"/>
                  </a:lnTo>
                  <a:lnTo>
                    <a:pt x="0" y="111125"/>
                  </a:lnTo>
                  <a:lnTo>
                    <a:pt x="9020175" y="111125"/>
                  </a:lnTo>
                  <a:lnTo>
                    <a:pt x="9020175" y="0"/>
                  </a:lnTo>
                  <a:close/>
                </a:path>
              </a:pathLst>
            </a:custGeom>
            <a:solidFill>
              <a:srgbClr val="918485"/>
            </a:solidFill>
          </p:spPr>
          <p:txBody>
            <a:bodyPr wrap="square" lIns="0" tIns="0" rIns="0" bIns="0" rtlCol="0"/>
            <a:lstStyle/>
            <a:p>
              <a:endParaRPr kern="0">
                <a:solidFill>
                  <a:sysClr val="windowText" lastClr="000000"/>
                </a:solidFill>
              </a:endParaRPr>
            </a:p>
          </p:txBody>
        </p:sp>
        <p:sp>
          <p:nvSpPr>
            <p:cNvPr id="7" name="object 7"/>
            <p:cNvSpPr/>
            <p:nvPr/>
          </p:nvSpPr>
          <p:spPr>
            <a:xfrm>
              <a:off x="146050" y="6210300"/>
              <a:ext cx="457200" cy="457200"/>
            </a:xfrm>
            <a:custGeom>
              <a:avLst/>
              <a:gdLst/>
              <a:ahLst/>
              <a:cxnLst/>
              <a:rect l="l" t="t" r="r" b="b"/>
              <a:pathLst>
                <a:path w="457200" h="457200">
                  <a:moveTo>
                    <a:pt x="228600" y="0"/>
                  </a:moveTo>
                  <a:lnTo>
                    <a:pt x="182529" y="4644"/>
                  </a:lnTo>
                  <a:lnTo>
                    <a:pt x="139619" y="17964"/>
                  </a:lnTo>
                  <a:lnTo>
                    <a:pt x="100788" y="39041"/>
                  </a:lnTo>
                  <a:lnTo>
                    <a:pt x="66955" y="66955"/>
                  </a:lnTo>
                  <a:lnTo>
                    <a:pt x="39041" y="100788"/>
                  </a:lnTo>
                  <a:lnTo>
                    <a:pt x="17964" y="139619"/>
                  </a:lnTo>
                  <a:lnTo>
                    <a:pt x="4644" y="182529"/>
                  </a:lnTo>
                  <a:lnTo>
                    <a:pt x="0" y="228600"/>
                  </a:lnTo>
                  <a:lnTo>
                    <a:pt x="4644" y="274670"/>
                  </a:lnTo>
                  <a:lnTo>
                    <a:pt x="17964" y="317580"/>
                  </a:lnTo>
                  <a:lnTo>
                    <a:pt x="39041" y="356411"/>
                  </a:lnTo>
                  <a:lnTo>
                    <a:pt x="66955" y="390244"/>
                  </a:lnTo>
                  <a:lnTo>
                    <a:pt x="100788" y="418158"/>
                  </a:lnTo>
                  <a:lnTo>
                    <a:pt x="139619" y="439235"/>
                  </a:lnTo>
                  <a:lnTo>
                    <a:pt x="182529" y="452555"/>
                  </a:lnTo>
                  <a:lnTo>
                    <a:pt x="228600" y="457200"/>
                  </a:lnTo>
                  <a:lnTo>
                    <a:pt x="274670" y="452555"/>
                  </a:lnTo>
                  <a:lnTo>
                    <a:pt x="317580" y="439235"/>
                  </a:lnTo>
                  <a:lnTo>
                    <a:pt x="356411" y="418158"/>
                  </a:lnTo>
                  <a:lnTo>
                    <a:pt x="390244" y="390244"/>
                  </a:lnTo>
                  <a:lnTo>
                    <a:pt x="418158" y="356411"/>
                  </a:lnTo>
                  <a:lnTo>
                    <a:pt x="439235" y="317580"/>
                  </a:lnTo>
                  <a:lnTo>
                    <a:pt x="452555" y="274670"/>
                  </a:lnTo>
                  <a:lnTo>
                    <a:pt x="457200" y="228600"/>
                  </a:lnTo>
                  <a:lnTo>
                    <a:pt x="452555" y="182529"/>
                  </a:lnTo>
                  <a:lnTo>
                    <a:pt x="439235" y="139619"/>
                  </a:lnTo>
                  <a:lnTo>
                    <a:pt x="418158" y="100788"/>
                  </a:lnTo>
                  <a:lnTo>
                    <a:pt x="390244" y="66955"/>
                  </a:lnTo>
                  <a:lnTo>
                    <a:pt x="356411" y="39041"/>
                  </a:lnTo>
                  <a:lnTo>
                    <a:pt x="317580" y="17964"/>
                  </a:lnTo>
                  <a:lnTo>
                    <a:pt x="274670" y="4644"/>
                  </a:lnTo>
                  <a:lnTo>
                    <a:pt x="228600" y="0"/>
                  </a:lnTo>
                  <a:close/>
                </a:path>
              </a:pathLst>
            </a:custGeom>
            <a:solidFill>
              <a:srgbClr val="D24717"/>
            </a:solidFill>
          </p:spPr>
          <p:txBody>
            <a:bodyPr wrap="square" lIns="0" tIns="0" rIns="0" bIns="0" rtlCol="0"/>
            <a:lstStyle/>
            <a:p>
              <a:endParaRPr kern="0">
                <a:solidFill>
                  <a:sysClr val="windowText" lastClr="000000"/>
                </a:solidFill>
              </a:endParaRPr>
            </a:p>
          </p:txBody>
        </p:sp>
      </p:grpSp>
      <p:sp>
        <p:nvSpPr>
          <p:cNvPr id="8" name="object 8"/>
          <p:cNvSpPr txBox="1">
            <a:spLocks noGrp="1"/>
          </p:cNvSpPr>
          <p:nvPr>
            <p:ph type="title"/>
          </p:nvPr>
        </p:nvSpPr>
        <p:spPr>
          <a:xfrm>
            <a:off x="1587501" y="1517651"/>
            <a:ext cx="9020175" cy="2176237"/>
          </a:xfrm>
          <a:prstGeom prst="rect">
            <a:avLst/>
          </a:prstGeom>
          <a:solidFill>
            <a:srgbClr val="D24717"/>
          </a:solidFill>
        </p:spPr>
        <p:txBody>
          <a:bodyPr vert="horz" wrap="square" lIns="0" tIns="143510" rIns="0" bIns="0" rtlCol="0">
            <a:spAutoFit/>
          </a:bodyPr>
          <a:lstStyle/>
          <a:p>
            <a:pPr algn="ctr">
              <a:spcBef>
                <a:spcPts val="1130"/>
              </a:spcBef>
            </a:pPr>
            <a:r>
              <a:rPr lang="en-US" sz="6600" u="none">
                <a:solidFill>
                  <a:srgbClr val="FFFFFF"/>
                </a:solidFill>
              </a:rPr>
              <a:t>THẢO LUẬN </a:t>
            </a:r>
            <a:br>
              <a:rPr lang="en-US" sz="6600" u="none">
                <a:solidFill>
                  <a:srgbClr val="FFFFFF"/>
                </a:solidFill>
              </a:rPr>
            </a:br>
            <a:r>
              <a:rPr lang="en-US" sz="6600" u="none">
                <a:solidFill>
                  <a:srgbClr val="FFFFFF"/>
                </a:solidFill>
              </a:rPr>
              <a:t>VÀ THỰC HÀNH</a:t>
            </a:r>
            <a:endParaRPr sz="6600"/>
          </a:p>
        </p:txBody>
      </p:sp>
      <p:sp>
        <p:nvSpPr>
          <p:cNvPr id="9" name="object 9"/>
          <p:cNvSpPr/>
          <p:nvPr/>
        </p:nvSpPr>
        <p:spPr>
          <a:xfrm>
            <a:off x="1971676" y="6567487"/>
            <a:ext cx="8315325" cy="195580"/>
          </a:xfrm>
          <a:custGeom>
            <a:avLst/>
            <a:gdLst/>
            <a:ahLst/>
            <a:cxnLst/>
            <a:rect l="l" t="t" r="r" b="b"/>
            <a:pathLst>
              <a:path w="8315325" h="195579">
                <a:moveTo>
                  <a:pt x="2741676" y="195262"/>
                </a:moveTo>
                <a:lnTo>
                  <a:pt x="2735313" y="144627"/>
                </a:lnTo>
                <a:lnTo>
                  <a:pt x="2717393" y="99123"/>
                </a:lnTo>
                <a:lnTo>
                  <a:pt x="2689580" y="60566"/>
                </a:lnTo>
                <a:lnTo>
                  <a:pt x="2653601" y="30772"/>
                </a:lnTo>
                <a:lnTo>
                  <a:pt x="2611132" y="11569"/>
                </a:lnTo>
                <a:lnTo>
                  <a:pt x="2563876" y="4762"/>
                </a:lnTo>
                <a:lnTo>
                  <a:pt x="177800" y="4762"/>
                </a:lnTo>
                <a:lnTo>
                  <a:pt x="130530" y="11569"/>
                </a:lnTo>
                <a:lnTo>
                  <a:pt x="88049" y="30772"/>
                </a:lnTo>
                <a:lnTo>
                  <a:pt x="52070" y="60566"/>
                </a:lnTo>
                <a:lnTo>
                  <a:pt x="24269" y="99123"/>
                </a:lnTo>
                <a:lnTo>
                  <a:pt x="6350" y="144627"/>
                </a:lnTo>
                <a:lnTo>
                  <a:pt x="0" y="195262"/>
                </a:lnTo>
                <a:lnTo>
                  <a:pt x="2741676" y="195262"/>
                </a:lnTo>
                <a:close/>
              </a:path>
              <a:path w="8315325" h="195579">
                <a:moveTo>
                  <a:pt x="8315325" y="190512"/>
                </a:moveTo>
                <a:lnTo>
                  <a:pt x="8308962" y="139865"/>
                </a:lnTo>
                <a:lnTo>
                  <a:pt x="8291042" y="94361"/>
                </a:lnTo>
                <a:lnTo>
                  <a:pt x="8263229" y="55803"/>
                </a:lnTo>
                <a:lnTo>
                  <a:pt x="8227250" y="26022"/>
                </a:lnTo>
                <a:lnTo>
                  <a:pt x="8184782" y="6807"/>
                </a:lnTo>
                <a:lnTo>
                  <a:pt x="8137525" y="0"/>
                </a:lnTo>
                <a:lnTo>
                  <a:pt x="5749925" y="0"/>
                </a:lnTo>
                <a:lnTo>
                  <a:pt x="5702655" y="6807"/>
                </a:lnTo>
                <a:lnTo>
                  <a:pt x="5660187" y="26022"/>
                </a:lnTo>
                <a:lnTo>
                  <a:pt x="5624207" y="55803"/>
                </a:lnTo>
                <a:lnTo>
                  <a:pt x="5596394" y="94361"/>
                </a:lnTo>
                <a:lnTo>
                  <a:pt x="5578475" y="139865"/>
                </a:lnTo>
                <a:lnTo>
                  <a:pt x="5572125" y="190512"/>
                </a:lnTo>
                <a:lnTo>
                  <a:pt x="8315325" y="190512"/>
                </a:lnTo>
                <a:close/>
              </a:path>
            </a:pathLst>
          </a:custGeom>
          <a:solidFill>
            <a:srgbClr val="D24717"/>
          </a:solidFill>
        </p:spPr>
        <p:txBody>
          <a:bodyPr wrap="square" lIns="0" tIns="0" rIns="0" bIns="0" rtlCol="0"/>
          <a:lstStyle/>
          <a:p>
            <a:endParaRPr kern="0">
              <a:solidFill>
                <a:sysClr val="windowText" lastClr="000000"/>
              </a:solidFill>
            </a:endParaRP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38100">
              <a:lnSpc>
                <a:spcPts val="1664"/>
              </a:lnSpc>
            </a:pPr>
            <a:fld id="{81D60167-4931-47E6-BA6A-407CBD079E47}" type="slidenum">
              <a:rPr spc="-25" dirty="0">
                <a:solidFill>
                  <a:prstClr val="white"/>
                </a:solidFill>
              </a:rPr>
              <a:pPr marL="38100">
                <a:lnSpc>
                  <a:spcPts val="1664"/>
                </a:lnSpc>
              </a:pPr>
              <a:t>54</a:t>
            </a:fld>
            <a:endParaRPr spc="-25" dirty="0">
              <a:solidFill>
                <a:prstClr val="white"/>
              </a:solidFill>
            </a:endParaRPr>
          </a:p>
        </p:txBody>
      </p:sp>
      <p:sp>
        <p:nvSpPr>
          <p:cNvPr id="12" name="object 12"/>
          <p:cNvSpPr txBox="1">
            <a:spLocks noGrp="1"/>
          </p:cNvSpPr>
          <p:nvPr>
            <p:ph type="ftr" sz="quarter" idx="5"/>
          </p:nvPr>
        </p:nvSpPr>
        <p:spPr>
          <a:xfrm>
            <a:off x="2763418" y="6600176"/>
            <a:ext cx="1243964" cy="155171"/>
          </a:xfrm>
          <a:prstGeom prst="rect">
            <a:avLst/>
          </a:prstGeom>
        </p:spPr>
        <p:txBody>
          <a:bodyPr vert="horz" wrap="square" lIns="0" tIns="1270" rIns="0" bIns="0" rtlCol="0">
            <a:spAutoFit/>
          </a:bodyPr>
          <a:lstStyle/>
          <a:p>
            <a:pPr marL="12700">
              <a:spcBef>
                <a:spcPts val="10"/>
              </a:spcBef>
            </a:pPr>
            <a:endParaRPr spc="-20" dirty="0">
              <a:solidFill>
                <a:prstClr val="white"/>
              </a:solidFill>
            </a:endParaRPr>
          </a:p>
        </p:txBody>
      </p:sp>
    </p:spTree>
    <p:extLst>
      <p:ext uri="{BB962C8B-B14F-4D97-AF65-F5344CB8AC3E}">
        <p14:creationId xmlns:p14="http://schemas.microsoft.com/office/powerpoint/2010/main" val="50967261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160</TotalTime>
  <Words>1895</Words>
  <Application>Microsoft Office PowerPoint</Application>
  <PresentationFormat>Widescreen</PresentationFormat>
  <Paragraphs>262</Paragraphs>
  <Slides>54</Slides>
  <Notes>1</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54</vt:i4>
      </vt:variant>
    </vt:vector>
  </HeadingPairs>
  <TitlesOfParts>
    <vt:vector size="63" baseType="lpstr">
      <vt:lpstr>Arial</vt:lpstr>
      <vt:lpstr>Calibri</vt:lpstr>
      <vt:lpstr>Calibri Light</vt:lpstr>
      <vt:lpstr>Franklin Gothic Medium</vt:lpstr>
      <vt:lpstr>Microsoft Sans Serif</vt:lpstr>
      <vt:lpstr>Times New Roman</vt:lpstr>
      <vt:lpstr>Wingdings</vt:lpstr>
      <vt:lpstr>Office Theme</vt:lpstr>
      <vt:lpstr>1_Office Theme</vt:lpstr>
      <vt:lpstr>LẬP TRÌNH WEBSITE (ASP.NET MVC)</vt:lpstr>
      <vt:lpstr> MỤC TIÊU </vt:lpstr>
      <vt:lpstr>PowerPoint Presentation</vt:lpstr>
      <vt:lpstr>1. GIỚI THIỆU VỀ ASP.NET MVC </vt:lpstr>
      <vt:lpstr>1. GIỚI THIỆU VỀ ASP.NET MVC </vt:lpstr>
      <vt:lpstr>1. GIỚI THIỆU VỀ ASP.NET MVC </vt:lpstr>
      <vt:lpstr>1. GIỚI THIỆU VỀ ASP.NET MVC </vt:lpstr>
      <vt:lpstr>1. GIỚI THIỆU VỀ ASP.NET MVC </vt:lpstr>
      <vt:lpstr>1. GIỚI THIỆU VỀ ASP.NET MVC </vt:lpstr>
      <vt:lpstr>1. GIỚI THIỆU VỀ ASP.NET MVC </vt:lpstr>
      <vt:lpstr>1. GIỚI THIỆU VỀ ASP.NET MVC </vt:lpstr>
      <vt:lpstr>1. GIỚI THIỆU VỀ ASP.NET MVC </vt:lpstr>
      <vt:lpstr>1. GIỚI THIỆU VỀ ASP.NET MVC </vt:lpstr>
      <vt:lpstr>1. GIỚI THIỆU VỀ ASP.NET MVC </vt:lpstr>
      <vt:lpstr>1. GIỚI THIỆU VỀ ASP.NET MVC </vt:lpstr>
      <vt:lpstr>1. GIỚI THIỆU VỀ ASP.NET MVC </vt:lpstr>
      <vt:lpstr>1. GIỚI THIỆU VỀ ASP.NET MVC </vt:lpstr>
      <vt:lpstr>1. GIỚI THIỆU VỀ ASP.NET MVC </vt:lpstr>
      <vt:lpstr>2. XÂY DỰNG ỨNG DỤNG WEB </vt:lpstr>
      <vt:lpstr>2. XÂY DỰNG ỨNG DỤNG WEB </vt:lpstr>
      <vt:lpstr>2. XÂY DỰNG ỨNG DỤNG WEB </vt:lpstr>
      <vt:lpstr>2. XÂY DỰNG ỨNG DỤNG WEB </vt:lpstr>
      <vt:lpstr>2. XÂY DỰNG ỨNG DỤNG WEB </vt:lpstr>
      <vt:lpstr>2. XÂY DỰNG ỨNG DỤNG WEB </vt:lpstr>
      <vt:lpstr>2. XÂY DỰNG ỨNG DỤNG WEB </vt:lpstr>
      <vt:lpstr>2. XÂY DỰNG ỨNG DỤNG WEB </vt:lpstr>
      <vt:lpstr>2. XÂY DỰNG ỨNG DỤNG WEB </vt:lpstr>
      <vt:lpstr>2. XÂY DỰNG ỨNG DỤNG WEB </vt:lpstr>
      <vt:lpstr>3. GIỚI THIỆU VỀ CONTROLLER </vt:lpstr>
      <vt:lpstr>3. GIỚI THIỆU VỀ CONTROLLER </vt:lpstr>
      <vt:lpstr>3. GIỚI THIỆU VỀ CONTROLLER </vt:lpstr>
      <vt:lpstr>4. GIỚI THIỆU VỀ VIEW </vt:lpstr>
      <vt:lpstr>4. GIỚI THIỆU VỀ VIEW </vt:lpstr>
      <vt:lpstr>4. GIỚI THIỆU VỀ VIEW </vt:lpstr>
      <vt:lpstr>4. GIỚI THIỆU VỀ VIEW </vt:lpstr>
      <vt:lpstr>5. GIỚI THIỆU VỀ ĐỊNH TUYẾN URL </vt:lpstr>
      <vt:lpstr>5. GIỚI THIỆU VỀ ĐỊNH TUYẾN URL </vt:lpstr>
      <vt:lpstr>5. GIỚI THIỆU VỀ ĐỊNH TUYẾN URL </vt:lpstr>
      <vt:lpstr>6. TÌM HIỂU VỀ MODELS </vt:lpstr>
      <vt:lpstr>7. XÂY DỰNG ỨNG DỤNG WEB MVC VỚI CSDL </vt:lpstr>
      <vt:lpstr>7. XÂY DỰNG ỨNG DỤNG WEB MVC VỚI CSDL </vt:lpstr>
      <vt:lpstr>7. XÂY DỰNG ỨNG DỤNG WEB MVC VỚI CSDL </vt:lpstr>
      <vt:lpstr>7. XÂY DỰNG ỨNG DỤNG WEB MVC VỚI CSDL </vt:lpstr>
      <vt:lpstr>7. XÂY DỰNG ỨNG DỤNG WEB MVC VỚI CSDL </vt:lpstr>
      <vt:lpstr>7. XÂY DỰNG ỨNG DỤNG WEB MVC VỚI CSDL </vt:lpstr>
      <vt:lpstr>7. XÂY DỰNG ỨNG DỤNG WEB MVC VỚI CSDL </vt:lpstr>
      <vt:lpstr>7. XÂY DỰNG ỨNG DỤNG WEB MVC VỚI CSDL </vt:lpstr>
      <vt:lpstr>7. XÂY DỰNG ỨNG DỤNG WEB MVC VỚI CSDL </vt:lpstr>
      <vt:lpstr>7. XÂY DỰNG ỨNG DỤNG WEB MVC VỚI CSDL </vt:lpstr>
      <vt:lpstr>7. XÂY DỰNG ỨNG DỤNG WEB MVC VỚI CSDL </vt:lpstr>
      <vt:lpstr>7. XÂY DỰNG ỨNG DỤNG WEB MVC VỚI CSDL </vt:lpstr>
      <vt:lpstr>7. XÂY DỰNG ỨNG DỤNG WEB MVC VỚI CSDL </vt:lpstr>
      <vt:lpstr>7. XÂY DỰNG ỨNG DỤNG WEB MVC VỚI CSDL </vt:lpstr>
      <vt:lpstr>THẢO LUẬN  VÀ THỰC HÀNH</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LẬP TRÌNH WEBSITE (ASP.NET MVC 5)</dc:title>
  <dc:creator>Microsoft account</dc:creator>
  <cp:lastModifiedBy>Microsoft account</cp:lastModifiedBy>
  <cp:revision>18</cp:revision>
  <dcterms:created xsi:type="dcterms:W3CDTF">2025-08-18T01:24:10Z</dcterms:created>
  <dcterms:modified xsi:type="dcterms:W3CDTF">2025-09-08T02:42:22Z</dcterms:modified>
</cp:coreProperties>
</file>