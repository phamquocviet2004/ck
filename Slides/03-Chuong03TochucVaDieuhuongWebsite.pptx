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9" r:id="rId18"/>
    <p:sldId id="280" r:id="rId19"/>
    <p:sldId id="281" r:id="rId20"/>
    <p:sldId id="282" r:id="rId21"/>
    <p:sldId id="283" r:id="rId22"/>
    <p:sldId id="284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DC16C-2EE3-45FC-8699-3D298C64D5C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8E624-59BE-4431-B6A9-FE1860068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3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7156D3-F15F-445F-8BD9-39F1F90664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4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mtClean="0"/>
              <a:t>ActionResult là </a:t>
            </a:r>
            <a:r>
              <a:rPr lang="vi-VN" b="1" smtClean="0"/>
              <a:t>lớp cơ sở (base class)</a:t>
            </a:r>
            <a:r>
              <a:rPr lang="vi-VN" smtClean="0"/>
              <a:t> cho tất cả các loại kết quả mà một Action trong Controller có thể trả về</a:t>
            </a:r>
            <a:r>
              <a:rPr lang="en-US" smtClean="0"/>
              <a:t>,</a:t>
            </a:r>
            <a:r>
              <a:rPr lang="en-US" baseline="0" smtClean="0"/>
              <a:t> c</a:t>
            </a:r>
            <a:r>
              <a:rPr lang="vi-VN" smtClean="0"/>
              <a:t>ác kết quả cụ thể như ViewResult, PartialViewResult, JsonResult, ContentResult, FileResult, RedirectResult… đều </a:t>
            </a:r>
            <a:r>
              <a:rPr lang="vi-VN" b="1" smtClean="0"/>
              <a:t>kế thừa từ ActionResult</a:t>
            </a:r>
            <a:r>
              <a:rPr lang="vi-VN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B3B851-3561-41E0-AF58-912F0387EC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53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public ActionResult Index()</a:t>
            </a:r>
          </a:p>
          <a:p>
            <a:r>
              <a:rPr lang="en-US" smtClean="0"/>
              <a:t>{</a:t>
            </a:r>
          </a:p>
          <a:p>
            <a:r>
              <a:rPr lang="en-US" smtClean="0"/>
              <a:t>    return View(); // Mặc định tìm View "Index.cshtml"</a:t>
            </a:r>
          </a:p>
          <a:p>
            <a:r>
              <a:rPr lang="en-US" smtClean="0"/>
              <a:t>}</a:t>
            </a:r>
          </a:p>
          <a:p>
            <a:endParaRPr lang="en-US" smtClean="0"/>
          </a:p>
          <a:p>
            <a:r>
              <a:rPr lang="en-US" smtClean="0"/>
              <a:t>public ActionResult About()</a:t>
            </a:r>
          </a:p>
          <a:p>
            <a:r>
              <a:rPr lang="en-US" smtClean="0"/>
              <a:t>{</a:t>
            </a:r>
          </a:p>
          <a:p>
            <a:r>
              <a:rPr lang="en-US" smtClean="0"/>
              <a:t>    return View("AboutPage"); // Trả về View "AboutPage.cshtml"</a:t>
            </a:r>
          </a:p>
          <a:p>
            <a:r>
              <a:rPr lang="en-US" smtClean="0"/>
              <a:t>}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B3B851-3561-41E0-AF58-912F0387EC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95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4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1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8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2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8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8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1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7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7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12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67" y="481407"/>
            <a:ext cx="11057467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ECD68-0F83-4910-902D-F1089BC6F46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365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F4DA5-6D46-47F1-ADA8-D73AE223CA6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487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6AA36-2961-45A3-81D1-2BD26A25B7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228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2E700-3244-4A09-AC55-E945AEF33B0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748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47DA2-2186-4EFF-9E27-80377EB0A8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86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154FC-E1E6-495A-B1F9-0020C2A2C0E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4DB52-6806-4D89-B9CD-9B17F2B7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5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267" y="481407"/>
            <a:ext cx="11057467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2557" y="6600175"/>
            <a:ext cx="165861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kern="0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2680E-D36F-41ED-996F-79D668A2156E}" type="datetime1">
              <a:rPr lang="en-US" kern="0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40699" y="6334103"/>
            <a:ext cx="315805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ts val="1664"/>
              </a:lnSpc>
            </a:pPr>
            <a:fld id="{81D60167-4931-47E6-BA6A-407CBD079E47}" type="slidenum">
              <a:rPr lang="en-US" kern="0" spc="-25" smtClean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‹#›</a:t>
            </a:fld>
            <a:endParaRPr lang="en-US" kern="0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64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725" y="66675"/>
            <a:ext cx="120015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8616950" cy="552450"/>
            </a:xfrm>
            <a:custGeom>
              <a:avLst/>
              <a:gdLst/>
              <a:ahLst/>
              <a:cxnLst/>
              <a:rect l="l" t="t" r="r" b="b"/>
              <a:pathLst>
                <a:path w="8616950" h="552450">
                  <a:moveTo>
                    <a:pt x="3043301" y="552450"/>
                  </a:moveTo>
                  <a:lnTo>
                    <a:pt x="3036938" y="501815"/>
                  </a:lnTo>
                  <a:lnTo>
                    <a:pt x="3019018" y="456311"/>
                  </a:lnTo>
                  <a:lnTo>
                    <a:pt x="2991205" y="417753"/>
                  </a:lnTo>
                  <a:lnTo>
                    <a:pt x="2955226" y="387959"/>
                  </a:lnTo>
                  <a:lnTo>
                    <a:pt x="2912757" y="368757"/>
                  </a:lnTo>
                  <a:lnTo>
                    <a:pt x="2865501" y="361950"/>
                  </a:lnTo>
                  <a:lnTo>
                    <a:pt x="479425" y="361950"/>
                  </a:lnTo>
                  <a:lnTo>
                    <a:pt x="432155" y="368757"/>
                  </a:lnTo>
                  <a:lnTo>
                    <a:pt x="393573" y="386207"/>
                  </a:lnTo>
                  <a:lnTo>
                    <a:pt x="418147" y="356412"/>
                  </a:lnTo>
                  <a:lnTo>
                    <a:pt x="439229" y="317588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37"/>
                  </a:lnTo>
                  <a:lnTo>
                    <a:pt x="439229" y="139623"/>
                  </a:lnTo>
                  <a:lnTo>
                    <a:pt x="418147" y="100799"/>
                  </a:lnTo>
                  <a:lnTo>
                    <a:pt x="390232" y="66967"/>
                  </a:lnTo>
                  <a:lnTo>
                    <a:pt x="356400" y="39052"/>
                  </a:lnTo>
                  <a:lnTo>
                    <a:pt x="317576" y="17970"/>
                  </a:lnTo>
                  <a:lnTo>
                    <a:pt x="274662" y="4648"/>
                  </a:lnTo>
                  <a:lnTo>
                    <a:pt x="228600" y="0"/>
                  </a:lnTo>
                  <a:lnTo>
                    <a:pt x="182524" y="4648"/>
                  </a:lnTo>
                  <a:lnTo>
                    <a:pt x="139611" y="17970"/>
                  </a:lnTo>
                  <a:lnTo>
                    <a:pt x="100787" y="39052"/>
                  </a:lnTo>
                  <a:lnTo>
                    <a:pt x="66954" y="66967"/>
                  </a:lnTo>
                  <a:lnTo>
                    <a:pt x="39039" y="100799"/>
                  </a:lnTo>
                  <a:lnTo>
                    <a:pt x="17957" y="139623"/>
                  </a:lnTo>
                  <a:lnTo>
                    <a:pt x="4635" y="182537"/>
                  </a:lnTo>
                  <a:lnTo>
                    <a:pt x="0" y="228600"/>
                  </a:lnTo>
                  <a:lnTo>
                    <a:pt x="4635" y="274675"/>
                  </a:lnTo>
                  <a:lnTo>
                    <a:pt x="17957" y="317588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11" y="439242"/>
                  </a:lnTo>
                  <a:lnTo>
                    <a:pt x="182524" y="452564"/>
                  </a:lnTo>
                  <a:lnTo>
                    <a:pt x="228600" y="457200"/>
                  </a:lnTo>
                  <a:lnTo>
                    <a:pt x="274662" y="452564"/>
                  </a:lnTo>
                  <a:lnTo>
                    <a:pt x="317576" y="439242"/>
                  </a:lnTo>
                  <a:lnTo>
                    <a:pt x="351472" y="420839"/>
                  </a:lnTo>
                  <a:lnTo>
                    <a:pt x="325894" y="456311"/>
                  </a:lnTo>
                  <a:lnTo>
                    <a:pt x="307975" y="501815"/>
                  </a:lnTo>
                  <a:lnTo>
                    <a:pt x="301625" y="552450"/>
                  </a:lnTo>
                  <a:lnTo>
                    <a:pt x="3043301" y="552450"/>
                  </a:lnTo>
                  <a:close/>
                </a:path>
                <a:path w="8616950" h="552450">
                  <a:moveTo>
                    <a:pt x="8616950" y="547700"/>
                  </a:moveTo>
                  <a:lnTo>
                    <a:pt x="8610587" y="497052"/>
                  </a:lnTo>
                  <a:lnTo>
                    <a:pt x="8592668" y="451548"/>
                  </a:lnTo>
                  <a:lnTo>
                    <a:pt x="8564855" y="412991"/>
                  </a:lnTo>
                  <a:lnTo>
                    <a:pt x="8528875" y="383209"/>
                  </a:lnTo>
                  <a:lnTo>
                    <a:pt x="8486407" y="363994"/>
                  </a:lnTo>
                  <a:lnTo>
                    <a:pt x="8439150" y="357187"/>
                  </a:lnTo>
                  <a:lnTo>
                    <a:pt x="6051550" y="357187"/>
                  </a:lnTo>
                  <a:lnTo>
                    <a:pt x="6004280" y="363994"/>
                  </a:lnTo>
                  <a:lnTo>
                    <a:pt x="5961812" y="383209"/>
                  </a:lnTo>
                  <a:lnTo>
                    <a:pt x="5925832" y="412991"/>
                  </a:lnTo>
                  <a:lnTo>
                    <a:pt x="5898019" y="451548"/>
                  </a:lnTo>
                  <a:lnTo>
                    <a:pt x="5880100" y="497052"/>
                  </a:lnTo>
                  <a:lnTo>
                    <a:pt x="5873750" y="547700"/>
                  </a:lnTo>
                  <a:lnTo>
                    <a:pt x="8616950" y="54770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0"/>
            <a:ext cx="9020175" cy="123944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255" rIns="0" bIns="0" rtlCol="0">
            <a:spAutoFit/>
          </a:bodyPr>
          <a:lstStyle/>
          <a:p>
            <a:pPr marL="2425065" marR="1931035" indent="-489584">
              <a:spcBef>
                <a:spcPts val="65"/>
              </a:spcBef>
            </a:pPr>
            <a:r>
              <a:rPr sz="4000" u="none" dirty="0">
                <a:solidFill>
                  <a:srgbClr val="FFFFFF"/>
                </a:solidFill>
              </a:rPr>
              <a:t>LẬP</a:t>
            </a:r>
            <a:r>
              <a:rPr sz="4000" u="none" spc="-110" dirty="0">
                <a:solidFill>
                  <a:srgbClr val="FFFFFF"/>
                </a:solidFill>
              </a:rPr>
              <a:t> </a:t>
            </a:r>
            <a:r>
              <a:rPr sz="4000" u="none" dirty="0">
                <a:solidFill>
                  <a:srgbClr val="FFFFFF"/>
                </a:solidFill>
              </a:rPr>
              <a:t>TRÌNH</a:t>
            </a:r>
            <a:r>
              <a:rPr sz="4000" u="none" spc="-85" dirty="0">
                <a:solidFill>
                  <a:srgbClr val="FFFFFF"/>
                </a:solidFill>
              </a:rPr>
              <a:t> </a:t>
            </a:r>
            <a:r>
              <a:rPr sz="4000" u="none" spc="-10" dirty="0">
                <a:solidFill>
                  <a:srgbClr val="FFFFFF"/>
                </a:solidFill>
              </a:rPr>
              <a:t>WEBSITE </a:t>
            </a:r>
            <a:r>
              <a:rPr sz="4000" u="none" spc="40" dirty="0">
                <a:solidFill>
                  <a:srgbClr val="FFFFFF"/>
                </a:solidFill>
              </a:rPr>
              <a:t>(</a:t>
            </a:r>
            <a:r>
              <a:rPr sz="4000" u="none" spc="-80">
                <a:solidFill>
                  <a:srgbClr val="FFFFFF"/>
                </a:solidFill>
              </a:rPr>
              <a:t>A</a:t>
            </a:r>
            <a:r>
              <a:rPr sz="4000" u="none" spc="40">
                <a:solidFill>
                  <a:srgbClr val="FFFFFF"/>
                </a:solidFill>
              </a:rPr>
              <a:t>S</a:t>
            </a:r>
            <a:r>
              <a:rPr sz="4000" u="none" spc="-475">
                <a:solidFill>
                  <a:srgbClr val="FFFFFF"/>
                </a:solidFill>
              </a:rPr>
              <a:t>P</a:t>
            </a:r>
            <a:r>
              <a:rPr sz="4000" u="none" spc="40">
                <a:solidFill>
                  <a:srgbClr val="FFFFFF"/>
                </a:solidFill>
              </a:rPr>
              <a:t>.NET</a:t>
            </a:r>
            <a:r>
              <a:rPr sz="4000" u="none" spc="-75">
                <a:solidFill>
                  <a:srgbClr val="FFFFFF"/>
                </a:solidFill>
              </a:rPr>
              <a:t> </a:t>
            </a:r>
            <a:r>
              <a:rPr lang="en-US" sz="4000" u="none" smtClean="0">
                <a:solidFill>
                  <a:srgbClr val="FFFFFF"/>
                </a:solidFill>
              </a:rPr>
              <a:t>MVC</a:t>
            </a:r>
            <a:r>
              <a:rPr sz="4000" u="none" spc="-25" smtClean="0">
                <a:solidFill>
                  <a:srgbClr val="FFFFFF"/>
                </a:solidFill>
              </a:rPr>
              <a:t>)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1602740" y="3195905"/>
            <a:ext cx="8942705" cy="93807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15"/>
              </a:spcBef>
            </a:pP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CH</a:t>
            </a:r>
            <a:r>
              <a:rPr lang="en-US" sz="2400" b="1" kern="0" spc="-10">
                <a:solidFill>
                  <a:srgbClr val="FF0000"/>
                </a:solidFill>
                <a:latin typeface="Arial"/>
                <a:cs typeface="Arial"/>
              </a:rPr>
              <a:t>Ư</a:t>
            </a: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ƠNG</a:t>
            </a:r>
            <a:r>
              <a:rPr sz="2400" b="1" kern="0" spc="-1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b="1" kern="0" spc="-140" smtClean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400" b="1" kern="0" spc="-25" smtClean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98500">
              <a:lnSpc>
                <a:spcPts val="4295"/>
              </a:lnSpc>
            </a:pPr>
            <a:r>
              <a:rPr lang="en-US" sz="3600" b="1" kern="0">
                <a:solidFill>
                  <a:srgbClr val="FF0000"/>
                </a:solidFill>
                <a:latin typeface="Arial"/>
                <a:cs typeface="Arial"/>
              </a:rPr>
              <a:t>TỔ CHỨC VÀ ĐIỀU HƯỚNG WEBSITE</a:t>
            </a:r>
            <a:endParaRPr sz="3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54851" y="795528"/>
            <a:ext cx="3977640" cy="132587"/>
            <a:chOff x="4530851" y="795527"/>
            <a:chExt cx="3977640" cy="132587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1" y="795527"/>
              <a:ext cx="3977640" cy="1325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5175" y="836676"/>
              <a:ext cx="3889375" cy="1905"/>
            </a:xfrm>
            <a:custGeom>
              <a:avLst/>
              <a:gdLst/>
              <a:ahLst/>
              <a:cxnLst/>
              <a:rect l="l" t="t" r="r" b="b"/>
              <a:pathLst>
                <a:path w="3889375" h="1905">
                  <a:moveTo>
                    <a:pt x="0" y="0"/>
                  </a:moveTo>
                  <a:lnTo>
                    <a:pt x="3889375" y="1524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1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95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z="2800" spc="-434" dirty="0"/>
              <a:t> </a:t>
            </a:r>
            <a:r>
              <a:rPr sz="2800" dirty="0"/>
              <a:t>NỘI</a:t>
            </a:r>
            <a:r>
              <a:rPr sz="2800" spc="-25" dirty="0"/>
              <a:t> </a:t>
            </a:r>
            <a:r>
              <a:rPr sz="2800" spc="-20" dirty="0"/>
              <a:t>DUNG</a:t>
            </a:r>
            <a:r>
              <a:rPr sz="2800" dirty="0"/>
              <a:t>	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8844" y="903462"/>
            <a:ext cx="3696970" cy="1580561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469900" indent="-457200">
              <a:spcBef>
                <a:spcPts val="1285"/>
              </a:spcBef>
              <a:buFontTx/>
              <a:buAutoNum type="arabicPeriod"/>
              <a:tabLst>
                <a:tab pos="469900" algn="l"/>
              </a:tabLst>
            </a:pPr>
            <a:r>
              <a:rPr sz="2400" b="1" i="1" kern="0" spc="-10" dirty="0">
                <a:solidFill>
                  <a:srgbClr val="9B2C1F"/>
                </a:solidFill>
                <a:latin typeface="Arial"/>
                <a:cs typeface="Arial"/>
              </a:rPr>
              <a:t>Layout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27100" lvl="1" indent="-457200">
              <a:spcBef>
                <a:spcPts val="1195"/>
              </a:spcBef>
              <a:buFont typeface="Wingdings"/>
              <a:buChar char=""/>
              <a:tabLst>
                <a:tab pos="927100" algn="l"/>
              </a:tabLst>
            </a:pPr>
            <a:r>
              <a:rPr sz="24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@RenderBody()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27100" lvl="1" indent="-457200">
              <a:spcBef>
                <a:spcPts val="1225"/>
              </a:spcBef>
              <a:buFont typeface="Wingdings"/>
              <a:buChar char=""/>
              <a:tabLst>
                <a:tab pos="927100" algn="l"/>
              </a:tabLst>
            </a:pPr>
            <a:r>
              <a:rPr sz="24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@</a:t>
            </a:r>
            <a:r>
              <a:rPr sz="2400" i="1" kern="0" spc="-10">
                <a:solidFill>
                  <a:sysClr val="windowText" lastClr="000000"/>
                </a:solidFill>
                <a:latin typeface="Arial"/>
                <a:cs typeface="Arial"/>
              </a:rPr>
              <a:t>RenderSection</a:t>
            </a:r>
            <a:r>
              <a:rPr sz="2400" i="1" kern="0" spc="-10" smtClean="0">
                <a:solidFill>
                  <a:sysClr val="windowText" lastClr="000000"/>
                </a:solidFill>
                <a:latin typeface="Arial"/>
                <a:cs typeface="Arial"/>
              </a:rPr>
              <a:t>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844" y="2556997"/>
            <a:ext cx="279400" cy="106870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spcBef>
                <a:spcPts val="1320"/>
              </a:spcBef>
            </a:pPr>
            <a:r>
              <a:rPr sz="2400" b="1" i="1" kern="0" spc="-25" dirty="0">
                <a:solidFill>
                  <a:srgbClr val="9B2C1F"/>
                </a:solidFill>
                <a:latin typeface="Arial"/>
                <a:cs typeface="Arial"/>
              </a:rPr>
              <a:t>2.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>
              <a:spcBef>
                <a:spcPts val="1230"/>
              </a:spcBef>
            </a:pPr>
            <a:r>
              <a:rPr sz="2400" b="1" i="1" kern="0" spc="-25" dirty="0">
                <a:solidFill>
                  <a:srgbClr val="9B2C1F"/>
                </a:solidFill>
                <a:latin typeface="Arial"/>
                <a:cs typeface="Arial"/>
              </a:rPr>
              <a:t>3.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6349" y="2556997"/>
            <a:ext cx="3614420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600"/>
              </a:lnSpc>
              <a:spcBef>
                <a:spcPts val="95"/>
              </a:spcBef>
            </a:pP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Gói</a:t>
            </a:r>
            <a:r>
              <a:rPr sz="2400" b="1" i="1" kern="0" spc="-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tài</a:t>
            </a:r>
            <a:r>
              <a:rPr sz="2400" b="1" i="1" kern="0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nguyên</a:t>
            </a:r>
            <a:r>
              <a:rPr sz="2400" b="1" i="1" kern="0" spc="-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-</a:t>
            </a:r>
            <a:r>
              <a:rPr sz="2400" b="1" i="1" kern="0" spc="-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spc="-10" dirty="0">
                <a:solidFill>
                  <a:srgbClr val="9B2C1F"/>
                </a:solidFill>
                <a:latin typeface="Arial"/>
                <a:cs typeface="Arial"/>
              </a:rPr>
              <a:t>Bundles PartialView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8845" y="3600626"/>
            <a:ext cx="8141030" cy="2627001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927100" indent="-457200">
              <a:spcBef>
                <a:spcPts val="1285"/>
              </a:spcBef>
              <a:buFont typeface="Wingdings"/>
              <a:buChar char=""/>
              <a:tabLst>
                <a:tab pos="927100" algn="l"/>
              </a:tabLst>
            </a:pPr>
            <a:r>
              <a:rPr sz="24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@Html.Action()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27100" indent="-457200">
              <a:spcBef>
                <a:spcPts val="1190"/>
              </a:spcBef>
              <a:buFont typeface="Wingdings"/>
              <a:buChar char=""/>
              <a:tabLst>
                <a:tab pos="927100" algn="l"/>
              </a:tabLst>
            </a:pPr>
            <a:r>
              <a:rPr sz="24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@Html.Partial()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69900" indent="-457200">
              <a:spcBef>
                <a:spcPts val="1225"/>
              </a:spcBef>
              <a:buFontTx/>
              <a:buAutoNum type="arabicPeriod" startAt="4"/>
              <a:tabLst>
                <a:tab pos="469900" algn="l"/>
              </a:tabLst>
            </a:pPr>
            <a:r>
              <a:rPr lang="en-US" sz="2400" b="1" i="1" kern="0">
                <a:solidFill>
                  <a:srgbClr val="9B2C1F"/>
                </a:solidFill>
                <a:latin typeface="Arial"/>
                <a:cs typeface="Arial"/>
              </a:rPr>
              <a:t>Action Result: Text, View, Action, Url, File,...</a:t>
            </a:r>
          </a:p>
          <a:p>
            <a:pPr marL="469900" indent="-457200">
              <a:spcBef>
                <a:spcPts val="1225"/>
              </a:spcBef>
              <a:buFontTx/>
              <a:buAutoNum type="arabicPeriod" startAt="4"/>
              <a:tabLst>
                <a:tab pos="469900" algn="l"/>
              </a:tabLst>
            </a:pPr>
            <a:r>
              <a:rPr sz="2400" b="1" i="1" kern="0" smtClean="0">
                <a:solidFill>
                  <a:srgbClr val="9B2C1F"/>
                </a:solidFill>
                <a:latin typeface="Arial"/>
                <a:cs typeface="Arial"/>
              </a:rPr>
              <a:t>Đa</a:t>
            </a:r>
            <a:r>
              <a:rPr sz="2400" b="1" i="1" kern="0" spc="-5" smtClean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ngôn</a:t>
            </a:r>
            <a:r>
              <a:rPr sz="2400" b="1" i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spc="-25" dirty="0">
                <a:solidFill>
                  <a:srgbClr val="9B2C1F"/>
                </a:solidFill>
                <a:latin typeface="Arial"/>
                <a:cs typeface="Arial"/>
              </a:rPr>
              <a:t>ngữ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69900" indent="-457200">
              <a:spcBef>
                <a:spcPts val="1190"/>
              </a:spcBef>
              <a:buFontTx/>
              <a:buAutoNum type="arabicPeriod" startAt="4"/>
              <a:tabLst>
                <a:tab pos="469900" algn="l"/>
              </a:tabLst>
            </a:pP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Phân</a:t>
            </a:r>
            <a:r>
              <a:rPr sz="2400" b="1" i="1" kern="0" spc="-7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vùng</a:t>
            </a:r>
            <a:r>
              <a:rPr sz="2400" b="1" i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ứng</a:t>
            </a:r>
            <a:r>
              <a:rPr sz="2400" b="1" i="1" kern="0" spc="-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400" b="1" i="1" kern="0" spc="-6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-</a:t>
            </a:r>
            <a:r>
              <a:rPr sz="2400" b="1" i="1" kern="0" spc="-10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spc="-10" dirty="0">
                <a:solidFill>
                  <a:srgbClr val="9B2C1F"/>
                </a:solidFill>
                <a:latin typeface="Arial"/>
                <a:cs typeface="Arial"/>
              </a:rPr>
              <a:t>Areas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616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943" y="1143000"/>
            <a:ext cx="7724373" cy="49316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1. </a:t>
            </a:r>
            <a:r>
              <a:rPr spc="-10" dirty="0"/>
              <a:t>LAYOUT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06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2974" y="1143988"/>
            <a:ext cx="7812551" cy="51091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1. </a:t>
            </a:r>
            <a:r>
              <a:rPr spc="-10" dirty="0"/>
              <a:t>LAYOUT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8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690" y="1066801"/>
            <a:ext cx="7988934" cy="50060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1. </a:t>
            </a:r>
            <a:r>
              <a:rPr spc="-10" dirty="0"/>
              <a:t>LAYOUT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77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535" y="1143000"/>
            <a:ext cx="8119491" cy="5067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1. </a:t>
            </a:r>
            <a:r>
              <a:rPr spc="-10" dirty="0"/>
              <a:t>LAYOUT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32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1. </a:t>
            </a:r>
            <a:r>
              <a:rPr spc="-10" dirty="0"/>
              <a:t>LAYOUT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5" y="1093089"/>
            <a:ext cx="241617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Áp</a:t>
            </a:r>
            <a:r>
              <a:rPr sz="2600" b="1" kern="0" spc="-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600" b="1" kern="0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10" dirty="0">
                <a:solidFill>
                  <a:srgbClr val="9B2C1F"/>
                </a:solidFill>
                <a:latin typeface="Arial"/>
                <a:cs typeface="Arial"/>
              </a:rPr>
              <a:t>layout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1" y="1612646"/>
            <a:ext cx="7549769" cy="48262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84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1. </a:t>
            </a:r>
            <a:r>
              <a:rPr spc="-10" dirty="0"/>
              <a:t>LAYOUT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244" y="1093089"/>
            <a:ext cx="2499360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Các</a:t>
            </a:r>
            <a:r>
              <a:rPr sz="26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thành</a:t>
            </a:r>
            <a:r>
              <a:rPr sz="2600" b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20" dirty="0">
                <a:solidFill>
                  <a:srgbClr val="9B2C1F"/>
                </a:solidFill>
                <a:latin typeface="Arial"/>
                <a:cs typeface="Arial"/>
              </a:rPr>
              <a:t>phần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72" y="1582146"/>
            <a:ext cx="7454397" cy="48261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091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2.</a:t>
            </a:r>
            <a:r>
              <a:rPr spc="-15" dirty="0"/>
              <a:t> </a:t>
            </a:r>
            <a:r>
              <a:rPr dirty="0"/>
              <a:t>GÓI</a:t>
            </a:r>
            <a:r>
              <a:rPr spc="-45" dirty="0"/>
              <a:t> </a:t>
            </a:r>
            <a:r>
              <a:rPr dirty="0"/>
              <a:t>TÀI</a:t>
            </a:r>
            <a:r>
              <a:rPr spc="-20" dirty="0"/>
              <a:t> </a:t>
            </a:r>
            <a:r>
              <a:rPr spc="-10" dirty="0"/>
              <a:t>NGUYÊN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1" y="1012317"/>
            <a:ext cx="8216021" cy="51500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09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585" y="997839"/>
            <a:ext cx="8135874" cy="50981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100" dirty="0"/>
              <a:t> </a:t>
            </a:r>
            <a:r>
              <a:rPr spc="-35" dirty="0"/>
              <a:t>PARTIAL</a:t>
            </a:r>
            <a:r>
              <a:rPr spc="-10" dirty="0"/>
              <a:t> </a:t>
            </a:r>
            <a:r>
              <a:rPr spc="-20" dirty="0"/>
              <a:t>VIEW</a:t>
            </a:r>
            <a:r>
              <a:rPr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0" y="1143000"/>
            <a:ext cx="971550" cy="685800"/>
          </a:xfrm>
          <a:custGeom>
            <a:avLst/>
            <a:gdLst/>
            <a:ahLst/>
            <a:cxnLst/>
            <a:rect l="l" t="t" r="r" b="b"/>
            <a:pathLst>
              <a:path w="971550" h="685800">
                <a:moveTo>
                  <a:pt x="971550" y="0"/>
                </a:moveTo>
                <a:lnTo>
                  <a:pt x="0" y="0"/>
                </a:lnTo>
                <a:lnTo>
                  <a:pt x="0" y="685800"/>
                </a:lnTo>
                <a:lnTo>
                  <a:pt x="971550" y="685800"/>
                </a:lnTo>
                <a:lnTo>
                  <a:pt x="9715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825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100" dirty="0"/>
              <a:t> </a:t>
            </a:r>
            <a:r>
              <a:rPr spc="-35" dirty="0"/>
              <a:t>PARTIAL</a:t>
            </a:r>
            <a:r>
              <a:rPr spc="-10" dirty="0"/>
              <a:t> </a:t>
            </a:r>
            <a:r>
              <a:rPr spc="-20" dirty="0"/>
              <a:t>VIEW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16658" y="1015061"/>
            <a:ext cx="8194040" cy="4885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Partial</a:t>
            </a:r>
            <a:r>
              <a:rPr sz="2600" b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10" dirty="0">
                <a:solidFill>
                  <a:srgbClr val="9B2C1F"/>
                </a:solidFill>
                <a:latin typeface="Arial"/>
                <a:cs typeface="Arial"/>
              </a:rPr>
              <a:t>Helper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9780" indent="-342265">
              <a:spcBef>
                <a:spcPts val="2000"/>
              </a:spcBef>
              <a:buFont typeface="Wingdings"/>
              <a:buChar char=""/>
              <a:tabLst>
                <a:tab pos="77978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@Html.Action()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37615" lvl="1" indent="-342900">
              <a:spcBef>
                <a:spcPts val="1445"/>
              </a:spcBef>
              <a:buFont typeface="Wingdings"/>
              <a:buChar char=""/>
              <a:tabLst>
                <a:tab pos="123761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Nhúng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-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37615" marR="5080" lvl="1" indent="-343535">
              <a:lnSpc>
                <a:spcPct val="150100"/>
              </a:lnSpc>
              <a:buFont typeface="Wingdings"/>
              <a:buChar char=""/>
              <a:tabLst>
                <a:tab pos="1237615" algn="l"/>
                <a:tab pos="2298700" algn="l"/>
                <a:tab pos="2998470" algn="l"/>
                <a:tab pos="3785235" algn="l"/>
                <a:tab pos="4352925" algn="l"/>
                <a:tab pos="4878705" algn="l"/>
                <a:tab pos="6607809" algn="l"/>
                <a:tab pos="7156450" algn="l"/>
                <a:tab pos="7842884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này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phải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trả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về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PartialView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rgbClr val="FF0000"/>
                </a:solidFill>
                <a:latin typeface="Microsoft Sans Serif"/>
                <a:cs typeface="Microsoft Sans Serif"/>
              </a:rPr>
              <a:t>loại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bỏ </a:t>
            </a:r>
            <a:r>
              <a:rPr sz="2400" kern="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Layout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37615" marR="5080" lvl="1" indent="-343535">
              <a:lnSpc>
                <a:spcPct val="150100"/>
              </a:lnSpc>
              <a:buFont typeface="Wingdings"/>
              <a:buChar char=""/>
              <a:tabLst>
                <a:tab pos="123761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2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này</a:t>
            </a:r>
            <a:r>
              <a:rPr sz="2400" kern="0" spc="2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2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2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đánh</a:t>
            </a:r>
            <a:r>
              <a:rPr sz="24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dấu</a:t>
            </a:r>
            <a:r>
              <a:rPr sz="24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*ChildActionOnly+</a:t>
            </a:r>
            <a:r>
              <a:rPr sz="2400" kern="0" spc="2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-2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2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spc="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xuất</a:t>
            </a:r>
            <a:r>
              <a:rPr sz="2400" kern="0" spc="3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rgbClr val="FF0000"/>
                </a:solidFill>
                <a:latin typeface="Microsoft Sans Serif"/>
                <a:cs typeface="Microsoft Sans Serif"/>
              </a:rPr>
              <a:t>trực</a:t>
            </a:r>
            <a:r>
              <a:rPr sz="2400" kern="0" spc="-20" dirty="0">
                <a:solidFill>
                  <a:srgbClr val="FF0000"/>
                </a:solidFill>
                <a:latin typeface="Microsoft Sans Serif"/>
                <a:cs typeface="Microsoft Sans Serif"/>
              </a:rPr>
              <a:t> tiếp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780415" indent="-342900">
              <a:spcBef>
                <a:spcPts val="1440"/>
              </a:spcBef>
              <a:buFont typeface="Wingdings"/>
              <a:buChar char=""/>
              <a:tabLst>
                <a:tab pos="780415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dụng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@Html.Partial()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37615" lvl="1" indent="-342900">
              <a:spcBef>
                <a:spcPts val="1445"/>
              </a:spcBef>
              <a:buFont typeface="Wingdings"/>
              <a:buChar char=""/>
              <a:tabLst>
                <a:tab pos="123761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Nhúng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-2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bao</a:t>
            </a:r>
            <a:r>
              <a:rPr sz="2400" kern="0" spc="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gồm</a:t>
            </a:r>
            <a:r>
              <a:rPr sz="2400" kern="0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layout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0506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100" dirty="0"/>
              <a:t> </a:t>
            </a:r>
            <a:r>
              <a:rPr spc="-35" dirty="0"/>
              <a:t>PARTIAL</a:t>
            </a:r>
            <a:r>
              <a:rPr spc="-10" dirty="0"/>
              <a:t> </a:t>
            </a:r>
            <a:r>
              <a:rPr spc="-20" dirty="0"/>
              <a:t>VIEW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6658" y="1015061"/>
            <a:ext cx="3843654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600" b="1" kern="0" spc="-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600" b="1" kern="0" spc="-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10" dirty="0">
                <a:solidFill>
                  <a:srgbClr val="9B2C1F"/>
                </a:solidFill>
                <a:latin typeface="Arial"/>
                <a:cs typeface="Arial"/>
              </a:rPr>
              <a:t>@Html.Partial()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621998"/>
            <a:ext cx="7323872" cy="45556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372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100" dirty="0"/>
              <a:t> </a:t>
            </a:r>
            <a:r>
              <a:rPr spc="-35" dirty="0"/>
              <a:t>PARTIAL</a:t>
            </a:r>
            <a:r>
              <a:rPr spc="-10" dirty="0"/>
              <a:t> </a:t>
            </a:r>
            <a:r>
              <a:rPr spc="-20" dirty="0"/>
              <a:t>VIEW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6658" y="1015061"/>
            <a:ext cx="384810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600" b="1" kern="0" spc="-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600" b="1" kern="0" spc="-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10" dirty="0">
                <a:solidFill>
                  <a:srgbClr val="9B2C1F"/>
                </a:solidFill>
                <a:latin typeface="Arial"/>
                <a:cs typeface="Arial"/>
              </a:rPr>
              <a:t>@Html.Action()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395" y="1447800"/>
            <a:ext cx="7359269" cy="4762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886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2234" y="1396747"/>
            <a:ext cx="7843389" cy="48935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100" dirty="0"/>
              <a:t> </a:t>
            </a:r>
            <a:r>
              <a:rPr spc="-35" dirty="0"/>
              <a:t>PARTIAL</a:t>
            </a:r>
            <a:r>
              <a:rPr spc="-10" dirty="0"/>
              <a:t> </a:t>
            </a:r>
            <a:r>
              <a:rPr spc="-20" dirty="0"/>
              <a:t>VIEW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6658" y="1015061"/>
            <a:ext cx="158369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Minh</a:t>
            </a:r>
            <a:r>
              <a:rPr sz="2600" b="1" kern="0" spc="-4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20" dirty="0">
                <a:solidFill>
                  <a:srgbClr val="9B2C1F"/>
                </a:solidFill>
                <a:latin typeface="Arial"/>
                <a:cs typeface="Arial"/>
              </a:rPr>
              <a:t>họa: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558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8043" y="1520902"/>
            <a:ext cx="7404790" cy="46021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16658" y="1015061"/>
            <a:ext cx="158369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600" b="1" kern="0" dirty="0">
                <a:solidFill>
                  <a:srgbClr val="9B2C1F"/>
                </a:solidFill>
                <a:latin typeface="Arial"/>
                <a:cs typeface="Arial"/>
              </a:rPr>
              <a:t>Minh</a:t>
            </a:r>
            <a:r>
              <a:rPr sz="2600" b="1" kern="0" spc="-4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600" b="1" kern="0" spc="-20" dirty="0">
                <a:solidFill>
                  <a:srgbClr val="9B2C1F"/>
                </a:solidFill>
                <a:latin typeface="Arial"/>
                <a:cs typeface="Arial"/>
              </a:rPr>
              <a:t>họa:</a:t>
            </a:r>
            <a:endParaRPr sz="2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100" dirty="0"/>
              <a:t> </a:t>
            </a:r>
            <a:r>
              <a:rPr spc="-35" dirty="0"/>
              <a:t>PARTIAL</a:t>
            </a:r>
            <a:r>
              <a:rPr spc="-10" dirty="0"/>
              <a:t> </a:t>
            </a:r>
            <a:r>
              <a:rPr spc="-20" dirty="0"/>
              <a:t>VIEW</a:t>
            </a:r>
            <a:r>
              <a:rPr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488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4.</a:t>
            </a:r>
            <a:r>
              <a:rPr spc="-170" dirty="0"/>
              <a:t> </a:t>
            </a:r>
            <a:r>
              <a:rPr dirty="0"/>
              <a:t>ACTION</a:t>
            </a:r>
            <a:r>
              <a:rPr spc="-30" dirty="0"/>
              <a:t> </a:t>
            </a:r>
            <a:r>
              <a:rPr spc="-10" dirty="0"/>
              <a:t>RESULTS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4927" y="1168921"/>
            <a:ext cx="7887117" cy="4589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2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4.</a:t>
            </a:r>
            <a:r>
              <a:rPr spc="-170" dirty="0"/>
              <a:t> </a:t>
            </a:r>
            <a:r>
              <a:rPr dirty="0"/>
              <a:t>ACTION</a:t>
            </a:r>
            <a:r>
              <a:rPr spc="-30" dirty="0"/>
              <a:t> </a:t>
            </a:r>
            <a:r>
              <a:rPr spc="-10" dirty="0"/>
              <a:t>RESULTS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407" y="1189812"/>
            <a:ext cx="7969607" cy="49970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593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6834" y="1045540"/>
            <a:ext cx="37725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4.1.View()</a:t>
            </a:r>
            <a:r>
              <a:rPr sz="2400" b="1" kern="0" spc="-15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và</a:t>
            </a:r>
            <a:r>
              <a:rPr sz="2400" b="1" kern="0" spc="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PartialView()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8980" y="1676400"/>
            <a:ext cx="7814244" cy="486545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4.</a:t>
            </a:r>
            <a:r>
              <a:rPr spc="-170" dirty="0"/>
              <a:t> </a:t>
            </a:r>
            <a:r>
              <a:rPr dirty="0"/>
              <a:t>ACTION</a:t>
            </a:r>
            <a:r>
              <a:rPr spc="-30" dirty="0"/>
              <a:t> </a:t>
            </a:r>
            <a:r>
              <a:rPr spc="-10" dirty="0"/>
              <a:t>RESULTS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551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8616" y="1045540"/>
            <a:ext cx="317119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4.2.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Content()</a:t>
            </a:r>
            <a:r>
              <a:rPr sz="24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&amp;</a:t>
            </a:r>
            <a:r>
              <a:rPr sz="2400" b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r>
              <a:rPr sz="2400" b="1" kern="0" spc="-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B2C1F"/>
                </a:solidFill>
                <a:latin typeface="Arial"/>
                <a:cs typeface="Arial"/>
              </a:rPr>
              <a:t>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183" y="1524001"/>
            <a:ext cx="7888085" cy="49561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4.</a:t>
            </a:r>
            <a:r>
              <a:rPr spc="-170" dirty="0"/>
              <a:t> </a:t>
            </a:r>
            <a:r>
              <a:rPr dirty="0"/>
              <a:t>ACTION</a:t>
            </a:r>
            <a:r>
              <a:rPr spc="-30" dirty="0"/>
              <a:t> </a:t>
            </a:r>
            <a:r>
              <a:rPr spc="-10" dirty="0"/>
              <a:t>RESULTS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692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8616" y="1045540"/>
            <a:ext cx="535432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4.3.</a:t>
            </a:r>
            <a:r>
              <a:rPr sz="2400" b="1" kern="0" spc="-2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RedirectToAction()</a:t>
            </a:r>
            <a:r>
              <a:rPr sz="2400" b="1" kern="0" spc="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VÀ</a:t>
            </a:r>
            <a:r>
              <a:rPr sz="2400" b="1" kern="0" spc="-6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Redirect()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4860" y="1590422"/>
            <a:ext cx="7735022" cy="4799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4.</a:t>
            </a:r>
            <a:r>
              <a:rPr spc="-170" dirty="0"/>
              <a:t> </a:t>
            </a:r>
            <a:r>
              <a:rPr dirty="0"/>
              <a:t>ACTION</a:t>
            </a:r>
            <a:r>
              <a:rPr spc="-30" dirty="0"/>
              <a:t> </a:t>
            </a:r>
            <a:r>
              <a:rPr spc="-10" dirty="0"/>
              <a:t>RESULTS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8617" y="1122045"/>
            <a:ext cx="165417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4.4.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 JSON()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7507" y="1485900"/>
            <a:ext cx="8202549" cy="5067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4.</a:t>
            </a:r>
            <a:r>
              <a:rPr spc="-170" dirty="0"/>
              <a:t> </a:t>
            </a:r>
            <a:r>
              <a:rPr dirty="0"/>
              <a:t>ACTION</a:t>
            </a:r>
            <a:r>
              <a:rPr spc="-30" dirty="0"/>
              <a:t> </a:t>
            </a:r>
            <a:r>
              <a:rPr spc="-10" dirty="0"/>
              <a:t>RESULTS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4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5404" y="1066800"/>
            <a:ext cx="8302258" cy="51071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lang="en-US" smtClean="0"/>
              <a:t>5. ĐA NGÔN NGỮ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761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lang="en-US" smtClean="0"/>
              <a:t>5. ĐA NGÔN NGỮ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292417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Tổ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chức</a:t>
            </a:r>
            <a:r>
              <a:rPr sz="2400" b="1" kern="0" spc="-9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tài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nguyên: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755" y="1505886"/>
            <a:ext cx="7849602" cy="45656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320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lang="en-US" smtClean="0"/>
              <a:t>5. ĐA NGÔN NGỮ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297497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400" b="1" kern="0" spc="-5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400" b="1" kern="0" spc="-6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tài</a:t>
            </a:r>
            <a:r>
              <a:rPr sz="2400" b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nguyên: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130" y="1392994"/>
            <a:ext cx="7835252" cy="49085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140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lang="en-US" smtClean="0"/>
              <a:t>5. ĐA NGÔN NGỮ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4" y="969340"/>
            <a:ext cx="241300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Chọn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ngôn</a:t>
            </a:r>
            <a:r>
              <a:rPr sz="2400" b="1" kern="0" spc="-9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ngữ: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545" y="1514944"/>
            <a:ext cx="7676904" cy="48568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40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327" y="1054989"/>
            <a:ext cx="8358885" cy="53839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lang="en-US" dirty="0"/>
              <a:t>6</a:t>
            </a:r>
            <a:r>
              <a:rPr smtClean="0"/>
              <a:t>.</a:t>
            </a:r>
            <a:r>
              <a:rPr spc="-35" smtClean="0"/>
              <a:t> </a:t>
            </a:r>
            <a:r>
              <a:rPr dirty="0"/>
              <a:t>PHÂN</a:t>
            </a:r>
            <a:r>
              <a:rPr spc="-60" dirty="0"/>
              <a:t> </a:t>
            </a:r>
            <a:r>
              <a:rPr spc="-20" dirty="0"/>
              <a:t>VÙNG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547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lang="en-US" dirty="0"/>
              <a:t>6</a:t>
            </a:r>
            <a:r>
              <a:rPr smtClean="0"/>
              <a:t>.</a:t>
            </a:r>
            <a:r>
              <a:rPr spc="-35" smtClean="0"/>
              <a:t> </a:t>
            </a:r>
            <a:r>
              <a:rPr dirty="0"/>
              <a:t>PHÂN</a:t>
            </a:r>
            <a:r>
              <a:rPr spc="-60" dirty="0"/>
              <a:t> </a:t>
            </a:r>
            <a:r>
              <a:rPr spc="-20" dirty="0"/>
              <a:t>VÙNG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4045" y="969340"/>
            <a:ext cx="441388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Giải</a:t>
            </a:r>
            <a:r>
              <a:rPr sz="2400" b="1" kern="0" spc="-10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quyết</a:t>
            </a:r>
            <a:r>
              <a:rPr sz="2400" b="1" kern="0" spc="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xung</a:t>
            </a:r>
            <a:r>
              <a:rPr sz="2400" b="1" kern="0" spc="-5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đột</a:t>
            </a:r>
            <a:r>
              <a:rPr sz="2400" b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Controller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8077" y="1447801"/>
            <a:ext cx="7609526" cy="47657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03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81407"/>
            <a:ext cx="1105746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8279765" algn="l"/>
              </a:tabLst>
            </a:pPr>
            <a:r>
              <a:rPr spc="-390" dirty="0"/>
              <a:t> </a:t>
            </a:r>
            <a:r>
              <a:rPr dirty="0"/>
              <a:t>THỰC</a:t>
            </a:r>
            <a:r>
              <a:rPr spc="-95" dirty="0"/>
              <a:t> </a:t>
            </a:r>
            <a:r>
              <a:rPr spc="-20" dirty="0"/>
              <a:t>HÀNH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6244" y="1128675"/>
            <a:ext cx="2305050" cy="94106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spcBef>
                <a:spcPts val="1300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Xây</a:t>
            </a:r>
            <a:r>
              <a:rPr sz="20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0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dựng</a:t>
            </a:r>
            <a:r>
              <a:rPr sz="20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0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Layout</a:t>
            </a:r>
            <a:endParaRPr sz="20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200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Phân</a:t>
            </a:r>
            <a:r>
              <a:rPr sz="20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0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vùng</a:t>
            </a:r>
            <a:endParaRPr sz="20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568321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1"/>
            <a:ext cx="9020175" cy="2225609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192405" rIns="0" bIns="0" rtlCol="0">
            <a:spAutoFit/>
          </a:bodyPr>
          <a:lstStyle/>
          <a:p>
            <a:pPr marL="635" algn="ctr">
              <a:spcBef>
                <a:spcPts val="1515"/>
              </a:spcBef>
            </a:pPr>
            <a:r>
              <a:rPr lang="en-US" sz="6600" u="none">
                <a:solidFill>
                  <a:srgbClr val="FFFFFF"/>
                </a:solidFill>
              </a:rPr>
              <a:t>THẢO LUẬN </a:t>
            </a:r>
            <a:br>
              <a:rPr lang="en-US" sz="6600" u="none">
                <a:solidFill>
                  <a:srgbClr val="FFFFFF"/>
                </a:solidFill>
              </a:rPr>
            </a:br>
            <a:r>
              <a:rPr lang="en-US" sz="6600" u="none">
                <a:solidFill>
                  <a:srgbClr val="FFFFFF"/>
                </a:solidFill>
              </a:rPr>
              <a:t>VÀ THỰC HÀNH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12700">
                <a:lnSpc>
                  <a:spcPts val="1664"/>
                </a:lnSpc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65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368</Words>
  <Application>Microsoft Office PowerPoint</Application>
  <PresentationFormat>Widescreen</PresentationFormat>
  <Paragraphs>107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Franklin Gothic Medium</vt:lpstr>
      <vt:lpstr>Microsoft Sans Serif</vt:lpstr>
      <vt:lpstr>Wingdings</vt:lpstr>
      <vt:lpstr>Office Theme</vt:lpstr>
      <vt:lpstr>1_Office Theme</vt:lpstr>
      <vt:lpstr>LẬP TRÌNH WEBSITE (ASP.NET MVC)</vt:lpstr>
      <vt:lpstr> NỘI DUNG </vt:lpstr>
      <vt:lpstr>1. LAYOUT </vt:lpstr>
      <vt:lpstr>1. LAYOUT </vt:lpstr>
      <vt:lpstr>1. LAYOUT </vt:lpstr>
      <vt:lpstr>1. LAYOUT </vt:lpstr>
      <vt:lpstr>1. LAYOUT </vt:lpstr>
      <vt:lpstr>1. LAYOUT </vt:lpstr>
      <vt:lpstr>2. GÓI TÀI NGUYÊN </vt:lpstr>
      <vt:lpstr>3. PARTIAL VIEW </vt:lpstr>
      <vt:lpstr>3. PARTIAL VIEW </vt:lpstr>
      <vt:lpstr>3. PARTIAL VIEW </vt:lpstr>
      <vt:lpstr>3. PARTIAL VIEW </vt:lpstr>
      <vt:lpstr>3. PARTIAL VIEW </vt:lpstr>
      <vt:lpstr>3. PARTIAL VIEW </vt:lpstr>
      <vt:lpstr>4. ACTION RESULTS </vt:lpstr>
      <vt:lpstr>4. ACTION RESULTS </vt:lpstr>
      <vt:lpstr>4. ACTION RESULTS </vt:lpstr>
      <vt:lpstr>4. ACTION RESULTS </vt:lpstr>
      <vt:lpstr>4. ACTION RESULTS </vt:lpstr>
      <vt:lpstr>4. ACTION RESULTS </vt:lpstr>
      <vt:lpstr>5. ĐA NGÔN NGỮ </vt:lpstr>
      <vt:lpstr>5. ĐA NGÔN NGỮ </vt:lpstr>
      <vt:lpstr>5. ĐA NGÔN NGỮ </vt:lpstr>
      <vt:lpstr>5. ĐA NGÔN NGỮ </vt:lpstr>
      <vt:lpstr>6. PHÂN VÙNG </vt:lpstr>
      <vt:lpstr>6. PHÂN VÙNG </vt:lpstr>
      <vt:lpstr> THỰC HÀNH </vt:lpstr>
      <vt:lpstr>THẢO LUẬN  VÀ THỰC HÀNH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WEBSITE (ASP.NET MVC 5)</dc:title>
  <dc:creator>Microsoft account</dc:creator>
  <cp:lastModifiedBy>Microsoft account</cp:lastModifiedBy>
  <cp:revision>7</cp:revision>
  <dcterms:created xsi:type="dcterms:W3CDTF">2025-08-18T01:30:00Z</dcterms:created>
  <dcterms:modified xsi:type="dcterms:W3CDTF">2025-09-08T01:01:57Z</dcterms:modified>
</cp:coreProperties>
</file>