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312" r:id="rId40"/>
    <p:sldId id="313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2CF8EF-0CED-442B-94D9-B97E343E6BE5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E75BE9-23D0-42FF-BD02-3799C9DA2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1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FEFC84-15C6-4FB8-BCB8-C5EDB536A94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266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DE7C-0D55-4EC0-A044-4F2FC51F681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6354C-5212-47AD-8C68-017C4602C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608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DE7C-0D55-4EC0-A044-4F2FC51F681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6354C-5212-47AD-8C68-017C4602C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751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DE7C-0D55-4EC0-A044-4F2FC51F681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6354C-5212-47AD-8C68-017C4602C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728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DE7C-0D55-4EC0-A044-4F2FC51F681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6354C-5212-47AD-8C68-017C4602C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544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DE7C-0D55-4EC0-A044-4F2FC51F681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6354C-5212-47AD-8C68-017C4602C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430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DE7C-0D55-4EC0-A044-4F2FC51F681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6354C-5212-47AD-8C68-017C4602C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395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DE7C-0D55-4EC0-A044-4F2FC51F681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6354C-5212-47AD-8C68-017C4602C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95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DE7C-0D55-4EC0-A044-4F2FC51F681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6354C-5212-47AD-8C68-017C4602C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1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DE7C-0D55-4EC0-A044-4F2FC51F681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6354C-5212-47AD-8C68-017C4602C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792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DE7C-0D55-4EC0-A044-4F2FC51F681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6354C-5212-47AD-8C68-017C4602C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71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DE7C-0D55-4EC0-A044-4F2FC51F681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6354C-5212-47AD-8C68-017C4602C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047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67" y="370459"/>
            <a:ext cx="1105746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 u="sng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004D7-3404-44AA-8B99-FE7C59E6AB4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664"/>
              </a:lnSpc>
            </a:pPr>
            <a:fld id="{81D60167-4931-47E6-BA6A-407CBD079E47}" type="slidenum">
              <a:rPr lang="en-US" spc="-25" smtClean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‹#›</a:t>
            </a:fld>
            <a:endParaRPr lang="en-US"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558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 u="sng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72000-5C51-44F1-8082-49E0E0944F4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664"/>
              </a:lnSpc>
            </a:pPr>
            <a:fld id="{81D60167-4931-47E6-BA6A-407CBD079E47}" type="slidenum">
              <a:rPr lang="en-US" spc="-25" smtClean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‹#›</a:t>
            </a:fld>
            <a:endParaRPr lang="en-US"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9490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 u="sng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990FD-AE62-4C56-A80B-61D796504DD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664"/>
              </a:lnSpc>
            </a:pPr>
            <a:fld id="{81D60167-4931-47E6-BA6A-407CBD079E47}" type="slidenum">
              <a:rPr lang="en-US" spc="-25" smtClean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‹#›</a:t>
            </a:fld>
            <a:endParaRPr lang="en-US"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12982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4668" y="69850"/>
            <a:ext cx="12018433" cy="6692900"/>
          </a:xfrm>
          <a:custGeom>
            <a:avLst/>
            <a:gdLst/>
            <a:ahLst/>
            <a:cxnLst/>
            <a:rect l="l" t="t" r="r" b="b"/>
            <a:pathLst>
              <a:path w="9013825" h="6692900">
                <a:moveTo>
                  <a:pt x="0" y="329946"/>
                </a:moveTo>
                <a:lnTo>
                  <a:pt x="3576" y="281184"/>
                </a:lnTo>
                <a:lnTo>
                  <a:pt x="13967" y="234645"/>
                </a:lnTo>
                <a:lnTo>
                  <a:pt x="30661" y="190840"/>
                </a:lnTo>
                <a:lnTo>
                  <a:pt x="53148" y="150277"/>
                </a:lnTo>
                <a:lnTo>
                  <a:pt x="80918" y="113468"/>
                </a:lnTo>
                <a:lnTo>
                  <a:pt x="113460" y="80923"/>
                </a:lnTo>
                <a:lnTo>
                  <a:pt x="150264" y="53151"/>
                </a:lnTo>
                <a:lnTo>
                  <a:pt x="190820" y="30662"/>
                </a:lnTo>
                <a:lnTo>
                  <a:pt x="234617" y="13967"/>
                </a:lnTo>
                <a:lnTo>
                  <a:pt x="281146" y="3576"/>
                </a:lnTo>
                <a:lnTo>
                  <a:pt x="329895" y="0"/>
                </a:lnTo>
                <a:lnTo>
                  <a:pt x="8683879" y="0"/>
                </a:lnTo>
                <a:lnTo>
                  <a:pt x="8732640" y="3576"/>
                </a:lnTo>
                <a:lnTo>
                  <a:pt x="8779179" y="13967"/>
                </a:lnTo>
                <a:lnTo>
                  <a:pt x="8822984" y="30662"/>
                </a:lnTo>
                <a:lnTo>
                  <a:pt x="8863547" y="53151"/>
                </a:lnTo>
                <a:lnTo>
                  <a:pt x="8900356" y="80923"/>
                </a:lnTo>
                <a:lnTo>
                  <a:pt x="8932901" y="113468"/>
                </a:lnTo>
                <a:lnTo>
                  <a:pt x="8960673" y="150277"/>
                </a:lnTo>
                <a:lnTo>
                  <a:pt x="8983162" y="190840"/>
                </a:lnTo>
                <a:lnTo>
                  <a:pt x="8999857" y="234645"/>
                </a:lnTo>
                <a:lnTo>
                  <a:pt x="9010248" y="281184"/>
                </a:lnTo>
                <a:lnTo>
                  <a:pt x="9013825" y="329946"/>
                </a:lnTo>
                <a:lnTo>
                  <a:pt x="9013825" y="6363004"/>
                </a:lnTo>
                <a:lnTo>
                  <a:pt x="9010248" y="6411753"/>
                </a:lnTo>
                <a:lnTo>
                  <a:pt x="8999857" y="6458282"/>
                </a:lnTo>
                <a:lnTo>
                  <a:pt x="8983162" y="6502079"/>
                </a:lnTo>
                <a:lnTo>
                  <a:pt x="8960673" y="6542635"/>
                </a:lnTo>
                <a:lnTo>
                  <a:pt x="8932901" y="6579439"/>
                </a:lnTo>
                <a:lnTo>
                  <a:pt x="8900356" y="6611981"/>
                </a:lnTo>
                <a:lnTo>
                  <a:pt x="8863547" y="6639751"/>
                </a:lnTo>
                <a:lnTo>
                  <a:pt x="8822984" y="6662238"/>
                </a:lnTo>
                <a:lnTo>
                  <a:pt x="8779179" y="6678932"/>
                </a:lnTo>
                <a:lnTo>
                  <a:pt x="8732640" y="6689323"/>
                </a:lnTo>
                <a:lnTo>
                  <a:pt x="8683879" y="6692900"/>
                </a:lnTo>
                <a:lnTo>
                  <a:pt x="329895" y="6692900"/>
                </a:lnTo>
                <a:lnTo>
                  <a:pt x="281146" y="6689323"/>
                </a:lnTo>
                <a:lnTo>
                  <a:pt x="234617" y="6678932"/>
                </a:lnTo>
                <a:lnTo>
                  <a:pt x="190820" y="6662238"/>
                </a:lnTo>
                <a:lnTo>
                  <a:pt x="150264" y="6639751"/>
                </a:lnTo>
                <a:lnTo>
                  <a:pt x="113460" y="6611981"/>
                </a:lnTo>
                <a:lnTo>
                  <a:pt x="80918" y="6579439"/>
                </a:lnTo>
                <a:lnTo>
                  <a:pt x="53148" y="6542635"/>
                </a:lnTo>
                <a:lnTo>
                  <a:pt x="30661" y="6502079"/>
                </a:lnTo>
                <a:lnTo>
                  <a:pt x="13967" y="6458282"/>
                </a:lnTo>
                <a:lnTo>
                  <a:pt x="3576" y="6411753"/>
                </a:lnTo>
                <a:lnTo>
                  <a:pt x="0" y="6363004"/>
                </a:lnTo>
                <a:lnTo>
                  <a:pt x="0" y="329946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194733" y="62103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927" y="886967"/>
            <a:ext cx="11058144" cy="10515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596901" y="6567487"/>
            <a:ext cx="11087100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 u="sng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61C64-24AF-4201-9DD7-851929196AE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664"/>
              </a:lnSpc>
            </a:pPr>
            <a:fld id="{81D60167-4931-47E6-BA6A-407CBD079E47}" type="slidenum">
              <a:rPr lang="en-US" spc="-25" smtClean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‹#›</a:t>
            </a:fld>
            <a:endParaRPr lang="en-US"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5539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54E01-8A35-40ED-975C-56E274032D1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664"/>
              </a:lnSpc>
            </a:pPr>
            <a:fld id="{81D60167-4931-47E6-BA6A-407CBD079E47}" type="slidenum">
              <a:rPr lang="en-US" spc="-25" smtClean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‹#›</a:t>
            </a:fld>
            <a:endParaRPr lang="en-US"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40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6DDE7C-0D55-4EC0-A044-4F2FC51F681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6354C-5212-47AD-8C68-017C4602C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76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4668" y="69850"/>
            <a:ext cx="12018433" cy="6692900"/>
          </a:xfrm>
          <a:custGeom>
            <a:avLst/>
            <a:gdLst/>
            <a:ahLst/>
            <a:cxnLst/>
            <a:rect l="l" t="t" r="r" b="b"/>
            <a:pathLst>
              <a:path w="9013825" h="6692900">
                <a:moveTo>
                  <a:pt x="0" y="329946"/>
                </a:moveTo>
                <a:lnTo>
                  <a:pt x="3576" y="281184"/>
                </a:lnTo>
                <a:lnTo>
                  <a:pt x="13967" y="234645"/>
                </a:lnTo>
                <a:lnTo>
                  <a:pt x="30661" y="190840"/>
                </a:lnTo>
                <a:lnTo>
                  <a:pt x="53148" y="150277"/>
                </a:lnTo>
                <a:lnTo>
                  <a:pt x="80918" y="113468"/>
                </a:lnTo>
                <a:lnTo>
                  <a:pt x="113460" y="80923"/>
                </a:lnTo>
                <a:lnTo>
                  <a:pt x="150264" y="53151"/>
                </a:lnTo>
                <a:lnTo>
                  <a:pt x="190820" y="30662"/>
                </a:lnTo>
                <a:lnTo>
                  <a:pt x="234617" y="13967"/>
                </a:lnTo>
                <a:lnTo>
                  <a:pt x="281146" y="3576"/>
                </a:lnTo>
                <a:lnTo>
                  <a:pt x="329895" y="0"/>
                </a:lnTo>
                <a:lnTo>
                  <a:pt x="8683879" y="0"/>
                </a:lnTo>
                <a:lnTo>
                  <a:pt x="8732640" y="3576"/>
                </a:lnTo>
                <a:lnTo>
                  <a:pt x="8779179" y="13967"/>
                </a:lnTo>
                <a:lnTo>
                  <a:pt x="8822984" y="30662"/>
                </a:lnTo>
                <a:lnTo>
                  <a:pt x="8863547" y="53151"/>
                </a:lnTo>
                <a:lnTo>
                  <a:pt x="8900356" y="80923"/>
                </a:lnTo>
                <a:lnTo>
                  <a:pt x="8932901" y="113468"/>
                </a:lnTo>
                <a:lnTo>
                  <a:pt x="8960673" y="150277"/>
                </a:lnTo>
                <a:lnTo>
                  <a:pt x="8983162" y="190840"/>
                </a:lnTo>
                <a:lnTo>
                  <a:pt x="8999857" y="234645"/>
                </a:lnTo>
                <a:lnTo>
                  <a:pt x="9010248" y="281184"/>
                </a:lnTo>
                <a:lnTo>
                  <a:pt x="9013825" y="329946"/>
                </a:lnTo>
                <a:lnTo>
                  <a:pt x="9013825" y="6363004"/>
                </a:lnTo>
                <a:lnTo>
                  <a:pt x="9010248" y="6411753"/>
                </a:lnTo>
                <a:lnTo>
                  <a:pt x="8999857" y="6458282"/>
                </a:lnTo>
                <a:lnTo>
                  <a:pt x="8983162" y="6502079"/>
                </a:lnTo>
                <a:lnTo>
                  <a:pt x="8960673" y="6542635"/>
                </a:lnTo>
                <a:lnTo>
                  <a:pt x="8932901" y="6579439"/>
                </a:lnTo>
                <a:lnTo>
                  <a:pt x="8900356" y="6611981"/>
                </a:lnTo>
                <a:lnTo>
                  <a:pt x="8863547" y="6639751"/>
                </a:lnTo>
                <a:lnTo>
                  <a:pt x="8822984" y="6662238"/>
                </a:lnTo>
                <a:lnTo>
                  <a:pt x="8779179" y="6678932"/>
                </a:lnTo>
                <a:lnTo>
                  <a:pt x="8732640" y="6689323"/>
                </a:lnTo>
                <a:lnTo>
                  <a:pt x="8683879" y="6692900"/>
                </a:lnTo>
                <a:lnTo>
                  <a:pt x="329895" y="6692900"/>
                </a:lnTo>
                <a:lnTo>
                  <a:pt x="281146" y="6689323"/>
                </a:lnTo>
                <a:lnTo>
                  <a:pt x="234617" y="6678932"/>
                </a:lnTo>
                <a:lnTo>
                  <a:pt x="190820" y="6662238"/>
                </a:lnTo>
                <a:lnTo>
                  <a:pt x="150264" y="6639751"/>
                </a:lnTo>
                <a:lnTo>
                  <a:pt x="113460" y="6611981"/>
                </a:lnTo>
                <a:lnTo>
                  <a:pt x="80918" y="6579439"/>
                </a:lnTo>
                <a:lnTo>
                  <a:pt x="53148" y="6542635"/>
                </a:lnTo>
                <a:lnTo>
                  <a:pt x="30661" y="6502079"/>
                </a:lnTo>
                <a:lnTo>
                  <a:pt x="13967" y="6458282"/>
                </a:lnTo>
                <a:lnTo>
                  <a:pt x="3576" y="6411753"/>
                </a:lnTo>
                <a:lnTo>
                  <a:pt x="0" y="6363004"/>
                </a:lnTo>
                <a:lnTo>
                  <a:pt x="0" y="329946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194733" y="62103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6927" y="886967"/>
            <a:ext cx="11058144" cy="1051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7267" y="370459"/>
            <a:ext cx="1105746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 u="sng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4992" y="1059307"/>
            <a:ext cx="5787813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52557" y="6600175"/>
            <a:ext cx="1658619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kern="0" spc="-20" dirty="0">
              <a:solidFill>
                <a:prstClr val="white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552B9-F6CC-4BCB-B6DC-D405C78D2B75}" type="datetime1">
              <a:rPr lang="en-US" kern="0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06833" y="6334103"/>
            <a:ext cx="400473" cy="2180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664"/>
              </a:lnSpc>
            </a:pPr>
            <a:fld id="{81D60167-4931-47E6-BA6A-407CBD079E47}" type="slidenum">
              <a:rPr lang="en-US" kern="0" spc="-25" smtClean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‹#›</a:t>
            </a:fld>
            <a:endParaRPr lang="en-US" kern="0"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3130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6675"/>
            <a:ext cx="12192000" cy="6697980"/>
            <a:chOff x="61912" y="66675"/>
            <a:chExt cx="9022080" cy="6697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087" y="69850"/>
              <a:ext cx="9013888" cy="669131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5087" y="69850"/>
              <a:ext cx="9014460" cy="6691630"/>
            </a:xfrm>
            <a:custGeom>
              <a:avLst/>
              <a:gdLst/>
              <a:ahLst/>
              <a:cxnLst/>
              <a:rect l="l" t="t" r="r" b="b"/>
              <a:pathLst>
                <a:path w="9014460" h="6691630">
                  <a:moveTo>
                    <a:pt x="0" y="329819"/>
                  </a:moveTo>
                  <a:lnTo>
                    <a:pt x="3576" y="281088"/>
                  </a:lnTo>
                  <a:lnTo>
                    <a:pt x="13964" y="234576"/>
                  </a:lnTo>
                  <a:lnTo>
                    <a:pt x="30653" y="190791"/>
                  </a:lnTo>
                  <a:lnTo>
                    <a:pt x="53135" y="150245"/>
                  </a:lnTo>
                  <a:lnTo>
                    <a:pt x="80898" y="113448"/>
                  </a:lnTo>
                  <a:lnTo>
                    <a:pt x="113432" y="80911"/>
                  </a:lnTo>
                  <a:lnTo>
                    <a:pt x="150228" y="53144"/>
                  </a:lnTo>
                  <a:lnTo>
                    <a:pt x="190774" y="30660"/>
                  </a:lnTo>
                  <a:lnTo>
                    <a:pt x="234562" y="13967"/>
                  </a:lnTo>
                  <a:lnTo>
                    <a:pt x="281080" y="3576"/>
                  </a:lnTo>
                  <a:lnTo>
                    <a:pt x="329819" y="0"/>
                  </a:lnTo>
                  <a:lnTo>
                    <a:pt x="8684069" y="0"/>
                  </a:lnTo>
                  <a:lnTo>
                    <a:pt x="8732799" y="3576"/>
                  </a:lnTo>
                  <a:lnTo>
                    <a:pt x="8779312" y="13967"/>
                  </a:lnTo>
                  <a:lnTo>
                    <a:pt x="8823097" y="30660"/>
                  </a:lnTo>
                  <a:lnTo>
                    <a:pt x="8863643" y="53144"/>
                  </a:lnTo>
                  <a:lnTo>
                    <a:pt x="8900440" y="80911"/>
                  </a:lnTo>
                  <a:lnTo>
                    <a:pt x="8932977" y="113448"/>
                  </a:lnTo>
                  <a:lnTo>
                    <a:pt x="8960743" y="150245"/>
                  </a:lnTo>
                  <a:lnTo>
                    <a:pt x="8983228" y="190791"/>
                  </a:lnTo>
                  <a:lnTo>
                    <a:pt x="8999921" y="234576"/>
                  </a:lnTo>
                  <a:lnTo>
                    <a:pt x="9010311" y="281088"/>
                  </a:lnTo>
                  <a:lnTo>
                    <a:pt x="9013888" y="329819"/>
                  </a:lnTo>
                  <a:lnTo>
                    <a:pt x="9013888" y="6361493"/>
                  </a:lnTo>
                  <a:lnTo>
                    <a:pt x="9010311" y="6410232"/>
                  </a:lnTo>
                  <a:lnTo>
                    <a:pt x="8999921" y="6456750"/>
                  </a:lnTo>
                  <a:lnTo>
                    <a:pt x="8983228" y="6500538"/>
                  </a:lnTo>
                  <a:lnTo>
                    <a:pt x="8960743" y="6541084"/>
                  </a:lnTo>
                  <a:lnTo>
                    <a:pt x="8932977" y="6577880"/>
                  </a:lnTo>
                  <a:lnTo>
                    <a:pt x="8900440" y="6610414"/>
                  </a:lnTo>
                  <a:lnTo>
                    <a:pt x="8863643" y="6638178"/>
                  </a:lnTo>
                  <a:lnTo>
                    <a:pt x="8823097" y="6660659"/>
                  </a:lnTo>
                  <a:lnTo>
                    <a:pt x="8779312" y="6677349"/>
                  </a:lnTo>
                  <a:lnTo>
                    <a:pt x="8732799" y="6687737"/>
                  </a:lnTo>
                  <a:lnTo>
                    <a:pt x="8684069" y="6691313"/>
                  </a:lnTo>
                  <a:lnTo>
                    <a:pt x="329819" y="6691313"/>
                  </a:lnTo>
                  <a:lnTo>
                    <a:pt x="281080" y="6687737"/>
                  </a:lnTo>
                  <a:lnTo>
                    <a:pt x="234562" y="6677349"/>
                  </a:lnTo>
                  <a:lnTo>
                    <a:pt x="190774" y="6660659"/>
                  </a:lnTo>
                  <a:lnTo>
                    <a:pt x="150228" y="6638178"/>
                  </a:lnTo>
                  <a:lnTo>
                    <a:pt x="113432" y="6610414"/>
                  </a:lnTo>
                  <a:lnTo>
                    <a:pt x="80898" y="6577880"/>
                  </a:lnTo>
                  <a:lnTo>
                    <a:pt x="53135" y="6541084"/>
                  </a:lnTo>
                  <a:lnTo>
                    <a:pt x="30653" y="6500538"/>
                  </a:lnTo>
                  <a:lnTo>
                    <a:pt x="13964" y="6456750"/>
                  </a:lnTo>
                  <a:lnTo>
                    <a:pt x="3576" y="6410232"/>
                  </a:lnTo>
                  <a:lnTo>
                    <a:pt x="0" y="6361493"/>
                  </a:lnTo>
                  <a:lnTo>
                    <a:pt x="0" y="329819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63500" y="1397000"/>
              <a:ext cx="9020175" cy="120650"/>
            </a:xfrm>
            <a:custGeom>
              <a:avLst/>
              <a:gdLst/>
              <a:ahLst/>
              <a:cxnLst/>
              <a:rect l="l" t="t" r="r" b="b"/>
              <a:pathLst>
                <a:path w="9020175" h="120650">
                  <a:moveTo>
                    <a:pt x="9020175" y="0"/>
                  </a:moveTo>
                  <a:lnTo>
                    <a:pt x="0" y="0"/>
                  </a:lnTo>
                  <a:lnTo>
                    <a:pt x="0" y="120650"/>
                  </a:lnTo>
                  <a:lnTo>
                    <a:pt x="9020175" y="120650"/>
                  </a:lnTo>
                  <a:lnTo>
                    <a:pt x="9020175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63500" y="2976626"/>
              <a:ext cx="9020175" cy="111125"/>
            </a:xfrm>
            <a:custGeom>
              <a:avLst/>
              <a:gdLst/>
              <a:ahLst/>
              <a:cxnLst/>
              <a:rect l="l" t="t" r="r" b="b"/>
              <a:pathLst>
                <a:path w="9020175" h="111125">
                  <a:moveTo>
                    <a:pt x="9020175" y="0"/>
                  </a:moveTo>
                  <a:lnTo>
                    <a:pt x="0" y="0"/>
                  </a:lnTo>
                  <a:lnTo>
                    <a:pt x="0" y="111125"/>
                  </a:lnTo>
                  <a:lnTo>
                    <a:pt x="9020175" y="111125"/>
                  </a:lnTo>
                  <a:lnTo>
                    <a:pt x="9020175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46050" y="6210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4"/>
                  </a:lnTo>
                  <a:lnTo>
                    <a:pt x="100788" y="39041"/>
                  </a:lnTo>
                  <a:lnTo>
                    <a:pt x="66955" y="66955"/>
                  </a:lnTo>
                  <a:lnTo>
                    <a:pt x="39041" y="100788"/>
                  </a:lnTo>
                  <a:lnTo>
                    <a:pt x="17964" y="139619"/>
                  </a:lnTo>
                  <a:lnTo>
                    <a:pt x="4644" y="182529"/>
                  </a:lnTo>
                  <a:lnTo>
                    <a:pt x="0" y="228600"/>
                  </a:lnTo>
                  <a:lnTo>
                    <a:pt x="4644" y="274670"/>
                  </a:lnTo>
                  <a:lnTo>
                    <a:pt x="17964" y="317580"/>
                  </a:lnTo>
                  <a:lnTo>
                    <a:pt x="39041" y="356411"/>
                  </a:lnTo>
                  <a:lnTo>
                    <a:pt x="66955" y="390244"/>
                  </a:lnTo>
                  <a:lnTo>
                    <a:pt x="100788" y="418158"/>
                  </a:lnTo>
                  <a:lnTo>
                    <a:pt x="139619" y="439235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5"/>
                  </a:lnTo>
                  <a:lnTo>
                    <a:pt x="356411" y="418158"/>
                  </a:lnTo>
                  <a:lnTo>
                    <a:pt x="390244" y="390244"/>
                  </a:lnTo>
                  <a:lnTo>
                    <a:pt x="418158" y="356411"/>
                  </a:lnTo>
                  <a:lnTo>
                    <a:pt x="439235" y="317580"/>
                  </a:lnTo>
                  <a:lnTo>
                    <a:pt x="452555" y="274670"/>
                  </a:lnTo>
                  <a:lnTo>
                    <a:pt x="457200" y="228600"/>
                  </a:lnTo>
                  <a:lnTo>
                    <a:pt x="452555" y="182529"/>
                  </a:lnTo>
                  <a:lnTo>
                    <a:pt x="439235" y="139619"/>
                  </a:lnTo>
                  <a:lnTo>
                    <a:pt x="418158" y="100788"/>
                  </a:lnTo>
                  <a:lnTo>
                    <a:pt x="390244" y="66955"/>
                  </a:lnTo>
                  <a:lnTo>
                    <a:pt x="356411" y="39041"/>
                  </a:lnTo>
                  <a:lnTo>
                    <a:pt x="317580" y="17964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602739" y="3195904"/>
            <a:ext cx="8878570" cy="93345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spc="-10">
                <a:solidFill>
                  <a:srgbClr val="FF0000"/>
                </a:solidFill>
                <a:latin typeface="Arial"/>
                <a:cs typeface="Arial"/>
              </a:rPr>
              <a:t>CH</a:t>
            </a:r>
            <a:r>
              <a:rPr lang="en-US" sz="2400" b="1" kern="0" spc="-10">
                <a:solidFill>
                  <a:srgbClr val="FF0000"/>
                </a:solidFill>
                <a:latin typeface="Arial"/>
                <a:cs typeface="Arial"/>
              </a:rPr>
              <a:t>Ư</a:t>
            </a:r>
            <a:r>
              <a:rPr sz="2400" b="1" kern="0" spc="-10">
                <a:solidFill>
                  <a:srgbClr val="FF0000"/>
                </a:solidFill>
                <a:latin typeface="Arial"/>
                <a:cs typeface="Arial"/>
              </a:rPr>
              <a:t>ƠNG</a:t>
            </a:r>
            <a:r>
              <a:rPr sz="2400" b="1" kern="0" spc="-14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400" b="1" kern="0" spc="-25" dirty="0">
                <a:solidFill>
                  <a:srgbClr val="FF0000"/>
                </a:solidFill>
                <a:latin typeface="Arial"/>
                <a:cs typeface="Arial"/>
              </a:rPr>
              <a:t>4</a:t>
            </a:r>
            <a:r>
              <a:rPr sz="2400" b="1" kern="0" spc="-25" smtClean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8190">
              <a:spcBef>
                <a:spcPts val="55"/>
              </a:spcBef>
            </a:pPr>
            <a:r>
              <a:rPr sz="3500" b="1" kern="0" dirty="0">
                <a:solidFill>
                  <a:srgbClr val="FF0000"/>
                </a:solidFill>
                <a:latin typeface="Arial"/>
                <a:cs typeface="Arial"/>
              </a:rPr>
              <a:t>SINH</a:t>
            </a:r>
            <a:r>
              <a:rPr sz="3500" b="1" kern="0" spc="-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500" b="1" kern="0" dirty="0">
                <a:solidFill>
                  <a:srgbClr val="FF0000"/>
                </a:solidFill>
                <a:latin typeface="Arial"/>
                <a:cs typeface="Arial"/>
              </a:rPr>
              <a:t>GIAO</a:t>
            </a:r>
            <a:r>
              <a:rPr sz="3500" b="1" kern="0" spc="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500" b="1" kern="0" dirty="0">
                <a:solidFill>
                  <a:srgbClr val="FF0000"/>
                </a:solidFill>
                <a:latin typeface="Arial"/>
                <a:cs typeface="Arial"/>
              </a:rPr>
              <a:t>DIỆN</a:t>
            </a:r>
            <a:r>
              <a:rPr sz="3500" b="1" kern="0" spc="-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500" b="1" kern="0" dirty="0">
                <a:solidFill>
                  <a:srgbClr val="FF0000"/>
                </a:solidFill>
                <a:latin typeface="Arial"/>
                <a:cs typeface="Arial"/>
              </a:rPr>
              <a:t>VÀ</a:t>
            </a:r>
            <a:r>
              <a:rPr sz="3500" b="1" kern="0" spc="-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500" b="1" kern="0" dirty="0">
                <a:solidFill>
                  <a:srgbClr val="FF0000"/>
                </a:solidFill>
                <a:latin typeface="Arial"/>
                <a:cs typeface="Arial"/>
              </a:rPr>
              <a:t>CHIA</a:t>
            </a:r>
            <a:r>
              <a:rPr sz="3500" b="1" kern="0" spc="-1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500" b="1" kern="0" dirty="0">
                <a:solidFill>
                  <a:srgbClr val="FF0000"/>
                </a:solidFill>
                <a:latin typeface="Arial"/>
                <a:cs typeface="Arial"/>
              </a:rPr>
              <a:t>SẺ</a:t>
            </a:r>
            <a:r>
              <a:rPr sz="3500" b="1" kern="0" spc="-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500" b="1" kern="0" dirty="0">
                <a:solidFill>
                  <a:srgbClr val="FF0000"/>
                </a:solidFill>
                <a:latin typeface="Arial"/>
                <a:cs typeface="Arial"/>
              </a:rPr>
              <a:t>DỮ</a:t>
            </a:r>
            <a:r>
              <a:rPr sz="3500" b="1" kern="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500" b="1" kern="0" spc="-20" dirty="0">
                <a:solidFill>
                  <a:srgbClr val="FF0000"/>
                </a:solidFill>
                <a:latin typeface="Arial"/>
                <a:cs typeface="Arial"/>
              </a:rPr>
              <a:t>LIỆU</a:t>
            </a:r>
            <a:endParaRPr sz="35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71676" y="6567487"/>
            <a:ext cx="8315325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587501" y="1517650"/>
            <a:ext cx="9020175" cy="1239442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8255" rIns="0" bIns="0" rtlCol="0">
            <a:spAutoFit/>
          </a:bodyPr>
          <a:lstStyle/>
          <a:p>
            <a:pPr marL="2425065" marR="1931035" indent="-489584">
              <a:spcBef>
                <a:spcPts val="65"/>
              </a:spcBef>
            </a:pPr>
            <a:r>
              <a:rPr sz="4000" u="none" dirty="0">
                <a:solidFill>
                  <a:srgbClr val="FFFFFF"/>
                </a:solidFill>
              </a:rPr>
              <a:t>LẬP</a:t>
            </a:r>
            <a:r>
              <a:rPr sz="4000" u="none" spc="-110" dirty="0">
                <a:solidFill>
                  <a:srgbClr val="FFFFFF"/>
                </a:solidFill>
              </a:rPr>
              <a:t> </a:t>
            </a:r>
            <a:r>
              <a:rPr sz="4000" u="none" dirty="0">
                <a:solidFill>
                  <a:srgbClr val="FFFFFF"/>
                </a:solidFill>
              </a:rPr>
              <a:t>TRÌNH</a:t>
            </a:r>
            <a:r>
              <a:rPr sz="4000" u="none" spc="-85" dirty="0">
                <a:solidFill>
                  <a:srgbClr val="FFFFFF"/>
                </a:solidFill>
              </a:rPr>
              <a:t> </a:t>
            </a:r>
            <a:r>
              <a:rPr sz="4000" u="none" spc="-10" dirty="0">
                <a:solidFill>
                  <a:srgbClr val="FFFFFF"/>
                </a:solidFill>
              </a:rPr>
              <a:t>WEBSITE </a:t>
            </a:r>
            <a:r>
              <a:rPr sz="4000" u="none" spc="40" dirty="0">
                <a:solidFill>
                  <a:srgbClr val="FFFFFF"/>
                </a:solidFill>
              </a:rPr>
              <a:t>(</a:t>
            </a:r>
            <a:r>
              <a:rPr sz="4000" u="none" spc="-80">
                <a:solidFill>
                  <a:srgbClr val="FFFFFF"/>
                </a:solidFill>
              </a:rPr>
              <a:t>A</a:t>
            </a:r>
            <a:r>
              <a:rPr sz="4000" u="none" spc="40">
                <a:solidFill>
                  <a:srgbClr val="FFFFFF"/>
                </a:solidFill>
              </a:rPr>
              <a:t>S</a:t>
            </a:r>
            <a:r>
              <a:rPr sz="4000" u="none" spc="-475">
                <a:solidFill>
                  <a:srgbClr val="FFFFFF"/>
                </a:solidFill>
              </a:rPr>
              <a:t>P</a:t>
            </a:r>
            <a:r>
              <a:rPr sz="4000" u="none" spc="40">
                <a:solidFill>
                  <a:srgbClr val="FFFFFF"/>
                </a:solidFill>
              </a:rPr>
              <a:t>.NET</a:t>
            </a:r>
            <a:r>
              <a:rPr sz="4000" u="none" spc="-75">
                <a:solidFill>
                  <a:srgbClr val="FFFFFF"/>
                </a:solidFill>
              </a:rPr>
              <a:t> </a:t>
            </a:r>
            <a:r>
              <a:rPr lang="en-US" sz="4000" u="none" smtClean="0">
                <a:solidFill>
                  <a:srgbClr val="FFFFFF"/>
                </a:solidFill>
              </a:rPr>
              <a:t>MVC</a:t>
            </a:r>
            <a:r>
              <a:rPr sz="4000" u="none" spc="-25" smtClean="0">
                <a:solidFill>
                  <a:srgbClr val="FFFFFF"/>
                </a:solidFill>
              </a:rPr>
              <a:t>)</a:t>
            </a:r>
            <a:endParaRPr sz="4000"/>
          </a:p>
        </p:txBody>
      </p:sp>
      <p:grpSp>
        <p:nvGrpSpPr>
          <p:cNvPr id="13" name="object 13"/>
          <p:cNvGrpSpPr/>
          <p:nvPr/>
        </p:nvGrpSpPr>
        <p:grpSpPr>
          <a:xfrm>
            <a:off x="6054851" y="781241"/>
            <a:ext cx="3977640" cy="132587"/>
            <a:chOff x="4530851" y="795527"/>
            <a:chExt cx="3977640" cy="132587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0851" y="795527"/>
              <a:ext cx="3977640" cy="13258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575175" y="836676"/>
              <a:ext cx="3889375" cy="1905"/>
            </a:xfrm>
            <a:custGeom>
              <a:avLst/>
              <a:gdLst/>
              <a:ahLst/>
              <a:cxnLst/>
              <a:rect l="l" t="t" r="r" b="b"/>
              <a:pathLst>
                <a:path w="3889375" h="1905">
                  <a:moveTo>
                    <a:pt x="0" y="0"/>
                  </a:moveTo>
                  <a:lnTo>
                    <a:pt x="3889375" y="1524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119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71676" y="6567487"/>
            <a:ext cx="8315325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49450" y="450927"/>
            <a:ext cx="829310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spc="-434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NỘI</a:t>
            </a:r>
            <a:r>
              <a:rPr spc="-25" dirty="0">
                <a:solidFill>
                  <a:srgbClr val="9B2C1F"/>
                </a:solidFill>
              </a:rPr>
              <a:t> </a:t>
            </a:r>
            <a:r>
              <a:rPr spc="-20" dirty="0">
                <a:solidFill>
                  <a:srgbClr val="9B2C1F"/>
                </a:solidFill>
              </a:rPr>
              <a:t>DUNG</a:t>
            </a:r>
            <a:r>
              <a:rPr dirty="0">
                <a:solidFill>
                  <a:srgbClr val="9B2C1F"/>
                </a:solidFill>
              </a:rPr>
              <a:t>	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2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90316" y="864676"/>
            <a:ext cx="7282333" cy="5584190"/>
          </a:xfrm>
          <a:prstGeom prst="rect">
            <a:avLst/>
          </a:prstGeom>
        </p:spPr>
        <p:txBody>
          <a:bodyPr vert="horz" wrap="square" lIns="0" tIns="218440" rIns="0" bIns="0" rtlCol="0">
            <a:spAutoFit/>
          </a:bodyPr>
          <a:lstStyle/>
          <a:p>
            <a:pPr marL="528955" indent="-516255">
              <a:spcBef>
                <a:spcPts val="1720"/>
              </a:spcBef>
              <a:buFontTx/>
              <a:buAutoNum type="arabicPeriod"/>
              <a:tabLst>
                <a:tab pos="528955" algn="l"/>
              </a:tabLst>
            </a:pPr>
            <a:r>
              <a:rPr sz="27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Razor</a:t>
            </a:r>
            <a:endParaRPr sz="27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528955" indent="-516255">
              <a:spcBef>
                <a:spcPts val="1620"/>
              </a:spcBef>
              <a:buFontTx/>
              <a:buAutoNum type="arabicPeriod"/>
              <a:tabLst>
                <a:tab pos="528955" algn="l"/>
              </a:tabLst>
            </a:pPr>
            <a:r>
              <a:rPr sz="27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MVC</a:t>
            </a:r>
            <a:r>
              <a:rPr sz="27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7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Helper</a:t>
            </a:r>
            <a:endParaRPr sz="27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528955" indent="-516255">
              <a:spcBef>
                <a:spcPts val="1625"/>
              </a:spcBef>
              <a:buFontTx/>
              <a:buAutoNum type="arabicPeriod"/>
              <a:tabLst>
                <a:tab pos="528955" algn="l"/>
              </a:tabLst>
            </a:pPr>
            <a:r>
              <a:rPr sz="27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Sinh</a:t>
            </a:r>
            <a:r>
              <a:rPr sz="27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7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giao</a:t>
            </a:r>
            <a:r>
              <a:rPr sz="27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7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diện</a:t>
            </a:r>
            <a:r>
              <a:rPr sz="27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7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theo</a:t>
            </a:r>
            <a:r>
              <a:rPr sz="27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7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Model</a:t>
            </a:r>
            <a:endParaRPr sz="27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528955" indent="-516255">
              <a:spcBef>
                <a:spcPts val="1625"/>
              </a:spcBef>
              <a:buFontTx/>
              <a:buAutoNum type="arabicPeriod"/>
              <a:tabLst>
                <a:tab pos="528955" algn="l"/>
              </a:tabLst>
            </a:pPr>
            <a:r>
              <a:rPr sz="27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Custom</a:t>
            </a:r>
            <a:r>
              <a:rPr sz="27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7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Helper</a:t>
            </a:r>
            <a:endParaRPr sz="27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528955" indent="-516255">
              <a:spcBef>
                <a:spcPts val="1620"/>
              </a:spcBef>
              <a:buFontTx/>
              <a:buAutoNum type="arabicPeriod"/>
              <a:tabLst>
                <a:tab pos="528955" algn="l"/>
              </a:tabLst>
            </a:pPr>
            <a:r>
              <a:rPr sz="2700" kern="0" smtClea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ViewBag</a:t>
            </a:r>
            <a:r>
              <a:rPr lang="en-US" sz="2700" ker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, ViewData, TempData</a:t>
            </a:r>
            <a:r>
              <a:rPr sz="2700" kern="0" smtClea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,</a:t>
            </a:r>
            <a:r>
              <a:rPr sz="2700" kern="0" spc="-75" smtClea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7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Model</a:t>
            </a:r>
            <a:endParaRPr sz="27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528955" indent="-516255">
              <a:spcBef>
                <a:spcPts val="1625"/>
              </a:spcBef>
              <a:buFontTx/>
              <a:buAutoNum type="arabicPeriod"/>
              <a:tabLst>
                <a:tab pos="528955" algn="l"/>
              </a:tabLst>
            </a:pPr>
            <a:r>
              <a:rPr sz="27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Session</a:t>
            </a:r>
            <a:endParaRPr sz="27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528955" indent="-516255">
              <a:spcBef>
                <a:spcPts val="1625"/>
              </a:spcBef>
              <a:buFontTx/>
              <a:buAutoNum type="arabicPeriod"/>
              <a:tabLst>
                <a:tab pos="528955" algn="l"/>
              </a:tabLst>
            </a:pPr>
            <a:r>
              <a:rPr sz="27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Application</a:t>
            </a:r>
            <a:endParaRPr sz="27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528955" indent="-516255">
              <a:spcBef>
                <a:spcPts val="1620"/>
              </a:spcBef>
              <a:buFontTx/>
              <a:buAutoNum type="arabicPeriod"/>
              <a:tabLst>
                <a:tab pos="528955" algn="l"/>
              </a:tabLst>
            </a:pPr>
            <a:r>
              <a:rPr sz="27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Cookie</a:t>
            </a:r>
            <a:endParaRPr sz="27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528955" indent="-516255">
              <a:spcBef>
                <a:spcPts val="1625"/>
              </a:spcBef>
              <a:buFontTx/>
              <a:buAutoNum type="arabicPeriod"/>
              <a:tabLst>
                <a:tab pos="528955" algn="l"/>
              </a:tabLst>
            </a:pPr>
            <a:r>
              <a:rPr sz="27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Global.asax</a:t>
            </a:r>
            <a:endParaRPr sz="27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559607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84044" y="370459"/>
            <a:ext cx="179578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528955" algn="l"/>
              </a:tabLst>
            </a:pPr>
            <a:r>
              <a:rPr u="none" spc="-25" dirty="0"/>
              <a:t>1.</a:t>
            </a:r>
            <a:r>
              <a:rPr u="none" dirty="0"/>
              <a:t>	</a:t>
            </a:r>
            <a:r>
              <a:rPr u="none" spc="-10" dirty="0"/>
              <a:t>RAZOR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84044" y="831230"/>
            <a:ext cx="8382634" cy="2011680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L="701040" lvl="1" indent="-688340">
              <a:spcBef>
                <a:spcPts val="1405"/>
              </a:spcBef>
              <a:buFontTx/>
              <a:buAutoNum type="arabicPeriod"/>
              <a:tabLst>
                <a:tab pos="701040" algn="l"/>
              </a:tabLst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Razor</a:t>
            </a:r>
            <a:r>
              <a:rPr sz="2800" b="1" kern="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là</a:t>
            </a:r>
            <a:r>
              <a:rPr sz="2800" b="1" kern="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gì?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577850" marR="5080" lvl="2" indent="-343535">
              <a:spcBef>
                <a:spcPts val="1135"/>
              </a:spcBef>
              <a:buFont typeface="Wingdings"/>
              <a:buChar char=""/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Razor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là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ngôn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ngữ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ngắn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gọn,</a:t>
            </a:r>
            <a:r>
              <a:rPr sz="2400" ker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r</a:t>
            </a:r>
            <a:r>
              <a:rPr lang="en-US" sz="2400" kern="0" spc="-25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õ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ràng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hữu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ích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cho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phép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tạo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ra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giao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diện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ứng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</a:t>
            </a:r>
            <a:r>
              <a:rPr sz="2400" kern="0" spc="-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ASP.NET</a:t>
            </a:r>
            <a:r>
              <a:rPr sz="2400" kern="0" spc="-1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MVC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577215" lvl="2" indent="-342900">
              <a:spcBef>
                <a:spcPts val="1190"/>
              </a:spcBef>
              <a:buFont typeface="Wingdings"/>
              <a:buChar char=""/>
              <a:tabLst>
                <a:tab pos="577215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Trong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khối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lệnh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254" dirty="0">
                <a:solidFill>
                  <a:srgbClr val="C00000"/>
                </a:solidFill>
                <a:latin typeface="Microsoft Sans Serif"/>
                <a:cs typeface="Microsoft Sans Serif"/>
              </a:rPr>
              <a:t>@{…}</a:t>
            </a:r>
            <a:r>
              <a:rPr sz="2400" kern="0" spc="-2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là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mã</a:t>
            </a:r>
            <a:r>
              <a:rPr sz="2400" kern="0" spc="-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C#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hoặc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VB.NET</a:t>
            </a:r>
            <a:r>
              <a:rPr sz="2400" kern="0" spc="-1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trộn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HTML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9261" y="2895600"/>
            <a:ext cx="7695057" cy="35433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3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46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84044" y="370459"/>
            <a:ext cx="179578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528955" algn="l"/>
              </a:tabLst>
            </a:pPr>
            <a:r>
              <a:rPr u="none" spc="-25" dirty="0"/>
              <a:t>1.</a:t>
            </a:r>
            <a:r>
              <a:rPr u="none" dirty="0"/>
              <a:t>	</a:t>
            </a:r>
            <a:r>
              <a:rPr u="none" spc="-10" dirty="0"/>
              <a:t>RAZOR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84045" y="996138"/>
            <a:ext cx="226377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1.2.</a:t>
            </a:r>
            <a:r>
              <a:rPr sz="2800" b="1" kern="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Cú </a:t>
            </a:r>
            <a:r>
              <a:rPr sz="2800" b="1" kern="0" spc="-20" dirty="0">
                <a:solidFill>
                  <a:srgbClr val="C00000"/>
                </a:solidFill>
                <a:latin typeface="Arial"/>
                <a:cs typeface="Arial"/>
              </a:rPr>
              <a:t>pháp: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7724" y="1447800"/>
            <a:ext cx="7799318" cy="495699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4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843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84044" y="370459"/>
            <a:ext cx="179578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528955" algn="l"/>
              </a:tabLst>
            </a:pPr>
            <a:r>
              <a:rPr u="none" spc="-25" dirty="0"/>
              <a:t>1.</a:t>
            </a:r>
            <a:r>
              <a:rPr u="none" dirty="0"/>
              <a:t>	</a:t>
            </a:r>
            <a:r>
              <a:rPr u="none" spc="-10" dirty="0"/>
              <a:t>RAZOR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84045" y="996138"/>
            <a:ext cx="226377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1.2.</a:t>
            </a:r>
            <a:r>
              <a:rPr sz="2800" b="1" kern="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Cú </a:t>
            </a:r>
            <a:r>
              <a:rPr sz="2800" b="1" kern="0" spc="-20" dirty="0">
                <a:solidFill>
                  <a:srgbClr val="C00000"/>
                </a:solidFill>
                <a:latin typeface="Arial"/>
                <a:cs typeface="Arial"/>
              </a:rPr>
              <a:t>pháp: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2295" y="1447801"/>
            <a:ext cx="7948806" cy="495643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5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169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84044" y="370459"/>
            <a:ext cx="179578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528955" algn="l"/>
              </a:tabLst>
            </a:pPr>
            <a:r>
              <a:rPr u="none" spc="-25" dirty="0"/>
              <a:t>1.</a:t>
            </a:r>
            <a:r>
              <a:rPr u="none" dirty="0"/>
              <a:t>	</a:t>
            </a:r>
            <a:r>
              <a:rPr u="none" spc="-10" dirty="0"/>
              <a:t>RAZOR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84044" y="996137"/>
            <a:ext cx="8226756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>
                <a:solidFill>
                  <a:srgbClr val="C00000"/>
                </a:solidFill>
                <a:latin typeface="Arial"/>
                <a:cs typeface="Arial"/>
              </a:rPr>
              <a:t>1.</a:t>
            </a:r>
            <a:r>
              <a:rPr lang="en-US" sz="2800" b="1" kern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r>
              <a:rPr sz="2800" b="1" kern="0">
                <a:solidFill>
                  <a:srgbClr val="C00000"/>
                </a:solidFill>
                <a:latin typeface="Arial"/>
                <a:cs typeface="Arial"/>
              </a:rPr>
              <a:t>.</a:t>
            </a:r>
            <a:r>
              <a:rPr sz="2800" b="1" kern="0" spc="-3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2800" b="1" kern="0">
                <a:solidFill>
                  <a:srgbClr val="C00000"/>
                </a:solidFill>
                <a:latin typeface="Arial"/>
                <a:cs typeface="Arial"/>
              </a:rPr>
              <a:t>Khai báo biến</a:t>
            </a:r>
            <a:r>
              <a:rPr sz="2800" b="1" kern="0" spc="-20">
                <a:solidFill>
                  <a:srgbClr val="C00000"/>
                </a:solidFill>
                <a:latin typeface="Arial"/>
                <a:cs typeface="Arial"/>
              </a:rPr>
              <a:t>: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6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81200" y="1828563"/>
            <a:ext cx="8229600" cy="2503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7850" marR="5080" lvl="2" indent="-343535">
              <a:spcBef>
                <a:spcPts val="1135"/>
              </a:spcBef>
              <a:buFont typeface="Wingdings"/>
              <a:buChar char=""/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4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@{</a:t>
            </a:r>
          </a:p>
          <a:p>
            <a:pPr marL="234315" marR="5080" lvl="2">
              <a:spcBef>
                <a:spcPts val="1135"/>
              </a:spcBef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4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  var name = "Phong";</a:t>
            </a:r>
          </a:p>
          <a:p>
            <a:pPr marL="234315" marR="5080" lvl="2">
              <a:spcBef>
                <a:spcPts val="1135"/>
              </a:spcBef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4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  var age = 25;</a:t>
            </a:r>
          </a:p>
          <a:p>
            <a:pPr marL="234315" marR="5080" lvl="2">
              <a:spcBef>
                <a:spcPts val="1135"/>
              </a:spcBef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4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}</a:t>
            </a:r>
          </a:p>
          <a:p>
            <a:pPr marL="577850" marR="5080" lvl="2" indent="-343535">
              <a:spcBef>
                <a:spcPts val="1135"/>
              </a:spcBef>
              <a:buFont typeface="Wingdings"/>
              <a:buChar char=""/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4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&lt;p&gt;Name: @name - Age: @age&lt;/p&gt;</a:t>
            </a:r>
          </a:p>
        </p:txBody>
      </p:sp>
    </p:spTree>
    <p:extLst>
      <p:ext uri="{BB962C8B-B14F-4D97-AF65-F5344CB8AC3E}">
        <p14:creationId xmlns:p14="http://schemas.microsoft.com/office/powerpoint/2010/main" val="2194884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84044" y="370459"/>
            <a:ext cx="179578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528955" algn="l"/>
              </a:tabLst>
            </a:pPr>
            <a:r>
              <a:rPr u="none" spc="-25" dirty="0"/>
              <a:t>1.</a:t>
            </a:r>
            <a:r>
              <a:rPr u="none" dirty="0"/>
              <a:t>	</a:t>
            </a:r>
            <a:r>
              <a:rPr u="none" spc="-10" dirty="0"/>
              <a:t>RAZOR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84044" y="996137"/>
            <a:ext cx="8226756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>
                <a:solidFill>
                  <a:srgbClr val="C00000"/>
                </a:solidFill>
                <a:latin typeface="Arial"/>
                <a:cs typeface="Arial"/>
              </a:rPr>
              <a:t>1.</a:t>
            </a:r>
            <a:r>
              <a:rPr lang="en-US" sz="2800" b="1" kern="0">
                <a:solidFill>
                  <a:srgbClr val="C00000"/>
                </a:solidFill>
                <a:latin typeface="Arial"/>
                <a:cs typeface="Arial"/>
              </a:rPr>
              <a:t>4</a:t>
            </a:r>
            <a:r>
              <a:rPr sz="2800" b="1" kern="0">
                <a:solidFill>
                  <a:srgbClr val="C00000"/>
                </a:solidFill>
                <a:latin typeface="Arial"/>
                <a:cs typeface="Arial"/>
              </a:rPr>
              <a:t>.</a:t>
            </a:r>
            <a:r>
              <a:rPr sz="2800" b="1" kern="0" spc="-3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2800" b="1" kern="0">
                <a:solidFill>
                  <a:srgbClr val="C00000"/>
                </a:solidFill>
                <a:latin typeface="Arial"/>
                <a:cs typeface="Arial"/>
              </a:rPr>
              <a:t>Lệnh điều kiện</a:t>
            </a:r>
            <a:r>
              <a:rPr sz="2800" b="1" kern="0" spc="-20">
                <a:solidFill>
                  <a:srgbClr val="C00000"/>
                </a:solidFill>
                <a:latin typeface="Arial"/>
                <a:cs typeface="Arial"/>
              </a:rPr>
              <a:t>: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7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81200" y="1828562"/>
            <a:ext cx="8229600" cy="4034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7850" marR="5080" lvl="2" indent="-343535">
              <a:spcBef>
                <a:spcPts val="1135"/>
              </a:spcBef>
              <a:buFont typeface="Wingdings"/>
              <a:buChar char=""/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4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@if (Model.IsLoggedIn)</a:t>
            </a:r>
          </a:p>
          <a:p>
            <a:pPr marL="234315" marR="5080" lvl="2">
              <a:spcBef>
                <a:spcPts val="1135"/>
              </a:spcBef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4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{</a:t>
            </a:r>
          </a:p>
          <a:p>
            <a:pPr marL="234315" marR="5080" lvl="2">
              <a:spcBef>
                <a:spcPts val="1135"/>
              </a:spcBef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4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  &lt;p&gt;Welcome back, @Model.UserName!&lt;/p&gt;</a:t>
            </a:r>
          </a:p>
          <a:p>
            <a:pPr marL="234315" marR="5080" lvl="2">
              <a:spcBef>
                <a:spcPts val="1135"/>
              </a:spcBef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4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}</a:t>
            </a:r>
          </a:p>
          <a:p>
            <a:pPr marL="234315" marR="5080" lvl="2">
              <a:spcBef>
                <a:spcPts val="1135"/>
              </a:spcBef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4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else</a:t>
            </a:r>
          </a:p>
          <a:p>
            <a:pPr marL="234315" marR="5080" lvl="2">
              <a:spcBef>
                <a:spcPts val="1135"/>
              </a:spcBef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4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{</a:t>
            </a:r>
          </a:p>
          <a:p>
            <a:pPr marL="234315" marR="5080" lvl="2">
              <a:spcBef>
                <a:spcPts val="1135"/>
              </a:spcBef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4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  &lt;p&gt;Please login.&lt;/p&gt;</a:t>
            </a:r>
          </a:p>
          <a:p>
            <a:pPr marL="234315" marR="5080" lvl="2">
              <a:spcBef>
                <a:spcPts val="1135"/>
              </a:spcBef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4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52687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84044" y="370459"/>
            <a:ext cx="179578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528955" algn="l"/>
              </a:tabLst>
            </a:pPr>
            <a:r>
              <a:rPr u="none" spc="-25" dirty="0"/>
              <a:t>1.</a:t>
            </a:r>
            <a:r>
              <a:rPr u="none" dirty="0"/>
              <a:t>	</a:t>
            </a:r>
            <a:r>
              <a:rPr u="none" spc="-10" dirty="0"/>
              <a:t>RAZOR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84044" y="996137"/>
            <a:ext cx="8226756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>
                <a:solidFill>
                  <a:srgbClr val="C00000"/>
                </a:solidFill>
                <a:latin typeface="Arial"/>
                <a:cs typeface="Arial"/>
              </a:rPr>
              <a:t>1.</a:t>
            </a:r>
            <a:r>
              <a:rPr lang="en-US" sz="2800" b="1" kern="0">
                <a:solidFill>
                  <a:srgbClr val="C00000"/>
                </a:solidFill>
                <a:latin typeface="Arial"/>
                <a:cs typeface="Arial"/>
              </a:rPr>
              <a:t>5</a:t>
            </a:r>
            <a:r>
              <a:rPr sz="2800" b="1" kern="0">
                <a:solidFill>
                  <a:srgbClr val="C00000"/>
                </a:solidFill>
                <a:latin typeface="Arial"/>
                <a:cs typeface="Arial"/>
              </a:rPr>
              <a:t>.</a:t>
            </a:r>
            <a:r>
              <a:rPr sz="2800" b="1" kern="0" spc="-3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2800" b="1" kern="0">
                <a:solidFill>
                  <a:srgbClr val="C00000"/>
                </a:solidFill>
                <a:latin typeface="Arial"/>
                <a:cs typeface="Arial"/>
              </a:rPr>
              <a:t>Lệnh lặp for và foreach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8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81200" y="1828562"/>
            <a:ext cx="8229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7850" marR="5080" lvl="2" indent="-343535">
              <a:buFont typeface="Wingdings"/>
              <a:buChar char=""/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nn-NO" sz="2400" kern="0" spc="-10">
                <a:solidFill>
                  <a:srgbClr val="FF0000"/>
                </a:solidFill>
                <a:latin typeface="Microsoft Sans Serif"/>
                <a:cs typeface="Microsoft Sans Serif"/>
              </a:rPr>
              <a:t>@for </a:t>
            </a:r>
            <a:r>
              <a:rPr lang="nn-NO" sz="24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(int i = 1; i &lt;= 5; i++)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nn-NO" sz="24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{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nn-NO" sz="24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  &lt;p&gt;Dòng số @i&lt;/p&gt;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nn-NO" sz="24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}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4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@{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4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  var fruits = new List&lt;string&gt; { "Táo", "Cam", "Nho" };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4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}</a:t>
            </a:r>
          </a:p>
          <a:p>
            <a:pPr marL="577215" marR="5080" lvl="2" indent="-342900">
              <a:buFont typeface="Wingdings" panose="05000000000000000000" pitchFamily="2" charset="2"/>
              <a:buChar char="ü"/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400" kern="0" spc="-10">
                <a:solidFill>
                  <a:srgbClr val="FF0000"/>
                </a:solidFill>
                <a:latin typeface="Microsoft Sans Serif"/>
                <a:cs typeface="Microsoft Sans Serif"/>
              </a:rPr>
              <a:t>@foreach </a:t>
            </a:r>
            <a:r>
              <a:rPr lang="en-US" sz="24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(var fruit in fruits)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4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{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4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  &lt;li&gt;@fruit&lt;/li&gt;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4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78958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84044" y="370459"/>
            <a:ext cx="179578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528955" algn="l"/>
              </a:tabLst>
            </a:pPr>
            <a:r>
              <a:rPr u="none" spc="-25" dirty="0"/>
              <a:t>1.</a:t>
            </a:r>
            <a:r>
              <a:rPr u="none" dirty="0"/>
              <a:t>	</a:t>
            </a:r>
            <a:r>
              <a:rPr u="none" spc="-10" dirty="0"/>
              <a:t>RAZOR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84044" y="996137"/>
            <a:ext cx="8226756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>
                <a:solidFill>
                  <a:srgbClr val="C00000"/>
                </a:solidFill>
                <a:latin typeface="Arial"/>
                <a:cs typeface="Arial"/>
              </a:rPr>
              <a:t>1.</a:t>
            </a:r>
            <a:r>
              <a:rPr lang="en-US" sz="2800" b="1" kern="0">
                <a:solidFill>
                  <a:srgbClr val="C00000"/>
                </a:solidFill>
                <a:latin typeface="Arial"/>
                <a:cs typeface="Arial"/>
              </a:rPr>
              <a:t>6</a:t>
            </a:r>
            <a:r>
              <a:rPr sz="2800" b="1" kern="0">
                <a:solidFill>
                  <a:srgbClr val="C00000"/>
                </a:solidFill>
                <a:latin typeface="Arial"/>
                <a:cs typeface="Arial"/>
              </a:rPr>
              <a:t>.</a:t>
            </a:r>
            <a:r>
              <a:rPr sz="2800" b="1" kern="0" spc="-3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2800" b="1" kern="0">
                <a:solidFill>
                  <a:srgbClr val="C00000"/>
                </a:solidFill>
                <a:latin typeface="Arial"/>
                <a:cs typeface="Arial"/>
              </a:rPr>
              <a:t>Lệnh lặp while và do…while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9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81200" y="1828563"/>
            <a:ext cx="82296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7850" marR="5080" lvl="2" indent="-343535">
              <a:buFont typeface="Wingdings"/>
              <a:buChar char=""/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0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@{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0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  int count = 1;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0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}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000" kern="0" spc="-10">
                <a:solidFill>
                  <a:srgbClr val="FF0000"/>
                </a:solidFill>
                <a:latin typeface="Microsoft Sans Serif"/>
                <a:cs typeface="Microsoft Sans Serif"/>
              </a:rPr>
              <a:t>@while </a:t>
            </a:r>
            <a:r>
              <a:rPr lang="en-US" sz="20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(count &lt;= 3) {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0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  &lt;p&gt;Vòng lặp @count&lt;/p&gt;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0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  count++;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0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}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pt-BR" sz="20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@{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pt-BR" sz="20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  int num = 1;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pt-BR" sz="20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}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pt-BR" sz="2000" kern="0" spc="-10">
                <a:solidFill>
                  <a:srgbClr val="FF0000"/>
                </a:solidFill>
                <a:latin typeface="Microsoft Sans Serif"/>
                <a:cs typeface="Microsoft Sans Serif"/>
              </a:rPr>
              <a:t>@do </a:t>
            </a:r>
            <a:r>
              <a:rPr lang="pt-BR" sz="20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{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pt-BR" sz="20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  &lt;p&gt;Giá trị: @num&lt;/p&gt;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pt-BR" sz="20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  num++;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pt-BR" sz="20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} while (num &lt;= 3);</a:t>
            </a:r>
            <a:endParaRPr lang="en-US" sz="2000" kern="0" spc="-1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977530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84044" y="370459"/>
            <a:ext cx="179578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528955" algn="l"/>
              </a:tabLst>
            </a:pPr>
            <a:r>
              <a:rPr u="none" spc="-25" dirty="0"/>
              <a:t>1.</a:t>
            </a:r>
            <a:r>
              <a:rPr u="none" dirty="0"/>
              <a:t>	</a:t>
            </a:r>
            <a:r>
              <a:rPr u="none" spc="-10" dirty="0"/>
              <a:t>RAZOR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84044" y="996137"/>
            <a:ext cx="8226756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>
                <a:solidFill>
                  <a:srgbClr val="C00000"/>
                </a:solidFill>
                <a:latin typeface="Arial"/>
                <a:cs typeface="Arial"/>
              </a:rPr>
              <a:t>1.</a:t>
            </a:r>
            <a:r>
              <a:rPr lang="en-US" sz="2800" b="1" kern="0">
                <a:solidFill>
                  <a:srgbClr val="C00000"/>
                </a:solidFill>
                <a:latin typeface="Arial"/>
                <a:cs typeface="Arial"/>
              </a:rPr>
              <a:t> Ví dụ kết hợp lệnh lặp và HTML table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10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81200" y="1828563"/>
            <a:ext cx="82296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7850" marR="5080" lvl="2" indent="-343535">
              <a:buFont typeface="Wingdings"/>
              <a:buChar char=""/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0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@{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0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  var students = new List&lt;string&gt; { "An", "Bình", "Chi" };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0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}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0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&lt;table border="1"&gt;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0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  &lt;tr&gt;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0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      &lt;th&gt;STT&lt;/th&gt;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0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      &lt;th&gt;Tên&lt;/th&gt;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0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  &lt;/tr&gt;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0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  @for (int i = 0; i &lt; students.Count; i++)    {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0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      &lt;tr&gt;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0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          &lt;td&gt;@(i + 1)&lt;/td&gt;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0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          &lt;td&gt;@students[i]&lt;/td&gt;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0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      &lt;/tr&gt;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0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  }</a:t>
            </a:r>
          </a:p>
          <a:p>
            <a:pPr marL="234315" marR="5080" lvl="2">
              <a:tabLst>
                <a:tab pos="577850" algn="l"/>
                <a:tab pos="1533525" algn="l"/>
                <a:tab pos="1917700" algn="l"/>
                <a:tab pos="2741295" algn="l"/>
                <a:tab pos="3432175" algn="l"/>
                <a:tab pos="4255770" algn="l"/>
                <a:tab pos="4996180" algn="l"/>
                <a:tab pos="5412740" algn="l"/>
                <a:tab pos="6167755" algn="l"/>
                <a:tab pos="6633845" algn="l"/>
                <a:tab pos="7324725" algn="l"/>
                <a:tab pos="7874000" algn="l"/>
              </a:tabLst>
            </a:pPr>
            <a:r>
              <a:rPr lang="en-US" sz="2000" kern="0" spc="-1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&lt;/table&gt;</a:t>
            </a:r>
          </a:p>
        </p:txBody>
      </p:sp>
    </p:spTree>
    <p:extLst>
      <p:ext uri="{BB962C8B-B14F-4D97-AF65-F5344CB8AC3E}">
        <p14:creationId xmlns:p14="http://schemas.microsoft.com/office/powerpoint/2010/main" val="1412115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spcBef>
                <a:spcPts val="105"/>
              </a:spcBef>
            </a:pPr>
            <a:r>
              <a:rPr u="none" dirty="0"/>
              <a:t>2.</a:t>
            </a:r>
            <a:r>
              <a:rPr u="none" spc="-45" dirty="0"/>
              <a:t> </a:t>
            </a:r>
            <a:r>
              <a:rPr u="none" dirty="0"/>
              <a:t>MVC</a:t>
            </a:r>
            <a:r>
              <a:rPr u="none" spc="-35" dirty="0"/>
              <a:t> </a:t>
            </a:r>
            <a:r>
              <a:rPr u="none" dirty="0"/>
              <a:t>HELPER</a:t>
            </a:r>
            <a:r>
              <a:rPr u="none" spc="-50" dirty="0"/>
              <a:t> </a:t>
            </a:r>
            <a:r>
              <a:rPr u="none" dirty="0"/>
              <a:t>-</a:t>
            </a:r>
            <a:r>
              <a:rPr u="none" spc="-45" dirty="0"/>
              <a:t> </a:t>
            </a:r>
            <a:r>
              <a:rPr u="none" dirty="0"/>
              <a:t>SINH</a:t>
            </a:r>
            <a:r>
              <a:rPr u="none" spc="-35" dirty="0"/>
              <a:t> </a:t>
            </a:r>
            <a:r>
              <a:rPr u="none" dirty="0"/>
              <a:t>GIAO</a:t>
            </a:r>
            <a:r>
              <a:rPr u="none" spc="25" dirty="0"/>
              <a:t> </a:t>
            </a:r>
            <a:r>
              <a:rPr u="none" spc="-20" dirty="0"/>
              <a:t>DIỆN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84044" y="996138"/>
            <a:ext cx="285623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2.1.</a:t>
            </a:r>
            <a:r>
              <a:rPr sz="2800" b="1" kern="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Helper</a:t>
            </a: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là</a:t>
            </a:r>
            <a:r>
              <a:rPr sz="2800" b="1" kern="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gì?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7824" y="1539356"/>
            <a:ext cx="7279004" cy="444765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11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99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spcBef>
                <a:spcPts val="105"/>
              </a:spcBef>
            </a:pPr>
            <a:r>
              <a:rPr u="none" dirty="0"/>
              <a:t>2.</a:t>
            </a:r>
            <a:r>
              <a:rPr u="none" spc="-45" dirty="0"/>
              <a:t> </a:t>
            </a:r>
            <a:r>
              <a:rPr u="none" dirty="0"/>
              <a:t>MVC</a:t>
            </a:r>
            <a:r>
              <a:rPr u="none" spc="-35" dirty="0"/>
              <a:t> </a:t>
            </a:r>
            <a:r>
              <a:rPr u="none" dirty="0"/>
              <a:t>HELPER</a:t>
            </a:r>
            <a:r>
              <a:rPr u="none" spc="-50" dirty="0"/>
              <a:t> </a:t>
            </a:r>
            <a:r>
              <a:rPr u="none" dirty="0"/>
              <a:t>-</a:t>
            </a:r>
            <a:r>
              <a:rPr u="none" spc="-45" dirty="0"/>
              <a:t> </a:t>
            </a:r>
            <a:r>
              <a:rPr u="none" dirty="0"/>
              <a:t>SINH</a:t>
            </a:r>
            <a:r>
              <a:rPr u="none" spc="-35" dirty="0"/>
              <a:t> </a:t>
            </a:r>
            <a:r>
              <a:rPr u="none" dirty="0"/>
              <a:t>GIAO</a:t>
            </a:r>
            <a:r>
              <a:rPr u="none" spc="25" dirty="0"/>
              <a:t> </a:t>
            </a:r>
            <a:r>
              <a:rPr u="none" spc="-20" dirty="0"/>
              <a:t>DIỆN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84045" y="996138"/>
            <a:ext cx="397827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2.2.</a:t>
            </a:r>
            <a:r>
              <a:rPr sz="2800" b="1" kern="0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HyperLink</a:t>
            </a:r>
            <a:r>
              <a:rPr sz="2800" b="1" kern="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10" dirty="0">
                <a:solidFill>
                  <a:srgbClr val="C00000"/>
                </a:solidFill>
                <a:latin typeface="Arial"/>
                <a:cs typeface="Arial"/>
              </a:rPr>
              <a:t>Helpers: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4496" y="1546419"/>
            <a:ext cx="7155292" cy="466457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12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2550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spcBef>
                <a:spcPts val="105"/>
              </a:spcBef>
            </a:pPr>
            <a:r>
              <a:rPr u="none" dirty="0"/>
              <a:t>2.</a:t>
            </a:r>
            <a:r>
              <a:rPr u="none" spc="-45" dirty="0"/>
              <a:t> </a:t>
            </a:r>
            <a:r>
              <a:rPr u="none" dirty="0"/>
              <a:t>MVC</a:t>
            </a:r>
            <a:r>
              <a:rPr u="none" spc="-35" dirty="0"/>
              <a:t> </a:t>
            </a:r>
            <a:r>
              <a:rPr u="none" dirty="0"/>
              <a:t>HELPER</a:t>
            </a:r>
            <a:r>
              <a:rPr u="none" spc="-50" dirty="0"/>
              <a:t> </a:t>
            </a:r>
            <a:r>
              <a:rPr u="none" dirty="0"/>
              <a:t>-</a:t>
            </a:r>
            <a:r>
              <a:rPr u="none" spc="-45" dirty="0"/>
              <a:t> </a:t>
            </a:r>
            <a:r>
              <a:rPr u="none" dirty="0"/>
              <a:t>SINH</a:t>
            </a:r>
            <a:r>
              <a:rPr u="none" spc="-35" dirty="0"/>
              <a:t> </a:t>
            </a:r>
            <a:r>
              <a:rPr u="none" dirty="0"/>
              <a:t>GIAO</a:t>
            </a:r>
            <a:r>
              <a:rPr u="none" spc="25" dirty="0"/>
              <a:t> </a:t>
            </a:r>
            <a:r>
              <a:rPr u="none" spc="-20" dirty="0"/>
              <a:t>DIỆN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84045" y="996138"/>
            <a:ext cx="405066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2.3.</a:t>
            </a:r>
            <a:r>
              <a:rPr sz="2800" b="1" kern="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Form</a:t>
            </a:r>
            <a:r>
              <a:rPr sz="2800" b="1" kern="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Field</a:t>
            </a:r>
            <a:r>
              <a:rPr sz="2800" b="1" kern="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10" dirty="0">
                <a:solidFill>
                  <a:srgbClr val="C00000"/>
                </a:solidFill>
                <a:latin typeface="Arial"/>
                <a:cs typeface="Arial"/>
              </a:rPr>
              <a:t>Helpers: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1477" y="1588007"/>
            <a:ext cx="7281257" cy="442004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13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2306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spcBef>
                <a:spcPts val="105"/>
              </a:spcBef>
            </a:pPr>
            <a:r>
              <a:rPr u="none" dirty="0"/>
              <a:t>2.</a:t>
            </a:r>
            <a:r>
              <a:rPr u="none" spc="-45" dirty="0"/>
              <a:t> </a:t>
            </a:r>
            <a:r>
              <a:rPr u="none" dirty="0"/>
              <a:t>MVC</a:t>
            </a:r>
            <a:r>
              <a:rPr u="none" spc="-35" dirty="0"/>
              <a:t> </a:t>
            </a:r>
            <a:r>
              <a:rPr u="none" dirty="0"/>
              <a:t>HELPER</a:t>
            </a:r>
            <a:r>
              <a:rPr u="none" spc="-50" dirty="0"/>
              <a:t> </a:t>
            </a:r>
            <a:r>
              <a:rPr u="none" dirty="0"/>
              <a:t>-</a:t>
            </a:r>
            <a:r>
              <a:rPr u="none" spc="-45" dirty="0"/>
              <a:t> </a:t>
            </a:r>
            <a:r>
              <a:rPr u="none" dirty="0"/>
              <a:t>SINH</a:t>
            </a:r>
            <a:r>
              <a:rPr u="none" spc="-35" dirty="0"/>
              <a:t> </a:t>
            </a:r>
            <a:r>
              <a:rPr u="none" dirty="0"/>
              <a:t>GIAO</a:t>
            </a:r>
            <a:r>
              <a:rPr u="none" spc="25" dirty="0"/>
              <a:t> </a:t>
            </a:r>
            <a:r>
              <a:rPr u="none" spc="-20" dirty="0"/>
              <a:t>DIỆN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84045" y="996138"/>
            <a:ext cx="405066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2.3.</a:t>
            </a:r>
            <a:r>
              <a:rPr sz="2800" b="1" kern="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Form</a:t>
            </a:r>
            <a:r>
              <a:rPr sz="2800" b="1" kern="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Field</a:t>
            </a:r>
            <a:r>
              <a:rPr sz="2800" b="1" kern="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10" dirty="0">
                <a:solidFill>
                  <a:srgbClr val="C00000"/>
                </a:solidFill>
                <a:latin typeface="Arial"/>
                <a:cs typeface="Arial"/>
              </a:rPr>
              <a:t>Helpers: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1543" y="1511553"/>
            <a:ext cx="7700645" cy="488924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14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7557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spcBef>
                <a:spcPts val="105"/>
              </a:spcBef>
            </a:pPr>
            <a:r>
              <a:rPr u="none" dirty="0"/>
              <a:t>2.</a:t>
            </a:r>
            <a:r>
              <a:rPr u="none" spc="-45" dirty="0"/>
              <a:t> </a:t>
            </a:r>
            <a:r>
              <a:rPr u="none" dirty="0"/>
              <a:t>MVC</a:t>
            </a:r>
            <a:r>
              <a:rPr u="none" spc="-35" dirty="0"/>
              <a:t> </a:t>
            </a:r>
            <a:r>
              <a:rPr u="none" dirty="0"/>
              <a:t>HELPER</a:t>
            </a:r>
            <a:r>
              <a:rPr u="none" spc="-50" dirty="0"/>
              <a:t> </a:t>
            </a:r>
            <a:r>
              <a:rPr u="none" dirty="0"/>
              <a:t>-</a:t>
            </a:r>
            <a:r>
              <a:rPr u="none" spc="-45" dirty="0"/>
              <a:t> </a:t>
            </a:r>
            <a:r>
              <a:rPr u="none" dirty="0"/>
              <a:t>SINH</a:t>
            </a:r>
            <a:r>
              <a:rPr u="none" spc="-35" dirty="0"/>
              <a:t> </a:t>
            </a:r>
            <a:r>
              <a:rPr u="none" dirty="0"/>
              <a:t>GIAO</a:t>
            </a:r>
            <a:r>
              <a:rPr u="none" spc="25" dirty="0"/>
              <a:t> </a:t>
            </a:r>
            <a:r>
              <a:rPr u="none" spc="-20" dirty="0"/>
              <a:t>DIỆN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84045" y="996138"/>
            <a:ext cx="491045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2.4.</a:t>
            </a: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DropDownList</a:t>
            </a:r>
            <a:r>
              <a:rPr sz="2800" b="1" kern="0" spc="-10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&amp;</a:t>
            </a:r>
            <a:r>
              <a:rPr sz="2800" b="1" kern="0" spc="-10" dirty="0">
                <a:solidFill>
                  <a:srgbClr val="C00000"/>
                </a:solidFill>
                <a:latin typeface="Arial"/>
                <a:cs typeface="Arial"/>
              </a:rPr>
              <a:t> ListBox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4117" y="1505517"/>
            <a:ext cx="7771721" cy="505043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15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87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spcBef>
                <a:spcPts val="105"/>
              </a:spcBef>
            </a:pPr>
            <a:r>
              <a:rPr u="none" dirty="0"/>
              <a:t>2.</a:t>
            </a:r>
            <a:r>
              <a:rPr u="none" spc="-45" dirty="0"/>
              <a:t> </a:t>
            </a:r>
            <a:r>
              <a:rPr u="none" dirty="0"/>
              <a:t>MVC</a:t>
            </a:r>
            <a:r>
              <a:rPr u="none" spc="-35" dirty="0"/>
              <a:t> </a:t>
            </a:r>
            <a:r>
              <a:rPr u="none" dirty="0"/>
              <a:t>HELPER</a:t>
            </a:r>
            <a:r>
              <a:rPr u="none" spc="-50" dirty="0"/>
              <a:t> </a:t>
            </a:r>
            <a:r>
              <a:rPr u="none" dirty="0"/>
              <a:t>-</a:t>
            </a:r>
            <a:r>
              <a:rPr u="none" spc="-45" dirty="0"/>
              <a:t> </a:t>
            </a:r>
            <a:r>
              <a:rPr u="none" dirty="0"/>
              <a:t>SINH</a:t>
            </a:r>
            <a:r>
              <a:rPr u="none" spc="-35" dirty="0"/>
              <a:t> </a:t>
            </a:r>
            <a:r>
              <a:rPr u="none" dirty="0"/>
              <a:t>GIAO</a:t>
            </a:r>
            <a:r>
              <a:rPr u="none" spc="25" dirty="0"/>
              <a:t> </a:t>
            </a:r>
            <a:r>
              <a:rPr u="none" spc="-20" dirty="0"/>
              <a:t>DIỆN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84044" y="996138"/>
            <a:ext cx="328295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2282825" algn="l"/>
              </a:tabLst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2.5.</a:t>
            </a: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Sinh</a:t>
            </a:r>
            <a:r>
              <a:rPr sz="2800" b="1" kern="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mã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sz="2800" b="1" kern="0" spc="-20" dirty="0">
                <a:solidFill>
                  <a:srgbClr val="C00000"/>
                </a:solidFill>
                <a:latin typeface="Arial"/>
                <a:cs typeface="Arial"/>
              </a:rPr>
              <a:t>HTML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9010" y="1616329"/>
            <a:ext cx="7645084" cy="478923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16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160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spcBef>
                <a:spcPts val="105"/>
              </a:spcBef>
            </a:pPr>
            <a:r>
              <a:rPr u="none" dirty="0"/>
              <a:t>2.</a:t>
            </a:r>
            <a:r>
              <a:rPr u="none" spc="-45" dirty="0"/>
              <a:t> </a:t>
            </a:r>
            <a:r>
              <a:rPr u="none" dirty="0"/>
              <a:t>MVC</a:t>
            </a:r>
            <a:r>
              <a:rPr u="none" spc="-35" dirty="0"/>
              <a:t> </a:t>
            </a:r>
            <a:r>
              <a:rPr u="none" dirty="0"/>
              <a:t>HELPER</a:t>
            </a:r>
            <a:r>
              <a:rPr u="none" spc="-50" dirty="0"/>
              <a:t> </a:t>
            </a:r>
            <a:r>
              <a:rPr u="none" dirty="0"/>
              <a:t>-</a:t>
            </a:r>
            <a:r>
              <a:rPr u="none" spc="-45" dirty="0"/>
              <a:t> </a:t>
            </a:r>
            <a:r>
              <a:rPr u="none" dirty="0"/>
              <a:t>SINH</a:t>
            </a:r>
            <a:r>
              <a:rPr u="none" spc="-35" dirty="0"/>
              <a:t> </a:t>
            </a:r>
            <a:r>
              <a:rPr u="none" dirty="0"/>
              <a:t>GIAO</a:t>
            </a:r>
            <a:r>
              <a:rPr u="none" spc="25" dirty="0"/>
              <a:t> </a:t>
            </a:r>
            <a:r>
              <a:rPr u="none" spc="-20" dirty="0"/>
              <a:t>DIỆN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84045" y="996138"/>
            <a:ext cx="247586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2.6.</a:t>
            </a: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Sinh</a:t>
            </a:r>
            <a:r>
              <a:rPr sz="2800" b="1" kern="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20" dirty="0">
                <a:solidFill>
                  <a:srgbClr val="C00000"/>
                </a:solidFill>
                <a:latin typeface="Arial"/>
                <a:cs typeface="Arial"/>
              </a:rPr>
              <a:t>Form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5601" y="1618488"/>
            <a:ext cx="6728841" cy="38862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17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474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spcBef>
                <a:spcPts val="105"/>
              </a:spcBef>
            </a:pPr>
            <a:r>
              <a:rPr u="none" dirty="0"/>
              <a:t>2.</a:t>
            </a:r>
            <a:r>
              <a:rPr u="none" spc="-45" dirty="0"/>
              <a:t> </a:t>
            </a:r>
            <a:r>
              <a:rPr u="none" dirty="0"/>
              <a:t>MVC</a:t>
            </a:r>
            <a:r>
              <a:rPr u="none" spc="-35" dirty="0"/>
              <a:t> </a:t>
            </a:r>
            <a:r>
              <a:rPr u="none" dirty="0"/>
              <a:t>HELPER</a:t>
            </a:r>
            <a:r>
              <a:rPr u="none" spc="-50" dirty="0"/>
              <a:t> </a:t>
            </a:r>
            <a:r>
              <a:rPr u="none" dirty="0"/>
              <a:t>-</a:t>
            </a:r>
            <a:r>
              <a:rPr u="none" spc="-45" dirty="0"/>
              <a:t> </a:t>
            </a:r>
            <a:r>
              <a:rPr u="none" dirty="0"/>
              <a:t>SINH</a:t>
            </a:r>
            <a:r>
              <a:rPr u="none" spc="-35" dirty="0"/>
              <a:t> </a:t>
            </a:r>
            <a:r>
              <a:rPr u="none" dirty="0"/>
              <a:t>GIAO</a:t>
            </a:r>
            <a:r>
              <a:rPr u="none" spc="25" dirty="0"/>
              <a:t> </a:t>
            </a:r>
            <a:r>
              <a:rPr u="none" spc="-20" dirty="0"/>
              <a:t>DIỆN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84045" y="996138"/>
            <a:ext cx="362394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2.7.</a:t>
            </a:r>
            <a:r>
              <a:rPr sz="2800" b="1" kern="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Helper</a:t>
            </a:r>
            <a:r>
              <a:rPr sz="2800" b="1" kern="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định</a:t>
            </a:r>
            <a:r>
              <a:rPr sz="2800" b="1" kern="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20" dirty="0">
                <a:solidFill>
                  <a:srgbClr val="C00000"/>
                </a:solidFill>
                <a:latin typeface="Arial"/>
                <a:cs typeface="Arial"/>
              </a:rPr>
              <a:t>dạng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2361" y="1476122"/>
            <a:ext cx="8267065" cy="498891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18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1150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spcBef>
                <a:spcPts val="105"/>
              </a:spcBef>
            </a:pPr>
            <a:r>
              <a:rPr u="none" dirty="0"/>
              <a:t>2.</a:t>
            </a:r>
            <a:r>
              <a:rPr u="none" spc="-45" dirty="0"/>
              <a:t> </a:t>
            </a:r>
            <a:r>
              <a:rPr u="none" dirty="0"/>
              <a:t>MVC</a:t>
            </a:r>
            <a:r>
              <a:rPr u="none" spc="-35" dirty="0"/>
              <a:t> </a:t>
            </a:r>
            <a:r>
              <a:rPr u="none" dirty="0"/>
              <a:t>HELPER</a:t>
            </a:r>
            <a:r>
              <a:rPr u="none" spc="-50" dirty="0"/>
              <a:t> </a:t>
            </a:r>
            <a:r>
              <a:rPr u="none" dirty="0"/>
              <a:t>-</a:t>
            </a:r>
            <a:r>
              <a:rPr u="none" spc="-45" dirty="0"/>
              <a:t> </a:t>
            </a:r>
            <a:r>
              <a:rPr u="none" dirty="0"/>
              <a:t>SINH</a:t>
            </a:r>
            <a:r>
              <a:rPr u="none" spc="-35" dirty="0"/>
              <a:t> </a:t>
            </a:r>
            <a:r>
              <a:rPr u="none" dirty="0"/>
              <a:t>GIAO</a:t>
            </a:r>
            <a:r>
              <a:rPr u="none" spc="25" dirty="0"/>
              <a:t> </a:t>
            </a:r>
            <a:r>
              <a:rPr u="none" spc="-20" dirty="0"/>
              <a:t>DIỆN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84044" y="996138"/>
            <a:ext cx="433197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2.7.1</a:t>
            </a:r>
            <a:r>
              <a:rPr sz="2800" b="1" kern="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Helper</a:t>
            </a:r>
            <a:r>
              <a:rPr sz="2800" b="1" kern="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định</a:t>
            </a:r>
            <a:r>
              <a:rPr sz="2800" b="1" kern="0" spc="-10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dạng</a:t>
            </a: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 số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5214" y="1447800"/>
            <a:ext cx="7706703" cy="479850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19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859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spcBef>
                <a:spcPts val="105"/>
              </a:spcBef>
            </a:pPr>
            <a:r>
              <a:rPr u="none" dirty="0"/>
              <a:t>2.</a:t>
            </a:r>
            <a:r>
              <a:rPr u="none" spc="-45" dirty="0"/>
              <a:t> </a:t>
            </a:r>
            <a:r>
              <a:rPr u="none" dirty="0"/>
              <a:t>MVC</a:t>
            </a:r>
            <a:r>
              <a:rPr u="none" spc="-35" dirty="0"/>
              <a:t> </a:t>
            </a:r>
            <a:r>
              <a:rPr u="none" dirty="0"/>
              <a:t>HELPER</a:t>
            </a:r>
            <a:r>
              <a:rPr u="none" spc="-50" dirty="0"/>
              <a:t> </a:t>
            </a:r>
            <a:r>
              <a:rPr u="none" dirty="0"/>
              <a:t>-</a:t>
            </a:r>
            <a:r>
              <a:rPr u="none" spc="-45" dirty="0"/>
              <a:t> </a:t>
            </a:r>
            <a:r>
              <a:rPr u="none" dirty="0"/>
              <a:t>SINH</a:t>
            </a:r>
            <a:r>
              <a:rPr u="none" spc="-35" dirty="0"/>
              <a:t> </a:t>
            </a:r>
            <a:r>
              <a:rPr u="none" dirty="0"/>
              <a:t>GIAO</a:t>
            </a:r>
            <a:r>
              <a:rPr u="none" spc="25" dirty="0"/>
              <a:t> </a:t>
            </a:r>
            <a:r>
              <a:rPr u="none" spc="-20" dirty="0"/>
              <a:t>DIỆN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84045" y="996138"/>
            <a:ext cx="543750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2.7.2</a:t>
            </a:r>
            <a:r>
              <a:rPr sz="2800" b="1" kern="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Helper</a:t>
            </a:r>
            <a:r>
              <a:rPr sz="2800" b="1" kern="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định</a:t>
            </a:r>
            <a:r>
              <a:rPr sz="2800" b="1" kern="0" spc="-10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dạng</a:t>
            </a: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thời</a:t>
            </a: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20" dirty="0">
                <a:solidFill>
                  <a:srgbClr val="C00000"/>
                </a:solidFill>
                <a:latin typeface="Arial"/>
                <a:cs typeface="Arial"/>
              </a:rPr>
              <a:t>gian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1587" y="1485900"/>
            <a:ext cx="7698281" cy="494653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20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5481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spcBef>
                <a:spcPts val="105"/>
              </a:spcBef>
            </a:pPr>
            <a:r>
              <a:rPr u="none" dirty="0"/>
              <a:t>2.</a:t>
            </a:r>
            <a:r>
              <a:rPr u="none" spc="-45" dirty="0"/>
              <a:t> </a:t>
            </a:r>
            <a:r>
              <a:rPr u="none" dirty="0"/>
              <a:t>MVC</a:t>
            </a:r>
            <a:r>
              <a:rPr u="none" spc="-35" dirty="0"/>
              <a:t> </a:t>
            </a:r>
            <a:r>
              <a:rPr u="none" dirty="0"/>
              <a:t>HELPER</a:t>
            </a:r>
            <a:r>
              <a:rPr u="none" spc="-50" dirty="0"/>
              <a:t> </a:t>
            </a:r>
            <a:r>
              <a:rPr u="none" dirty="0"/>
              <a:t>-</a:t>
            </a:r>
            <a:r>
              <a:rPr u="none" spc="-45" dirty="0"/>
              <a:t> </a:t>
            </a:r>
            <a:r>
              <a:rPr u="none" dirty="0"/>
              <a:t>SINH</a:t>
            </a:r>
            <a:r>
              <a:rPr u="none" spc="-35" dirty="0"/>
              <a:t> </a:t>
            </a:r>
            <a:r>
              <a:rPr u="none" dirty="0"/>
              <a:t>GIAO</a:t>
            </a:r>
            <a:r>
              <a:rPr u="none" spc="25" dirty="0"/>
              <a:t> </a:t>
            </a:r>
            <a:r>
              <a:rPr u="none" spc="-20" dirty="0"/>
              <a:t>DIỆN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84044" y="996138"/>
            <a:ext cx="302641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2.8.</a:t>
            </a: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Mã</a:t>
            </a:r>
            <a:r>
              <a:rPr sz="2800" b="1" kern="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hóa</a:t>
            </a:r>
            <a:r>
              <a:rPr sz="2800" b="1" kern="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20" dirty="0">
                <a:solidFill>
                  <a:srgbClr val="C00000"/>
                </a:solidFill>
                <a:latin typeface="Arial"/>
                <a:cs typeface="Arial"/>
              </a:rPr>
              <a:t>HTML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4555" y="1665958"/>
            <a:ext cx="7732738" cy="48142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21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9235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spcBef>
                <a:spcPts val="105"/>
              </a:spcBef>
            </a:pPr>
            <a:r>
              <a:rPr u="none" dirty="0"/>
              <a:t>3.</a:t>
            </a:r>
            <a:r>
              <a:rPr u="none" spc="-60" dirty="0"/>
              <a:t> </a:t>
            </a:r>
            <a:r>
              <a:rPr u="none" dirty="0"/>
              <a:t>SINH</a:t>
            </a:r>
            <a:r>
              <a:rPr u="none" spc="-45" dirty="0"/>
              <a:t> </a:t>
            </a:r>
            <a:r>
              <a:rPr u="none" dirty="0"/>
              <a:t>GIAO</a:t>
            </a:r>
            <a:r>
              <a:rPr u="none" spc="10" dirty="0"/>
              <a:t> </a:t>
            </a:r>
            <a:r>
              <a:rPr u="none" dirty="0"/>
              <a:t>DIỆN</a:t>
            </a:r>
            <a:r>
              <a:rPr u="none" spc="-75" dirty="0"/>
              <a:t> </a:t>
            </a:r>
            <a:r>
              <a:rPr u="none" dirty="0"/>
              <a:t>THEO</a:t>
            </a:r>
            <a:r>
              <a:rPr u="none" spc="-25" dirty="0"/>
              <a:t> </a:t>
            </a:r>
            <a:r>
              <a:rPr u="none" spc="-10" dirty="0"/>
              <a:t>MODEL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84045" y="996138"/>
            <a:ext cx="412178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3.1.</a:t>
            </a: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Sinh</a:t>
            </a:r>
            <a:r>
              <a:rPr sz="2800" b="1" kern="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giao</a:t>
            </a:r>
            <a:r>
              <a:rPr sz="2800" b="1" kern="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diện</a:t>
            </a:r>
            <a:r>
              <a:rPr sz="2800" b="1" kern="0" spc="-20" dirty="0">
                <a:solidFill>
                  <a:srgbClr val="C00000"/>
                </a:solidFill>
                <a:latin typeface="Arial"/>
                <a:cs typeface="Arial"/>
              </a:rPr>
              <a:t> động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00" y="1524000"/>
            <a:ext cx="7834128" cy="49149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22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746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spcBef>
                <a:spcPts val="105"/>
              </a:spcBef>
            </a:pPr>
            <a:r>
              <a:rPr u="none" dirty="0"/>
              <a:t>3.</a:t>
            </a:r>
            <a:r>
              <a:rPr u="none" spc="-60" dirty="0"/>
              <a:t> </a:t>
            </a:r>
            <a:r>
              <a:rPr u="none" dirty="0"/>
              <a:t>SINH</a:t>
            </a:r>
            <a:r>
              <a:rPr u="none" spc="-45" dirty="0"/>
              <a:t> </a:t>
            </a:r>
            <a:r>
              <a:rPr u="none" dirty="0"/>
              <a:t>GIAO</a:t>
            </a:r>
            <a:r>
              <a:rPr u="none" spc="10" dirty="0"/>
              <a:t> </a:t>
            </a:r>
            <a:r>
              <a:rPr u="none" dirty="0"/>
              <a:t>DIỆN</a:t>
            </a:r>
            <a:r>
              <a:rPr u="none" spc="-75" dirty="0"/>
              <a:t> </a:t>
            </a:r>
            <a:r>
              <a:rPr u="none" dirty="0"/>
              <a:t>THEO</a:t>
            </a:r>
            <a:r>
              <a:rPr u="none" spc="-25" dirty="0"/>
              <a:t> </a:t>
            </a:r>
            <a:r>
              <a:rPr u="none" spc="-10" dirty="0"/>
              <a:t>MODEL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84044" y="996138"/>
            <a:ext cx="442849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3.2.</a:t>
            </a:r>
            <a:r>
              <a:rPr sz="2800" b="1" kern="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Sinh</a:t>
            </a:r>
            <a:r>
              <a:rPr sz="2800" b="1" kern="0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>
                <a:solidFill>
                  <a:srgbClr val="C00000"/>
                </a:solidFill>
                <a:latin typeface="Arial"/>
                <a:cs typeface="Arial"/>
              </a:rPr>
              <a:t>giao</a:t>
            </a:r>
            <a:r>
              <a:rPr sz="2800" b="1" kern="0" spc="-4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lang="en-US" sz="2800" b="1" kern="0">
                <a:solidFill>
                  <a:srgbClr val="C00000"/>
                </a:solidFill>
                <a:latin typeface="Arial"/>
                <a:cs typeface="Arial"/>
              </a:rPr>
              <a:t>ư</a:t>
            </a:r>
            <a:r>
              <a:rPr sz="2800" b="1" kern="0">
                <a:solidFill>
                  <a:srgbClr val="C00000"/>
                </a:solidFill>
                <a:latin typeface="Arial"/>
                <a:cs typeface="Arial"/>
              </a:rPr>
              <a:t>ờng</a:t>
            </a:r>
            <a:r>
              <a:rPr sz="2800" b="1" kern="0" spc="-4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20" dirty="0">
                <a:solidFill>
                  <a:srgbClr val="C00000"/>
                </a:solidFill>
                <a:latin typeface="Arial"/>
                <a:cs typeface="Arial"/>
              </a:rPr>
              <a:t>minh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7657" y="1479650"/>
            <a:ext cx="7898589" cy="502742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23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1708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spcBef>
                <a:spcPts val="105"/>
              </a:spcBef>
            </a:pPr>
            <a:r>
              <a:rPr u="none" dirty="0"/>
              <a:t>3.</a:t>
            </a:r>
            <a:r>
              <a:rPr u="none" spc="-60" dirty="0"/>
              <a:t> </a:t>
            </a:r>
            <a:r>
              <a:rPr u="none" dirty="0"/>
              <a:t>SINH</a:t>
            </a:r>
            <a:r>
              <a:rPr u="none" spc="-45" dirty="0"/>
              <a:t> </a:t>
            </a:r>
            <a:r>
              <a:rPr u="none" dirty="0"/>
              <a:t>GIAO</a:t>
            </a:r>
            <a:r>
              <a:rPr u="none" spc="10" dirty="0"/>
              <a:t> </a:t>
            </a:r>
            <a:r>
              <a:rPr u="none" dirty="0"/>
              <a:t>DIỆN</a:t>
            </a:r>
            <a:r>
              <a:rPr u="none" spc="-75" dirty="0"/>
              <a:t> </a:t>
            </a:r>
            <a:r>
              <a:rPr u="none" dirty="0"/>
              <a:t>THEO</a:t>
            </a:r>
            <a:r>
              <a:rPr u="none" spc="-25" dirty="0"/>
              <a:t> </a:t>
            </a:r>
            <a:r>
              <a:rPr u="none" spc="-10" dirty="0"/>
              <a:t>MODEL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84045" y="996138"/>
            <a:ext cx="152336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3.3.</a:t>
            </a:r>
            <a:r>
              <a:rPr sz="2800" b="1" kern="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20" dirty="0">
                <a:solidFill>
                  <a:srgbClr val="C00000"/>
                </a:solidFill>
                <a:latin typeface="Arial"/>
                <a:cs typeface="Arial"/>
              </a:rPr>
              <a:t>View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5437" y="1447801"/>
            <a:ext cx="7889099" cy="496809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24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325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spcBef>
                <a:spcPts val="105"/>
              </a:spcBef>
            </a:pPr>
            <a:r>
              <a:rPr u="none" dirty="0"/>
              <a:t>3.</a:t>
            </a:r>
            <a:r>
              <a:rPr u="none" spc="-60" dirty="0"/>
              <a:t> </a:t>
            </a:r>
            <a:r>
              <a:rPr u="none" dirty="0"/>
              <a:t>SINH</a:t>
            </a:r>
            <a:r>
              <a:rPr u="none" spc="-45" dirty="0"/>
              <a:t> </a:t>
            </a:r>
            <a:r>
              <a:rPr u="none" dirty="0"/>
              <a:t>GIAO</a:t>
            </a:r>
            <a:r>
              <a:rPr u="none" spc="10" dirty="0"/>
              <a:t> </a:t>
            </a:r>
            <a:r>
              <a:rPr u="none" dirty="0"/>
              <a:t>DIỆN</a:t>
            </a:r>
            <a:r>
              <a:rPr u="none" spc="-75" dirty="0"/>
              <a:t> </a:t>
            </a:r>
            <a:r>
              <a:rPr u="none" dirty="0"/>
              <a:t>THEO</a:t>
            </a:r>
            <a:r>
              <a:rPr u="none" spc="-25" dirty="0"/>
              <a:t> </a:t>
            </a:r>
            <a:r>
              <a:rPr u="none" spc="-10" dirty="0"/>
              <a:t>MODEL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84044" y="996138"/>
            <a:ext cx="504952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3.4.</a:t>
            </a: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Sinh</a:t>
            </a:r>
            <a:r>
              <a:rPr sz="2800" b="1" kern="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giao</a:t>
            </a:r>
            <a:r>
              <a:rPr sz="2800" b="1" kern="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diện</a:t>
            </a: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ngầm</a:t>
            </a:r>
            <a:r>
              <a:rPr sz="2800" b="1" kern="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20" dirty="0">
                <a:solidFill>
                  <a:srgbClr val="C00000"/>
                </a:solidFill>
                <a:latin typeface="Arial"/>
                <a:cs typeface="Arial"/>
              </a:rPr>
              <a:t>định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0308" y="1459380"/>
            <a:ext cx="7781912" cy="493319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25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94390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spcBef>
                <a:spcPts val="105"/>
              </a:spcBef>
            </a:pPr>
            <a:r>
              <a:rPr u="none" dirty="0"/>
              <a:t>3.</a:t>
            </a:r>
            <a:r>
              <a:rPr u="none" spc="-60" dirty="0"/>
              <a:t> </a:t>
            </a:r>
            <a:r>
              <a:rPr u="none" dirty="0"/>
              <a:t>SINH</a:t>
            </a:r>
            <a:r>
              <a:rPr u="none" spc="-45" dirty="0"/>
              <a:t> </a:t>
            </a:r>
            <a:r>
              <a:rPr u="none" dirty="0"/>
              <a:t>GIAO</a:t>
            </a:r>
            <a:r>
              <a:rPr u="none" spc="10" dirty="0"/>
              <a:t> </a:t>
            </a:r>
            <a:r>
              <a:rPr u="none" dirty="0"/>
              <a:t>DIỆN</a:t>
            </a:r>
            <a:r>
              <a:rPr u="none" spc="-75" dirty="0"/>
              <a:t> </a:t>
            </a:r>
            <a:r>
              <a:rPr u="none" dirty="0"/>
              <a:t>THEO</a:t>
            </a:r>
            <a:r>
              <a:rPr u="none" spc="-25" dirty="0"/>
              <a:t> </a:t>
            </a:r>
            <a:r>
              <a:rPr u="none" spc="-10" dirty="0"/>
              <a:t>MODEL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84044" y="996138"/>
            <a:ext cx="504952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3.4.</a:t>
            </a: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Sinh</a:t>
            </a:r>
            <a:r>
              <a:rPr sz="2800" b="1" kern="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giao</a:t>
            </a:r>
            <a:r>
              <a:rPr sz="2800" b="1" kern="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diện</a:t>
            </a: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ngầm</a:t>
            </a:r>
            <a:r>
              <a:rPr sz="2800" b="1" kern="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20" dirty="0">
                <a:solidFill>
                  <a:srgbClr val="C00000"/>
                </a:solidFill>
                <a:latin typeface="Arial"/>
                <a:cs typeface="Arial"/>
              </a:rPr>
              <a:t>định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35023" y="1524000"/>
            <a:ext cx="7952105" cy="4965700"/>
            <a:chOff x="811022" y="1524000"/>
            <a:chExt cx="7952105" cy="49657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1022" y="1524000"/>
              <a:ext cx="7951978" cy="49657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872224" y="3762375"/>
              <a:ext cx="1176655" cy="247650"/>
            </a:xfrm>
            <a:custGeom>
              <a:avLst/>
              <a:gdLst/>
              <a:ahLst/>
              <a:cxnLst/>
              <a:rect l="l" t="t" r="r" b="b"/>
              <a:pathLst>
                <a:path w="1176654" h="247650">
                  <a:moveTo>
                    <a:pt x="1176337" y="0"/>
                  </a:moveTo>
                  <a:lnTo>
                    <a:pt x="0" y="0"/>
                  </a:lnTo>
                  <a:lnTo>
                    <a:pt x="0" y="247650"/>
                  </a:lnTo>
                  <a:lnTo>
                    <a:pt x="1176337" y="247650"/>
                  </a:lnTo>
                  <a:lnTo>
                    <a:pt x="11763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26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61816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spcBef>
                <a:spcPts val="105"/>
              </a:spcBef>
            </a:pPr>
            <a:r>
              <a:rPr u="none" dirty="0"/>
              <a:t>3.</a:t>
            </a:r>
            <a:r>
              <a:rPr u="none" spc="-60" dirty="0"/>
              <a:t> </a:t>
            </a:r>
            <a:r>
              <a:rPr u="none" dirty="0"/>
              <a:t>SINH</a:t>
            </a:r>
            <a:r>
              <a:rPr u="none" spc="-45" dirty="0"/>
              <a:t> </a:t>
            </a:r>
            <a:r>
              <a:rPr u="none" dirty="0"/>
              <a:t>GIAO</a:t>
            </a:r>
            <a:r>
              <a:rPr u="none" spc="10" dirty="0"/>
              <a:t> </a:t>
            </a:r>
            <a:r>
              <a:rPr u="none" dirty="0"/>
              <a:t>DIỆN</a:t>
            </a:r>
            <a:r>
              <a:rPr u="none" spc="-75" dirty="0"/>
              <a:t> </a:t>
            </a:r>
            <a:r>
              <a:rPr u="none" dirty="0"/>
              <a:t>THEO</a:t>
            </a:r>
            <a:r>
              <a:rPr u="none" spc="-25" dirty="0"/>
              <a:t> </a:t>
            </a:r>
            <a:r>
              <a:rPr u="none" spc="-10" dirty="0"/>
              <a:t>MODEL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84044" y="996138"/>
            <a:ext cx="285623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3.5.</a:t>
            </a:r>
            <a:r>
              <a:rPr sz="2800" b="1" kern="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Kiểu</a:t>
            </a:r>
            <a:r>
              <a:rPr sz="2800" b="1" kern="0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10" dirty="0">
                <a:solidFill>
                  <a:srgbClr val="C00000"/>
                </a:solidFill>
                <a:latin typeface="Arial"/>
                <a:cs typeface="Arial"/>
              </a:rPr>
              <a:t>Control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8078" y="1428230"/>
            <a:ext cx="7860283" cy="498005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27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2039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spcBef>
                <a:spcPts val="105"/>
              </a:spcBef>
            </a:pPr>
            <a:r>
              <a:rPr u="none" dirty="0"/>
              <a:t>3.</a:t>
            </a:r>
            <a:r>
              <a:rPr u="none" spc="-60" dirty="0"/>
              <a:t> </a:t>
            </a:r>
            <a:r>
              <a:rPr u="none" dirty="0"/>
              <a:t>SINH</a:t>
            </a:r>
            <a:r>
              <a:rPr u="none" spc="-45" dirty="0"/>
              <a:t> </a:t>
            </a:r>
            <a:r>
              <a:rPr u="none" dirty="0"/>
              <a:t>GIAO</a:t>
            </a:r>
            <a:r>
              <a:rPr u="none" spc="10" dirty="0"/>
              <a:t> </a:t>
            </a:r>
            <a:r>
              <a:rPr u="none" dirty="0"/>
              <a:t>DIỆN</a:t>
            </a:r>
            <a:r>
              <a:rPr u="none" spc="-75" dirty="0"/>
              <a:t> </a:t>
            </a:r>
            <a:r>
              <a:rPr u="none" dirty="0"/>
              <a:t>THEO</a:t>
            </a:r>
            <a:r>
              <a:rPr u="none" spc="-25" dirty="0"/>
              <a:t> </a:t>
            </a:r>
            <a:r>
              <a:rPr u="none" spc="-10" dirty="0"/>
              <a:t>MODEL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84045" y="996138"/>
            <a:ext cx="364172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3.6.</a:t>
            </a: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Hiển</a:t>
            </a:r>
            <a:r>
              <a:rPr sz="2800" b="1" kern="0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thị</a:t>
            </a:r>
            <a:r>
              <a:rPr sz="2800" b="1" kern="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thông</a:t>
            </a:r>
            <a:r>
              <a:rPr sz="2800" b="1" kern="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tin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2493" y="1589402"/>
            <a:ext cx="7659089" cy="461875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28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0973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spcBef>
                <a:spcPts val="105"/>
              </a:spcBef>
            </a:pPr>
            <a:r>
              <a:rPr u="none" dirty="0"/>
              <a:t>4.</a:t>
            </a:r>
            <a:r>
              <a:rPr u="none" spc="-75" dirty="0"/>
              <a:t> </a:t>
            </a:r>
            <a:r>
              <a:rPr u="none" dirty="0"/>
              <a:t>CUSTOM</a:t>
            </a:r>
            <a:r>
              <a:rPr u="none" spc="-55" dirty="0"/>
              <a:t> </a:t>
            </a:r>
            <a:r>
              <a:rPr u="none" spc="-10" dirty="0"/>
              <a:t>HELPER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200" y="2542795"/>
            <a:ext cx="6411202" cy="29055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081885" y="1015061"/>
            <a:ext cx="8133080" cy="127698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55600" marR="5080" indent="-343535">
              <a:spcBef>
                <a:spcPts val="115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Bên</a:t>
            </a:r>
            <a:r>
              <a:rPr sz="2400" kern="0" spc="1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cạnh</a:t>
            </a:r>
            <a:r>
              <a:rPr sz="2400" kern="0" spc="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</a:t>
            </a:r>
            <a:r>
              <a:rPr sz="2400" kern="0" spc="1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helper</a:t>
            </a:r>
            <a:r>
              <a:rPr sz="2400" kern="0" spc="1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dựng</a:t>
            </a:r>
            <a:r>
              <a:rPr sz="2400" kern="0" spc="1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sẵn,</a:t>
            </a:r>
            <a:r>
              <a:rPr sz="2400" kern="0" spc="11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bạn</a:t>
            </a:r>
            <a:r>
              <a:rPr sz="2400" kern="0" spc="1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có</a:t>
            </a:r>
            <a:r>
              <a:rPr sz="2400" kern="0" spc="1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thể</a:t>
            </a:r>
            <a:r>
              <a:rPr sz="2400" kern="0" spc="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tạo</a:t>
            </a:r>
            <a:r>
              <a:rPr sz="2400" kern="0" spc="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cho</a:t>
            </a:r>
            <a:r>
              <a:rPr sz="2400" kern="0" spc="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mình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helper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có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mục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đích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cho riêng</a:t>
            </a:r>
            <a:r>
              <a:rPr sz="2400" kern="0" spc="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mình.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355600" indent="-342900">
              <a:spcBef>
                <a:spcPts val="1190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Trong</a:t>
            </a:r>
            <a:r>
              <a:rPr sz="2400" kern="0" spc="-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MVC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có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3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phương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pháp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tạo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helper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tùy</a:t>
            </a:r>
            <a:r>
              <a:rPr sz="2400" kern="0" spc="-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biến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29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8086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2091268" y="370459"/>
            <a:ext cx="1105746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spcBef>
                <a:spcPts val="105"/>
              </a:spcBef>
            </a:pPr>
            <a:r>
              <a:rPr u="none" dirty="0"/>
              <a:t>4.</a:t>
            </a:r>
            <a:r>
              <a:rPr u="none" spc="-75" dirty="0"/>
              <a:t> </a:t>
            </a:r>
            <a:r>
              <a:rPr u="none" dirty="0"/>
              <a:t>CUSTOM</a:t>
            </a:r>
            <a:r>
              <a:rPr u="none" spc="-55" dirty="0"/>
              <a:t> </a:t>
            </a:r>
            <a:r>
              <a:rPr u="none" spc="-10" dirty="0"/>
              <a:t>HELPER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49272" y="969340"/>
            <a:ext cx="322326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4.1</a:t>
            </a:r>
            <a:r>
              <a:rPr sz="2400" b="1" kern="0">
                <a:solidFill>
                  <a:srgbClr val="C00000"/>
                </a:solidFill>
                <a:latin typeface="Arial"/>
                <a:cs typeface="Arial"/>
              </a:rPr>
              <a:t>.</a:t>
            </a:r>
            <a:r>
              <a:rPr sz="2400" b="1" kern="0" spc="-2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>
                <a:solidFill>
                  <a:srgbClr val="C00000"/>
                </a:solidFill>
                <a:latin typeface="Arial"/>
                <a:cs typeface="Arial"/>
              </a:rPr>
              <a:t>Ph</a:t>
            </a:r>
            <a:r>
              <a:rPr lang="vi-VN" sz="2400" b="1" kern="0">
                <a:solidFill>
                  <a:srgbClr val="C00000"/>
                </a:solidFill>
                <a:cs typeface="Arial"/>
              </a:rPr>
              <a:t>ươ</a:t>
            </a:r>
            <a:r>
              <a:rPr sz="2400" b="1" kern="0">
                <a:solidFill>
                  <a:srgbClr val="C00000"/>
                </a:solidFill>
                <a:latin typeface="Arial"/>
                <a:cs typeface="Arial"/>
              </a:rPr>
              <a:t>ng</a:t>
            </a:r>
            <a:r>
              <a:rPr sz="2400" b="1" kern="0" spc="-14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thức</a:t>
            </a:r>
            <a:r>
              <a:rPr sz="2400" b="1" kern="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C00000"/>
                </a:solidFill>
                <a:latin typeface="Arial"/>
                <a:cs typeface="Arial"/>
              </a:rPr>
              <a:t>tĩnh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6559" y="1418464"/>
            <a:ext cx="7878953" cy="493598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30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1455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2091268" y="370459"/>
            <a:ext cx="1105746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spcBef>
                <a:spcPts val="105"/>
              </a:spcBef>
            </a:pPr>
            <a:r>
              <a:rPr u="none" dirty="0"/>
              <a:t>4.</a:t>
            </a:r>
            <a:r>
              <a:rPr u="none" spc="-75" dirty="0"/>
              <a:t> </a:t>
            </a:r>
            <a:r>
              <a:rPr u="none" dirty="0"/>
              <a:t>CUSTOM</a:t>
            </a:r>
            <a:r>
              <a:rPr u="none" spc="-55" dirty="0"/>
              <a:t> </a:t>
            </a:r>
            <a:r>
              <a:rPr u="none" spc="-10" dirty="0"/>
              <a:t>HELPER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49273" y="969340"/>
            <a:ext cx="3745229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4.2.</a:t>
            </a:r>
            <a:r>
              <a:rPr sz="2400" b="1" kern="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HTML</a:t>
            </a:r>
            <a:r>
              <a:rPr sz="2400" b="1" kern="0" spc="-1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Helper</a:t>
            </a:r>
            <a:r>
              <a:rPr sz="2400" b="1" kern="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tùy</a:t>
            </a:r>
            <a:r>
              <a:rPr sz="2400" b="1" kern="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C00000"/>
                </a:solidFill>
                <a:latin typeface="Arial"/>
                <a:cs typeface="Arial"/>
              </a:rPr>
              <a:t>biến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3009" y="1511667"/>
            <a:ext cx="6266347" cy="287296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31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2279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2091268" y="370459"/>
            <a:ext cx="1105746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spcBef>
                <a:spcPts val="105"/>
              </a:spcBef>
            </a:pPr>
            <a:r>
              <a:rPr u="none" dirty="0"/>
              <a:t>4.</a:t>
            </a:r>
            <a:r>
              <a:rPr u="none" spc="-75" dirty="0"/>
              <a:t> </a:t>
            </a:r>
            <a:r>
              <a:rPr u="none" dirty="0"/>
              <a:t>CUSTOM</a:t>
            </a:r>
            <a:r>
              <a:rPr u="none" spc="-55" dirty="0"/>
              <a:t> </a:t>
            </a:r>
            <a:r>
              <a:rPr u="none" spc="-10" dirty="0"/>
              <a:t>HELPER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49273" y="969340"/>
            <a:ext cx="381063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4.3.</a:t>
            </a:r>
            <a:r>
              <a:rPr sz="2400" b="1" kern="0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Mở</a:t>
            </a:r>
            <a:r>
              <a:rPr sz="2400" b="1" kern="0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rộng</a:t>
            </a:r>
            <a:r>
              <a:rPr sz="2400" b="1" kern="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HTML</a:t>
            </a:r>
            <a:r>
              <a:rPr sz="2400" b="1" kern="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C00000"/>
                </a:solidFill>
                <a:latin typeface="Arial"/>
                <a:cs typeface="Arial"/>
              </a:rPr>
              <a:t>Helper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0377" y="1425603"/>
            <a:ext cx="7538841" cy="475229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32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5437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2091268" y="370459"/>
            <a:ext cx="1105746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spcBef>
                <a:spcPts val="105"/>
              </a:spcBef>
            </a:pPr>
            <a:r>
              <a:rPr u="none" dirty="0"/>
              <a:t>4.</a:t>
            </a:r>
            <a:r>
              <a:rPr u="none" spc="-75" dirty="0"/>
              <a:t> </a:t>
            </a:r>
            <a:r>
              <a:rPr u="none" dirty="0"/>
              <a:t>CUSTOM</a:t>
            </a:r>
            <a:r>
              <a:rPr u="none" spc="-55" dirty="0"/>
              <a:t> </a:t>
            </a:r>
            <a:r>
              <a:rPr u="none" spc="-10" dirty="0"/>
              <a:t>HELPER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49273" y="969340"/>
            <a:ext cx="381063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4.3.</a:t>
            </a:r>
            <a:r>
              <a:rPr sz="2400" b="1" kern="0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Mở</a:t>
            </a:r>
            <a:r>
              <a:rPr sz="2400" b="1" kern="0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rộng</a:t>
            </a:r>
            <a:r>
              <a:rPr sz="2400" b="1" kern="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HTML</a:t>
            </a:r>
            <a:r>
              <a:rPr sz="2400" b="1" kern="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C00000"/>
                </a:solidFill>
                <a:latin typeface="Arial"/>
                <a:cs typeface="Arial"/>
              </a:rPr>
              <a:t>Helper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3394" y="1347469"/>
            <a:ext cx="7666990" cy="486283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33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4994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2091268" y="370459"/>
            <a:ext cx="1105746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spcBef>
                <a:spcPts val="105"/>
              </a:spcBef>
            </a:pPr>
            <a:r>
              <a:rPr u="none" dirty="0"/>
              <a:t>4.</a:t>
            </a:r>
            <a:r>
              <a:rPr u="none" spc="-75" dirty="0"/>
              <a:t> </a:t>
            </a:r>
            <a:r>
              <a:rPr u="none" dirty="0"/>
              <a:t>CUSTOM</a:t>
            </a:r>
            <a:r>
              <a:rPr u="none" spc="-55" dirty="0"/>
              <a:t> </a:t>
            </a:r>
            <a:r>
              <a:rPr u="none" spc="-10" dirty="0"/>
              <a:t>HELPER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49273" y="969340"/>
            <a:ext cx="290512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4.4.</a:t>
            </a:r>
            <a:r>
              <a:rPr sz="2400" b="1" kern="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Sử</a:t>
            </a:r>
            <a:r>
              <a:rPr sz="2400" b="1" kern="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dụng</a:t>
            </a:r>
            <a:r>
              <a:rPr sz="2400" b="1" kern="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C00000"/>
                </a:solidFill>
                <a:latin typeface="Arial"/>
                <a:cs typeface="Arial"/>
              </a:rPr>
              <a:t>Helper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7218" y="1447801"/>
            <a:ext cx="7247769" cy="45193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34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0996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2091268" y="370459"/>
            <a:ext cx="1105746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spcBef>
                <a:spcPts val="105"/>
              </a:spcBef>
            </a:pPr>
            <a:r>
              <a:rPr u="none" dirty="0"/>
              <a:t>4.</a:t>
            </a:r>
            <a:r>
              <a:rPr u="none" spc="-75" dirty="0"/>
              <a:t> </a:t>
            </a:r>
            <a:r>
              <a:rPr u="none" dirty="0"/>
              <a:t>CUSTOM</a:t>
            </a:r>
            <a:r>
              <a:rPr u="none" spc="-55" dirty="0"/>
              <a:t> </a:t>
            </a:r>
            <a:r>
              <a:rPr u="none" spc="-10" dirty="0"/>
              <a:t>HELPER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49273" y="969340"/>
            <a:ext cx="320230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4.5.</a:t>
            </a:r>
            <a:r>
              <a:rPr sz="2400" b="1" kern="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Sử</a:t>
            </a:r>
            <a:r>
              <a:rPr sz="2400" b="1" kern="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dụng</a:t>
            </a:r>
            <a:r>
              <a:rPr sz="2400" b="1" kern="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C00000"/>
                </a:solidFill>
                <a:latin typeface="Arial"/>
                <a:cs typeface="Arial"/>
              </a:rPr>
              <a:t>@Helper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0742" y="1447800"/>
            <a:ext cx="7877048" cy="49911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35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54652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71676" y="6567487"/>
            <a:ext cx="8315325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5</a:t>
            </a:r>
            <a:r>
              <a:rPr/>
              <a:t>.</a:t>
            </a:r>
            <a:r>
              <a:rPr spc="-95"/>
              <a:t> </a:t>
            </a:r>
            <a:r>
              <a:rPr smtClean="0"/>
              <a:t>V</a:t>
            </a:r>
            <a:r>
              <a:rPr lang="en-US" smtClean="0"/>
              <a:t>iewBag</a:t>
            </a:r>
            <a:r>
              <a:rPr smtClean="0"/>
              <a:t>,</a:t>
            </a:r>
            <a:r>
              <a:rPr lang="en-US" smtClean="0"/>
              <a:t> </a:t>
            </a:r>
            <a:r>
              <a:rPr lang="en-US"/>
              <a:t>ViewData, TempData, </a:t>
            </a:r>
            <a:r>
              <a:rPr lang="en-US" smtClean="0"/>
              <a:t>Model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2083409" y="967344"/>
            <a:ext cx="8129270" cy="1123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95"/>
              </a:spcBef>
            </a:pPr>
            <a:r>
              <a:rPr sz="2400" kern="0" smtClean="0">
                <a:solidFill>
                  <a:srgbClr val="C00000"/>
                </a:solidFill>
                <a:latin typeface="Microsoft Sans Serif"/>
                <a:cs typeface="Microsoft Sans Serif"/>
              </a:rPr>
              <a:t>ViewBag/ViewData</a:t>
            </a:r>
            <a:r>
              <a:rPr lang="en-US" sz="2400" kern="0">
                <a:solidFill>
                  <a:srgbClr val="C00000"/>
                </a:solidFill>
                <a:latin typeface="Microsoft Sans Serif"/>
                <a:cs typeface="Microsoft Sans Serif"/>
              </a:rPr>
              <a:t>/TempData</a:t>
            </a:r>
            <a:r>
              <a:rPr sz="2400" kern="0" spc="210" smtClean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</a:t>
            </a:r>
            <a:r>
              <a:rPr sz="2400" kern="0" spc="20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C00000"/>
                </a:solidFill>
                <a:latin typeface="Microsoft Sans Serif"/>
                <a:cs typeface="Microsoft Sans Serif"/>
              </a:rPr>
              <a:t>Model</a:t>
            </a:r>
            <a:r>
              <a:rPr sz="2400" kern="0" spc="21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1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được</a:t>
            </a:r>
            <a:r>
              <a:rPr sz="2400" kern="0" spc="1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</a:t>
            </a:r>
            <a:r>
              <a:rPr sz="2400" kern="0" spc="1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</a:t>
            </a:r>
            <a:r>
              <a:rPr sz="2400" kern="0" spc="2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1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chia</a:t>
            </a:r>
            <a:r>
              <a:rPr sz="2400" kern="0" spc="1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sẻ</a:t>
            </a:r>
            <a:r>
              <a:rPr sz="2400" kern="0" spc="1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dữ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liệu </a:t>
            </a:r>
            <a:r>
              <a:rPr sz="2400" kern="0" spc="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giữa</a:t>
            </a:r>
            <a:r>
              <a:rPr sz="2400" kern="0" spc="-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Controller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View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9889" y="2404111"/>
            <a:ext cx="6755130" cy="366902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36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457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71676" y="6567487"/>
            <a:ext cx="8315325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lang="it-IT"/>
              <a:t>5.</a:t>
            </a:r>
            <a:r>
              <a:rPr lang="it-IT" spc="-95"/>
              <a:t> </a:t>
            </a:r>
            <a:r>
              <a:rPr lang="it-IT"/>
              <a:t>ViewBag, ViewData, TempData, Model</a:t>
            </a:r>
            <a:endParaRPr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4604" y="2895600"/>
            <a:ext cx="7151370" cy="34671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83408" y="1052307"/>
            <a:ext cx="9232291" cy="1691488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spcBef>
                <a:spcPts val="869"/>
              </a:spcBef>
            </a:pPr>
            <a:r>
              <a:rPr sz="2400" b="1" kern="0" spc="-10" dirty="0">
                <a:solidFill>
                  <a:srgbClr val="C00000"/>
                </a:solidFill>
                <a:latin typeface="Arial"/>
                <a:cs typeface="Arial"/>
              </a:rPr>
              <a:t>ViewBag/ViewData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435609" marR="5080" algn="just">
              <a:spcBef>
                <a:spcPts val="770"/>
              </a:spcBef>
            </a:pPr>
            <a:r>
              <a:rPr sz="2400" kern="0" smtClea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</a:t>
            </a:r>
            <a:r>
              <a:rPr sz="2400" kern="0" spc="120" smtClea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ược</a:t>
            </a:r>
            <a:r>
              <a:rPr sz="2400" kern="0" spc="285" smtClea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</a:t>
            </a:r>
            <a:r>
              <a:rPr sz="2400" kern="0" spc="30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</a:t>
            </a:r>
            <a:r>
              <a:rPr sz="2400" kern="0" spc="2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25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truyền</a:t>
            </a:r>
            <a:r>
              <a:rPr sz="2400" kern="0" spc="3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dữ</a:t>
            </a:r>
            <a:r>
              <a:rPr sz="2400" kern="0" spc="30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liệu</a:t>
            </a:r>
            <a:r>
              <a:rPr sz="2400" kern="0" spc="2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từ</a:t>
            </a:r>
            <a:r>
              <a:rPr sz="2400" kern="0" spc="2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Controller</a:t>
            </a:r>
            <a:r>
              <a:rPr sz="2400" kern="0" spc="2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sang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View.</a:t>
            </a:r>
            <a:r>
              <a:rPr sz="2400" kern="0" spc="1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View</a:t>
            </a:r>
            <a:r>
              <a:rPr sz="2400" kern="0" spc="1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sẽ</a:t>
            </a:r>
            <a:r>
              <a:rPr sz="2400" kern="0" spc="1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</a:t>
            </a:r>
            <a:r>
              <a:rPr sz="2400" kern="0" spc="1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</a:t>
            </a:r>
            <a:r>
              <a:rPr sz="2400" kern="0" spc="20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lang="en-US" sz="2400" kern="0" spc="200" smtClea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dữ liệu </a:t>
            </a:r>
            <a:r>
              <a:rPr sz="2400" kern="0" smtClea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160" smtClea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xây</a:t>
            </a:r>
            <a:r>
              <a:rPr sz="2400" kern="0" spc="1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dựng</a:t>
            </a:r>
            <a:r>
              <a:rPr sz="2400" kern="0" spc="1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giao</a:t>
            </a:r>
            <a:r>
              <a:rPr sz="2400" kern="0" spc="1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diện</a:t>
            </a:r>
            <a:r>
              <a:rPr sz="2400" kern="0" spc="1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phù</a:t>
            </a:r>
            <a:r>
              <a:rPr sz="2400" kern="0" spc="1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hợp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trả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lại</a:t>
            </a:r>
            <a:r>
              <a:rPr sz="2400" kern="0" spc="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cho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9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người</a:t>
            </a:r>
            <a:r>
              <a:rPr sz="2400" kern="0" spc="15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smtClea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dùng</a:t>
            </a:r>
            <a:r>
              <a:rPr lang="en-US" sz="2400" kern="0" spc="-2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và </a:t>
            </a:r>
            <a:r>
              <a:rPr lang="en-US" sz="2400" b="1" i="1" kern="0" spc="-20" smtClea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chỉ </a:t>
            </a:r>
            <a:r>
              <a:rPr lang="en-US" sz="2400" b="1" i="1" kern="0" spc="-2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tồn tại trong 1 </a:t>
            </a:r>
            <a:r>
              <a:rPr lang="en-US" sz="2400" b="1" i="1" kern="0" spc="-20" smtClea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request.</a:t>
            </a:r>
            <a:endParaRPr sz="2400" b="1" i="1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37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0054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71676" y="6567487"/>
            <a:ext cx="8315325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lang="it-IT"/>
              <a:t>5.</a:t>
            </a:r>
            <a:r>
              <a:rPr lang="it-IT" spc="-95"/>
              <a:t> </a:t>
            </a:r>
            <a:r>
              <a:rPr lang="it-IT"/>
              <a:t>ViewBag, ViewData, TempData, Model</a:t>
            </a:r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2083408" y="1052307"/>
            <a:ext cx="9232291" cy="1691488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spcBef>
                <a:spcPts val="869"/>
              </a:spcBef>
            </a:pPr>
            <a:r>
              <a:rPr lang="en-US" sz="2400" b="1" kern="0" spc="-10" smtClean="0">
                <a:solidFill>
                  <a:srgbClr val="C00000"/>
                </a:solidFill>
                <a:latin typeface="Arial"/>
                <a:cs typeface="Arial"/>
              </a:rPr>
              <a:t>Temp</a:t>
            </a:r>
            <a:r>
              <a:rPr sz="2400" b="1" kern="0" spc="-10" smtClean="0">
                <a:solidFill>
                  <a:srgbClr val="C00000"/>
                </a:solidFill>
                <a:latin typeface="Arial"/>
                <a:cs typeface="Arial"/>
              </a:rPr>
              <a:t>Data</a:t>
            </a:r>
            <a:r>
              <a:rPr lang="en-US" sz="2400" b="1" kern="0" spc="-10" smtClean="0">
                <a:solidFill>
                  <a:srgbClr val="C00000"/>
                </a:solidFill>
                <a:latin typeface="Arial"/>
                <a:cs typeface="Arial"/>
              </a:rPr>
              <a:t>: 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435609" marR="5080" algn="just">
              <a:spcBef>
                <a:spcPts val="770"/>
              </a:spcBef>
            </a:pPr>
            <a:r>
              <a:rPr sz="2400" kern="0" smtClea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</a:t>
            </a:r>
            <a:r>
              <a:rPr sz="2400" kern="0" spc="120" smtClea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ược</a:t>
            </a:r>
            <a:r>
              <a:rPr sz="2400" kern="0" spc="285" smtClea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</a:t>
            </a:r>
            <a:r>
              <a:rPr sz="2400" kern="0" spc="30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</a:t>
            </a:r>
            <a:r>
              <a:rPr sz="2400" kern="0" spc="2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25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truyền</a:t>
            </a:r>
            <a:r>
              <a:rPr sz="2400" kern="0" spc="3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dữ</a:t>
            </a:r>
            <a:r>
              <a:rPr sz="2400" kern="0" spc="30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liệu</a:t>
            </a:r>
            <a:r>
              <a:rPr sz="2400" kern="0" spc="2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từ</a:t>
            </a:r>
            <a:r>
              <a:rPr sz="2400" kern="0" spc="2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Controller</a:t>
            </a:r>
            <a:r>
              <a:rPr sz="2400" kern="0" spc="2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sang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View.</a:t>
            </a:r>
            <a:r>
              <a:rPr sz="2400" kern="0" spc="1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View</a:t>
            </a:r>
            <a:r>
              <a:rPr sz="2400" kern="0" spc="1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sẽ</a:t>
            </a:r>
            <a:r>
              <a:rPr sz="2400" kern="0" spc="1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</a:t>
            </a:r>
            <a:r>
              <a:rPr sz="2400" kern="0" spc="1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</a:t>
            </a:r>
            <a:r>
              <a:rPr sz="2400" kern="0" spc="20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lang="en-US" sz="2400" kern="0" spc="200" smtClea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dữ liệu </a:t>
            </a:r>
            <a:r>
              <a:rPr sz="2400" kern="0" smtClea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160" smtClea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xây</a:t>
            </a:r>
            <a:r>
              <a:rPr sz="2400" kern="0" spc="1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dựng</a:t>
            </a:r>
            <a:r>
              <a:rPr sz="2400" kern="0" spc="1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giao</a:t>
            </a:r>
            <a:r>
              <a:rPr sz="2400" kern="0" spc="1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diện</a:t>
            </a:r>
            <a:r>
              <a:rPr sz="2400" kern="0" spc="1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phù</a:t>
            </a:r>
            <a:r>
              <a:rPr sz="2400" kern="0" spc="1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hợp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trả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lại</a:t>
            </a:r>
            <a:r>
              <a:rPr sz="2400" kern="0" spc="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cho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9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người</a:t>
            </a:r>
            <a:r>
              <a:rPr sz="2400" kern="0" spc="15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smtClea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dùng</a:t>
            </a:r>
            <a:r>
              <a:rPr lang="en-US" sz="2400" kern="0" spc="-2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và </a:t>
            </a:r>
            <a:r>
              <a:rPr lang="fr-FR" sz="2400" b="1" i="1" kern="0" spc="-20" smtClea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lưu </a:t>
            </a:r>
            <a:r>
              <a:rPr lang="fr-FR" sz="2400" b="1" i="1" kern="0" spc="-2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dữ liệu qua nhiều request (Session-based</a:t>
            </a:r>
            <a:r>
              <a:rPr lang="fr-FR" sz="2400" kern="0" spc="-20" smtClea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).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38</a:t>
            </a:fld>
            <a:endParaRPr spc="-25" dirty="0">
              <a:solidFill>
                <a:prstClr val="white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408" y="2622479"/>
            <a:ext cx="6336315" cy="27441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1" y="2622479"/>
            <a:ext cx="3695698" cy="232335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2368" y="5156973"/>
            <a:ext cx="5979081" cy="141051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069" y="3909604"/>
            <a:ext cx="1988482" cy="36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6053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71676" y="6567487"/>
            <a:ext cx="8315325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lang="it-IT"/>
              <a:t>5.</a:t>
            </a:r>
            <a:r>
              <a:rPr lang="it-IT" spc="-95"/>
              <a:t> </a:t>
            </a:r>
            <a:r>
              <a:rPr lang="it-IT"/>
              <a:t>ViewBag, ViewData, TempData, Model</a:t>
            </a:r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2083408" y="1052307"/>
            <a:ext cx="9232291" cy="1691488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spcBef>
                <a:spcPts val="869"/>
              </a:spcBef>
            </a:pPr>
            <a:r>
              <a:rPr lang="en-US" sz="2400" b="1" kern="0" spc="-10" smtClean="0">
                <a:solidFill>
                  <a:srgbClr val="C00000"/>
                </a:solidFill>
                <a:latin typeface="Arial"/>
                <a:cs typeface="Arial"/>
              </a:rPr>
              <a:t>Temp</a:t>
            </a:r>
            <a:r>
              <a:rPr sz="2400" b="1" kern="0" spc="-10" smtClean="0">
                <a:solidFill>
                  <a:srgbClr val="C00000"/>
                </a:solidFill>
                <a:latin typeface="Arial"/>
                <a:cs typeface="Arial"/>
              </a:rPr>
              <a:t>Data</a:t>
            </a:r>
            <a:r>
              <a:rPr lang="en-US" sz="2400" b="1" kern="0" spc="-10" smtClean="0">
                <a:solidFill>
                  <a:srgbClr val="C00000"/>
                </a:solidFill>
                <a:latin typeface="Arial"/>
                <a:cs typeface="Arial"/>
              </a:rPr>
              <a:t>: 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435609" marR="5080" algn="just">
              <a:spcBef>
                <a:spcPts val="770"/>
              </a:spcBef>
            </a:pPr>
            <a:r>
              <a:rPr lang="vi-VN" sz="2400" kern="0" smtClea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Cách </a:t>
            </a:r>
            <a:r>
              <a:rPr lang="vi-VN" sz="2400" ker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khác đó là tạo một thuộc tính cho Controller và gán cho nó Attribute TempData sau đó sử dụng thuộc tính đó để lưu </a:t>
            </a:r>
            <a:r>
              <a:rPr lang="vi-VN" sz="2400" kern="0" smtClea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message</a:t>
            </a:r>
            <a:r>
              <a:rPr lang="fr-FR" sz="2400" kern="0" spc="-20" smtClea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39</a:t>
            </a:fld>
            <a:endParaRPr spc="-25" dirty="0">
              <a:solidFill>
                <a:prstClr val="white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653" y="2899397"/>
            <a:ext cx="6238394" cy="246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4147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71676" y="6567487"/>
            <a:ext cx="8315325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lang="it-IT"/>
              <a:t>5.</a:t>
            </a:r>
            <a:r>
              <a:rPr lang="it-IT" spc="-95"/>
              <a:t> </a:t>
            </a:r>
            <a:r>
              <a:rPr lang="it-IT"/>
              <a:t>ViewBag, ViewData, TempData, Model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2083410" y="1148283"/>
            <a:ext cx="91503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spc="-10" dirty="0">
                <a:solidFill>
                  <a:srgbClr val="C00000"/>
                </a:solidFill>
                <a:latin typeface="Arial"/>
                <a:cs typeface="Arial"/>
              </a:rPr>
              <a:t>Model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3016" y="1600200"/>
            <a:ext cx="7777733" cy="477215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40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4571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63500" y="69850"/>
              <a:ext cx="9013825" cy="6692900"/>
            </a:xfrm>
            <a:custGeom>
              <a:avLst/>
              <a:gdLst/>
              <a:ahLst/>
              <a:cxnLst/>
              <a:rect l="l" t="t" r="r" b="b"/>
              <a:pathLst>
                <a:path w="9013825" h="6692900">
                  <a:moveTo>
                    <a:pt x="0" y="329946"/>
                  </a:moveTo>
                  <a:lnTo>
                    <a:pt x="3576" y="281184"/>
                  </a:lnTo>
                  <a:lnTo>
                    <a:pt x="13967" y="234645"/>
                  </a:lnTo>
                  <a:lnTo>
                    <a:pt x="30661" y="190840"/>
                  </a:lnTo>
                  <a:lnTo>
                    <a:pt x="53148" y="150277"/>
                  </a:lnTo>
                  <a:lnTo>
                    <a:pt x="80918" y="113468"/>
                  </a:lnTo>
                  <a:lnTo>
                    <a:pt x="113460" y="80923"/>
                  </a:lnTo>
                  <a:lnTo>
                    <a:pt x="150264" y="53151"/>
                  </a:lnTo>
                  <a:lnTo>
                    <a:pt x="190820" y="30662"/>
                  </a:lnTo>
                  <a:lnTo>
                    <a:pt x="234617" y="13967"/>
                  </a:lnTo>
                  <a:lnTo>
                    <a:pt x="281146" y="3576"/>
                  </a:lnTo>
                  <a:lnTo>
                    <a:pt x="329895" y="0"/>
                  </a:lnTo>
                  <a:lnTo>
                    <a:pt x="8683879" y="0"/>
                  </a:lnTo>
                  <a:lnTo>
                    <a:pt x="8732640" y="3576"/>
                  </a:lnTo>
                  <a:lnTo>
                    <a:pt x="8779179" y="13967"/>
                  </a:lnTo>
                  <a:lnTo>
                    <a:pt x="8822984" y="30662"/>
                  </a:lnTo>
                  <a:lnTo>
                    <a:pt x="8863547" y="53151"/>
                  </a:lnTo>
                  <a:lnTo>
                    <a:pt x="8900356" y="80923"/>
                  </a:lnTo>
                  <a:lnTo>
                    <a:pt x="8932901" y="113468"/>
                  </a:lnTo>
                  <a:lnTo>
                    <a:pt x="8960673" y="150277"/>
                  </a:lnTo>
                  <a:lnTo>
                    <a:pt x="8983162" y="190840"/>
                  </a:lnTo>
                  <a:lnTo>
                    <a:pt x="8999857" y="234645"/>
                  </a:lnTo>
                  <a:lnTo>
                    <a:pt x="9010248" y="281184"/>
                  </a:lnTo>
                  <a:lnTo>
                    <a:pt x="9013825" y="329946"/>
                  </a:lnTo>
                  <a:lnTo>
                    <a:pt x="9013825" y="6363004"/>
                  </a:lnTo>
                  <a:lnTo>
                    <a:pt x="9010248" y="6411753"/>
                  </a:lnTo>
                  <a:lnTo>
                    <a:pt x="8999857" y="6458282"/>
                  </a:lnTo>
                  <a:lnTo>
                    <a:pt x="8983162" y="6502079"/>
                  </a:lnTo>
                  <a:lnTo>
                    <a:pt x="8960673" y="6542635"/>
                  </a:lnTo>
                  <a:lnTo>
                    <a:pt x="8932901" y="6579439"/>
                  </a:lnTo>
                  <a:lnTo>
                    <a:pt x="8900356" y="6611981"/>
                  </a:lnTo>
                  <a:lnTo>
                    <a:pt x="8863547" y="6639751"/>
                  </a:lnTo>
                  <a:lnTo>
                    <a:pt x="8822984" y="6662238"/>
                  </a:lnTo>
                  <a:lnTo>
                    <a:pt x="8779179" y="6678932"/>
                  </a:lnTo>
                  <a:lnTo>
                    <a:pt x="8732640" y="6689323"/>
                  </a:lnTo>
                  <a:lnTo>
                    <a:pt x="8683879" y="6692900"/>
                  </a:lnTo>
                  <a:lnTo>
                    <a:pt x="329895" y="6692900"/>
                  </a:lnTo>
                  <a:lnTo>
                    <a:pt x="281146" y="6689323"/>
                  </a:lnTo>
                  <a:lnTo>
                    <a:pt x="234617" y="6678932"/>
                  </a:lnTo>
                  <a:lnTo>
                    <a:pt x="190820" y="6662238"/>
                  </a:lnTo>
                  <a:lnTo>
                    <a:pt x="150264" y="6639751"/>
                  </a:lnTo>
                  <a:lnTo>
                    <a:pt x="113460" y="6611981"/>
                  </a:lnTo>
                  <a:lnTo>
                    <a:pt x="80918" y="6579439"/>
                  </a:lnTo>
                  <a:lnTo>
                    <a:pt x="53148" y="6542635"/>
                  </a:lnTo>
                  <a:lnTo>
                    <a:pt x="30661" y="6502079"/>
                  </a:lnTo>
                  <a:lnTo>
                    <a:pt x="13967" y="6458282"/>
                  </a:lnTo>
                  <a:lnTo>
                    <a:pt x="3576" y="6411753"/>
                  </a:lnTo>
                  <a:lnTo>
                    <a:pt x="0" y="6363004"/>
                  </a:lnTo>
                  <a:lnTo>
                    <a:pt x="0" y="329946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46050" y="6210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4"/>
                  </a:lnTo>
                  <a:lnTo>
                    <a:pt x="100788" y="39041"/>
                  </a:lnTo>
                  <a:lnTo>
                    <a:pt x="66955" y="66955"/>
                  </a:lnTo>
                  <a:lnTo>
                    <a:pt x="39041" y="100788"/>
                  </a:lnTo>
                  <a:lnTo>
                    <a:pt x="17964" y="139619"/>
                  </a:lnTo>
                  <a:lnTo>
                    <a:pt x="4644" y="182529"/>
                  </a:lnTo>
                  <a:lnTo>
                    <a:pt x="0" y="228600"/>
                  </a:lnTo>
                  <a:lnTo>
                    <a:pt x="4644" y="274670"/>
                  </a:lnTo>
                  <a:lnTo>
                    <a:pt x="17964" y="317580"/>
                  </a:lnTo>
                  <a:lnTo>
                    <a:pt x="39041" y="356411"/>
                  </a:lnTo>
                  <a:lnTo>
                    <a:pt x="66955" y="390244"/>
                  </a:lnTo>
                  <a:lnTo>
                    <a:pt x="100788" y="418158"/>
                  </a:lnTo>
                  <a:lnTo>
                    <a:pt x="139619" y="439235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5"/>
                  </a:lnTo>
                  <a:lnTo>
                    <a:pt x="356411" y="418158"/>
                  </a:lnTo>
                  <a:lnTo>
                    <a:pt x="390244" y="390244"/>
                  </a:lnTo>
                  <a:lnTo>
                    <a:pt x="418158" y="356411"/>
                  </a:lnTo>
                  <a:lnTo>
                    <a:pt x="439235" y="317580"/>
                  </a:lnTo>
                  <a:lnTo>
                    <a:pt x="452555" y="274670"/>
                  </a:lnTo>
                  <a:lnTo>
                    <a:pt x="457200" y="228600"/>
                  </a:lnTo>
                  <a:lnTo>
                    <a:pt x="452555" y="182529"/>
                  </a:lnTo>
                  <a:lnTo>
                    <a:pt x="439235" y="139619"/>
                  </a:lnTo>
                  <a:lnTo>
                    <a:pt x="418158" y="100788"/>
                  </a:lnTo>
                  <a:lnTo>
                    <a:pt x="390244" y="66955"/>
                  </a:lnTo>
                  <a:lnTo>
                    <a:pt x="356411" y="39041"/>
                  </a:lnTo>
                  <a:lnTo>
                    <a:pt x="317580" y="17964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779524" y="6319215"/>
            <a:ext cx="23685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kern="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34</a:t>
            </a:r>
            <a:endParaRPr sz="1400" kern="0">
              <a:solidFill>
                <a:sysClr val="windowText" lastClr="000000"/>
              </a:solidFill>
              <a:latin typeface="Franklin Gothic Medium"/>
              <a:cs typeface="Franklin Gothic Medium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949195" y="886967"/>
            <a:ext cx="8338184" cy="5876290"/>
            <a:chOff x="425195" y="886967"/>
            <a:chExt cx="8338184" cy="587629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195" y="886967"/>
              <a:ext cx="8293608" cy="10515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lang="it-IT"/>
              <a:t>5.</a:t>
            </a:r>
            <a:r>
              <a:rPr lang="it-IT" spc="-95"/>
              <a:t> </a:t>
            </a:r>
            <a:r>
              <a:rPr lang="it-IT"/>
              <a:t>ViewBag, ViewData, TempData, Model</a:t>
            </a:r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2083409" y="1148283"/>
            <a:ext cx="468884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Khai</a:t>
            </a:r>
            <a:r>
              <a:rPr sz="2400" b="1" kern="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báo</a:t>
            </a:r>
            <a:r>
              <a:rPr sz="2400" b="1" kern="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kiểu</a:t>
            </a:r>
            <a:r>
              <a:rPr sz="2400" b="1" kern="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dữ</a:t>
            </a:r>
            <a:r>
              <a:rPr sz="2400" b="1" kern="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liệu</a:t>
            </a:r>
            <a:r>
              <a:rPr sz="2400" b="1" kern="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của</a:t>
            </a:r>
            <a:r>
              <a:rPr sz="2400" b="1" kern="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C00000"/>
                </a:solidFill>
                <a:latin typeface="Arial"/>
                <a:cs typeface="Arial"/>
              </a:rPr>
              <a:t>Model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0800" y="1524000"/>
            <a:ext cx="7315200" cy="380492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288844" y="5208854"/>
            <a:ext cx="510413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Chú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ý: phân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biệt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C00000"/>
                </a:solidFill>
                <a:latin typeface="Microsoft Sans Serif"/>
                <a:cs typeface="Microsoft Sans Serif"/>
              </a:rPr>
              <a:t>@model</a:t>
            </a:r>
            <a:r>
              <a:rPr sz="2400" kern="0" spc="-4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@Model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88845" y="5581355"/>
            <a:ext cx="7566025" cy="9042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spcBef>
                <a:spcPts val="67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@model:</a:t>
            </a:r>
            <a:r>
              <a:rPr sz="2400" kern="0" spc="-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Dùng</a:t>
            </a:r>
            <a:r>
              <a:rPr sz="2400" kern="0" spc="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khai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báo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kiểu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của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@Model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355600" indent="-342900">
              <a:spcBef>
                <a:spcPts val="57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@Model: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Đối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tượng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chứa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dữ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liệu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truyền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từ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Controller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lang="en-US" spc="-25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41</a:t>
            </a:fld>
            <a:endParaRPr lang="en-US"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21783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71676" y="6567487"/>
            <a:ext cx="8315325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lang="it-IT"/>
              <a:t>5.</a:t>
            </a:r>
            <a:r>
              <a:rPr lang="it-IT" spc="-95"/>
              <a:t> </a:t>
            </a:r>
            <a:r>
              <a:rPr lang="it-IT"/>
              <a:t>ViewBag, ViewData, TempData, Model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2083410" y="1148283"/>
            <a:ext cx="263969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Chia</a:t>
            </a:r>
            <a:r>
              <a:rPr sz="2400" b="1" kern="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sẽ với</a:t>
            </a:r>
            <a:r>
              <a:rPr sz="2400" b="1" kern="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C00000"/>
                </a:solidFill>
                <a:latin typeface="Arial"/>
                <a:cs typeface="Arial"/>
              </a:rPr>
              <a:t>Model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1319" y="1566545"/>
            <a:ext cx="8030209" cy="498665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42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3244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71676" y="6567487"/>
            <a:ext cx="8315325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lang="it-IT"/>
              <a:t>5.</a:t>
            </a:r>
            <a:r>
              <a:rPr lang="it-IT" spc="-95"/>
              <a:t> </a:t>
            </a:r>
            <a:r>
              <a:rPr lang="it-IT"/>
              <a:t>ViewBag, ViewData, TempData, Model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2083410" y="1148283"/>
            <a:ext cx="325056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Minh</a:t>
            </a:r>
            <a:r>
              <a:rPr sz="2400" b="1" kern="0" spc="-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họa:</a:t>
            </a:r>
            <a:r>
              <a:rPr sz="2400" b="1" kern="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C00000"/>
                </a:solidFill>
                <a:latin typeface="Arial"/>
                <a:cs typeface="Arial"/>
              </a:rPr>
              <a:t>ProductList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7278" y="1587373"/>
            <a:ext cx="7810119" cy="488962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43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9970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71676" y="6567487"/>
            <a:ext cx="8315325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lang="it-IT"/>
              <a:t>5.</a:t>
            </a:r>
            <a:r>
              <a:rPr lang="it-IT" spc="-95"/>
              <a:t> </a:t>
            </a:r>
            <a:r>
              <a:rPr lang="it-IT"/>
              <a:t>ViewBag, ViewData, TempData, Model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2083410" y="1148283"/>
            <a:ext cx="3535679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Minh</a:t>
            </a:r>
            <a:r>
              <a:rPr sz="2400" b="1" kern="0" spc="-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họa:</a:t>
            </a:r>
            <a:r>
              <a:rPr sz="2400" b="1" kern="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C00000"/>
                </a:solidFill>
                <a:latin typeface="Arial"/>
                <a:cs typeface="Arial"/>
              </a:rPr>
              <a:t>ProductDetail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9652" y="1655827"/>
            <a:ext cx="7812278" cy="488057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44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5092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71676" y="6567487"/>
            <a:ext cx="8315325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5901690" algn="l"/>
                <a:tab pos="8279765" algn="l"/>
              </a:tabLst>
            </a:pPr>
            <a:r>
              <a:rPr dirty="0"/>
              <a:t>6.</a:t>
            </a:r>
            <a:r>
              <a:rPr spc="-45" dirty="0"/>
              <a:t> </a:t>
            </a:r>
            <a:r>
              <a:rPr dirty="0"/>
              <a:t>CHIA</a:t>
            </a:r>
            <a:r>
              <a:rPr spc="-125" dirty="0"/>
              <a:t> </a:t>
            </a:r>
            <a:r>
              <a:rPr dirty="0"/>
              <a:t>SẺ</a:t>
            </a:r>
            <a:r>
              <a:rPr spc="-45" dirty="0"/>
              <a:t> </a:t>
            </a:r>
            <a:r>
              <a:rPr dirty="0"/>
              <a:t>DỮ LIỆU</a:t>
            </a:r>
            <a:r>
              <a:rPr spc="-95" dirty="0"/>
              <a:t> </a:t>
            </a:r>
            <a:r>
              <a:rPr dirty="0"/>
              <a:t>THEO </a:t>
            </a:r>
            <a:r>
              <a:rPr spc="-10" dirty="0"/>
              <a:t>PHIÊN</a:t>
            </a:r>
            <a:r>
              <a:rPr dirty="0"/>
              <a:t>	-</a:t>
            </a:r>
            <a:r>
              <a:rPr spc="-30" dirty="0"/>
              <a:t> </a:t>
            </a:r>
            <a:r>
              <a:rPr spc="-10" dirty="0"/>
              <a:t>SESSION</a:t>
            </a:r>
            <a:r>
              <a:rPr dirty="0"/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83409" y="1033984"/>
            <a:ext cx="8133080" cy="237426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55600" marR="5080" indent="-342900" algn="just">
              <a:spcBef>
                <a:spcPts val="115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Phiên</a:t>
            </a:r>
            <a:r>
              <a:rPr sz="2400" kern="0" spc="3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làm</a:t>
            </a:r>
            <a:r>
              <a:rPr sz="2400" kern="0" spc="4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việc</a:t>
            </a:r>
            <a:r>
              <a:rPr sz="2400" kern="0" spc="4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(session)</a:t>
            </a:r>
            <a:r>
              <a:rPr sz="2400" kern="0" spc="40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1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được</a:t>
            </a:r>
            <a:r>
              <a:rPr sz="2400" kern="0" spc="3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tính</a:t>
            </a:r>
            <a:r>
              <a:rPr sz="2400" kern="0" spc="4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từ</a:t>
            </a:r>
            <a:r>
              <a:rPr sz="2400" kern="0" spc="3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lúc</a:t>
            </a:r>
            <a:r>
              <a:rPr sz="2400" kern="0" spc="3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bắt</a:t>
            </a:r>
            <a:r>
              <a:rPr sz="2400" kern="0" spc="3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đầu</a:t>
            </a:r>
            <a:r>
              <a:rPr sz="2400" kern="0" spc="4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truy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cập</a:t>
            </a:r>
            <a:r>
              <a:rPr sz="2400" kern="0" spc="3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website</a:t>
            </a:r>
            <a:r>
              <a:rPr sz="2400" kern="0" spc="3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cho</a:t>
            </a:r>
            <a:r>
              <a:rPr sz="2400" kern="0" spc="3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đến</a:t>
            </a:r>
            <a:r>
              <a:rPr sz="2400" kern="0" spc="3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khi</a:t>
            </a:r>
            <a:r>
              <a:rPr sz="2400" kern="0" spc="4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đóng</a:t>
            </a:r>
            <a:r>
              <a:rPr sz="2400" kern="0" spc="3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cửa</a:t>
            </a:r>
            <a:r>
              <a:rPr sz="2400" kern="0" spc="3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sổ</a:t>
            </a:r>
            <a:r>
              <a:rPr sz="2400" kern="0" spc="3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trình</a:t>
            </a:r>
            <a:r>
              <a:rPr sz="2400" kern="0" spc="3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duyệt</a:t>
            </a:r>
            <a:r>
              <a:rPr sz="2400" kern="0" spc="409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hoặc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hết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hạn</a:t>
            </a:r>
            <a:r>
              <a:rPr sz="2400" kern="0" spc="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</a:t>
            </a:r>
            <a:r>
              <a:rPr sz="2400" kern="0" spc="-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355600" marR="6985" indent="-342900" algn="just">
              <a:spcBef>
                <a:spcPts val="1195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kern="0" spc="1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Dữ</a:t>
            </a:r>
            <a:r>
              <a:rPr sz="2400" kern="0" spc="1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liệu</a:t>
            </a:r>
            <a:r>
              <a:rPr sz="2400" kern="0" spc="1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1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được</a:t>
            </a:r>
            <a:r>
              <a:rPr sz="2400" kern="0" spc="1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lưu</a:t>
            </a:r>
            <a:r>
              <a:rPr sz="2400" kern="0" spc="1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vào</a:t>
            </a:r>
            <a:r>
              <a:rPr sz="2400" kern="0" spc="10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session</a:t>
            </a:r>
            <a:r>
              <a:rPr sz="2400" kern="0" spc="1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sẽ</a:t>
            </a:r>
            <a:r>
              <a:rPr sz="2400" kern="0" spc="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được</a:t>
            </a:r>
            <a:r>
              <a:rPr sz="2400" kern="0" spc="1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duy</a:t>
            </a:r>
            <a:r>
              <a:rPr sz="2400" kern="0" spc="1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trì</a:t>
            </a:r>
            <a:r>
              <a:rPr sz="2400" kern="0" spc="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trong</a:t>
            </a:r>
            <a:r>
              <a:rPr sz="2400" kern="0" spc="1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suốt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phiên</a:t>
            </a:r>
            <a:r>
              <a:rPr sz="2400" kern="0" spc="2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làm</a:t>
            </a:r>
            <a:r>
              <a:rPr sz="2400" kern="0" spc="3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việc</a:t>
            </a:r>
            <a:r>
              <a:rPr sz="2400" kern="0" spc="2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</a:t>
            </a:r>
            <a:r>
              <a:rPr sz="2400" kern="0" spc="30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1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được</a:t>
            </a:r>
            <a:r>
              <a:rPr sz="2400" kern="0" spc="2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truy</a:t>
            </a:r>
            <a:r>
              <a:rPr sz="2400" kern="0" spc="2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cập</a:t>
            </a:r>
            <a:r>
              <a:rPr sz="2400" kern="0" spc="2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bởi</a:t>
            </a:r>
            <a:r>
              <a:rPr sz="2400" kern="0" spc="3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bất</a:t>
            </a:r>
            <a:r>
              <a:rPr sz="2400" kern="0" spc="25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kz</a:t>
            </a:r>
            <a:r>
              <a:rPr sz="2400" kern="0" spc="2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thành</a:t>
            </a:r>
            <a:r>
              <a:rPr sz="2400" kern="0" spc="3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phần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nào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hoạt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động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trong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phiển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làm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việc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đó.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8824" y="3471659"/>
            <a:ext cx="4566456" cy="286258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45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3148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71676" y="6567487"/>
            <a:ext cx="8315325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49450" y="450927"/>
            <a:ext cx="829310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5901690" algn="l"/>
                <a:tab pos="8279765" algn="l"/>
              </a:tabLst>
            </a:pPr>
            <a:r>
              <a:rPr dirty="0"/>
              <a:t>6.</a:t>
            </a:r>
            <a:r>
              <a:rPr spc="-45" dirty="0"/>
              <a:t> </a:t>
            </a:r>
            <a:r>
              <a:rPr dirty="0"/>
              <a:t>CHIA</a:t>
            </a:r>
            <a:r>
              <a:rPr spc="-125" dirty="0"/>
              <a:t> </a:t>
            </a:r>
            <a:r>
              <a:rPr dirty="0"/>
              <a:t>SẺ</a:t>
            </a:r>
            <a:r>
              <a:rPr spc="-45" dirty="0"/>
              <a:t> </a:t>
            </a:r>
            <a:r>
              <a:rPr dirty="0"/>
              <a:t>DỮ LIỆU</a:t>
            </a:r>
            <a:r>
              <a:rPr spc="-95" dirty="0"/>
              <a:t> </a:t>
            </a:r>
            <a:r>
              <a:rPr dirty="0"/>
              <a:t>THEO </a:t>
            </a:r>
            <a:r>
              <a:rPr spc="-10" dirty="0"/>
              <a:t>PHIÊN</a:t>
            </a:r>
            <a:r>
              <a:rPr dirty="0"/>
              <a:t>	-</a:t>
            </a:r>
            <a:r>
              <a:rPr spc="-30" dirty="0"/>
              <a:t> </a:t>
            </a:r>
            <a:r>
              <a:rPr spc="-10" dirty="0"/>
              <a:t>SESSION</a:t>
            </a:r>
            <a:r>
              <a:rPr dirty="0"/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83409" y="885048"/>
            <a:ext cx="8136890" cy="3195955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2700">
              <a:spcBef>
                <a:spcPts val="1285"/>
              </a:spcBef>
            </a:pPr>
            <a:r>
              <a:rPr sz="2400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Ứng</a:t>
            </a:r>
            <a:r>
              <a:rPr sz="2400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dụng: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355600" marR="9525" indent="-342900" algn="just">
              <a:spcBef>
                <a:spcPts val="1190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Duy</a:t>
            </a:r>
            <a:r>
              <a:rPr sz="2400" kern="0" spc="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trì</a:t>
            </a:r>
            <a:r>
              <a:rPr sz="2400" kern="0" spc="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giỏ</a:t>
            </a:r>
            <a:r>
              <a:rPr sz="2400" kern="0" spc="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hàng:</a:t>
            </a: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giỏ</a:t>
            </a:r>
            <a:r>
              <a:rPr sz="2400" kern="0" spc="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hàng</a:t>
            </a:r>
            <a:r>
              <a:rPr sz="2400" kern="0" spc="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cần</a:t>
            </a:r>
            <a:r>
              <a:rPr sz="2400" kern="0" spc="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duy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trì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trong</a:t>
            </a:r>
            <a:r>
              <a:rPr sz="2400" kern="0" spc="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suốt</a:t>
            </a:r>
            <a:r>
              <a:rPr sz="2400" kern="0" spc="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quá</a:t>
            </a:r>
            <a:r>
              <a:rPr sz="2400" kern="0" spc="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trình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tìm</a:t>
            </a:r>
            <a:r>
              <a:rPr sz="2400" kern="0" spc="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kiếm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</a:t>
            </a:r>
            <a:r>
              <a:rPr sz="2400" kern="0" spc="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chọn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mua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hàng</a:t>
            </a: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hóa.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355600" marR="5080" indent="-342900" algn="just">
              <a:spcBef>
                <a:spcPts val="1230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Duy</a:t>
            </a:r>
            <a:r>
              <a:rPr sz="2400" kern="0" spc="4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trì</a:t>
            </a:r>
            <a:r>
              <a:rPr sz="2400" kern="0" spc="40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tài</a:t>
            </a:r>
            <a:r>
              <a:rPr sz="2400" kern="0" spc="3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khoản</a:t>
            </a:r>
            <a:r>
              <a:rPr sz="2400" kern="0" spc="4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đăng</a:t>
            </a:r>
            <a:r>
              <a:rPr sz="2400" kern="0" spc="3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nhập:</a:t>
            </a:r>
            <a:r>
              <a:rPr sz="2400" kern="0" spc="4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tài</a:t>
            </a:r>
            <a:r>
              <a:rPr sz="2400" kern="0" spc="3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khoản</a:t>
            </a:r>
            <a:r>
              <a:rPr sz="2400" kern="0" spc="4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đăng</a:t>
            </a:r>
            <a:r>
              <a:rPr sz="2400" kern="0" spc="4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nhập</a:t>
            </a:r>
            <a:r>
              <a:rPr sz="2400" kern="0" spc="4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cần </a:t>
            </a:r>
            <a:r>
              <a:rPr sz="2400" kern="0" spc="1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được</a:t>
            </a:r>
            <a:r>
              <a:rPr sz="2400" kern="0" spc="2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duy</a:t>
            </a:r>
            <a:r>
              <a:rPr sz="2400" kern="0" spc="1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trì</a:t>
            </a:r>
            <a:r>
              <a:rPr sz="2400" kern="0" spc="1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trong</a:t>
            </a:r>
            <a:r>
              <a:rPr sz="2400" kern="0" spc="1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suốt</a:t>
            </a:r>
            <a:r>
              <a:rPr sz="2400" kern="0" spc="1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phiên</a:t>
            </a:r>
            <a:r>
              <a:rPr sz="2400" kern="0" spc="1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làm</a:t>
            </a:r>
            <a:r>
              <a:rPr sz="2400" kern="0" spc="1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việc</a:t>
            </a:r>
            <a:r>
              <a:rPr sz="2400" kern="0" spc="1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1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khi</a:t>
            </a:r>
            <a:r>
              <a:rPr sz="2400" kern="0" spc="1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cần</a:t>
            </a:r>
            <a:r>
              <a:rPr sz="2400" kern="0" spc="1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có</a:t>
            </a:r>
            <a:r>
              <a:rPr sz="2400" kern="0" spc="1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thể </a:t>
            </a:r>
            <a:r>
              <a:rPr sz="2400" kern="0" spc="1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2700">
              <a:spcBef>
                <a:spcPts val="1195"/>
              </a:spcBef>
            </a:pPr>
            <a:r>
              <a:rPr sz="2400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Mã</a:t>
            </a:r>
            <a:r>
              <a:rPr sz="2400" b="1" kern="0" spc="-7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lấy</a:t>
            </a:r>
            <a:r>
              <a:rPr sz="2400" b="1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b="1" kern="0">
                <a:solidFill>
                  <a:sysClr val="windowText" lastClr="000000"/>
                </a:solidFill>
                <a:latin typeface="Arial"/>
                <a:cs typeface="Arial"/>
              </a:rPr>
              <a:t>đối</a:t>
            </a:r>
            <a:r>
              <a:rPr sz="2400" b="1" kern="0" spc="-45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b="1" kern="0">
                <a:solidFill>
                  <a:sysClr val="windowText" lastClr="000000"/>
                </a:solidFill>
                <a:latin typeface="Arial"/>
                <a:cs typeface="Arial"/>
              </a:rPr>
              <a:t>t</a:t>
            </a:r>
            <a:r>
              <a:rPr lang="en-US" sz="2400" b="1" kern="0">
                <a:solidFill>
                  <a:sysClr val="windowText" lastClr="000000"/>
                </a:solidFill>
                <a:latin typeface="Arial"/>
                <a:cs typeface="Arial"/>
              </a:rPr>
              <a:t>ư</a:t>
            </a:r>
            <a:r>
              <a:rPr sz="2400" b="1" kern="0">
                <a:solidFill>
                  <a:sysClr val="windowText" lastClr="000000"/>
                </a:solidFill>
                <a:latin typeface="Arial"/>
                <a:cs typeface="Arial"/>
              </a:rPr>
              <a:t>ợng</a:t>
            </a:r>
            <a:r>
              <a:rPr sz="2400" b="1" kern="0" spc="-4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session: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1925" y="4261192"/>
            <a:ext cx="7243033" cy="198308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46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83033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71676" y="6567487"/>
            <a:ext cx="8315325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5901690" algn="l"/>
                <a:tab pos="8279765" algn="l"/>
              </a:tabLst>
            </a:pPr>
            <a:r>
              <a:rPr dirty="0"/>
              <a:t>6.</a:t>
            </a:r>
            <a:r>
              <a:rPr spc="-45" dirty="0"/>
              <a:t> </a:t>
            </a:r>
            <a:r>
              <a:rPr dirty="0"/>
              <a:t>CHIA</a:t>
            </a:r>
            <a:r>
              <a:rPr spc="-125" dirty="0"/>
              <a:t> </a:t>
            </a:r>
            <a:r>
              <a:rPr dirty="0"/>
              <a:t>SẺ</a:t>
            </a:r>
            <a:r>
              <a:rPr spc="-45" dirty="0"/>
              <a:t> </a:t>
            </a:r>
            <a:r>
              <a:rPr dirty="0"/>
              <a:t>DỮ LIỆU</a:t>
            </a:r>
            <a:r>
              <a:rPr spc="-95" dirty="0"/>
              <a:t> </a:t>
            </a:r>
            <a:r>
              <a:rPr dirty="0"/>
              <a:t>THEO </a:t>
            </a:r>
            <a:r>
              <a:rPr spc="-10" dirty="0"/>
              <a:t>PHIÊN</a:t>
            </a:r>
            <a:r>
              <a:rPr dirty="0"/>
              <a:t>	-</a:t>
            </a:r>
            <a:r>
              <a:rPr spc="-30" dirty="0"/>
              <a:t> </a:t>
            </a:r>
            <a:r>
              <a:rPr spc="-10" dirty="0"/>
              <a:t>SESSION</a:t>
            </a:r>
            <a:r>
              <a:rPr dirty="0"/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83409" y="1033983"/>
            <a:ext cx="263906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Thao</a:t>
            </a:r>
            <a:r>
              <a:rPr sz="2400" b="1" kern="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tác</a:t>
            </a:r>
            <a:r>
              <a:rPr sz="2400" b="1" kern="0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C00000"/>
                </a:solidFill>
                <a:latin typeface="Arial"/>
                <a:cs typeface="Arial"/>
              </a:rPr>
              <a:t>Session: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9891" y="1490997"/>
            <a:ext cx="7847100" cy="467048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47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3058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71676" y="6567487"/>
            <a:ext cx="8315325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49450" y="450927"/>
            <a:ext cx="829310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5901690" algn="l"/>
                <a:tab pos="8279765" algn="l"/>
              </a:tabLst>
            </a:pPr>
            <a:r>
              <a:rPr dirty="0"/>
              <a:t>6.</a:t>
            </a:r>
            <a:r>
              <a:rPr spc="-45" dirty="0"/>
              <a:t> </a:t>
            </a:r>
            <a:r>
              <a:rPr dirty="0"/>
              <a:t>CHIA</a:t>
            </a:r>
            <a:r>
              <a:rPr spc="-125" dirty="0"/>
              <a:t> </a:t>
            </a:r>
            <a:r>
              <a:rPr dirty="0"/>
              <a:t>SẺ</a:t>
            </a:r>
            <a:r>
              <a:rPr spc="-45" dirty="0"/>
              <a:t> </a:t>
            </a:r>
            <a:r>
              <a:rPr dirty="0"/>
              <a:t>DỮ LIỆU</a:t>
            </a:r>
            <a:r>
              <a:rPr spc="-95" dirty="0"/>
              <a:t> </a:t>
            </a:r>
            <a:r>
              <a:rPr dirty="0"/>
              <a:t>THEO </a:t>
            </a:r>
            <a:r>
              <a:rPr spc="-10" dirty="0"/>
              <a:t>PHIÊN</a:t>
            </a:r>
            <a:r>
              <a:rPr dirty="0"/>
              <a:t>	-</a:t>
            </a:r>
            <a:r>
              <a:rPr spc="-30" dirty="0"/>
              <a:t> </a:t>
            </a:r>
            <a:r>
              <a:rPr spc="-10" dirty="0"/>
              <a:t>SESSION</a:t>
            </a:r>
            <a:r>
              <a:rPr dirty="0"/>
              <a:t>	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48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83410" y="817992"/>
            <a:ext cx="7414895" cy="2291715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12700">
              <a:spcBef>
                <a:spcPts val="1814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Minh</a:t>
            </a:r>
            <a:r>
              <a:rPr sz="2400" b="1" kern="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C00000"/>
                </a:solidFill>
                <a:latin typeface="Arial"/>
                <a:cs typeface="Arial"/>
              </a:rPr>
              <a:t>họa: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004569" marR="5080" indent="-343535">
              <a:lnSpc>
                <a:spcPct val="150100"/>
              </a:lnSpc>
              <a:spcBef>
                <a:spcPts val="275"/>
              </a:spcBef>
              <a:buFont typeface="Wingdings"/>
              <a:buChar char=""/>
              <a:tabLst>
                <a:tab pos="1004569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Shopping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Cart: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duy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trì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danh</a:t>
            </a:r>
            <a:r>
              <a:rPr sz="2400" kern="0" spc="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sách</a:t>
            </a:r>
            <a:r>
              <a:rPr sz="2400" kern="0" spc="-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hàng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đã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chọn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trong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session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004569" indent="-342900">
              <a:spcBef>
                <a:spcPts val="1440"/>
              </a:spcBef>
              <a:buFont typeface="Wingdings"/>
              <a:buChar char=""/>
              <a:tabLst>
                <a:tab pos="1004569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CRUD:</a:t>
            </a:r>
            <a:r>
              <a:rPr sz="2400" kern="0" spc="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duy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trì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dữ</a:t>
            </a:r>
            <a:r>
              <a:rPr sz="2400" kern="0" spc="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liệu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trong</a:t>
            </a:r>
            <a:r>
              <a:rPr sz="2400" kern="0" spc="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List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4881344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7.</a:t>
            </a:r>
            <a:r>
              <a:rPr spc="-105" dirty="0"/>
              <a:t> </a:t>
            </a:r>
            <a:r>
              <a:rPr spc="-10" dirty="0"/>
              <a:t>APPLICATION</a:t>
            </a:r>
            <a:r>
              <a:rPr dirty="0"/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2937" y="1142988"/>
            <a:ext cx="8065191" cy="509710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49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7820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71676" y="6567487"/>
            <a:ext cx="8315325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7.</a:t>
            </a:r>
            <a:r>
              <a:rPr spc="-105" dirty="0"/>
              <a:t> </a:t>
            </a:r>
            <a:r>
              <a:rPr spc="-10" dirty="0"/>
              <a:t>APPLICATION</a:t>
            </a:r>
            <a:r>
              <a:rPr dirty="0"/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84045" y="984581"/>
            <a:ext cx="312864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Application</a:t>
            </a:r>
            <a:r>
              <a:rPr sz="2800" b="1" kern="0" spc="-10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20" dirty="0">
                <a:solidFill>
                  <a:srgbClr val="C00000"/>
                </a:solidFill>
                <a:latin typeface="Arial"/>
                <a:cs typeface="Arial"/>
              </a:rPr>
              <a:t>Scope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0346" y="1524001"/>
            <a:ext cx="7447327" cy="483548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50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2743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71676" y="6567487"/>
            <a:ext cx="8315325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7.</a:t>
            </a:r>
            <a:r>
              <a:rPr spc="-105" dirty="0"/>
              <a:t> </a:t>
            </a:r>
            <a:r>
              <a:rPr spc="-10" dirty="0"/>
              <a:t>APPLICATION</a:t>
            </a:r>
            <a:r>
              <a:rPr dirty="0"/>
              <a:t>	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51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2060244" y="1059307"/>
            <a:ext cx="5102556" cy="216790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Minh</a:t>
            </a:r>
            <a:r>
              <a:rPr spc="-45" dirty="0"/>
              <a:t> </a:t>
            </a:r>
            <a:r>
              <a:rPr spc="-20" dirty="0"/>
              <a:t>họa:</a:t>
            </a:r>
          </a:p>
          <a:p>
            <a:pPr marL="1062355" indent="-287655">
              <a:spcBef>
                <a:spcPts val="1989"/>
              </a:spcBef>
              <a:buFont typeface="Wingdings"/>
              <a:buChar char=""/>
              <a:tabLst>
                <a:tab pos="1062355" algn="l"/>
              </a:tabLst>
            </a:pPr>
            <a:r>
              <a:rPr sz="2400" b="0">
                <a:solidFill>
                  <a:srgbClr val="000000"/>
                </a:solidFill>
                <a:latin typeface="Microsoft Sans Serif"/>
                <a:cs typeface="Microsoft Sans Serif"/>
              </a:rPr>
              <a:t>Bộ</a:t>
            </a:r>
            <a:r>
              <a:rPr sz="2400" b="0" spc="-1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>
                <a:solidFill>
                  <a:srgbClr val="000000"/>
                </a:solidFill>
                <a:latin typeface="Microsoft Sans Serif"/>
                <a:cs typeface="Microsoft Sans Serif"/>
              </a:rPr>
              <a:t>đế</a:t>
            </a:r>
            <a:r>
              <a:rPr lang="en-US" sz="2400" b="0">
                <a:solidFill>
                  <a:srgbClr val="000000"/>
                </a:solidFill>
                <a:latin typeface="Microsoft Sans Serif"/>
                <a:cs typeface="Microsoft Sans Serif"/>
              </a:rPr>
              <a:t>m</a:t>
            </a:r>
            <a:r>
              <a:rPr sz="2400" b="0" spc="25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khách</a:t>
            </a:r>
            <a:r>
              <a:rPr sz="2400" b="0" spc="-4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thăm</a:t>
            </a:r>
            <a:r>
              <a:rPr sz="2400" b="0" spc="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spc="-25" dirty="0">
                <a:solidFill>
                  <a:srgbClr val="000000"/>
                </a:solidFill>
                <a:latin typeface="Microsoft Sans Serif"/>
                <a:cs typeface="Microsoft Sans Serif"/>
              </a:rPr>
              <a:t>web</a:t>
            </a:r>
            <a:endParaRPr sz="2400">
              <a:latin typeface="Microsoft Sans Serif"/>
              <a:cs typeface="Microsoft Sans Serif"/>
            </a:endParaRPr>
          </a:p>
          <a:p>
            <a:pPr marL="1062355" indent="-287655">
              <a:spcBef>
                <a:spcPts val="1445"/>
              </a:spcBef>
              <a:buFont typeface="Wingdings"/>
              <a:buChar char=""/>
              <a:tabLst>
                <a:tab pos="1062355" algn="l"/>
              </a:tabLst>
            </a:pPr>
            <a:r>
              <a:rPr sz="2400" b="0" spc="-20" dirty="0">
                <a:solidFill>
                  <a:srgbClr val="000000"/>
                </a:solidFill>
                <a:latin typeface="Microsoft Sans Serif"/>
                <a:cs typeface="Microsoft Sans Serif"/>
              </a:rPr>
              <a:t>Chat</a:t>
            </a:r>
            <a:endParaRPr sz="2400">
              <a:latin typeface="Microsoft Sans Serif"/>
              <a:cs typeface="Microsoft Sans Serif"/>
            </a:endParaRPr>
          </a:p>
          <a:p>
            <a:pPr marL="1062355" indent="-287655">
              <a:spcBef>
                <a:spcPts val="1440"/>
              </a:spcBef>
              <a:buFont typeface="Wingdings"/>
              <a:buChar char=""/>
              <a:tabLst>
                <a:tab pos="1062355" algn="l"/>
              </a:tabLst>
            </a:pPr>
            <a:r>
              <a:rPr sz="24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Queue</a:t>
            </a:r>
            <a:r>
              <a:rPr sz="2400" b="0" spc="-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spc="-20" dirty="0">
                <a:solidFill>
                  <a:srgbClr val="000000"/>
                </a:solidFill>
                <a:latin typeface="Microsoft Sans Serif"/>
                <a:cs typeface="Microsoft Sans Serif"/>
              </a:rPr>
              <a:t>mails</a:t>
            </a:r>
            <a:endParaRPr sz="240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5584614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71676" y="6567487"/>
            <a:ext cx="8315325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8.</a:t>
            </a:r>
            <a:r>
              <a:rPr spc="-30" dirty="0"/>
              <a:t> </a:t>
            </a:r>
            <a:r>
              <a:rPr spc="-10" dirty="0"/>
              <a:t>COOKIE</a:t>
            </a:r>
            <a:r>
              <a:rPr dirty="0"/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09877" y="1024009"/>
            <a:ext cx="8013065" cy="3320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355" marR="5080" indent="-288290">
              <a:lnSpc>
                <a:spcPct val="150100"/>
              </a:lnSpc>
              <a:spcBef>
                <a:spcPts val="100"/>
              </a:spcBef>
              <a:buFont typeface="Wingdings"/>
              <a:buChar char=""/>
              <a:tabLst>
                <a:tab pos="300355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Cookie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là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mẫu</a:t>
            </a:r>
            <a:r>
              <a:rPr sz="2400" kern="0" spc="-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tin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nhỏ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được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lưu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trên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máy</a:t>
            </a:r>
            <a:r>
              <a:rPr sz="2400" kern="0" spc="-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client</a:t>
            </a:r>
            <a:r>
              <a:rPr sz="2400" kern="0" spc="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truyền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thông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với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server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trong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request</a:t>
            </a: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vàresponse.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300355" marR="185420" indent="-288290">
              <a:lnSpc>
                <a:spcPct val="150100"/>
              </a:lnSpc>
              <a:buFont typeface="Wingdings"/>
              <a:buChar char=""/>
              <a:tabLst>
                <a:tab pos="300355" algn="l"/>
              </a:tabLst>
            </a:pPr>
            <a:r>
              <a:rPr sz="2400" kern="0" spc="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Ứng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dụng: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Chia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sẻ </a:t>
            </a:r>
            <a:r>
              <a:rPr sz="2400" kern="0" spc="1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dữ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liệu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giữa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trang</a:t>
            </a:r>
            <a:r>
              <a:rPr sz="2400" kern="0" spc="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trong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website </a:t>
            </a:r>
            <a:r>
              <a:rPr sz="2400" kern="0" spc="1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được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truy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cập </a:t>
            </a:r>
            <a:r>
              <a:rPr sz="2400" kern="0" spc="1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từ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máy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812800" lvl="1" indent="-342900">
              <a:spcBef>
                <a:spcPts val="1445"/>
              </a:spcBef>
              <a:buFont typeface="Wingdings"/>
              <a:buChar char=""/>
              <a:tabLst>
                <a:tab pos="8128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Tài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khoản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đăng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nhập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812800" lvl="1" indent="-342900">
              <a:spcBef>
                <a:spcPts val="1440"/>
              </a:spcBef>
              <a:buFont typeface="Wingdings"/>
              <a:buChar char=""/>
              <a:tabLst>
                <a:tab pos="8128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Hàng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hóa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đã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xem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5200" y="4663213"/>
            <a:ext cx="6910648" cy="137365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52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5624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8.</a:t>
            </a:r>
            <a:r>
              <a:rPr spc="-30" dirty="0"/>
              <a:t> </a:t>
            </a:r>
            <a:r>
              <a:rPr spc="-10" dirty="0"/>
              <a:t>COOKIE</a:t>
            </a:r>
            <a:r>
              <a:rPr dirty="0"/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8378" y="1143050"/>
            <a:ext cx="8164044" cy="495363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53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7155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71676" y="6567487"/>
            <a:ext cx="8315325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8.</a:t>
            </a:r>
            <a:r>
              <a:rPr spc="-30" dirty="0"/>
              <a:t> </a:t>
            </a:r>
            <a:r>
              <a:rPr spc="-10" dirty="0"/>
              <a:t>COOKIE</a:t>
            </a:r>
            <a:r>
              <a:rPr dirty="0"/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84045" y="1060781"/>
            <a:ext cx="1875789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Cookie</a:t>
            </a:r>
            <a:r>
              <a:rPr sz="2800" b="1" kern="0" spc="-1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API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9901" y="1618870"/>
            <a:ext cx="5780434" cy="475660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54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2654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71676" y="6567487"/>
            <a:ext cx="8315325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49450" y="450927"/>
            <a:ext cx="829310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8.</a:t>
            </a:r>
            <a:r>
              <a:rPr spc="-30" dirty="0"/>
              <a:t> </a:t>
            </a:r>
            <a:r>
              <a:rPr spc="-10" dirty="0"/>
              <a:t>COOKIE</a:t>
            </a:r>
            <a:r>
              <a:rPr dirty="0"/>
              <a:t>	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55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84044" y="902012"/>
            <a:ext cx="4118610" cy="1116330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12700">
              <a:spcBef>
                <a:spcPts val="136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Minh</a:t>
            </a:r>
            <a:r>
              <a:rPr sz="2800" b="1" kern="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20" dirty="0">
                <a:solidFill>
                  <a:srgbClr val="C00000"/>
                </a:solidFill>
                <a:latin typeface="Arial"/>
                <a:cs typeface="Arial"/>
              </a:rPr>
              <a:t>họa: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74700">
              <a:spcBef>
                <a:spcPts val="1085"/>
              </a:spcBef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Duy</a:t>
            </a:r>
            <a:r>
              <a:rPr sz="2400" kern="0" spc="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trì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hàng</a:t>
            </a:r>
            <a:r>
              <a:rPr sz="2400" kern="0" spc="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hóa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đã</a:t>
            </a:r>
            <a:r>
              <a:rPr sz="2400" kern="0" spc="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xem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184084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9.</a:t>
            </a:r>
            <a:r>
              <a:rPr spc="-30" dirty="0"/>
              <a:t> </a:t>
            </a:r>
            <a:r>
              <a:rPr spc="-10" dirty="0"/>
              <a:t>GLOBAL.ASAX</a:t>
            </a:r>
            <a:r>
              <a:rPr dirty="0"/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7251" y="1137488"/>
            <a:ext cx="8046341" cy="539521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56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71404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71676" y="6567487"/>
            <a:ext cx="8315325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84044" y="902012"/>
            <a:ext cx="2246630" cy="1116330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12700">
              <a:spcBef>
                <a:spcPts val="136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Minh</a:t>
            </a:r>
            <a:r>
              <a:rPr sz="2800" b="1" kern="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20" dirty="0">
                <a:solidFill>
                  <a:srgbClr val="C00000"/>
                </a:solidFill>
                <a:latin typeface="Arial"/>
                <a:cs typeface="Arial"/>
              </a:rPr>
              <a:t>họa: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74700">
              <a:spcBef>
                <a:spcPts val="1085"/>
              </a:spcBef>
            </a:pP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HitCounter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57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49450" y="450927"/>
            <a:ext cx="829310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9.</a:t>
            </a:r>
            <a:r>
              <a:rPr spc="-30" dirty="0"/>
              <a:t> </a:t>
            </a:r>
            <a:r>
              <a:rPr spc="-10" dirty="0"/>
              <a:t>GLOBAL.ASAX</a:t>
            </a:r>
            <a:r>
              <a:rPr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8227723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6675"/>
            <a:ext cx="12192000" cy="6697980"/>
            <a:chOff x="61912" y="66675"/>
            <a:chExt cx="9022080" cy="6697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087" y="69850"/>
              <a:ext cx="9013888" cy="669131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5087" y="69850"/>
              <a:ext cx="9014460" cy="6691630"/>
            </a:xfrm>
            <a:custGeom>
              <a:avLst/>
              <a:gdLst/>
              <a:ahLst/>
              <a:cxnLst/>
              <a:rect l="l" t="t" r="r" b="b"/>
              <a:pathLst>
                <a:path w="9014460" h="6691630">
                  <a:moveTo>
                    <a:pt x="0" y="329819"/>
                  </a:moveTo>
                  <a:lnTo>
                    <a:pt x="3576" y="281088"/>
                  </a:lnTo>
                  <a:lnTo>
                    <a:pt x="13964" y="234576"/>
                  </a:lnTo>
                  <a:lnTo>
                    <a:pt x="30653" y="190791"/>
                  </a:lnTo>
                  <a:lnTo>
                    <a:pt x="53135" y="150245"/>
                  </a:lnTo>
                  <a:lnTo>
                    <a:pt x="80898" y="113448"/>
                  </a:lnTo>
                  <a:lnTo>
                    <a:pt x="113432" y="80911"/>
                  </a:lnTo>
                  <a:lnTo>
                    <a:pt x="150228" y="53144"/>
                  </a:lnTo>
                  <a:lnTo>
                    <a:pt x="190774" y="30660"/>
                  </a:lnTo>
                  <a:lnTo>
                    <a:pt x="234562" y="13967"/>
                  </a:lnTo>
                  <a:lnTo>
                    <a:pt x="281080" y="3576"/>
                  </a:lnTo>
                  <a:lnTo>
                    <a:pt x="329819" y="0"/>
                  </a:lnTo>
                  <a:lnTo>
                    <a:pt x="8684069" y="0"/>
                  </a:lnTo>
                  <a:lnTo>
                    <a:pt x="8732799" y="3576"/>
                  </a:lnTo>
                  <a:lnTo>
                    <a:pt x="8779312" y="13967"/>
                  </a:lnTo>
                  <a:lnTo>
                    <a:pt x="8823097" y="30660"/>
                  </a:lnTo>
                  <a:lnTo>
                    <a:pt x="8863643" y="53144"/>
                  </a:lnTo>
                  <a:lnTo>
                    <a:pt x="8900440" y="80911"/>
                  </a:lnTo>
                  <a:lnTo>
                    <a:pt x="8932977" y="113448"/>
                  </a:lnTo>
                  <a:lnTo>
                    <a:pt x="8960743" y="150245"/>
                  </a:lnTo>
                  <a:lnTo>
                    <a:pt x="8983228" y="190791"/>
                  </a:lnTo>
                  <a:lnTo>
                    <a:pt x="8999921" y="234576"/>
                  </a:lnTo>
                  <a:lnTo>
                    <a:pt x="9010311" y="281088"/>
                  </a:lnTo>
                  <a:lnTo>
                    <a:pt x="9013888" y="329819"/>
                  </a:lnTo>
                  <a:lnTo>
                    <a:pt x="9013888" y="6361493"/>
                  </a:lnTo>
                  <a:lnTo>
                    <a:pt x="9010311" y="6410232"/>
                  </a:lnTo>
                  <a:lnTo>
                    <a:pt x="8999921" y="6456750"/>
                  </a:lnTo>
                  <a:lnTo>
                    <a:pt x="8983228" y="6500538"/>
                  </a:lnTo>
                  <a:lnTo>
                    <a:pt x="8960743" y="6541084"/>
                  </a:lnTo>
                  <a:lnTo>
                    <a:pt x="8932977" y="6577880"/>
                  </a:lnTo>
                  <a:lnTo>
                    <a:pt x="8900440" y="6610414"/>
                  </a:lnTo>
                  <a:lnTo>
                    <a:pt x="8863643" y="6638178"/>
                  </a:lnTo>
                  <a:lnTo>
                    <a:pt x="8823097" y="6660659"/>
                  </a:lnTo>
                  <a:lnTo>
                    <a:pt x="8779312" y="6677349"/>
                  </a:lnTo>
                  <a:lnTo>
                    <a:pt x="8732799" y="6687737"/>
                  </a:lnTo>
                  <a:lnTo>
                    <a:pt x="8684069" y="6691313"/>
                  </a:lnTo>
                  <a:lnTo>
                    <a:pt x="329819" y="6691313"/>
                  </a:lnTo>
                  <a:lnTo>
                    <a:pt x="281080" y="6687737"/>
                  </a:lnTo>
                  <a:lnTo>
                    <a:pt x="234562" y="6677349"/>
                  </a:lnTo>
                  <a:lnTo>
                    <a:pt x="190774" y="6660659"/>
                  </a:lnTo>
                  <a:lnTo>
                    <a:pt x="150228" y="6638178"/>
                  </a:lnTo>
                  <a:lnTo>
                    <a:pt x="113432" y="6610414"/>
                  </a:lnTo>
                  <a:lnTo>
                    <a:pt x="80898" y="6577880"/>
                  </a:lnTo>
                  <a:lnTo>
                    <a:pt x="53135" y="6541084"/>
                  </a:lnTo>
                  <a:lnTo>
                    <a:pt x="30653" y="6500538"/>
                  </a:lnTo>
                  <a:lnTo>
                    <a:pt x="13964" y="6456750"/>
                  </a:lnTo>
                  <a:lnTo>
                    <a:pt x="3576" y="6410232"/>
                  </a:lnTo>
                  <a:lnTo>
                    <a:pt x="0" y="6361493"/>
                  </a:lnTo>
                  <a:lnTo>
                    <a:pt x="0" y="329819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63500" y="1397000"/>
              <a:ext cx="9020175" cy="120650"/>
            </a:xfrm>
            <a:custGeom>
              <a:avLst/>
              <a:gdLst/>
              <a:ahLst/>
              <a:cxnLst/>
              <a:rect l="l" t="t" r="r" b="b"/>
              <a:pathLst>
                <a:path w="9020175" h="120650">
                  <a:moveTo>
                    <a:pt x="9020175" y="0"/>
                  </a:moveTo>
                  <a:lnTo>
                    <a:pt x="0" y="0"/>
                  </a:lnTo>
                  <a:lnTo>
                    <a:pt x="0" y="120650"/>
                  </a:lnTo>
                  <a:lnTo>
                    <a:pt x="9020175" y="120650"/>
                  </a:lnTo>
                  <a:lnTo>
                    <a:pt x="9020175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63500" y="2976626"/>
              <a:ext cx="9020175" cy="111125"/>
            </a:xfrm>
            <a:custGeom>
              <a:avLst/>
              <a:gdLst/>
              <a:ahLst/>
              <a:cxnLst/>
              <a:rect l="l" t="t" r="r" b="b"/>
              <a:pathLst>
                <a:path w="9020175" h="111125">
                  <a:moveTo>
                    <a:pt x="9020175" y="0"/>
                  </a:moveTo>
                  <a:lnTo>
                    <a:pt x="0" y="0"/>
                  </a:lnTo>
                  <a:lnTo>
                    <a:pt x="0" y="111125"/>
                  </a:lnTo>
                  <a:lnTo>
                    <a:pt x="9020175" y="111125"/>
                  </a:lnTo>
                  <a:lnTo>
                    <a:pt x="9020175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46050" y="6210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4"/>
                  </a:lnTo>
                  <a:lnTo>
                    <a:pt x="100788" y="39041"/>
                  </a:lnTo>
                  <a:lnTo>
                    <a:pt x="66955" y="66955"/>
                  </a:lnTo>
                  <a:lnTo>
                    <a:pt x="39041" y="100788"/>
                  </a:lnTo>
                  <a:lnTo>
                    <a:pt x="17964" y="139619"/>
                  </a:lnTo>
                  <a:lnTo>
                    <a:pt x="4644" y="182529"/>
                  </a:lnTo>
                  <a:lnTo>
                    <a:pt x="0" y="228600"/>
                  </a:lnTo>
                  <a:lnTo>
                    <a:pt x="4644" y="274670"/>
                  </a:lnTo>
                  <a:lnTo>
                    <a:pt x="17964" y="317580"/>
                  </a:lnTo>
                  <a:lnTo>
                    <a:pt x="39041" y="356411"/>
                  </a:lnTo>
                  <a:lnTo>
                    <a:pt x="66955" y="390244"/>
                  </a:lnTo>
                  <a:lnTo>
                    <a:pt x="100788" y="418158"/>
                  </a:lnTo>
                  <a:lnTo>
                    <a:pt x="139619" y="439235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5"/>
                  </a:lnTo>
                  <a:lnTo>
                    <a:pt x="356411" y="418158"/>
                  </a:lnTo>
                  <a:lnTo>
                    <a:pt x="390244" y="390244"/>
                  </a:lnTo>
                  <a:lnTo>
                    <a:pt x="418158" y="356411"/>
                  </a:lnTo>
                  <a:lnTo>
                    <a:pt x="439235" y="317580"/>
                  </a:lnTo>
                  <a:lnTo>
                    <a:pt x="452555" y="274670"/>
                  </a:lnTo>
                  <a:lnTo>
                    <a:pt x="457200" y="228600"/>
                  </a:lnTo>
                  <a:lnTo>
                    <a:pt x="452555" y="182529"/>
                  </a:lnTo>
                  <a:lnTo>
                    <a:pt x="439235" y="139619"/>
                  </a:lnTo>
                  <a:lnTo>
                    <a:pt x="418158" y="100788"/>
                  </a:lnTo>
                  <a:lnTo>
                    <a:pt x="390244" y="66955"/>
                  </a:lnTo>
                  <a:lnTo>
                    <a:pt x="356411" y="39041"/>
                  </a:lnTo>
                  <a:lnTo>
                    <a:pt x="317580" y="17964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87501" y="1517651"/>
            <a:ext cx="9020175" cy="2323713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289560" rIns="0" bIns="0" rtlCol="0">
            <a:spAutoFit/>
          </a:bodyPr>
          <a:lstStyle/>
          <a:p>
            <a:pPr marL="1270" algn="ctr">
              <a:spcBef>
                <a:spcPts val="2280"/>
              </a:spcBef>
            </a:pPr>
            <a:r>
              <a:rPr lang="en-US" sz="6600" u="none">
                <a:solidFill>
                  <a:srgbClr val="FFFFFF"/>
                </a:solidFill>
              </a:rPr>
              <a:t>THẢO LUẬN </a:t>
            </a:r>
            <a:br>
              <a:rPr lang="en-US" sz="6600" u="none">
                <a:solidFill>
                  <a:srgbClr val="FFFFFF"/>
                </a:solidFill>
              </a:rPr>
            </a:br>
            <a:r>
              <a:rPr lang="en-US" sz="6600" u="none">
                <a:solidFill>
                  <a:srgbClr val="FFFFFF"/>
                </a:solidFill>
              </a:rPr>
              <a:t>VÀ THỰC HÀNH</a:t>
            </a:r>
            <a:endParaRPr sz="6600"/>
          </a:p>
        </p:txBody>
      </p:sp>
      <p:sp>
        <p:nvSpPr>
          <p:cNvPr id="9" name="object 9"/>
          <p:cNvSpPr/>
          <p:nvPr/>
        </p:nvSpPr>
        <p:spPr>
          <a:xfrm>
            <a:off x="1971676" y="6567487"/>
            <a:ext cx="8315325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58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363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1325</Words>
  <Application>Microsoft Office PowerPoint</Application>
  <PresentationFormat>Widescreen</PresentationFormat>
  <Paragraphs>257</Paragraphs>
  <Slides>58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58</vt:i4>
      </vt:variant>
    </vt:vector>
  </HeadingPairs>
  <TitlesOfParts>
    <vt:vector size="66" baseType="lpstr">
      <vt:lpstr>Arial</vt:lpstr>
      <vt:lpstr>Calibri</vt:lpstr>
      <vt:lpstr>Calibri Light</vt:lpstr>
      <vt:lpstr>Franklin Gothic Medium</vt:lpstr>
      <vt:lpstr>Microsoft Sans Serif</vt:lpstr>
      <vt:lpstr>Wingdings</vt:lpstr>
      <vt:lpstr>Office Theme</vt:lpstr>
      <vt:lpstr>1_Office Theme</vt:lpstr>
      <vt:lpstr>LẬP TRÌNH WEBSITE (ASP.NET MVC)</vt:lpstr>
      <vt:lpstr> NỘI DUNG </vt:lpstr>
      <vt:lpstr>1. RAZOR</vt:lpstr>
      <vt:lpstr>1. RAZOR</vt:lpstr>
      <vt:lpstr>1. RAZOR</vt:lpstr>
      <vt:lpstr>1. RAZOR</vt:lpstr>
      <vt:lpstr>1. RAZOR</vt:lpstr>
      <vt:lpstr>1. RAZOR</vt:lpstr>
      <vt:lpstr>1. RAZOR</vt:lpstr>
      <vt:lpstr>1. RAZOR</vt:lpstr>
      <vt:lpstr>2. MVC HELPER - SINH GIAO DIỆN</vt:lpstr>
      <vt:lpstr>2. MVC HELPER - SINH GIAO DIỆN</vt:lpstr>
      <vt:lpstr>2. MVC HELPER - SINH GIAO DIỆN</vt:lpstr>
      <vt:lpstr>2. MVC HELPER - SINH GIAO DIỆN</vt:lpstr>
      <vt:lpstr>2. MVC HELPER - SINH GIAO DIỆN</vt:lpstr>
      <vt:lpstr>2. MVC HELPER - SINH GIAO DIỆN</vt:lpstr>
      <vt:lpstr>2. MVC HELPER - SINH GIAO DIỆN</vt:lpstr>
      <vt:lpstr>2. MVC HELPER - SINH GIAO DIỆN</vt:lpstr>
      <vt:lpstr>2. MVC HELPER - SINH GIAO DIỆN</vt:lpstr>
      <vt:lpstr>2. MVC HELPER - SINH GIAO DIỆN</vt:lpstr>
      <vt:lpstr>2. MVC HELPER - SINH GIAO DIỆN</vt:lpstr>
      <vt:lpstr>3. SINH GIAO DIỆN THEO MODEL</vt:lpstr>
      <vt:lpstr>3. SINH GIAO DIỆN THEO MODEL</vt:lpstr>
      <vt:lpstr>3. SINH GIAO DIỆN THEO MODEL</vt:lpstr>
      <vt:lpstr>3. SINH GIAO DIỆN THEO MODEL</vt:lpstr>
      <vt:lpstr>3. SINH GIAO DIỆN THEO MODEL</vt:lpstr>
      <vt:lpstr>3. SINH GIAO DIỆN THEO MODEL</vt:lpstr>
      <vt:lpstr>3. SINH GIAO DIỆN THEO MODEL</vt:lpstr>
      <vt:lpstr>4. CUSTOM HELPER</vt:lpstr>
      <vt:lpstr>4. CUSTOM HELPER</vt:lpstr>
      <vt:lpstr>4. CUSTOM HELPER</vt:lpstr>
      <vt:lpstr>4. CUSTOM HELPER</vt:lpstr>
      <vt:lpstr>4. CUSTOM HELPER</vt:lpstr>
      <vt:lpstr>4. CUSTOM HELPER</vt:lpstr>
      <vt:lpstr>4. CUSTOM HELPER</vt:lpstr>
      <vt:lpstr>5. ViewBag, ViewData, TempData, Model</vt:lpstr>
      <vt:lpstr>5. ViewBag, ViewData, TempData, Model</vt:lpstr>
      <vt:lpstr>5. ViewBag, ViewData, TempData, Model</vt:lpstr>
      <vt:lpstr>5. ViewBag, ViewData, TempData, Model</vt:lpstr>
      <vt:lpstr>5. ViewBag, ViewData, TempData, Model</vt:lpstr>
      <vt:lpstr>5. ViewBag, ViewData, TempData, Model</vt:lpstr>
      <vt:lpstr>5. ViewBag, ViewData, TempData, Model</vt:lpstr>
      <vt:lpstr>5. ViewBag, ViewData, TempData, Model</vt:lpstr>
      <vt:lpstr>5. ViewBag, ViewData, TempData, Model</vt:lpstr>
      <vt:lpstr>6. CHIA SẺ DỮ LIỆU THEO PHIÊN - SESSION </vt:lpstr>
      <vt:lpstr>6. CHIA SẺ DỮ LIỆU THEO PHIÊN - SESSION </vt:lpstr>
      <vt:lpstr>6. CHIA SẺ DỮ LIỆU THEO PHIÊN - SESSION </vt:lpstr>
      <vt:lpstr>6. CHIA SẺ DỮ LIỆU THEO PHIÊN - SESSION </vt:lpstr>
      <vt:lpstr>7. APPLICATION </vt:lpstr>
      <vt:lpstr>7. APPLICATION </vt:lpstr>
      <vt:lpstr>7. APPLICATION </vt:lpstr>
      <vt:lpstr>8. COOKIE </vt:lpstr>
      <vt:lpstr>8. COOKIE </vt:lpstr>
      <vt:lpstr>8. COOKIE </vt:lpstr>
      <vt:lpstr>8. COOKIE </vt:lpstr>
      <vt:lpstr>9. GLOBAL.ASAX </vt:lpstr>
      <vt:lpstr>9. GLOBAL.ASAX </vt:lpstr>
      <vt:lpstr>THẢO LUẬN  VÀ THỰC HÀNH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LẬP TRÌNH WEBSITE (ASP.NET MVC 5)</dc:title>
  <dc:creator>Microsoft account</dc:creator>
  <cp:lastModifiedBy>Microsoft account</cp:lastModifiedBy>
  <cp:revision>22</cp:revision>
  <dcterms:created xsi:type="dcterms:W3CDTF">2025-08-18T01:32:34Z</dcterms:created>
  <dcterms:modified xsi:type="dcterms:W3CDTF">2025-09-08T01:02:13Z</dcterms:modified>
</cp:coreProperties>
</file>